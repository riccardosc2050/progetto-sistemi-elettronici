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Libre Franklin SemiBold"/>
      <p:regular r:id="rId18"/>
      <p:bold r:id="rId19"/>
      <p:italic r:id="rId20"/>
      <p:boldItalic r:id="rId21"/>
    </p:embeddedFont>
    <p:embeddedFont>
      <p:font typeface="Libre Franklin"/>
      <p:regular r:id="rId22"/>
      <p:bold r:id="rId23"/>
      <p:italic r:id="rId24"/>
      <p:boldItalic r:id="rId25"/>
    </p:embeddedFont>
    <p:embeddedFont>
      <p:font typeface="Franklin Gothic"/>
      <p:bold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Libre Franklin Medium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SemiBold-italic.fntdata"/><Relationship Id="rId22" Type="http://schemas.openxmlformats.org/officeDocument/2006/relationships/font" Target="fonts/LibreFranklin-regular.fntdata"/><Relationship Id="rId21" Type="http://schemas.openxmlformats.org/officeDocument/2006/relationships/font" Target="fonts/LibreFranklinSemiBold-boldItalic.fntdata"/><Relationship Id="rId24" Type="http://schemas.openxmlformats.org/officeDocument/2006/relationships/font" Target="fonts/LibreFranklin-italic.fntdata"/><Relationship Id="rId23" Type="http://schemas.openxmlformats.org/officeDocument/2006/relationships/font" Target="fonts/LibreFranklin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FranklinGothic-bold.fntdata"/><Relationship Id="rId25" Type="http://schemas.openxmlformats.org/officeDocument/2006/relationships/font" Target="fonts/LibreFranklin-bold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ibreFranklin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LibreFranklinMedium-italic.fntdata"/><Relationship Id="rId10" Type="http://schemas.openxmlformats.org/officeDocument/2006/relationships/slide" Target="slides/slide5.xml"/><Relationship Id="rId32" Type="http://schemas.openxmlformats.org/officeDocument/2006/relationships/font" Target="fonts/LibreFranklinMedium-bold.fntdata"/><Relationship Id="rId13" Type="http://schemas.openxmlformats.org/officeDocument/2006/relationships/slide" Target="slides/slide8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7.xml"/><Relationship Id="rId34" Type="http://schemas.openxmlformats.org/officeDocument/2006/relationships/font" Target="fonts/LibreFranklin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9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InterMedium-boldItalic.fntdata"/><Relationship Id="rId19" Type="http://schemas.openxmlformats.org/officeDocument/2006/relationships/font" Target="fonts/LibreFranklinSemiBold-bold.fntdata"/><Relationship Id="rId18" Type="http://schemas.openxmlformats.org/officeDocument/2006/relationships/font" Target="fonts/LibreFranklin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5e41a9cd2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5e41a9cd2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5e41a9cd2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5e41a9cd2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5e41a9cd2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5e41a9cd2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5e41a9cd2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5e41a9cd2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5e41a9cd2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5e41a9cd2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5e41a9cd2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5e41a9cd2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5e41a9cd2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5e41a9cd2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5e41a9cd2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5e41a9cd2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5e41a9cd2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5e41a9cd2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5e41a9cd2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5e41a9cd2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5e41a9cd2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5e41a9cd2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5e41a9cd2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5e41a9cd2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5e41a9cd2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5e41a9cd2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5e41a9cd2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" name="Google Shape;20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Franklin Gothic"/>
              <a:buNone/>
              <a:defRPr sz="3600">
                <a:solidFill>
                  <a:srgbClr val="FEFEFE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96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>
  <p:cSld name="Confronto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37" name="Google Shape;37;p4"/>
          <p:cNvSpPr txBox="1"/>
          <p:nvPr>
            <p:ph idx="2" type="body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3" type="body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b="0" sz="20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39" name="Google Shape;39;p4"/>
          <p:cNvSpPr txBox="1"/>
          <p:nvPr>
            <p:ph idx="4" type="body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o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9" name="Google Shape;49;p6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9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 txBox="1"/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b="0" sz="360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581193" y="2228003"/>
            <a:ext cx="5194767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6416039" y="2228003"/>
            <a:ext cx="5194769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 txBox="1"/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nklin Gothic"/>
              <a:buNone/>
              <a:defRPr b="0" sz="2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Franklin Gothic"/>
              <a:buNone/>
              <a:defRPr b="0" sz="24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/>
          <p:nvPr>
            <p:ph idx="2" type="pic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2"/>
          <p:cNvSpPr txBox="1"/>
          <p:nvPr>
            <p:ph idx="1" type="body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91" name="Google Shape;91;p12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800"/>
              <a:buFont typeface="Franklin Gothic"/>
              <a:buNone/>
              <a:defRPr b="0" i="0" sz="2800" u="none" cap="none" strike="noStrike">
                <a:solidFill>
                  <a:srgbClr val="FEFEFE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7914" lvl="0" marL="457200" marR="0" rtl="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◼"/>
              <a:defRPr b="0" i="0" sz="17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0388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546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96"/>
              <a:buFont typeface="Noto Sans Symbols"/>
              <a:buChar char="◼"/>
              <a:defRPr b="0" i="0" sz="13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292862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2862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FEFEF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b="0" i="0" sz="2800" u="none" cap="none" strike="noStrik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7914" lvl="0" marL="457200" marR="0" rtl="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◼"/>
              <a:defRPr b="0" i="0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0388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546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96"/>
              <a:buFont typeface="Noto Sans Symbols"/>
              <a:buChar char="◼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292862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92862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7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00" name="Google Shape;10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>
            <p:ph type="ctrTitle"/>
          </p:nvPr>
        </p:nvSpPr>
        <p:spPr>
          <a:xfrm>
            <a:off x="1658550" y="352325"/>
            <a:ext cx="8874900" cy="12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Franklin Gothic"/>
              <a:buNone/>
            </a:pPr>
            <a:r>
              <a:rPr b="1" lang="it-IT" sz="4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Studio del Filtro Passa-Alto: </a:t>
            </a:r>
            <a:endParaRPr b="1" sz="4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4193"/>
              <a:buFont typeface="Franklin Gothic"/>
              <a:buNone/>
            </a:pPr>
            <a:r>
              <a:rPr b="1" lang="it-IT" sz="2756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Dalla Teoria del Passivo ai Limiti dell'Attivo Reale.</a:t>
            </a:r>
            <a:endParaRPr b="1" sz="1556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98250" y="2120420"/>
            <a:ext cx="11049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Progettazione di Sistemi Elettronici</a:t>
            </a:r>
            <a:endParaRPr sz="900">
              <a:solidFill>
                <a:srgbClr val="CBD5E1"/>
              </a:solidFill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23538" y="3256945"/>
            <a:ext cx="110490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0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Università degli Studi di Bergamo</a:t>
            </a:r>
            <a:endParaRPr sz="1000">
              <a:solidFill>
                <a:srgbClr val="CBD5E1"/>
              </a:solidFill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72938" y="3570358"/>
            <a:ext cx="110490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Scola Colombo Riccardo</a:t>
            </a:r>
            <a:r>
              <a:rPr lang="it-IT" sz="1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| Motta Riccardo 1093277</a:t>
            </a:r>
            <a:endParaRPr sz="1000">
              <a:solidFill>
                <a:srgbClr val="CBD5E1"/>
              </a:solidFill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2293875" y="1806375"/>
            <a:ext cx="6490800" cy="76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900">
                <a:solidFill>
                  <a:srgbClr val="002D61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rPr>
              <a:t>Cos'è un Filtro Passa Alto?</a:t>
            </a:r>
            <a:endParaRPr sz="4000">
              <a:latin typeface="Libre Franklin SemiBold"/>
              <a:ea typeface="Libre Franklin SemiBold"/>
              <a:cs typeface="Libre Franklin SemiBold"/>
              <a:sym typeface="Libre Franklin SemiBold"/>
            </a:endParaRPr>
          </a:p>
        </p:txBody>
      </p:sp>
      <p:pic>
        <p:nvPicPr>
          <p:cNvPr id="111" name="Google Shape;111;p14"/>
          <p:cNvPicPr preferRelativeResize="0"/>
          <p:nvPr/>
        </p:nvPicPr>
        <p:blipFill rotWithShape="1">
          <a:blip r:embed="rId3">
            <a:alphaModFix/>
          </a:blip>
          <a:srcRect b="7128" l="-4" r="5" t="-138"/>
          <a:stretch/>
        </p:blipFill>
        <p:spPr>
          <a:xfrm>
            <a:off x="5985782" y="1415932"/>
            <a:ext cx="5194771" cy="48316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4"/>
          <p:cNvGrpSpPr/>
          <p:nvPr/>
        </p:nvGrpSpPr>
        <p:grpSpPr>
          <a:xfrm>
            <a:off x="581191" y="4968284"/>
            <a:ext cx="6097218" cy="578235"/>
            <a:chOff x="581191" y="4509536"/>
            <a:chExt cx="6097218" cy="578235"/>
          </a:xfrm>
        </p:grpSpPr>
        <p:sp>
          <p:nvSpPr>
            <p:cNvPr id="113" name="Google Shape;113;p14"/>
            <p:cNvSpPr txBox="1"/>
            <p:nvPr/>
          </p:nvSpPr>
          <p:spPr>
            <a:xfrm>
              <a:off x="3388399" y="4509536"/>
              <a:ext cx="2086242" cy="57823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800">
                  <a:latin typeface="Libre Franklin"/>
                  <a:ea typeface="Libre Franklin"/>
                  <a:cs typeface="Libre Franklin"/>
                  <a:sym typeface="Libre Franklin"/>
                </a:rPr>
                <a:t> </a:t>
              </a: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581191" y="4613988"/>
              <a:ext cx="60972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8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La frequenza di taglio vale:</a:t>
              </a:r>
              <a:endParaRPr/>
            </a:p>
          </p:txBody>
        </p:sp>
      </p:grpSp>
      <p:sp>
        <p:nvSpPr>
          <p:cNvPr id="115" name="Google Shape;115;p14"/>
          <p:cNvSpPr txBox="1"/>
          <p:nvPr/>
        </p:nvSpPr>
        <p:spPr>
          <a:xfrm>
            <a:off x="755974" y="1886099"/>
            <a:ext cx="37128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750">
            <a:spAutoFit/>
          </a:bodyPr>
          <a:lstStyle/>
          <a:p>
            <a:pPr indent="0" lvl="0" marL="15740" marR="6295" rtl="0" algn="just">
              <a:lnSpc>
                <a:spcPct val="13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1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Nel caso più semplice di un circuito RC passivo, il condensatore agisce come un blocco per le basse frequenze.</a:t>
            </a:r>
            <a:endParaRPr sz="130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755974" y="2840542"/>
            <a:ext cx="37302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750">
            <a:spAutoFit/>
          </a:bodyPr>
          <a:lstStyle/>
          <a:p>
            <a:pPr indent="0" lvl="0" marL="15740" marR="6295" rtl="0" algn="l">
              <a:lnSpc>
                <a:spcPct val="13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1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All'aumentare della frequenza del segnale d'ingresso, l'impedenza del condensatore si riduce progressivamente, permettendo al segnale di</a:t>
            </a:r>
            <a:endParaRPr sz="1301">
              <a:latin typeface="Arial"/>
              <a:ea typeface="Arial"/>
              <a:cs typeface="Arial"/>
              <a:sym typeface="Arial"/>
            </a:endParaRPr>
          </a:p>
          <a:p>
            <a:pPr indent="0" lvl="0" marL="15740" rtl="0" algn="l">
              <a:lnSpc>
                <a:spcPct val="100000"/>
              </a:lnSpc>
              <a:spcBef>
                <a:spcPts val="507"/>
              </a:spcBef>
              <a:spcAft>
                <a:spcPts val="0"/>
              </a:spcAft>
              <a:buNone/>
            </a:pPr>
            <a:r>
              <a:rPr lang="it-IT" sz="1301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trasferirsi in uscita.</a:t>
            </a:r>
            <a:endParaRPr sz="130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55974" y="4038465"/>
            <a:ext cx="37140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450">
            <a:spAutoFit/>
          </a:bodyPr>
          <a:lstStyle/>
          <a:p>
            <a:pPr indent="0" lvl="0" marL="15740" marR="6295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1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La frequenza limite superiore che separa la banda oscura dalla banda passante è definita come frequenza di taglio:</a:t>
            </a:r>
            <a:endParaRPr sz="130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581193" y="729658"/>
            <a:ext cx="11029500" cy="988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 sz="2900">
                <a:solidFill>
                  <a:srgbClr val="002D61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rPr>
              <a:t>Il </a:t>
            </a:r>
            <a:r>
              <a:rPr lang="it-IT" sz="2900">
                <a:solidFill>
                  <a:srgbClr val="002D61"/>
                </a:solidFill>
                <a:latin typeface="Libre Franklin SemiBold"/>
                <a:ea typeface="Libre Franklin SemiBold"/>
                <a:cs typeface="Libre Franklin SemiBold"/>
                <a:sym typeface="Libre Franklin SemiBold"/>
              </a:rPr>
              <a:t>Filtro HP passivo</a:t>
            </a:r>
            <a:endParaRPr>
              <a:latin typeface="Libre Franklin SemiBold"/>
              <a:ea typeface="Libre Franklin SemiBold"/>
              <a:cs typeface="Libre Franklin SemiBold"/>
              <a:sym typeface="Libre Franklin SemiBold"/>
            </a:endParaRPr>
          </a:p>
        </p:txBody>
      </p:sp>
      <p:sp>
        <p:nvSpPr>
          <p:cNvPr id="124" name="Google Shape;124;p15"/>
          <p:cNvSpPr txBox="1"/>
          <p:nvPr>
            <p:ph idx="3" type="body"/>
          </p:nvPr>
        </p:nvSpPr>
        <p:spPr>
          <a:xfrm>
            <a:off x="6300514" y="1341317"/>
            <a:ext cx="5194800" cy="55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600"/>
              </a:spcAft>
              <a:buNone/>
            </a:pPr>
            <a:r>
              <a:rPr lang="it-IT">
                <a:latin typeface="Libre Franklin Medium"/>
                <a:ea typeface="Libre Franklin Medium"/>
                <a:cs typeface="Libre Franklin Medium"/>
                <a:sym typeface="Libre Franklin Medium"/>
              </a:rPr>
              <a:t>Struttura del Circuito &amp; Calcoli</a:t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25" name="Google Shape;125;p15"/>
          <p:cNvSpPr txBox="1"/>
          <p:nvPr>
            <p:ph idx="4" type="body"/>
          </p:nvPr>
        </p:nvSpPr>
        <p:spPr>
          <a:xfrm>
            <a:off x="6351087" y="1894827"/>
            <a:ext cx="5194800" cy="293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</a:rPr>
              <a:t>La configurazione più elementare prevede un condensatore in serie al segnale d'ingresso e una resistenza in parallelo verso massa. L’uscita viene prelevata ai capi della resistenza.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</a:rPr>
              <a:t>Prendendo come valori dei bipoli rispettivamente:</a:t>
            </a:r>
            <a:br>
              <a:rPr lang="it-IT" sz="1200">
                <a:solidFill>
                  <a:schemeClr val="dk1"/>
                </a:solidFill>
              </a:rPr>
            </a:br>
            <a:r>
              <a:rPr lang="it-IT" sz="1200">
                <a:solidFill>
                  <a:schemeClr val="dk1"/>
                </a:solidFill>
              </a:rPr>
              <a:t>R = 10kΩ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</a:rPr>
              <a:t>C = 100nF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</a:rPr>
              <a:t>			otteniamo una  </a:t>
            </a:r>
            <a:r>
              <a:rPr b="1" lang="it-IT" sz="1200">
                <a:solidFill>
                  <a:schemeClr val="dk1"/>
                </a:solidFill>
              </a:rPr>
              <a:t>ƒc​ ≈ </a:t>
            </a:r>
            <a:r>
              <a:rPr b="1" lang="it-IT" sz="1200">
                <a:solidFill>
                  <a:schemeClr val="dk1"/>
                </a:solidFill>
              </a:rPr>
              <a:t>159 Hz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00" y="2547150"/>
            <a:ext cx="4696999" cy="283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2243" y="4142304"/>
            <a:ext cx="103822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2843" y="4153454"/>
            <a:ext cx="1514475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/>
          <p:nvPr/>
        </p:nvSpPr>
        <p:spPr>
          <a:xfrm>
            <a:off x="6531400" y="3943188"/>
            <a:ext cx="4963800" cy="42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5"/>
          <p:cNvPicPr preferRelativeResize="0"/>
          <p:nvPr/>
        </p:nvPicPr>
        <p:blipFill rotWithShape="1">
          <a:blip r:embed="rId6">
            <a:alphaModFix/>
          </a:blip>
          <a:srcRect b="10603" l="23189" r="0" t="0"/>
          <a:stretch/>
        </p:blipFill>
        <p:spPr>
          <a:xfrm>
            <a:off x="9123466" y="4243715"/>
            <a:ext cx="1199825" cy="5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/>
          <p:cNvPicPr preferRelativeResize="0"/>
          <p:nvPr/>
        </p:nvPicPr>
        <p:blipFill rotWithShape="1">
          <a:blip r:embed="rId7">
            <a:alphaModFix/>
          </a:blip>
          <a:srcRect b="37504" l="0" r="59021" t="50191"/>
          <a:stretch/>
        </p:blipFill>
        <p:spPr>
          <a:xfrm>
            <a:off x="6012250" y="6033575"/>
            <a:ext cx="1932150" cy="3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/>
          <p:cNvPicPr preferRelativeResize="0"/>
          <p:nvPr/>
        </p:nvPicPr>
        <p:blipFill rotWithShape="1">
          <a:blip r:embed="rId7">
            <a:alphaModFix/>
          </a:blip>
          <a:srcRect b="53417" l="59797" r="1007" t="27464"/>
          <a:stretch/>
        </p:blipFill>
        <p:spPr>
          <a:xfrm>
            <a:off x="9697850" y="5055755"/>
            <a:ext cx="1848026" cy="50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/>
          <p:cNvPicPr preferRelativeResize="0"/>
          <p:nvPr/>
        </p:nvPicPr>
        <p:blipFill rotWithShape="1">
          <a:blip r:embed="rId7">
            <a:alphaModFix/>
          </a:blip>
          <a:srcRect b="0" l="60720" r="2625" t="79097"/>
          <a:stretch/>
        </p:blipFill>
        <p:spPr>
          <a:xfrm>
            <a:off x="9697850" y="5951562"/>
            <a:ext cx="1728175" cy="5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/>
          <p:cNvPicPr preferRelativeResize="0"/>
          <p:nvPr/>
        </p:nvPicPr>
        <p:blipFill rotWithShape="1">
          <a:blip r:embed="rId7">
            <a:alphaModFix/>
          </a:blip>
          <a:srcRect b="87695" l="0" r="57443" t="0"/>
          <a:stretch/>
        </p:blipFill>
        <p:spPr>
          <a:xfrm>
            <a:off x="6012250" y="5146000"/>
            <a:ext cx="2006525" cy="3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 rotWithShape="1">
          <a:blip r:embed="rId7">
            <a:alphaModFix/>
          </a:blip>
          <a:srcRect b="75566" l="70194" r="13423" t="15121"/>
          <a:stretch/>
        </p:blipFill>
        <p:spPr>
          <a:xfrm>
            <a:off x="8499475" y="5185601"/>
            <a:ext cx="772450" cy="2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 rotWithShape="1">
          <a:blip r:embed="rId7">
            <a:alphaModFix/>
          </a:blip>
          <a:srcRect b="23813" l="69784" r="13832" t="63882"/>
          <a:stretch/>
        </p:blipFill>
        <p:spPr>
          <a:xfrm>
            <a:off x="8534950" y="6065400"/>
            <a:ext cx="772450" cy="3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/>
          <p:cNvPicPr preferRelativeResize="0"/>
          <p:nvPr/>
        </p:nvPicPr>
        <p:blipFill rotWithShape="1">
          <a:blip r:embed="rId3">
            <a:alphaModFix/>
          </a:blip>
          <a:srcRect b="4943" l="0" r="0" t="0"/>
          <a:stretch/>
        </p:blipFill>
        <p:spPr>
          <a:xfrm>
            <a:off x="581191" y="1592435"/>
            <a:ext cx="7783513" cy="33436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81250" y="743946"/>
            <a:ext cx="110295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it-IT" sz="2800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Analisi del Modulo e della Fase</a:t>
            </a:r>
            <a:endParaRPr sz="2800" cap="none"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850467" y="1628491"/>
            <a:ext cx="745067" cy="688733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294321" y="1460225"/>
            <a:ext cx="2086242" cy="3077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600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45215" r="25748" t="48400"/>
          <a:stretch/>
        </p:blipFill>
        <p:spPr>
          <a:xfrm>
            <a:off x="8199388" y="2404532"/>
            <a:ext cx="3920066" cy="299481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10159421" y="2633484"/>
            <a:ext cx="2158999" cy="1261534"/>
          </a:xfrm>
          <a:prstGeom prst="ellipse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47" name="Google Shape;147;p16"/>
          <p:cNvCxnSpPr/>
          <p:nvPr/>
        </p:nvCxnSpPr>
        <p:spPr>
          <a:xfrm rot="10800000">
            <a:off x="6688667" y="2108200"/>
            <a:ext cx="1820333" cy="89746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" name="Google Shape;148;p16"/>
          <p:cNvSpPr/>
          <p:nvPr/>
        </p:nvSpPr>
        <p:spPr>
          <a:xfrm rot="-5400000">
            <a:off x="5690875" y="3067076"/>
            <a:ext cx="3222310" cy="1794716"/>
          </a:xfrm>
          <a:prstGeom prst="trapezoid">
            <a:avLst>
              <a:gd fmla="val 46579" name="adj"/>
            </a:avLst>
          </a:prstGeom>
          <a:noFill/>
          <a:ln cap="flat" cmpd="sng" w="9525">
            <a:solidFill>
              <a:srgbClr val="2F4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8300988" y="5625223"/>
            <a:ext cx="3716866" cy="8309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8824" l="0" r="0" t="-22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cxnSp>
        <p:nvCxnSpPr>
          <p:cNvPr id="150" name="Google Shape;150;p16"/>
          <p:cNvCxnSpPr>
            <a:endCxn id="149" idx="0"/>
          </p:cNvCxnSpPr>
          <p:nvPr/>
        </p:nvCxnSpPr>
        <p:spPr>
          <a:xfrm flipH="1">
            <a:off x="10159421" y="3895123"/>
            <a:ext cx="1079400" cy="1730100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1" name="Google Shape;151;p16"/>
          <p:cNvCxnSpPr/>
          <p:nvPr/>
        </p:nvCxnSpPr>
        <p:spPr>
          <a:xfrm>
            <a:off x="8568267" y="3179585"/>
            <a:ext cx="1244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6"/>
          <p:cNvSpPr txBox="1"/>
          <p:nvPr/>
        </p:nvSpPr>
        <p:spPr>
          <a:xfrm>
            <a:off x="8300988" y="3660123"/>
            <a:ext cx="2023749" cy="738664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dove il guadagno è </a:t>
            </a:r>
            <a:r>
              <a:rPr b="1" lang="it-IT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-3 dB</a:t>
            </a:r>
            <a:r>
              <a:rPr lang="it-IT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la fase vale circa </a:t>
            </a:r>
            <a:r>
              <a:rPr b="1" lang="it-IT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+45°</a:t>
            </a:r>
            <a:endParaRPr sz="14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433024" y="5359003"/>
            <a:ext cx="7165809" cy="120032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7107" l="-680" r="-680" t="-2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 rotWithShape="1">
          <a:blip r:embed="rId8">
            <a:alphaModFix/>
          </a:blip>
          <a:srcRect b="12196" l="5581" r="33016" t="63669"/>
          <a:stretch/>
        </p:blipFill>
        <p:spPr>
          <a:xfrm>
            <a:off x="9313913" y="1679050"/>
            <a:ext cx="1691024" cy="32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9313925" y="1284625"/>
            <a:ext cx="14622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Direttiva: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/>
        </p:nvSpPr>
        <p:spPr>
          <a:xfrm>
            <a:off x="581250" y="743946"/>
            <a:ext cx="110295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it-IT" sz="2800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Analisi in banda passante a 1 kHz</a:t>
            </a:r>
            <a:endParaRPr sz="2800" cap="none"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162" name="Google Shape;162;p17"/>
          <p:cNvPicPr preferRelativeResize="0"/>
          <p:nvPr/>
        </p:nvPicPr>
        <p:blipFill rotWithShape="1">
          <a:blip r:embed="rId3">
            <a:alphaModFix/>
          </a:blip>
          <a:srcRect b="60096" l="5578" r="21221" t="14603"/>
          <a:stretch/>
        </p:blipFill>
        <p:spPr>
          <a:xfrm>
            <a:off x="1923900" y="1694600"/>
            <a:ext cx="2015877" cy="34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725" y="2104313"/>
            <a:ext cx="5022899" cy="250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-766" t="12922"/>
          <a:stretch/>
        </p:blipFill>
        <p:spPr>
          <a:xfrm>
            <a:off x="1738031" y="4750475"/>
            <a:ext cx="3876845" cy="1670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863275" y="2104325"/>
            <a:ext cx="6046200" cy="44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Osservazioni sul comportamento in banda passante</a:t>
            </a:r>
            <a:endParaRPr sz="1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Dallo zoom del diagramma di Bode in regime si nota che, pur essendo a 1 kHz (ben oltre la frequenza di taglio </a:t>
            </a:r>
            <a:r>
              <a:rPr b="1" lang="it-IT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ƒc</a:t>
            </a:r>
            <a:r>
              <a:rPr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=159 Hz), l’uscita non è ancora perfettamente sovrapposta all’ingresso.</a:t>
            </a:r>
            <a:endParaRPr sz="11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Attenuazione residua</a:t>
            </a:r>
            <a:r>
              <a:rPr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il segnale in uscita vale circa il 98.7% di quello in ingresso     (≈ −0.11 dB), quindi non si è ancora in un comportamento “ideale” completamente piatto.</a:t>
            </a:r>
            <a:endParaRPr sz="11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Sfasamento residuo</a:t>
            </a:r>
            <a:r>
              <a:rPr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persiste un piccolo anticipo di fase di circa 9° (Δt ≈ 25 μs), indice della presenza ancora non trascurabile dell’effetto capacitivo.</a:t>
            </a:r>
            <a:endParaRPr sz="11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it-IT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Quando si può considerare il sistema “perfettamente allineato”?</a:t>
            </a:r>
            <a:endParaRPr sz="13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Teoricamente</a:t>
            </a:r>
            <a:r>
              <a:rPr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solo per f</a:t>
            </a:r>
            <a:r>
              <a:rPr lang="it-IT" sz="17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→</a:t>
            </a:r>
            <a:r>
              <a:rPr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∞, quando la reattanza capacitiva tende a zero e il condensatore si comporta come un cortocircuito ideale (X</a:t>
            </a:r>
            <a:r>
              <a:rPr lang="it-IT" sz="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</a:t>
            </a:r>
            <a:r>
              <a:rPr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=0 Ω).</a:t>
            </a:r>
            <a:endParaRPr sz="11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Praticamente</a:t>
            </a:r>
            <a:r>
              <a:rPr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nella realtà, essendo sempre presenti resistenze parassite e perdite nei componenti, X</a:t>
            </a:r>
            <a:r>
              <a:rPr lang="it-IT" sz="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</a:t>
            </a:r>
            <a:r>
              <a:rPr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non raggiunge mai esattamente zero. Tuttavia, per frequenze dell’ordine di 10*</a:t>
            </a:r>
            <a:r>
              <a:rPr b="1" lang="it-IT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ƒc</a:t>
            </a:r>
            <a:r>
              <a:rPr lang="it-IT" sz="11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≈ 1.6 kHz il sistema è già praticamente indistinguibile dall’ideale, con fase &lt; 5° e attenuazione &lt; 0.5%.</a:t>
            </a:r>
            <a:endParaRPr sz="11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636725" y="1641650"/>
            <a:ext cx="11013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Direttiva: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/>
        </p:nvSpPr>
        <p:spPr>
          <a:xfrm>
            <a:off x="581250" y="743946"/>
            <a:ext cx="110295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it-IT" sz="2800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Sensibilità e Variazione dei Parametri:		R = 100kΩ</a:t>
            </a:r>
            <a:endParaRPr sz="2800" cap="none"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15361" l="8957" r="7094" t="11491"/>
          <a:stretch/>
        </p:blipFill>
        <p:spPr>
          <a:xfrm>
            <a:off x="1569875" y="1791049"/>
            <a:ext cx="2524126" cy="1603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150" y="1583875"/>
            <a:ext cx="5064428" cy="411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6875" y="3641263"/>
            <a:ext cx="252412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1268775" y="5594325"/>
            <a:ext cx="94353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Osservazione:</a:t>
            </a:r>
            <a:endParaRPr b="1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u="sng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Aumentando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la resistenza di un fattore 10, il prodotto RC aumenta e la frequenza di taglio </a:t>
            </a:r>
            <a:r>
              <a:rPr lang="it-IT" u="sng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diminuisce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dello stesso fattore, passando da 159 Hz a 15.9 Hz. </a:t>
            </a:r>
            <a:endParaRPr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581250" y="743946"/>
            <a:ext cx="110295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it-IT" sz="2800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Sensibilità e Variazione dei Parametri:		R = 1kΩ</a:t>
            </a:r>
            <a:endParaRPr sz="2800" cap="none"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183" name="Google Shape;1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1525" y="1913575"/>
            <a:ext cx="6628101" cy="323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4">
            <a:alphaModFix/>
          </a:blip>
          <a:srcRect b="5954" l="5644" r="1832" t="9236"/>
          <a:stretch/>
        </p:blipFill>
        <p:spPr>
          <a:xfrm>
            <a:off x="1514225" y="1862875"/>
            <a:ext cx="2916450" cy="185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3063" y="3858199"/>
            <a:ext cx="2434515" cy="139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1319300" y="5594325"/>
            <a:ext cx="98973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Osservazione:</a:t>
            </a:r>
            <a:endParaRPr b="1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u="sng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Riducendo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la resistenza di un fattore 10, il prodotto RC diminuisce e la frequenza di taglio </a:t>
            </a:r>
            <a:r>
              <a:rPr lang="it-IT" u="sng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aumenta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dello stesso fattore, passando da 159 Hz a circa 1.59 kHz.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In generale, </a:t>
            </a:r>
            <a:r>
              <a:rPr b="1" lang="it-IT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ƒc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è inversamente proporzionale a R</a:t>
            </a:r>
            <a:endParaRPr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581250" y="722296"/>
            <a:ext cx="110295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it-IT" sz="2800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Sensibilità e Variazione dei Parametri:		Capacità</a:t>
            </a:r>
            <a:endParaRPr sz="2800" cap="none"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325" y="2294234"/>
            <a:ext cx="22479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3363" y="1765348"/>
            <a:ext cx="4410926" cy="215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8330950" y="2249123"/>
            <a:ext cx="3363900" cy="17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Osservazione:</a:t>
            </a:r>
            <a:endParaRPr b="1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u="sng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Aumentando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la capacità di un fattore 10 (da 100 nF a 1 µF) il termine RC cresce di 10 volte e quindi la frequenza di taglio </a:t>
            </a:r>
            <a:r>
              <a:rPr lang="it-IT" u="sng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diminuisce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dello stesso fattore, passando da circa 159 Hz a circa 15.9 Hz.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853325" y="1694250"/>
            <a:ext cx="14622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 = 1uF</a:t>
            </a:r>
            <a:r>
              <a:rPr lang="it-IT" sz="17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7" name="Google Shape;197;p20"/>
          <p:cNvSpPr/>
          <p:nvPr/>
        </p:nvSpPr>
        <p:spPr>
          <a:xfrm flipH="1" rot="10800000">
            <a:off x="758800" y="4216380"/>
            <a:ext cx="10936200" cy="3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853325" y="4431019"/>
            <a:ext cx="14622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7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 = 1nF: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325" y="5062928"/>
            <a:ext cx="2181225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5669" y="4405975"/>
            <a:ext cx="4402130" cy="215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8382275" y="4675500"/>
            <a:ext cx="3411600" cy="1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Osservazione:</a:t>
            </a:r>
            <a:endParaRPr b="1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Riducendo la capacità di un fattore 100, il prodotto RC diminuisce di un fattore 100 e la frequenza di taglio </a:t>
            </a:r>
            <a:r>
              <a:rPr lang="it-IT" u="sng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aumenta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dello stesso fattore, passando da 159 Hz a circa 15.9 kHz. In generale, </a:t>
            </a:r>
            <a:r>
              <a:rPr b="1" lang="it-IT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ƒc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è inversamente proporzionale alla capacità C</a:t>
            </a:r>
            <a:endParaRPr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/>
        </p:nvSpPr>
        <p:spPr>
          <a:xfrm>
            <a:off x="581250" y="722296"/>
            <a:ext cx="110295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it-IT" sz="2800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Risposta nel dominio del tempo</a:t>
            </a:r>
            <a:endParaRPr sz="2800" cap="none"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705675" y="1508400"/>
            <a:ext cx="109368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Si analizza la risposta del filtro RC applicando in ingresso tre segnali sinusoidali a frequenze diverse: 10 Hz, 159 Hz (frequenza di taglio) e 250 Hz. Nei grafici in transitorio sono mostrate separatamente tensione di ingresso e di uscita, per evidenziare come il filtro introduca attenuazione e sfasamento variabili al variare della frequenza rispetto a </a:t>
            </a:r>
            <a:r>
              <a:rPr b="1" lang="it-IT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ƒc</a:t>
            </a:r>
            <a:endParaRPr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625" y="2426100"/>
            <a:ext cx="5941151" cy="291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5737" y="2684525"/>
            <a:ext cx="3059975" cy="81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58900" y="3754425"/>
            <a:ext cx="1266825" cy="53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99826" y="4458275"/>
            <a:ext cx="3184975" cy="6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47375" y="5264025"/>
            <a:ext cx="1796700" cy="11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581250" y="5522325"/>
            <a:ext cx="74301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3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Osservazione:</a:t>
            </a:r>
            <a:endParaRPr b="1" sz="13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 sfasamento ottenuto è molto vicino a 90°, valore limite tipico del comportamento del filtro passa-alto a basse frequenze rispetto alla frequenza di taglio. Questo indica che, a 10 Hz, il segnale in ingresso viene fortemente attenuato e l’uscita risulta quasi “sganciata” dall’ingresso, con un comportamento vicino alla derivazione del segnale.</a:t>
            </a:r>
            <a:endParaRPr sz="13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5" name="Google Shape;215;p21"/>
          <p:cNvSpPr/>
          <p:nvPr/>
        </p:nvSpPr>
        <p:spPr>
          <a:xfrm flipH="1" rot="10800000">
            <a:off x="8531050" y="2945826"/>
            <a:ext cx="464100" cy="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00" y="1234450"/>
            <a:ext cx="7053624" cy="345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6725" y="1460650"/>
            <a:ext cx="3234275" cy="77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1125" y="2839476"/>
            <a:ext cx="2675675" cy="64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24250" y="3793050"/>
            <a:ext cx="1748550" cy="112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749025" y="5104200"/>
            <a:ext cx="10915200" cy="12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13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Osservazione: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 250 Hz, cioè ben al di sopra della frequenza di taglio </a:t>
            </a:r>
            <a:r>
              <a:rPr b="1" lang="it-IT" sz="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ƒc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=159 Hz, il filtro lascia passare il segnale con una attenuazione molto ridotta e introduce uno sfasamento contenuto (circa 32°). Questo conferma il comportamento tipico del passa-alto: aumentando la frequenza rispetto a </a:t>
            </a:r>
            <a:r>
              <a:rPr b="1" lang="it-IT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ƒc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​, il segnale in uscita tende sempre più a seguire quello in ingresso sia in ampiezza sia in fase.</a:t>
            </a:r>
            <a:endParaRPr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6" name="Google Shape;226;p22"/>
          <p:cNvSpPr/>
          <p:nvPr/>
        </p:nvSpPr>
        <p:spPr>
          <a:xfrm flipH="1" rot="10800000">
            <a:off x="8324250" y="1711376"/>
            <a:ext cx="464100" cy="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101" y="1256900"/>
            <a:ext cx="7008573" cy="343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4525" y="1307425"/>
            <a:ext cx="3869800" cy="77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8100" y="2438350"/>
            <a:ext cx="2596275" cy="61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79025" y="3408575"/>
            <a:ext cx="1744425" cy="11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749025" y="5104200"/>
            <a:ext cx="10915200" cy="12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3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Osservazione:</a:t>
            </a:r>
            <a:endParaRPr sz="17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Alla frequenza di taglio f=</a:t>
            </a:r>
            <a:r>
              <a:rPr b="1" lang="it-IT" sz="13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ƒc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=159 Hz, il filtro passa-alto RC mostra un comportamento intermedio tra attenuazione e trasparenza del segnale. Lo sfasamento di circa 45° è coerente con la teoria, secondo cui alla frequenza di taglio l’uscita risulta attenuata di circa −3 dB e presenta uno sfasamento intermedio tra il regime a bassa e alta frequenza.</a:t>
            </a:r>
            <a:endParaRPr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7" name="Google Shape;237;p23"/>
          <p:cNvSpPr/>
          <p:nvPr/>
        </p:nvSpPr>
        <p:spPr>
          <a:xfrm flipH="1" rot="10800000">
            <a:off x="8439739" y="1530901"/>
            <a:ext cx="464100" cy="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/>
        </p:nvSpPr>
        <p:spPr>
          <a:xfrm>
            <a:off x="581250" y="722296"/>
            <a:ext cx="110295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it-IT" sz="2800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Carichi a terminale</a:t>
            </a:r>
            <a:endParaRPr sz="2800" cap="none"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727375" y="1429775"/>
            <a:ext cx="108834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Valutare l’effetto dell’introduzione di un carico resistivo lineare R</a:t>
            </a:r>
            <a:r>
              <a:rPr lang="it-IT" sz="8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</a:t>
            </a:r>
            <a:r>
              <a:rPr lang="it-IT" sz="15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​=10kΩ sulle prestazioni in frequenza del filtro passivo</a:t>
            </a:r>
            <a:endParaRPr sz="1500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45" name="Google Shape;245;p24"/>
          <p:cNvPicPr preferRelativeResize="0"/>
          <p:nvPr/>
        </p:nvPicPr>
        <p:blipFill rotWithShape="1">
          <a:blip r:embed="rId3">
            <a:alphaModFix/>
          </a:blip>
          <a:srcRect b="14717" l="6127" r="19612" t="7823"/>
          <a:stretch/>
        </p:blipFill>
        <p:spPr>
          <a:xfrm>
            <a:off x="489150" y="2382650"/>
            <a:ext cx="3969600" cy="154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725" y="2028275"/>
            <a:ext cx="6822026" cy="334439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532450" y="5494050"/>
            <a:ext cx="112878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Osservazione: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Il collegamento del carico </a:t>
            </a:r>
            <a:r>
              <a:rPr lang="it-IT" sz="12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</a:t>
            </a:r>
            <a:r>
              <a:rPr lang="it-IT" sz="5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= </a:t>
            </a:r>
            <a:r>
              <a:rPr lang="it-IT" sz="12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10kΩ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dimezza la resistenza equivalente vista dal condensatore (R</a:t>
            </a:r>
            <a:r>
              <a:rPr lang="it-IT" sz="12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eq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= R || </a:t>
            </a:r>
            <a:r>
              <a:rPr lang="it-IT" sz="12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</a:t>
            </a:r>
            <a:r>
              <a:rPr lang="it-IT" sz="5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= 5</a:t>
            </a:r>
            <a:r>
              <a:rPr lang="it-IT" sz="12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kΩ</a:t>
            </a:r>
            <a:r>
              <a:rPr lang="it-IT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). Di conseguenza, la frequenza di taglio raddoppia esattamente, spostandosi da 159 Hz (curva blu) a 318 Hz (curva verde). Questo evidenzia il limite strutturale dei filtri passivi: l'assenza di isolamento fa sì che qualsiasi carico applicato alteri pesantemente la risposta in frequenza del sistema.</a:t>
            </a:r>
            <a:endParaRPr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VTI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VTI">
  <a:themeElements>
    <a:clrScheme name="Aspect">
      <a:dk1>
        <a:srgbClr val="000000"/>
      </a:dk1>
      <a:lt1>
        <a:srgbClr val="FFFFFF"/>
      </a:lt1>
      <a:dk2>
        <a:srgbClr val="585753"/>
      </a:dk2>
      <a:lt2>
        <a:srgbClr val="EBDDC3"/>
      </a:lt2>
      <a:accent1>
        <a:srgbClr val="71B9E4"/>
      </a:accent1>
      <a:accent2>
        <a:srgbClr val="E25D3C"/>
      </a:accent2>
      <a:accent3>
        <a:srgbClr val="BDB59D"/>
      </a:accent3>
      <a:accent4>
        <a:srgbClr val="A5AB81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