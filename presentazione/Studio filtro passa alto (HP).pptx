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74" r:id="rId5"/>
    <p:sldId id="275" r:id="rId6"/>
    <p:sldId id="276" r:id="rId7"/>
    <p:sldId id="277" r:id="rId8"/>
    <p:sldId id="280" r:id="rId9"/>
    <p:sldId id="281" r:id="rId10"/>
    <p:sldId id="278" r:id="rId11"/>
    <p:sldId id="279" r:id="rId12"/>
    <p:sldId id="282" r:id="rId13"/>
    <p:sldId id="283" r:id="rId14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19" autoAdjust="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C99916-1E25-47B9-BE9A-90112F64B39F}" type="datetime1">
              <a:rPr lang="it-IT" smtClean="0"/>
              <a:t>01/06/2026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03D72-FEFE-464F-BBF3-CA6CA4B5E29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132657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A164AD-896A-4E68-B639-A4C67004F322}" type="datetime1">
              <a:rPr lang="it-IT" noProof="0" smtClean="0"/>
              <a:t>01/06/2026</a:t>
            </a:fld>
            <a:endParaRPr lang="it-IT" noProof="0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 dirty="0"/>
              <a:t>Fare clic per modificare gli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306F76E-E60C-4C54-B47A-C2C406EC8F7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9874831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306F76E-E60C-4C54-B47A-C2C406EC8F72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4642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06F76E-E60C-4C54-B47A-C2C406EC8F72}" type="slidenum">
              <a:rPr lang="it-IT" noProof="0" smtClean="0"/>
              <a:t>7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4236671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it-IT" noProof="0"/>
              <a:t>Fare clic per modificare lo stile del sottotitolo dello schema</a:t>
            </a:r>
            <a:endParaRPr lang="it-IT" noProof="0" dirty="0"/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B9F44D-AE12-4CBE-90AA-654BBDD7B44E}" type="datetime1">
              <a:rPr lang="it-IT" noProof="0" smtClean="0"/>
              <a:t>01/06/2026</a:t>
            </a:fld>
            <a:endParaRPr lang="it-IT" noProof="0" dirty="0"/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33572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CFF5805-05CC-42BB-8DAD-5CEF8B164BBB}" type="datetime1">
              <a:rPr lang="it-IT" noProof="0" smtClean="0"/>
              <a:t>01/06/2026</a:t>
            </a:fld>
            <a:endParaRPr lang="it-IT" noProof="0" dirty="0"/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481562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 rtl="0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9C2D61-37D4-48F9-B6BD-448A9C5B201E}" type="datetime1">
              <a:rPr lang="it-IT" noProof="0" smtClean="0"/>
              <a:t>01/06/2026</a:t>
            </a:fld>
            <a:endParaRPr lang="it-IT" noProof="0" dirty="0"/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55485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D1029F6-9285-4E18-B031-214D19E5B0C4}" type="datetime1">
              <a:rPr lang="it-IT" noProof="0" smtClean="0"/>
              <a:t>01/06/2026</a:t>
            </a:fld>
            <a:endParaRPr lang="it-IT" noProof="0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005235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it-IT" noProof="0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1E28AA-0519-452B-88D1-87C2B4E59274}" type="datetime1">
              <a:rPr lang="it-IT" noProof="0" smtClean="0"/>
              <a:t>01/06/2026</a:t>
            </a:fld>
            <a:endParaRPr lang="it-IT" noProof="0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439114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E325EC-79D3-464C-8C24-CFF158024C82}" type="datetime1">
              <a:rPr lang="it-IT" noProof="0" smtClean="0"/>
              <a:t>01/06/2026</a:t>
            </a:fld>
            <a:endParaRPr lang="it-IT" noProof="0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55277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C7AC6D7-231C-4542-A863-245063A40198}" type="datetime1">
              <a:rPr lang="it-IT" noProof="0" smtClean="0"/>
              <a:t>01/06/2026</a:t>
            </a:fld>
            <a:endParaRPr lang="it-IT" noProof="0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22158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 hasCustomPrompt="1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 rtl="0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4728E04D-D0DE-4EBC-AB37-A3DCF387EC5A}" type="datetime1">
              <a:rPr lang="it-IT" noProof="0" smtClean="0"/>
              <a:t>01/06/2026</a:t>
            </a:fld>
            <a:endParaRPr lang="it-IT" noProof="0" dirty="0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pPr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63153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it-IT" noProof="0"/>
              <a:t>Fare clic sull'icona per inserire un'immagine</a:t>
            </a:r>
            <a:endParaRPr lang="it-IT" noProof="0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027C449-9051-432C-BB34-DA2542A8FA59}" type="datetime1">
              <a:rPr lang="it-IT" noProof="0" smtClean="0"/>
              <a:t>01/06/2026</a:t>
            </a:fld>
            <a:endParaRPr lang="it-IT" noProof="0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92584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it-IT" noProof="0" dirty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it-IT" noProof="0" dirty="0"/>
              <a:t>Fare clic per modificare gli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5F202A1-0708-4EA3-8AAF-86C12B9A7B14}" type="datetime1">
              <a:rPr lang="it-IT" noProof="0" smtClean="0"/>
              <a:t>01/06/2026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  <p:sp>
        <p:nvSpPr>
          <p:cNvPr id="9" name="Rettango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0" name="Rettango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1" name="Rettango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5219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ttangolo 37">
            <a:extLst>
              <a:ext uri="{FF2B5EF4-FFF2-40B4-BE49-F238E27FC236}">
                <a16:creationId xmlns:a16="http://schemas.microsoft.com/office/drawing/2014/main" id="{6B695AA2-4B70-477F-AF90-536B720A1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8BD66B72-49BB-E223-64D1-1CA08341A5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276" y="120663"/>
            <a:ext cx="10225530" cy="1210704"/>
          </a:xfrm>
        </p:spPr>
        <p:txBody>
          <a:bodyPr rtlCol="0">
            <a:normAutofit/>
          </a:bodyPr>
          <a:lstStyle/>
          <a:p>
            <a:r>
              <a:rPr lang="it-IT" sz="4800">
                <a:solidFill>
                  <a:schemeClr val="tx1"/>
                </a:solidFill>
              </a:rPr>
              <a:t>Studio filtro passa alto (HP)</a:t>
            </a:r>
            <a:endParaRPr lang="it-IT" sz="4800" dirty="0">
              <a:solidFill>
                <a:schemeClr val="tx1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276" y="1654198"/>
            <a:ext cx="10225530" cy="590321"/>
          </a:xfrm>
        </p:spPr>
        <p:txBody>
          <a:bodyPr rtlCol="0">
            <a:normAutofit/>
          </a:bodyPr>
          <a:lstStyle/>
          <a:p>
            <a:pPr rtl="0"/>
            <a:r>
              <a:rPr lang="it-IT" sz="1600">
                <a:solidFill>
                  <a:schemeClr val="tx1"/>
                </a:solidFill>
              </a:rPr>
              <a:t>Lavoro di:</a:t>
            </a:r>
            <a:endParaRPr lang="it-IT" sz="1600" dirty="0">
              <a:solidFill>
                <a:schemeClr val="tx1"/>
              </a:solidFill>
            </a:endParaRPr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F26CD8AA-61D9-BDB3-CE6C-E60A3EF6490D}"/>
              </a:ext>
            </a:extLst>
          </p:cNvPr>
          <p:cNvSpPr txBox="1">
            <a:spLocks/>
          </p:cNvSpPr>
          <p:nvPr/>
        </p:nvSpPr>
        <p:spPr>
          <a:xfrm>
            <a:off x="1838910" y="2016641"/>
            <a:ext cx="10225530" cy="590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>
                <a:solidFill>
                  <a:schemeClr val="tx1"/>
                </a:solidFill>
              </a:rPr>
              <a:t>Riccardo Motta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>
                <a:solidFill>
                  <a:schemeClr val="tx1"/>
                </a:solidFill>
              </a:rPr>
              <a:t>Riccardo scola colombo</a:t>
            </a:r>
            <a:endParaRPr lang="it-IT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248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08173C22-8646-3B78-C22F-8FD89E7E3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b="0" kern="1200" cap="all" dirty="0">
                <a:latin typeface="+mj-lt"/>
                <a:ea typeface="+mj-ea"/>
                <a:cs typeface="+mj-cs"/>
              </a:rPr>
              <a:t>Cosa è un filtro passa alto?</a:t>
            </a:r>
            <a:br>
              <a:rPr lang="it-IT" b="0" kern="1200" cap="all" dirty="0">
                <a:latin typeface="+mj-lt"/>
                <a:ea typeface="+mj-ea"/>
                <a:cs typeface="+mj-cs"/>
              </a:rPr>
            </a:br>
            <a:endParaRPr lang="it-IT" b="0" kern="1200" cap="all" dirty="0">
              <a:latin typeface="+mj-lt"/>
              <a:ea typeface="+mj-ea"/>
              <a:cs typeface="+mj-cs"/>
            </a:endParaRPr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40C3F8B0-BC03-968A-C1A4-E0D856C33CDF}"/>
              </a:ext>
            </a:extLst>
          </p:cNvPr>
          <p:cNvGrpSpPr/>
          <p:nvPr/>
        </p:nvGrpSpPr>
        <p:grpSpPr>
          <a:xfrm>
            <a:off x="581191" y="2250891"/>
            <a:ext cx="5194769" cy="1798436"/>
            <a:chOff x="581191" y="2250891"/>
            <a:chExt cx="5194769" cy="1798436"/>
          </a:xfrm>
        </p:grpSpPr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75AFB858-71A3-F171-46D1-078DFF220426}"/>
                </a:ext>
              </a:extLst>
            </p:cNvPr>
            <p:cNvSpPr txBox="1"/>
            <p:nvPr/>
          </p:nvSpPr>
          <p:spPr>
            <a:xfrm>
              <a:off x="581191" y="2250891"/>
              <a:ext cx="5194769" cy="55778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/>
            <a:p>
              <a:pPr defTabSz="457200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accent1"/>
                </a:buClr>
                <a:buSzPct val="92000"/>
              </a:pPr>
              <a:r>
                <a:rPr lang="it-IT" sz="2000" b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rPr>
                <a:t>Nel caso più semplice RC passivo: </a:t>
              </a:r>
            </a:p>
          </p:txBody>
        </p:sp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F05895E1-45F1-1114-1C62-D03D1F1E51DC}"/>
                </a:ext>
              </a:extLst>
            </p:cNvPr>
            <p:cNvSpPr txBox="1"/>
            <p:nvPr/>
          </p:nvSpPr>
          <p:spPr>
            <a:xfrm>
              <a:off x="581194" y="2926053"/>
              <a:ext cx="5194766" cy="112327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/>
            <a:p>
              <a:pPr marL="306000" indent="-306000" defTabSz="457200">
                <a:spcBef>
                  <a:spcPct val="20000"/>
                </a:spcBef>
                <a:spcAft>
                  <a:spcPts val="600"/>
                </a:spcAft>
                <a:buClr>
                  <a:schemeClr val="accent1"/>
                </a:buClr>
                <a:buSzPct val="92000"/>
                <a:buFont typeface="Wingdings 2" panose="05020102010507070707" pitchFamily="18" charset="2"/>
                <a:buChar char=""/>
              </a:pPr>
              <a:r>
                <a:rPr lang="it-IT" sz="17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Il condensatore blocca le basse frequenze;</a:t>
              </a:r>
            </a:p>
            <a:p>
              <a:pPr marL="306000" indent="-306000" defTabSz="457200">
                <a:spcBef>
                  <a:spcPct val="20000"/>
                </a:spcBef>
                <a:spcAft>
                  <a:spcPts val="600"/>
                </a:spcAft>
                <a:buClr>
                  <a:schemeClr val="accent1"/>
                </a:buClr>
                <a:buSzPct val="92000"/>
                <a:buFont typeface="Wingdings 2" panose="05020102010507070707" pitchFamily="18" charset="2"/>
                <a:buChar char=""/>
              </a:pPr>
              <a:r>
                <a:rPr lang="it-IT" sz="17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Mentre alle alte frequenze la sua impedenza diminuisce e il segnale passa in uscita.</a:t>
              </a:r>
            </a:p>
          </p:txBody>
        </p:sp>
      </p:grpSp>
      <p:pic>
        <p:nvPicPr>
          <p:cNvPr id="11" name="Immagine 10">
            <a:extLst>
              <a:ext uri="{FF2B5EF4-FFF2-40B4-BE49-F238E27FC236}">
                <a16:creationId xmlns:a16="http://schemas.microsoft.com/office/drawing/2014/main" id="{D9F22274-292D-C754-5291-7095938E3A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" t="-138" r="5" b="7128"/>
          <a:stretch>
            <a:fillRect/>
          </a:stretch>
        </p:blipFill>
        <p:spPr>
          <a:xfrm>
            <a:off x="5985782" y="1415932"/>
            <a:ext cx="5194771" cy="4831690"/>
          </a:xfrm>
          <a:prstGeom prst="rect">
            <a:avLst/>
          </a:prstGeom>
          <a:noFill/>
        </p:spPr>
      </p:pic>
      <p:grpSp>
        <p:nvGrpSpPr>
          <p:cNvPr id="10" name="Gruppo 9">
            <a:extLst>
              <a:ext uri="{FF2B5EF4-FFF2-40B4-BE49-F238E27FC236}">
                <a16:creationId xmlns:a16="http://schemas.microsoft.com/office/drawing/2014/main" id="{AA640698-7928-49AD-B1B6-1E4D631AC460}"/>
              </a:ext>
            </a:extLst>
          </p:cNvPr>
          <p:cNvGrpSpPr/>
          <p:nvPr/>
        </p:nvGrpSpPr>
        <p:grpSpPr>
          <a:xfrm>
            <a:off x="581191" y="4968284"/>
            <a:ext cx="6097218" cy="578235"/>
            <a:chOff x="581191" y="4509536"/>
            <a:chExt cx="6097218" cy="5782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asellaDiTesto 5">
                  <a:extLst>
                    <a:ext uri="{FF2B5EF4-FFF2-40B4-BE49-F238E27FC236}">
                      <a16:creationId xmlns:a16="http://schemas.microsoft.com/office/drawing/2014/main" id="{E1A935B9-47E3-5529-DEBA-2A9B395AC37D}"/>
                    </a:ext>
                  </a:extLst>
                </p:cNvPr>
                <p:cNvSpPr txBox="1"/>
                <p:nvPr/>
              </p:nvSpPr>
              <p:spPr>
                <a:xfrm>
                  <a:off x="3388399" y="4509536"/>
                  <a:ext cx="2086242" cy="5782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it-IT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it-IT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𝑅𝐶</m:t>
                            </m:r>
                          </m:den>
                        </m:f>
                      </m:oMath>
                    </m:oMathPara>
                  </a14:m>
                  <a:endParaRPr lang="it-IT" sz="2000" dirty="0"/>
                </a:p>
              </p:txBody>
            </p:sp>
          </mc:Choice>
          <mc:Fallback xmlns="">
            <p:sp>
              <p:nvSpPr>
                <p:cNvPr id="6" name="CasellaDiTesto 5">
                  <a:extLst>
                    <a:ext uri="{FF2B5EF4-FFF2-40B4-BE49-F238E27FC236}">
                      <a16:creationId xmlns:a16="http://schemas.microsoft.com/office/drawing/2014/main" id="{E1A935B9-47E3-5529-DEBA-2A9B395AC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8399" y="4509536"/>
                  <a:ext cx="2086242" cy="57823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BEEA7EAD-B56C-6031-9FF2-34781081F562}"/>
                </a:ext>
              </a:extLst>
            </p:cNvPr>
            <p:cNvSpPr txBox="1"/>
            <p:nvPr/>
          </p:nvSpPr>
          <p:spPr>
            <a:xfrm>
              <a:off x="581191" y="4613988"/>
              <a:ext cx="60972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dirty="0"/>
                <a:t>La frequenza di taglio vale: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3522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023AF3FD-ACC6-2D5D-0D9A-885BAA38BE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27" y="1676763"/>
            <a:ext cx="10022920" cy="4921387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CCF2EFC7-4F47-D777-0B58-D8F6BE966865}"/>
              </a:ext>
            </a:extLst>
          </p:cNvPr>
          <p:cNvPicPr/>
          <p:nvPr/>
        </p:nvPicPr>
        <p:blipFill>
          <a:blip r:embed="rId2"/>
          <a:srcRect l="47270" t="31327" r="40720" b="43415"/>
          <a:stretch>
            <a:fillRect/>
          </a:stretch>
        </p:blipFill>
        <p:spPr>
          <a:xfrm>
            <a:off x="8343900" y="2301430"/>
            <a:ext cx="3649077" cy="33515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6346A5-8110-CD64-1702-93628F6C69B1}"/>
              </a:ext>
            </a:extLst>
          </p:cNvPr>
          <p:cNvSpPr txBox="1">
            <a:spLocks/>
          </p:cNvSpPr>
          <p:nvPr/>
        </p:nvSpPr>
        <p:spPr>
          <a:xfrm>
            <a:off x="581193" y="729658"/>
            <a:ext cx="11029616" cy="988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dirty="0"/>
              <a:t>Cosa è un filtro passa alto (esempio bode)?</a:t>
            </a:r>
            <a:br>
              <a:rPr lang="it-IT" dirty="0"/>
            </a:br>
            <a:endParaRPr lang="it-IT" dirty="0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518F4A30-1D9D-35DD-D299-F266FC8F1FBC}"/>
              </a:ext>
            </a:extLst>
          </p:cNvPr>
          <p:cNvSpPr/>
          <p:nvPr/>
        </p:nvSpPr>
        <p:spPr>
          <a:xfrm>
            <a:off x="4446481" y="2026374"/>
            <a:ext cx="745067" cy="68873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79F60ECE-AE7C-AAE0-3968-55AF22CDBD39}"/>
                  </a:ext>
                </a:extLst>
              </p:cNvPr>
              <p:cNvSpPr txBox="1"/>
              <p:nvPr/>
            </p:nvSpPr>
            <p:spPr>
              <a:xfrm>
                <a:off x="5005581" y="1820973"/>
                <a:ext cx="208624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it-IT" sz="20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it-IT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000" b="1" i="1" smtClean="0">
                          <a:latin typeface="Cambria Math" panose="02040503050406030204" pitchFamily="18" charset="0"/>
                        </a:rPr>
                        <m:t>𝟏𝟓𝟗</m:t>
                      </m:r>
                      <m:r>
                        <a:rPr lang="it-IT" sz="2000" b="1" i="1" smtClean="0">
                          <a:latin typeface="Cambria Math" panose="02040503050406030204" pitchFamily="18" charset="0"/>
                        </a:rPr>
                        <m:t>𝑯𝒛</m:t>
                      </m:r>
                    </m:oMath>
                  </m:oMathPara>
                </a14:m>
                <a:endParaRPr lang="it-IT" sz="2000" b="1" dirty="0"/>
              </a:p>
            </p:txBody>
          </p:sp>
        </mc:Choice>
        <mc:Fallback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79F60ECE-AE7C-AAE0-3968-55AF22CDB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81" y="1820973"/>
                <a:ext cx="2086242" cy="307777"/>
              </a:xfrm>
              <a:prstGeom prst="rect">
                <a:avLst/>
              </a:prstGeom>
              <a:blipFill>
                <a:blip r:embed="rId3"/>
                <a:stretch>
                  <a:fillRect b="-36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CC9970F-3CA6-58F5-239A-627A9D51DF75}"/>
              </a:ext>
            </a:extLst>
          </p:cNvPr>
          <p:cNvSpPr txBox="1"/>
          <p:nvPr/>
        </p:nvSpPr>
        <p:spPr>
          <a:xfrm>
            <a:off x="8739751" y="817278"/>
            <a:ext cx="283934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dirty="0"/>
              <a:t>Nel diagramma di Bode, il filtro passa-alto </a:t>
            </a:r>
            <a:r>
              <a:rPr lang="it-IT" b="1" i="1" u="sng" dirty="0"/>
              <a:t>attenua le basse frequenze e lascia passare quelle alte.</a:t>
            </a:r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F0311132-1AE0-83BB-22A5-2E76DCBB2C27}"/>
              </a:ext>
            </a:extLst>
          </p:cNvPr>
          <p:cNvSpPr/>
          <p:nvPr/>
        </p:nvSpPr>
        <p:spPr>
          <a:xfrm>
            <a:off x="10159421" y="2633484"/>
            <a:ext cx="2158999" cy="1261534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DFFB7E31-9C03-3B43-901C-A97014B507EC}"/>
              </a:ext>
            </a:extLst>
          </p:cNvPr>
          <p:cNvCxnSpPr>
            <a:cxnSpLocks/>
            <a:endCxn id="7" idx="6"/>
          </p:cNvCxnSpPr>
          <p:nvPr/>
        </p:nvCxnSpPr>
        <p:spPr>
          <a:xfrm flipH="1" flipV="1">
            <a:off x="5191548" y="2370741"/>
            <a:ext cx="3291489" cy="77563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rapezio 20">
            <a:extLst>
              <a:ext uri="{FF2B5EF4-FFF2-40B4-BE49-F238E27FC236}">
                <a16:creationId xmlns:a16="http://schemas.microsoft.com/office/drawing/2014/main" id="{ECA1FF3A-FC09-49AF-29D8-3F5FB6671D3D}"/>
              </a:ext>
            </a:extLst>
          </p:cNvPr>
          <p:cNvSpPr/>
          <p:nvPr/>
        </p:nvSpPr>
        <p:spPr>
          <a:xfrm rot="16200000">
            <a:off x="5690875" y="3067076"/>
            <a:ext cx="3222310" cy="1794716"/>
          </a:xfrm>
          <a:prstGeom prst="trapezoid">
            <a:avLst>
              <a:gd name="adj" fmla="val 46579"/>
            </a:avLst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95B2A971-96DC-0024-8A3D-CB41B0D5E942}"/>
                  </a:ext>
                </a:extLst>
              </p:cNvPr>
              <p:cNvSpPr txBox="1"/>
              <p:nvPr/>
            </p:nvSpPr>
            <p:spPr>
              <a:xfrm>
                <a:off x="8343900" y="5787946"/>
                <a:ext cx="3716866" cy="83099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sz="1600" dirty="0"/>
                  <a:t>In corrispondenza di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ar-AE" sz="1600" b="1" i="1"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it-IT" sz="1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it-IT" sz="1600" b="1" dirty="0"/>
                  <a:t>il guadagno è pari a -3 dB</a:t>
                </a:r>
                <a:r>
                  <a:rPr lang="it-IT" sz="1600" dirty="0"/>
                  <a:t>, mentre sopra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it-IT" sz="1600" dirty="0"/>
                  <a:t>il segnale viene trasferito quasi interamente.</a:t>
                </a:r>
              </a:p>
            </p:txBody>
          </p:sp>
        </mc:Choice>
        <mc:Fallback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95B2A971-96DC-0024-8A3D-CB41B0D5E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3900" y="5787946"/>
                <a:ext cx="3716866" cy="830997"/>
              </a:xfrm>
              <a:prstGeom prst="rect">
                <a:avLst/>
              </a:prstGeom>
              <a:blipFill>
                <a:blip r:embed="rId4"/>
                <a:stretch>
                  <a:fillRect t="-1439" b="-7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D5761892-DF49-6CC0-821E-A5D7E0B740DD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10202333" y="4057741"/>
            <a:ext cx="1079499" cy="1730205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diritto 30">
            <a:extLst>
              <a:ext uri="{FF2B5EF4-FFF2-40B4-BE49-F238E27FC236}">
                <a16:creationId xmlns:a16="http://schemas.microsoft.com/office/drawing/2014/main" id="{24F63F3E-BD93-1426-018A-7C53C353448D}"/>
              </a:ext>
            </a:extLst>
          </p:cNvPr>
          <p:cNvCxnSpPr/>
          <p:nvPr/>
        </p:nvCxnSpPr>
        <p:spPr>
          <a:xfrm>
            <a:off x="8568267" y="3179585"/>
            <a:ext cx="12446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325FF307-FA28-B898-6AA3-3F30CC6ACF16}"/>
              </a:ext>
            </a:extLst>
          </p:cNvPr>
          <p:cNvSpPr txBox="1"/>
          <p:nvPr/>
        </p:nvSpPr>
        <p:spPr>
          <a:xfrm>
            <a:off x="8300988" y="3660123"/>
            <a:ext cx="2023749" cy="738664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dove il guadagno è </a:t>
            </a:r>
            <a:r>
              <a:rPr lang="it-IT" sz="1400" b="1" dirty="0"/>
              <a:t>-3 dB</a:t>
            </a:r>
            <a:r>
              <a:rPr lang="it-IT" sz="1400" dirty="0"/>
              <a:t>, la fase vale circa </a:t>
            </a:r>
            <a:r>
              <a:rPr lang="it-IT" sz="1400" b="1" dirty="0"/>
              <a:t>+45°</a:t>
            </a:r>
            <a:endParaRPr lang="it-IT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asellaDiTesto 33">
                <a:extLst>
                  <a:ext uri="{FF2B5EF4-FFF2-40B4-BE49-F238E27FC236}">
                    <a16:creationId xmlns:a16="http://schemas.microsoft.com/office/drawing/2014/main" id="{506F503F-54AF-3FCD-9904-A7F828233193}"/>
                  </a:ext>
                </a:extLst>
              </p:cNvPr>
              <p:cNvSpPr txBox="1"/>
              <p:nvPr/>
            </p:nvSpPr>
            <p:spPr>
              <a:xfrm>
                <a:off x="381122" y="5632721"/>
                <a:ext cx="7165809" cy="120032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b="1" i="1" dirty="0"/>
                  <a:t>Nel filtro passa-alto RC, la fase passa da circa +90° alle basse frequenze a circa 0° alle alte frequenze. </a:t>
                </a:r>
              </a:p>
              <a:p>
                <a:pPr algn="just"/>
                <a:r>
                  <a:rPr lang="it-IT" u="sng" dirty="0"/>
                  <a:t>Alla frequenza di taglio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u="sng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u="sng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i="1" u="sng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it-IT" u="sng" dirty="0"/>
                  <a:t> dove il modulo del guadagno è pari a -3 dB, lo sfasamento è di circa +45°</a:t>
                </a:r>
              </a:p>
            </p:txBody>
          </p:sp>
        </mc:Choice>
        <mc:Fallback>
          <p:sp>
            <p:nvSpPr>
              <p:cNvPr id="34" name="CasellaDiTesto 33">
                <a:extLst>
                  <a:ext uri="{FF2B5EF4-FFF2-40B4-BE49-F238E27FC236}">
                    <a16:creationId xmlns:a16="http://schemas.microsoft.com/office/drawing/2014/main" id="{506F503F-54AF-3FCD-9904-A7F828233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22" y="5632721"/>
                <a:ext cx="7165809" cy="1200329"/>
              </a:xfrm>
              <a:prstGeom prst="rect">
                <a:avLst/>
              </a:prstGeom>
              <a:blipFill>
                <a:blip r:embed="rId5"/>
                <a:stretch>
                  <a:fillRect l="-680" t="-2010" r="-595" b="-65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6452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987036A-373E-1475-4046-8B8CC7AEB8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755" r="46503" b="50359"/>
          <a:stretch>
            <a:fillRect/>
          </a:stretch>
        </p:blipFill>
        <p:spPr>
          <a:xfrm>
            <a:off x="587228" y="712029"/>
            <a:ext cx="3225567" cy="2917438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C5B56FF-DFCB-164C-362D-7202B2196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399" y="840630"/>
            <a:ext cx="5281376" cy="258837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1CF37E-3035-5FDA-0785-153B91AD6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078" y="3587260"/>
            <a:ext cx="5952815" cy="291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712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B987A302-9030-9FD3-6949-7F90FFE92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41" y="1243731"/>
            <a:ext cx="3873544" cy="18984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7145D76-7111-CBDA-978A-1B89D22AA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487476"/>
            <a:ext cx="2838846" cy="1057423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CE2BC5A-5D4D-E8FD-71DB-379E0A03F0E4}"/>
              </a:ext>
            </a:extLst>
          </p:cNvPr>
          <p:cNvSpPr txBox="1"/>
          <p:nvPr/>
        </p:nvSpPr>
        <p:spPr>
          <a:xfrm>
            <a:off x="242046" y="4688539"/>
            <a:ext cx="254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F=159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50DE01F-024E-80C2-313C-739B575B7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316" y="1334924"/>
            <a:ext cx="3687472" cy="1807207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577F8FB2-F5FA-6EE8-5C90-EFB51830BD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8418" y="3335055"/>
            <a:ext cx="3315163" cy="1209844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8B2CA4A-488A-EE13-0F78-D16FF35AE569}"/>
              </a:ext>
            </a:extLst>
          </p:cNvPr>
          <p:cNvSpPr txBox="1"/>
          <p:nvPr/>
        </p:nvSpPr>
        <p:spPr>
          <a:xfrm>
            <a:off x="4438418" y="4643715"/>
            <a:ext cx="254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F=1590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2AE1B130-EAEC-19AD-0B68-113637AAF9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819" y="1384539"/>
            <a:ext cx="3586236" cy="1757592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B0B6D580-01BD-5843-030C-3B8B9CFA54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1640" y="3344581"/>
            <a:ext cx="3591426" cy="1190791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B04F3D6-3B21-23F0-2E0B-61C32CD92696}"/>
              </a:ext>
            </a:extLst>
          </p:cNvPr>
          <p:cNvSpPr txBox="1"/>
          <p:nvPr/>
        </p:nvSpPr>
        <p:spPr>
          <a:xfrm>
            <a:off x="8401640" y="4643715"/>
            <a:ext cx="2541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F=15900</a:t>
            </a:r>
          </a:p>
        </p:txBody>
      </p:sp>
    </p:spTree>
    <p:extLst>
      <p:ext uri="{BB962C8B-B14F-4D97-AF65-F5344CB8AC3E}">
        <p14:creationId xmlns:p14="http://schemas.microsoft.com/office/powerpoint/2010/main" val="1307252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149CA22-7560-C411-7FBC-E81A30285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6" y="1050988"/>
            <a:ext cx="4065609" cy="199253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39F9D9F1-5C13-3070-DCA1-71ADAA229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648" y="1050988"/>
            <a:ext cx="3989294" cy="201075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FD0BB3A-2317-BF4A-48FA-FF3C4EB37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0647" y="3182630"/>
            <a:ext cx="3994497" cy="1967594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111FFF97-61A6-D185-DB7A-74DD3D61D8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671" y="5345082"/>
            <a:ext cx="2774576" cy="1359803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47AA382-63E3-F6F2-C122-D302EDA8FD0D}"/>
              </a:ext>
            </a:extLst>
          </p:cNvPr>
          <p:cNvSpPr txBox="1"/>
          <p:nvPr/>
        </p:nvSpPr>
        <p:spPr>
          <a:xfrm>
            <a:off x="963706" y="658906"/>
            <a:ext cx="248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F=10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AAF23B8-9355-2F10-B426-BB16CD99502D}"/>
              </a:ext>
            </a:extLst>
          </p:cNvPr>
          <p:cNvSpPr txBox="1"/>
          <p:nvPr/>
        </p:nvSpPr>
        <p:spPr>
          <a:xfrm>
            <a:off x="4603377" y="621212"/>
            <a:ext cx="248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F=159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09ECB90-E9F9-F8D5-0414-2C2E8EC68CE3}"/>
              </a:ext>
            </a:extLst>
          </p:cNvPr>
          <p:cNvSpPr txBox="1"/>
          <p:nvPr/>
        </p:nvSpPr>
        <p:spPr>
          <a:xfrm>
            <a:off x="8870577" y="621212"/>
            <a:ext cx="248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F=250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8F28EBBE-28B1-B343-0132-A76159ADCB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5778" y="1098336"/>
            <a:ext cx="3563470" cy="17464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294F0406-D6DE-550B-0C79-BBED566B310E}"/>
                  </a:ext>
                </a:extLst>
              </p:cNvPr>
              <p:cNvSpPr txBox="1"/>
              <p:nvPr/>
            </p:nvSpPr>
            <p:spPr>
              <a:xfrm>
                <a:off x="8870577" y="3429000"/>
                <a:ext cx="994118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∙ ∆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294F0406-D6DE-550B-0C79-BBED566B3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0577" y="3429000"/>
                <a:ext cx="994118" cy="5186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6509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6289BA31-DA74-5352-7EE6-4E0AED8CA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50" y="626222"/>
            <a:ext cx="5533117" cy="271827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58C984B-1458-4094-B0D8-FC2002612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51" y="3534252"/>
            <a:ext cx="6517341" cy="3194109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84D5E926-6D32-B5AB-32F6-EAC1263F93B8}"/>
              </a:ext>
            </a:extLst>
          </p:cNvPr>
          <p:cNvSpPr txBox="1"/>
          <p:nvPr/>
        </p:nvSpPr>
        <p:spPr>
          <a:xfrm>
            <a:off x="8221211" y="1661020"/>
            <a:ext cx="20133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Uscite del passivo con resistenza a terminale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5BAC40D6-321E-6F87-7E7C-7EE4B41BD5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6544" y="3926857"/>
            <a:ext cx="6517342" cy="170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232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E436C731-8292-0A60-2E65-9992B049F6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755" r="46503" b="50359"/>
          <a:stretch>
            <a:fillRect/>
          </a:stretch>
        </p:blipFill>
        <p:spPr>
          <a:xfrm>
            <a:off x="1111541" y="909912"/>
            <a:ext cx="2785144" cy="2519088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C614C32B-DB12-DC75-C681-6F5DEA8E73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44" r="70597" b="50359"/>
          <a:stretch>
            <a:fillRect/>
          </a:stretch>
        </p:blipFill>
        <p:spPr>
          <a:xfrm>
            <a:off x="440420" y="3641186"/>
            <a:ext cx="3485626" cy="273472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3AC5A34-8456-861F-DCA9-4655F0F6A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634" y="763562"/>
            <a:ext cx="3327306" cy="163069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48E2E02-54D1-0179-4FD1-AB166AB71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290" y="763562"/>
            <a:ext cx="3540154" cy="173500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F0A7070B-283F-D2E8-5152-273F70D7E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7366" y="2644710"/>
            <a:ext cx="3200569" cy="1568579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9202FAC3-49F0-B5E1-32EA-53C0509561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1369" y="2714805"/>
            <a:ext cx="2631665" cy="1289763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42E36095-74D6-7EF3-BAB2-9E39A64B28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5135" y="4463745"/>
            <a:ext cx="2779894" cy="1362409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2FF277F-FF11-79D1-67FF-EFC667D13271}"/>
              </a:ext>
            </a:extLst>
          </p:cNvPr>
          <p:cNvSpPr txBox="1"/>
          <p:nvPr/>
        </p:nvSpPr>
        <p:spPr>
          <a:xfrm>
            <a:off x="7491369" y="5524150"/>
            <a:ext cx="37498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Parassiti</a:t>
            </a:r>
            <a:br>
              <a:rPr lang="it-IT" dirty="0"/>
            </a:br>
            <a:r>
              <a:rPr lang="it-IT" dirty="0"/>
              <a:t>r=1</a:t>
            </a:r>
            <a:br>
              <a:rPr lang="it-IT" dirty="0"/>
            </a:br>
            <a:r>
              <a:rPr lang="it-IT" dirty="0"/>
              <a:t>L=100u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EE899864-BBA2-553E-908F-E0445A1970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0130" y="4213289"/>
            <a:ext cx="2631665" cy="131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989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F18D954D-9601-FE0D-0CAB-C33497D53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36" y="885141"/>
            <a:ext cx="5336890" cy="261557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3F53F350-634F-10F7-565C-28E2C094CEED}"/>
              </a:ext>
            </a:extLst>
          </p:cNvPr>
          <p:cNvSpPr txBox="1"/>
          <p:nvPr/>
        </p:nvSpPr>
        <p:spPr>
          <a:xfrm>
            <a:off x="869576" y="4155141"/>
            <a:ext cx="285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R=1k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27E82E0-B982-837C-65B4-F6F2429FD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397" y="1079094"/>
            <a:ext cx="4941145" cy="2421624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06BD915-75BE-E664-B632-4DEC8354B8D6}"/>
              </a:ext>
            </a:extLst>
          </p:cNvPr>
          <p:cNvSpPr txBox="1"/>
          <p:nvPr/>
        </p:nvSpPr>
        <p:spPr>
          <a:xfrm>
            <a:off x="6728011" y="3926541"/>
            <a:ext cx="285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R=100k</a:t>
            </a:r>
          </a:p>
        </p:txBody>
      </p:sp>
    </p:spTree>
    <p:extLst>
      <p:ext uri="{BB962C8B-B14F-4D97-AF65-F5344CB8AC3E}">
        <p14:creationId xmlns:p14="http://schemas.microsoft.com/office/powerpoint/2010/main" val="2712735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9A5E7E-D940-F2E5-7676-7E5299211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42" y="1091329"/>
            <a:ext cx="6100482" cy="2989808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8E59010B-33AB-E1F2-DA20-6ABE02BF048E}"/>
              </a:ext>
            </a:extLst>
          </p:cNvPr>
          <p:cNvSpPr txBox="1"/>
          <p:nvPr/>
        </p:nvSpPr>
        <p:spPr>
          <a:xfrm>
            <a:off x="829235" y="4527176"/>
            <a:ext cx="2523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C=1n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D91ECF7-3962-CE60-D8BD-74C6209F0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258" y="1684457"/>
            <a:ext cx="4890247" cy="239668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F1BA1389-1E5B-D48E-BAC6-C8F890055888}"/>
              </a:ext>
            </a:extLst>
          </p:cNvPr>
          <p:cNvSpPr txBox="1"/>
          <p:nvPr/>
        </p:nvSpPr>
        <p:spPr>
          <a:xfrm>
            <a:off x="7153835" y="4446494"/>
            <a:ext cx="2523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C=1u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F94F4332-0E62-C1D0-DEA5-16D0FD891F2F}"/>
                  </a:ext>
                </a:extLst>
              </p:cNvPr>
              <p:cNvSpPr txBox="1"/>
              <p:nvPr/>
            </p:nvSpPr>
            <p:spPr>
              <a:xfrm>
                <a:off x="4594370" y="4711842"/>
                <a:ext cx="1470870" cy="520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F94F4332-0E62-C1D0-DEA5-16D0FD891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370" y="4711842"/>
                <a:ext cx="1470870" cy="5204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925451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Aspect">
      <a:dk1>
        <a:sysClr val="windowText" lastClr="000000"/>
      </a:dk1>
      <a:lt1>
        <a:sysClr val="window" lastClr="FFFFFF"/>
      </a:lt1>
      <a:dk2>
        <a:srgbClr val="585753"/>
      </a:dk2>
      <a:lt2>
        <a:srgbClr val="EBDDC3"/>
      </a:lt2>
      <a:accent1>
        <a:srgbClr val="71B9E4"/>
      </a:accent1>
      <a:accent2>
        <a:srgbClr val="E25D3C"/>
      </a:accent2>
      <a:accent3>
        <a:srgbClr val="BDB59D"/>
      </a:accent3>
      <a:accent4>
        <a:srgbClr val="A5AB81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835_TF56535239.potx" id="{8AC92C66-2335-4D9D-B3F7-547D838916F3}" vid="{A5091B74-503B-4B29-B10A-A89675BAE0D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56C3F92-CC28-42D8-BF09-0770755510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A6D3478-2986-4664-940C-67E0CAA21E0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16C154-5A0F-4CDC-8C15-D2E21584649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{A292CFAD-7C47-402E-8314-0F0B1AC4C42B}TFc753ccf7-4498-4ed8-94c0-86a3b9f2a1ee874eb9ef_win32-2ec58b3002be</Template>
  <TotalTime>185</TotalTime>
  <Words>230</Words>
  <Application>Microsoft Office PowerPoint</Application>
  <PresentationFormat>Widescreen</PresentationFormat>
  <Paragraphs>33</Paragraphs>
  <Slides>10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 Math</vt:lpstr>
      <vt:lpstr>Franklin Gothic Book</vt:lpstr>
      <vt:lpstr>Franklin Gothic Demi</vt:lpstr>
      <vt:lpstr>Wingdings 2</vt:lpstr>
      <vt:lpstr>DividendVTI</vt:lpstr>
      <vt:lpstr>Studio filtro passa alto (HP)</vt:lpstr>
      <vt:lpstr>Cosa è un filtro passa alto? 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Riccardo Scola</dc:creator>
  <cp:lastModifiedBy>RICCARDO SCOLA COLOMBO</cp:lastModifiedBy>
  <cp:revision>10</cp:revision>
  <dcterms:created xsi:type="dcterms:W3CDTF">2026-05-27T09:26:50Z</dcterms:created>
  <dcterms:modified xsi:type="dcterms:W3CDTF">2026-06-01T17:54:16Z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