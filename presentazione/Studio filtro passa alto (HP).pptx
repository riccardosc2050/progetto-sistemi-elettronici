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8"/>
  </p:notesMasterIdLst>
  <p:handoutMasterIdLst>
    <p:handoutMasterId r:id="rId9"/>
  </p:handoutMasterIdLst>
  <p:sldIdLst>
    <p:sldId id="274" r:id="rId5"/>
    <p:sldId id="275" r:id="rId6"/>
    <p:sldId id="276" r:id="rId7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0" autoAdjust="0"/>
    <p:restoredTop sz="94619" autoAdjust="0"/>
  </p:normalViewPr>
  <p:slideViewPr>
    <p:cSldViewPr snapToGrid="0">
      <p:cViewPr>
        <p:scale>
          <a:sx n="75" d="100"/>
          <a:sy n="75" d="100"/>
        </p:scale>
        <p:origin x="824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98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99916-1E25-47B9-BE9A-90112F64B39F}" type="datetime1">
              <a:rPr lang="it-IT" smtClean="0"/>
              <a:t>27/05/2026</a:t>
            </a:fld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E03D72-FEFE-464F-BBF3-CA6CA4B5E29E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1326573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it-IT" noProof="0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4A164AD-896A-4E68-B639-A4C67004F322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it-IT" noProof="0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it-IT" noProof="0" dirty="0"/>
              <a:t>Fare clic per modificare gli stili del testo dello schema</a:t>
            </a:r>
          </a:p>
          <a:p>
            <a:pPr lvl="1" rtl="0"/>
            <a:r>
              <a:rPr lang="it-IT" noProof="0" dirty="0"/>
              <a:t>Secondo livello</a:t>
            </a:r>
          </a:p>
          <a:p>
            <a:pPr lvl="2" rtl="0"/>
            <a:r>
              <a:rPr lang="it-IT" noProof="0" dirty="0"/>
              <a:t>Terzo livello</a:t>
            </a:r>
          </a:p>
          <a:p>
            <a:pPr lvl="3" rtl="0"/>
            <a:r>
              <a:rPr lang="it-IT" noProof="0" dirty="0"/>
              <a:t>Quarto livello</a:t>
            </a:r>
          </a:p>
          <a:p>
            <a:pPr lvl="4" rtl="0"/>
            <a:r>
              <a:rPr lang="it-IT" noProof="0" dirty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it-IT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306F76E-E60C-4C54-B47A-C2C406EC8F72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9874831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306F76E-E60C-4C54-B47A-C2C406EC8F72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4642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it-IT" noProof="0"/>
              <a:t>Fare clic per modificare lo stile del sottotitolo dello schema</a:t>
            </a:r>
            <a:endParaRPr lang="it-IT" noProof="0" dirty="0"/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FB9F44D-AE12-4CBE-90AA-654BBDD7B44E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33572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CFF5805-05CC-42BB-8DAD-5CEF8B164BBB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481562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 rtl="0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it-IT" noProof="0" dirty="0"/>
              <a:t>FARE CLIC PER MODIFICARE GLI STILI DEL TESTO DELLO SCHEMA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F9C2D61-37D4-48F9-B6BD-448A9C5B201E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554859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D1029F6-9285-4E18-B031-214D19E5B0C4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005235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it-IT" noProof="0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it-IT" noProof="0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1E28AA-0519-452B-88D1-87C2B4E59274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439114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9E325EC-79D3-464C-8C24-CFF158024C82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552773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C7AC6D7-231C-4542-A863-245063A40198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221586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 hasCustomPrompt="1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 rtl="0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it-IT" noProof="0" dirty="0"/>
              <a:t>Fare clic per modificare gli stili del testo dello schema</a:t>
            </a:r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4728E04D-D0DE-4EBC-AB37-A3DCF387EC5A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10" name="Segnaposto piè di pagina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pPr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631530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immagin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it-IT" noProof="0"/>
              <a:t>Fare clic sull'icona per inserire un'immagine</a:t>
            </a:r>
            <a:endParaRPr lang="it-IT" noProof="0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it-IT" noProof="0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027C449-9051-432C-BB34-DA2542A8FA59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it-IT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92584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it-IT" noProof="0" dirty="0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it-IT" noProof="0" dirty="0"/>
              <a:t>Fare clic per modificare gli stili del testo dello schema</a:t>
            </a:r>
          </a:p>
          <a:p>
            <a:pPr lvl="1" rtl="0"/>
            <a:r>
              <a:rPr lang="it-IT" noProof="0" dirty="0"/>
              <a:t>Secondo livello</a:t>
            </a:r>
          </a:p>
          <a:p>
            <a:pPr lvl="2" rtl="0"/>
            <a:r>
              <a:rPr lang="it-IT" noProof="0" dirty="0"/>
              <a:t>Terzo livello</a:t>
            </a:r>
          </a:p>
          <a:p>
            <a:pPr lvl="3" rtl="0"/>
            <a:r>
              <a:rPr lang="it-IT" noProof="0" dirty="0"/>
              <a:t>Quarto livello</a:t>
            </a:r>
          </a:p>
          <a:p>
            <a:pPr lvl="4" rtl="0"/>
            <a:r>
              <a:rPr lang="it-IT" noProof="0" dirty="0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C5F202A1-0708-4EA3-8AAF-86C12B9A7B14}" type="datetime1">
              <a:rPr lang="it-IT" noProof="0" smtClean="0"/>
              <a:t>27/05/2026</a:t>
            </a:fld>
            <a:endParaRPr lang="it-IT" noProof="0" dirty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it-IT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  <p:sp>
        <p:nvSpPr>
          <p:cNvPr id="9" name="Rettango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0" name="Rettango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1" name="Rettango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521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ttangolo 37">
            <a:extLst>
              <a:ext uri="{FF2B5EF4-FFF2-40B4-BE49-F238E27FC236}">
                <a16:creationId xmlns:a16="http://schemas.microsoft.com/office/drawing/2014/main" id="{6B695AA2-4B70-477F-AF90-536B720A1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Book" panose="020B0502020104020203"/>
              <a:ea typeface="+mn-ea"/>
              <a:cs typeface="+mn-cs"/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8BD66B72-49BB-E223-64D1-1CA08341A5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8276" y="120663"/>
            <a:ext cx="10225530" cy="1210704"/>
          </a:xfrm>
        </p:spPr>
        <p:txBody>
          <a:bodyPr rtlCol="0">
            <a:normAutofit/>
          </a:bodyPr>
          <a:lstStyle/>
          <a:p>
            <a:r>
              <a:rPr lang="it-IT" sz="4800" dirty="0">
                <a:solidFill>
                  <a:schemeClr val="tx1"/>
                </a:solidFill>
              </a:rPr>
              <a:t>Studio filtro passa alto (HP)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8276" y="1654198"/>
            <a:ext cx="10225530" cy="590321"/>
          </a:xfrm>
        </p:spPr>
        <p:txBody>
          <a:bodyPr rtlCol="0">
            <a:normAutofit/>
          </a:bodyPr>
          <a:lstStyle/>
          <a:p>
            <a:pPr rtl="0"/>
            <a:r>
              <a:rPr lang="it-IT" sz="1600" dirty="0">
                <a:solidFill>
                  <a:schemeClr val="tx1"/>
                </a:solidFill>
              </a:rPr>
              <a:t>Lavoro di: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26CD8AA-61D9-BDB3-CE6C-E60A3EF6490D}"/>
              </a:ext>
            </a:extLst>
          </p:cNvPr>
          <p:cNvSpPr txBox="1">
            <a:spLocks/>
          </p:cNvSpPr>
          <p:nvPr/>
        </p:nvSpPr>
        <p:spPr>
          <a:xfrm>
            <a:off x="1838910" y="2016641"/>
            <a:ext cx="10225530" cy="59032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600" kern="1200" cap="all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>
                <a:solidFill>
                  <a:schemeClr val="tx1"/>
                </a:solidFill>
              </a:rPr>
              <a:t>Riccardo Motta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>
                <a:solidFill>
                  <a:schemeClr val="tx1"/>
                </a:solidFill>
              </a:rPr>
              <a:t>Riccardo scola colombo</a:t>
            </a:r>
          </a:p>
        </p:txBody>
      </p:sp>
    </p:spTree>
    <p:extLst>
      <p:ext uri="{BB962C8B-B14F-4D97-AF65-F5344CB8AC3E}">
        <p14:creationId xmlns:p14="http://schemas.microsoft.com/office/powerpoint/2010/main" val="12052488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8173C22-8646-3B78-C22F-8FD89E7E3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b="0" kern="1200" cap="all" dirty="0">
                <a:latin typeface="+mj-lt"/>
                <a:ea typeface="+mj-ea"/>
                <a:cs typeface="+mj-cs"/>
              </a:rPr>
              <a:t>Cosa è un filtro passa alto?</a:t>
            </a:r>
            <a:br>
              <a:rPr lang="it-IT" b="0" kern="1200" cap="all" dirty="0">
                <a:latin typeface="+mj-lt"/>
                <a:ea typeface="+mj-ea"/>
                <a:cs typeface="+mj-cs"/>
              </a:rPr>
            </a:br>
            <a:endParaRPr lang="it-IT" b="0" kern="1200" cap="all" dirty="0">
              <a:latin typeface="+mj-lt"/>
              <a:ea typeface="+mj-ea"/>
              <a:cs typeface="+mj-cs"/>
            </a:endParaRPr>
          </a:p>
        </p:txBody>
      </p: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40C3F8B0-BC03-968A-C1A4-E0D856C33CDF}"/>
              </a:ext>
            </a:extLst>
          </p:cNvPr>
          <p:cNvGrpSpPr/>
          <p:nvPr/>
        </p:nvGrpSpPr>
        <p:grpSpPr>
          <a:xfrm>
            <a:off x="581191" y="2250891"/>
            <a:ext cx="5194769" cy="1798436"/>
            <a:chOff x="581191" y="2250891"/>
            <a:chExt cx="5194769" cy="1798436"/>
          </a:xfrm>
        </p:grpSpPr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75AFB858-71A3-F171-46D1-078DFF220426}"/>
                </a:ext>
              </a:extLst>
            </p:cNvPr>
            <p:cNvSpPr txBox="1"/>
            <p:nvPr/>
          </p:nvSpPr>
          <p:spPr>
            <a:xfrm>
              <a:off x="581191" y="2250891"/>
              <a:ext cx="5194769" cy="557784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/>
            <a:p>
              <a:pPr defTabSz="457200">
                <a:lnSpc>
                  <a:spcPct val="110000"/>
                </a:lnSpc>
                <a:spcBef>
                  <a:spcPct val="20000"/>
                </a:spcBef>
                <a:spcAft>
                  <a:spcPts val="600"/>
                </a:spcAft>
                <a:buClr>
                  <a:schemeClr val="accent1"/>
                </a:buClr>
                <a:buSzPct val="92000"/>
              </a:pPr>
              <a:r>
                <a:rPr lang="it-IT" sz="2000" b="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rPr>
                <a:t>Nel caso più semplice RC passivo: </a:t>
              </a:r>
            </a:p>
          </p:txBody>
        </p:sp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F05895E1-45F1-1114-1C62-D03D1F1E51DC}"/>
                </a:ext>
              </a:extLst>
            </p:cNvPr>
            <p:cNvSpPr txBox="1"/>
            <p:nvPr/>
          </p:nvSpPr>
          <p:spPr>
            <a:xfrm>
              <a:off x="581194" y="2926053"/>
              <a:ext cx="5194766" cy="112327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/>
            <a:p>
              <a:pPr marL="306000" indent="-306000" defTabSz="457200">
                <a:spcBef>
                  <a:spcPct val="20000"/>
                </a:spcBef>
                <a:spcAft>
                  <a:spcPts val="600"/>
                </a:spcAft>
                <a:buClr>
                  <a:schemeClr val="accent1"/>
                </a:buClr>
                <a:buSzPct val="92000"/>
                <a:buFont typeface="Wingdings 2" panose="05020102010507070707" pitchFamily="18" charset="2"/>
                <a:buChar char=""/>
              </a:pPr>
              <a:r>
                <a:rPr lang="it-IT" sz="17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Il condensatore blocca le basse frequenze;</a:t>
              </a:r>
            </a:p>
            <a:p>
              <a:pPr marL="306000" indent="-306000" defTabSz="457200">
                <a:spcBef>
                  <a:spcPct val="20000"/>
                </a:spcBef>
                <a:spcAft>
                  <a:spcPts val="600"/>
                </a:spcAft>
                <a:buClr>
                  <a:schemeClr val="accent1"/>
                </a:buClr>
                <a:buSzPct val="92000"/>
                <a:buFont typeface="Wingdings 2" panose="05020102010507070707" pitchFamily="18" charset="2"/>
                <a:buChar char=""/>
              </a:pPr>
              <a:r>
                <a:rPr lang="it-IT" sz="17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Mentre alle alte frequenze la sua impedenza diminuisce e il segnale passa in uscita.</a:t>
              </a:r>
            </a:p>
          </p:txBody>
        </p:sp>
      </p:grpSp>
      <p:pic>
        <p:nvPicPr>
          <p:cNvPr id="11" name="Immagine 10">
            <a:extLst>
              <a:ext uri="{FF2B5EF4-FFF2-40B4-BE49-F238E27FC236}">
                <a16:creationId xmlns:a16="http://schemas.microsoft.com/office/drawing/2014/main" id="{D9F22274-292D-C754-5291-7095938E3A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4" t="-138" r="5" b="7128"/>
          <a:stretch>
            <a:fillRect/>
          </a:stretch>
        </p:blipFill>
        <p:spPr>
          <a:xfrm>
            <a:off x="5985782" y="1415932"/>
            <a:ext cx="5194771" cy="4831690"/>
          </a:xfrm>
          <a:prstGeom prst="rect">
            <a:avLst/>
          </a:prstGeom>
          <a:noFill/>
        </p:spPr>
      </p:pic>
      <p:grpSp>
        <p:nvGrpSpPr>
          <p:cNvPr id="10" name="Gruppo 9">
            <a:extLst>
              <a:ext uri="{FF2B5EF4-FFF2-40B4-BE49-F238E27FC236}">
                <a16:creationId xmlns:a16="http://schemas.microsoft.com/office/drawing/2014/main" id="{AA640698-7928-49AD-B1B6-1E4D631AC460}"/>
              </a:ext>
            </a:extLst>
          </p:cNvPr>
          <p:cNvGrpSpPr/>
          <p:nvPr/>
        </p:nvGrpSpPr>
        <p:grpSpPr>
          <a:xfrm>
            <a:off x="581191" y="4968284"/>
            <a:ext cx="6097218" cy="578235"/>
            <a:chOff x="581191" y="4509536"/>
            <a:chExt cx="6097218" cy="57823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CasellaDiTesto 5">
                  <a:extLst>
                    <a:ext uri="{FF2B5EF4-FFF2-40B4-BE49-F238E27FC236}">
                      <a16:creationId xmlns:a16="http://schemas.microsoft.com/office/drawing/2014/main" id="{E1A935B9-47E3-5529-DEBA-2A9B395AC37D}"/>
                    </a:ext>
                  </a:extLst>
                </p:cNvPr>
                <p:cNvSpPr txBox="1"/>
                <p:nvPr/>
              </p:nvSpPr>
              <p:spPr>
                <a:xfrm>
                  <a:off x="3388399" y="4509536"/>
                  <a:ext cx="2086242" cy="57823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it-IT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it-IT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𝑅𝐶</m:t>
                            </m:r>
                          </m:den>
                        </m:f>
                      </m:oMath>
                    </m:oMathPara>
                  </a14:m>
                  <a:endParaRPr lang="it-IT" sz="2000" dirty="0"/>
                </a:p>
              </p:txBody>
            </p:sp>
          </mc:Choice>
          <mc:Fallback>
            <p:sp>
              <p:nvSpPr>
                <p:cNvPr id="6" name="CasellaDiTesto 5">
                  <a:extLst>
                    <a:ext uri="{FF2B5EF4-FFF2-40B4-BE49-F238E27FC236}">
                      <a16:creationId xmlns:a16="http://schemas.microsoft.com/office/drawing/2014/main" id="{E1A935B9-47E3-5529-DEBA-2A9B395AC3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8399" y="4509536"/>
                  <a:ext cx="2086242" cy="57823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BEEA7EAD-B56C-6031-9FF2-34781081F562}"/>
                </a:ext>
              </a:extLst>
            </p:cNvPr>
            <p:cNvSpPr txBox="1"/>
            <p:nvPr/>
          </p:nvSpPr>
          <p:spPr>
            <a:xfrm>
              <a:off x="581191" y="4613988"/>
              <a:ext cx="6097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dirty="0"/>
                <a:t>La frequenza di taglio vale: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3522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DEA4E10E-602D-09D4-7522-D0A2C475C8F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b="4943"/>
          <a:stretch>
            <a:fillRect/>
          </a:stretch>
        </p:blipFill>
        <p:spPr>
          <a:xfrm>
            <a:off x="581191" y="1592435"/>
            <a:ext cx="7783513" cy="33436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6346A5-8110-CD64-1702-93628F6C69B1}"/>
              </a:ext>
            </a:extLst>
          </p:cNvPr>
          <p:cNvSpPr txBox="1">
            <a:spLocks/>
          </p:cNvSpPr>
          <p:nvPr/>
        </p:nvSpPr>
        <p:spPr>
          <a:xfrm>
            <a:off x="581193" y="729658"/>
            <a:ext cx="11029616" cy="9883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it-IT" dirty="0"/>
              <a:t>Cosa è un filtro passa alto (esempio bode)?</a:t>
            </a:r>
            <a:br>
              <a:rPr lang="it-IT" dirty="0"/>
            </a:br>
            <a:endParaRPr lang="it-IT" dirty="0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518F4A30-1D9D-35DD-D299-F266FC8F1FBC}"/>
              </a:ext>
            </a:extLst>
          </p:cNvPr>
          <p:cNvSpPr/>
          <p:nvPr/>
        </p:nvSpPr>
        <p:spPr>
          <a:xfrm>
            <a:off x="5850467" y="1628491"/>
            <a:ext cx="745067" cy="68873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9F60ECE-AE7C-AAE0-3968-55AF22CDBD39}"/>
                  </a:ext>
                </a:extLst>
              </p:cNvPr>
              <p:cNvSpPr txBox="1"/>
              <p:nvPr/>
            </p:nvSpPr>
            <p:spPr>
              <a:xfrm>
                <a:off x="6294321" y="1460225"/>
                <a:ext cx="208624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it-IT" sz="20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it-IT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smtClean="0">
                          <a:latin typeface="Cambria Math" panose="02040503050406030204" pitchFamily="18" charset="0"/>
                        </a:rPr>
                        <m:t>𝟏𝟓𝟗</m:t>
                      </m:r>
                      <m:r>
                        <a:rPr lang="it-IT" sz="2000" b="1" i="1" smtClean="0">
                          <a:latin typeface="Cambria Math" panose="02040503050406030204" pitchFamily="18" charset="0"/>
                        </a:rPr>
                        <m:t>𝑯𝒛</m:t>
                      </m:r>
                    </m:oMath>
                  </m:oMathPara>
                </a14:m>
                <a:endParaRPr lang="it-IT" sz="2000" b="1" dirty="0"/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9F60ECE-AE7C-AAE0-3968-55AF22CDBD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4321" y="1460225"/>
                <a:ext cx="2086242" cy="307777"/>
              </a:xfrm>
              <a:prstGeom prst="rect">
                <a:avLst/>
              </a:prstGeom>
              <a:blipFill>
                <a:blip r:embed="rId3"/>
                <a:stretch>
                  <a:fillRect b="-36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CC9970F-3CA6-58F5-239A-627A9D51DF75}"/>
              </a:ext>
            </a:extLst>
          </p:cNvPr>
          <p:cNvSpPr txBox="1"/>
          <p:nvPr/>
        </p:nvSpPr>
        <p:spPr>
          <a:xfrm>
            <a:off x="8739751" y="817278"/>
            <a:ext cx="28393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Nel diagramma di Bode, il filtro passa-alto </a:t>
            </a:r>
            <a:r>
              <a:rPr lang="it-IT" b="1" i="1" u="sng" dirty="0"/>
              <a:t>attenua le basse frequenze e lascia passare quelle alte.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8DEAACE3-2559-D4C2-3F2D-958B2F35654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rcRect l="45215" t="48400" r="25748"/>
          <a:stretch>
            <a:fillRect/>
          </a:stretch>
        </p:blipFill>
        <p:spPr>
          <a:xfrm>
            <a:off x="8199388" y="2404532"/>
            <a:ext cx="3920066" cy="2994819"/>
          </a:xfrm>
          <a:prstGeom prst="rect">
            <a:avLst/>
          </a:prstGeom>
        </p:spPr>
      </p:pic>
      <p:sp>
        <p:nvSpPr>
          <p:cNvPr id="17" name="Ovale 16">
            <a:extLst>
              <a:ext uri="{FF2B5EF4-FFF2-40B4-BE49-F238E27FC236}">
                <a16:creationId xmlns:a16="http://schemas.microsoft.com/office/drawing/2014/main" id="{F0311132-1AE0-83BB-22A5-2E76DCBB2C27}"/>
              </a:ext>
            </a:extLst>
          </p:cNvPr>
          <p:cNvSpPr/>
          <p:nvPr/>
        </p:nvSpPr>
        <p:spPr>
          <a:xfrm>
            <a:off x="10159421" y="2633484"/>
            <a:ext cx="2158999" cy="126153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DFFB7E31-9C03-3B43-901C-A97014B507EC}"/>
              </a:ext>
            </a:extLst>
          </p:cNvPr>
          <p:cNvCxnSpPr>
            <a:cxnSpLocks/>
          </p:cNvCxnSpPr>
          <p:nvPr/>
        </p:nvCxnSpPr>
        <p:spPr>
          <a:xfrm flipH="1" flipV="1">
            <a:off x="6688667" y="2108200"/>
            <a:ext cx="1820333" cy="8974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rapezio 20">
            <a:extLst>
              <a:ext uri="{FF2B5EF4-FFF2-40B4-BE49-F238E27FC236}">
                <a16:creationId xmlns:a16="http://schemas.microsoft.com/office/drawing/2014/main" id="{ECA1FF3A-FC09-49AF-29D8-3F5FB6671D3D}"/>
              </a:ext>
            </a:extLst>
          </p:cNvPr>
          <p:cNvSpPr/>
          <p:nvPr/>
        </p:nvSpPr>
        <p:spPr>
          <a:xfrm rot="16200000">
            <a:off x="5690875" y="3067076"/>
            <a:ext cx="3222310" cy="1794716"/>
          </a:xfrm>
          <a:prstGeom prst="trapezoid">
            <a:avLst>
              <a:gd name="adj" fmla="val 46579"/>
            </a:avLst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5B2A971-96DC-0024-8A3D-CB41B0D5E942}"/>
                  </a:ext>
                </a:extLst>
              </p:cNvPr>
              <p:cNvSpPr txBox="1"/>
              <p:nvPr/>
            </p:nvSpPr>
            <p:spPr>
              <a:xfrm>
                <a:off x="8300988" y="5625223"/>
                <a:ext cx="37168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1600" dirty="0"/>
                  <a:t>In corrispondenza di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ar-AE" sz="1600" b="1" i="1"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it-IT" sz="1600" b="1" dirty="0"/>
                  <a:t>il guadagno è pari a -3 dB</a:t>
                </a:r>
                <a:r>
                  <a:rPr lang="it-IT" sz="1600" dirty="0"/>
                  <a:t>, mentre sopra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it-IT" sz="1600" dirty="0"/>
                  <a:t>il segnale viene trasferito quasi interamente.</a:t>
                </a:r>
              </a:p>
            </p:txBody>
          </p:sp>
        </mc:Choice>
        <mc:Fallback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5B2A971-96DC-0024-8A3D-CB41B0D5E9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0988" y="5625223"/>
                <a:ext cx="3716866" cy="830997"/>
              </a:xfrm>
              <a:prstGeom prst="rect">
                <a:avLst/>
              </a:prstGeom>
              <a:blipFill>
                <a:blip r:embed="rId5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D5761892-DF49-6CC0-821E-A5D7E0B740DD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10159421" y="3895018"/>
            <a:ext cx="1079499" cy="1730205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ttore diritto 30">
            <a:extLst>
              <a:ext uri="{FF2B5EF4-FFF2-40B4-BE49-F238E27FC236}">
                <a16:creationId xmlns:a16="http://schemas.microsoft.com/office/drawing/2014/main" id="{24F63F3E-BD93-1426-018A-7C53C353448D}"/>
              </a:ext>
            </a:extLst>
          </p:cNvPr>
          <p:cNvCxnSpPr/>
          <p:nvPr/>
        </p:nvCxnSpPr>
        <p:spPr>
          <a:xfrm>
            <a:off x="8568267" y="3179585"/>
            <a:ext cx="12446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325FF307-FA28-B898-6AA3-3F30CC6ACF16}"/>
              </a:ext>
            </a:extLst>
          </p:cNvPr>
          <p:cNvSpPr txBox="1"/>
          <p:nvPr/>
        </p:nvSpPr>
        <p:spPr>
          <a:xfrm>
            <a:off x="8300988" y="3660123"/>
            <a:ext cx="2023749" cy="738664"/>
          </a:xfrm>
          <a:prstGeom prst="rect">
            <a:avLst/>
          </a:prstGeom>
          <a:solidFill>
            <a:schemeClr val="bg1"/>
          </a:solidFill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400" dirty="0"/>
              <a:t>dove il guadagno è </a:t>
            </a:r>
            <a:r>
              <a:rPr lang="it-IT" sz="1400" b="1" dirty="0"/>
              <a:t>-3 dB</a:t>
            </a:r>
            <a:r>
              <a:rPr lang="it-IT" sz="1400" dirty="0"/>
              <a:t>, la fase vale circa </a:t>
            </a:r>
            <a:r>
              <a:rPr lang="it-IT" sz="1400" b="1" dirty="0"/>
              <a:t>+45°</a:t>
            </a:r>
            <a:endParaRPr lang="it-IT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CasellaDiTesto 33">
                <a:extLst>
                  <a:ext uri="{FF2B5EF4-FFF2-40B4-BE49-F238E27FC236}">
                    <a16:creationId xmlns:a16="http://schemas.microsoft.com/office/drawing/2014/main" id="{506F503F-54AF-3FCD-9904-A7F828233193}"/>
                  </a:ext>
                </a:extLst>
              </p:cNvPr>
              <p:cNvSpPr txBox="1"/>
              <p:nvPr/>
            </p:nvSpPr>
            <p:spPr>
              <a:xfrm>
                <a:off x="433024" y="5359003"/>
                <a:ext cx="716580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b="1" i="1" dirty="0"/>
                  <a:t>Nel filtro passa-alto RC, la fase passa da circa +90° alle basse frequenze a circa 0° alle alte frequenze. </a:t>
                </a:r>
              </a:p>
              <a:p>
                <a:pPr algn="just"/>
                <a:r>
                  <a:rPr lang="it-IT" u="sng" dirty="0"/>
                  <a:t>Alla frequenza di taglio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u="sng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u="sng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i="1" u="sng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it-IT" u="sng" dirty="0"/>
                  <a:t> dove il modulo del guadagno è pari a -3 dB, lo sfasamento è di circa +45°</a:t>
                </a:r>
              </a:p>
            </p:txBody>
          </p:sp>
        </mc:Choice>
        <mc:Fallback>
          <p:sp>
            <p:nvSpPr>
              <p:cNvPr id="34" name="CasellaDiTesto 33">
                <a:extLst>
                  <a:ext uri="{FF2B5EF4-FFF2-40B4-BE49-F238E27FC236}">
                    <a16:creationId xmlns:a16="http://schemas.microsoft.com/office/drawing/2014/main" id="{506F503F-54AF-3FCD-9904-A7F828233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24" y="5359003"/>
                <a:ext cx="7165809" cy="1200329"/>
              </a:xfrm>
              <a:prstGeom prst="rect">
                <a:avLst/>
              </a:prstGeom>
              <a:blipFill>
                <a:blip r:embed="rId6"/>
                <a:stretch>
                  <a:fillRect l="-680" t="-2538" r="-680" b="-710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45262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Aspect">
      <a:dk1>
        <a:sysClr val="windowText" lastClr="000000"/>
      </a:dk1>
      <a:lt1>
        <a:sysClr val="window" lastClr="FFFFFF"/>
      </a:lt1>
      <a:dk2>
        <a:srgbClr val="585753"/>
      </a:dk2>
      <a:lt2>
        <a:srgbClr val="EBDDC3"/>
      </a:lt2>
      <a:accent1>
        <a:srgbClr val="71B9E4"/>
      </a:accent1>
      <a:accent2>
        <a:srgbClr val="E25D3C"/>
      </a:accent2>
      <a:accent3>
        <a:srgbClr val="BDB59D"/>
      </a:accent3>
      <a:accent4>
        <a:srgbClr val="A5AB81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4285835_TF56535239.potx" id="{8AC92C66-2335-4D9D-B3F7-547D838916F3}" vid="{A5091B74-503B-4B29-B10A-A89675BAE0DE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116C154-5A0F-4CDC-8C15-D2E2158464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6D3478-2986-4664-940C-67E0CAA21E04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956C3F92-CC28-42D8-BF09-07707555106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{A292CFAD-7C47-402E-8314-0F0B1AC4C42B}TFc753ccf7-4498-4ed8-94c0-86a3b9f2a1ee874eb9ef_win32-2ec58b3002be</Template>
  <TotalTime>52</TotalTime>
  <Words>181</Words>
  <Application>Microsoft Office PowerPoint</Application>
  <PresentationFormat>Widescreen</PresentationFormat>
  <Paragraphs>18</Paragraphs>
  <Slides>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10" baseType="lpstr">
      <vt:lpstr>Arial</vt:lpstr>
      <vt:lpstr>Calibri</vt:lpstr>
      <vt:lpstr>Cambria Math</vt:lpstr>
      <vt:lpstr>Franklin Gothic Book</vt:lpstr>
      <vt:lpstr>Franklin Gothic Demi</vt:lpstr>
      <vt:lpstr>Wingdings 2</vt:lpstr>
      <vt:lpstr>DividendVTI</vt:lpstr>
      <vt:lpstr>Studio filtro passa alto (HP)</vt:lpstr>
      <vt:lpstr>Cosa è un filtro passa alto? 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Scola</dc:creator>
  <cp:lastModifiedBy>Riccardo Scola</cp:lastModifiedBy>
  <cp:revision>5</cp:revision>
  <dcterms:created xsi:type="dcterms:W3CDTF">2026-05-27T09:26:50Z</dcterms:created>
  <dcterms:modified xsi:type="dcterms:W3CDTF">2026-05-27T10:19:30Z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