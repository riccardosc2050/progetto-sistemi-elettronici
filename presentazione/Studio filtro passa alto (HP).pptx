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27"/>
  </p:notesMasterIdLst>
  <p:handoutMasterIdLst>
    <p:handoutMasterId r:id="rId28"/>
  </p:handoutMasterIdLst>
  <p:sldIdLst>
    <p:sldId id="274" r:id="rId5"/>
    <p:sldId id="275" r:id="rId6"/>
    <p:sldId id="276" r:id="rId7"/>
    <p:sldId id="277" r:id="rId8"/>
    <p:sldId id="280" r:id="rId9"/>
    <p:sldId id="281" r:id="rId10"/>
    <p:sldId id="278" r:id="rId11"/>
    <p:sldId id="279" r:id="rId12"/>
    <p:sldId id="282" r:id="rId13"/>
    <p:sldId id="283" r:id="rId14"/>
    <p:sldId id="284" r:id="rId15"/>
    <p:sldId id="285" r:id="rId16"/>
    <p:sldId id="286" r:id="rId17"/>
    <p:sldId id="287" r:id="rId18"/>
    <p:sldId id="288" r:id="rId19"/>
    <p:sldId id="289" r:id="rId20"/>
    <p:sldId id="290" r:id="rId21"/>
    <p:sldId id="291" r:id="rId22"/>
    <p:sldId id="292" r:id="rId23"/>
    <p:sldId id="293" r:id="rId24"/>
    <p:sldId id="294" r:id="rId25"/>
    <p:sldId id="295" r:id="rId26"/>
  </p:sldIdLst>
  <p:sldSz cx="12192000" cy="6858000"/>
  <p:notesSz cx="6858000" cy="9144000"/>
  <p:defaultTextStyle>
    <a:defPPr rtl="0"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0" autoAdjust="0"/>
    <p:restoredTop sz="94619" autoAdjust="0"/>
  </p:normalViewPr>
  <p:slideViewPr>
    <p:cSldViewPr snapToGrid="0">
      <p:cViewPr varScale="1">
        <p:scale>
          <a:sx n="142" d="100"/>
          <a:sy n="142" d="100"/>
        </p:scale>
        <p:origin x="8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98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3" name="Segnaposto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C99916-1E25-47B9-BE9A-90112F64B39F}" type="datetime1">
              <a:rPr lang="it-IT" smtClean="0"/>
              <a:t>02/06/2026</a:t>
            </a:fld>
            <a:endParaRPr lang="it-IT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E03D72-FEFE-464F-BBF3-CA6CA4B5E29E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1326573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it-IT" noProof="0" dirty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4A164AD-896A-4E68-B639-A4C67004F322}" type="datetime1">
              <a:rPr lang="it-IT" noProof="0" smtClean="0"/>
              <a:t>02/06/2026</a:t>
            </a:fld>
            <a:endParaRPr lang="it-IT" noProof="0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it-IT" noProof="0" dirty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it-IT" noProof="0" dirty="0"/>
              <a:t>Fare clic per modificare gli stili del testo dello schema</a:t>
            </a:r>
          </a:p>
          <a:p>
            <a:pPr lvl="1" rtl="0"/>
            <a:r>
              <a:rPr lang="it-IT" noProof="0" dirty="0"/>
              <a:t>Secondo livello</a:t>
            </a:r>
          </a:p>
          <a:p>
            <a:pPr lvl="2" rtl="0"/>
            <a:r>
              <a:rPr lang="it-IT" noProof="0" dirty="0"/>
              <a:t>Terzo livello</a:t>
            </a:r>
          </a:p>
          <a:p>
            <a:pPr lvl="3" rtl="0"/>
            <a:r>
              <a:rPr lang="it-IT" noProof="0" dirty="0"/>
              <a:t>Quarto livello</a:t>
            </a:r>
          </a:p>
          <a:p>
            <a:pPr lvl="4" rtl="0"/>
            <a:r>
              <a:rPr lang="it-IT" noProof="0" dirty="0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it-IT" noProof="0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306F76E-E60C-4C54-B47A-C2C406EC8F72}" type="slidenum">
              <a:rPr lang="it-IT" noProof="0" smtClean="0"/>
              <a:t>‹N›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298748311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4306F76E-E60C-4C54-B47A-C2C406EC8F72}" type="slidenum">
              <a:rPr lang="it-IT" smtClean="0"/>
              <a:t>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46426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06F76E-E60C-4C54-B47A-C2C406EC8F72}" type="slidenum">
              <a:rPr lang="it-IT" noProof="0" smtClean="0"/>
              <a:t>7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42366713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06F76E-E60C-4C54-B47A-C2C406EC8F72}" type="slidenum">
              <a:rPr lang="it-IT" noProof="0" smtClean="0"/>
              <a:t>20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3689573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  <a:endParaRPr lang="it-IT" noProof="0" dirty="0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it-IT" noProof="0"/>
              <a:t>Fare clic per modificare lo stile del sottotitolo dello schema</a:t>
            </a:r>
            <a:endParaRPr lang="it-IT" noProof="0" dirty="0"/>
          </a:p>
        </p:txBody>
      </p:sp>
      <p:sp>
        <p:nvSpPr>
          <p:cNvPr id="8" name="Segnaposto data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FB9F44D-AE12-4CBE-90AA-654BBDD7B44E}" type="datetime1">
              <a:rPr lang="it-IT" noProof="0" smtClean="0"/>
              <a:t>02/06/2026</a:t>
            </a:fld>
            <a:endParaRPr lang="it-IT" noProof="0" dirty="0"/>
          </a:p>
        </p:txBody>
      </p:sp>
      <p:sp>
        <p:nvSpPr>
          <p:cNvPr id="9" name="Segnaposto piè di pagina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 dirty="0"/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it-IT" noProof="0" smtClean="0"/>
              <a:t>‹N›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333572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 rtlCol="0"/>
          <a:lstStyle/>
          <a:p>
            <a:pPr rtl="0"/>
            <a:r>
              <a:rPr lang="it-IT" noProof="0"/>
              <a:t>Fare clic per modificare lo stile del titolo dello schema</a:t>
            </a:r>
            <a:endParaRPr lang="it-IT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 rtlCol="0"/>
          <a:lstStyle/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  <a:endParaRPr lang="it-IT" noProof="0" dirty="0"/>
          </a:p>
        </p:txBody>
      </p:sp>
      <p:sp>
        <p:nvSpPr>
          <p:cNvPr id="8" name="Segnaposto data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CFF5805-05CC-42BB-8DAD-5CEF8B164BBB}" type="datetime1">
              <a:rPr lang="it-IT" noProof="0" smtClean="0"/>
              <a:t>02/06/2026</a:t>
            </a:fld>
            <a:endParaRPr lang="it-IT" noProof="0" dirty="0"/>
          </a:p>
        </p:txBody>
      </p:sp>
      <p:sp>
        <p:nvSpPr>
          <p:cNvPr id="9" name="Segnaposto piè di pagina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 dirty="0"/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it-IT" noProof="0" smtClean="0"/>
              <a:t>‹N›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481562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  <a:endParaRPr lang="it-IT" noProof="0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 rtl="0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it-IT" noProof="0" dirty="0"/>
              <a:t>FARE CLIC PER MODIFICARE GLI STILI DEL TESTO DELLO SCHEMA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F9C2D61-37D4-48F9-B6BD-448A9C5B201E}" type="datetime1">
              <a:rPr lang="it-IT" noProof="0" smtClean="0"/>
              <a:t>02/06/2026</a:t>
            </a:fld>
            <a:endParaRPr lang="it-IT" noProof="0" dirty="0"/>
          </a:p>
        </p:txBody>
      </p:sp>
      <p:sp>
        <p:nvSpPr>
          <p:cNvPr id="9" name="Segnaposto piè di pagina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 dirty="0"/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it-IT" noProof="0" smtClean="0"/>
              <a:t>‹N›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1554859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it-IT" noProof="0"/>
              <a:t>Fare clic per modificare lo stile del titolo dello schema</a:t>
            </a:r>
            <a:endParaRPr lang="it-IT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 rtlCol="0">
            <a:normAutofit/>
          </a:bodyPr>
          <a:lstStyle/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  <a:endParaRPr lang="it-IT" noProof="0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 rtlCol="0">
            <a:normAutofit/>
          </a:bodyPr>
          <a:lstStyle/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  <a:endParaRPr lang="it-IT" noProof="0" dirty="0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D1029F6-9285-4E18-B031-214D19E5B0C4}" type="datetime1">
              <a:rPr lang="it-IT" noProof="0" smtClean="0"/>
              <a:t>02/06/2026</a:t>
            </a:fld>
            <a:endParaRPr lang="it-IT" noProof="0" dirty="0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it-IT" noProof="0" smtClean="0"/>
              <a:t>‹N›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20052354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olo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it-IT" noProof="0"/>
              <a:t>Fare clic per modificare lo stile del titolo dello schema</a:t>
            </a:r>
            <a:endParaRPr lang="it-IT" noProof="0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rtlCol="0"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it-IT" noProof="0"/>
              <a:t>Fare clic per modificare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  <a:endParaRPr lang="it-IT" noProof="0" dirty="0"/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rtlCol="0"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it-IT" noProof="0"/>
              <a:t>Fare clic per modificare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  <a:endParaRPr lang="it-IT" noProof="0" dirty="0"/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11E28AA-0519-452B-88D1-87C2B4E59274}" type="datetime1">
              <a:rPr lang="it-IT" noProof="0" smtClean="0"/>
              <a:t>02/06/2026</a:t>
            </a:fld>
            <a:endParaRPr lang="it-IT" noProof="0" dirty="0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 dirty="0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it-IT" noProof="0" smtClean="0"/>
              <a:t>‹N›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1439114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olo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it-IT" noProof="0"/>
              <a:t>Fare clic per modificare lo stile del titolo dello schema</a:t>
            </a:r>
            <a:endParaRPr lang="it-IT" noProof="0" dirty="0"/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9E325EC-79D3-464C-8C24-CFF158024C82}" type="datetime1">
              <a:rPr lang="it-IT" noProof="0" smtClean="0"/>
              <a:t>02/06/2026</a:t>
            </a:fld>
            <a:endParaRPr lang="it-IT" noProof="0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 dirty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it-IT" noProof="0" smtClean="0"/>
              <a:t>‹N›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1552773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C7AC6D7-231C-4542-A863-245063A40198}" type="datetime1">
              <a:rPr lang="it-IT" noProof="0" smtClean="0"/>
              <a:t>02/06/2026</a:t>
            </a:fld>
            <a:endParaRPr lang="it-IT" noProof="0" dirty="0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it-IT" noProof="0" smtClean="0"/>
              <a:t>‹N›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3221586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  <a:endParaRPr lang="it-IT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  <a:endParaRPr lang="it-IT" noProof="0" dirty="0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 hasCustomPrompt="1"/>
          </p:nvPr>
        </p:nvSpPr>
        <p:spPr>
          <a:xfrm>
            <a:off x="767857" y="2836654"/>
            <a:ext cx="3031852" cy="3001392"/>
          </a:xfrm>
        </p:spPr>
        <p:txBody>
          <a:bodyPr rtlCol="0" anchor="t">
            <a:normAutofit/>
          </a:bodyPr>
          <a:lstStyle>
            <a:lvl1pPr marL="0" indent="0" algn="l" rtl="0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it-IT" noProof="0" dirty="0"/>
              <a:t>Fare clic per modificare gli stili del testo dello schema</a:t>
            </a:r>
          </a:p>
        </p:txBody>
      </p:sp>
      <p:sp>
        <p:nvSpPr>
          <p:cNvPr id="8" name="Segnaposto data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 rtlCol="0"/>
          <a:lstStyle/>
          <a:p>
            <a:pPr rtl="0"/>
            <a:fld id="{4728E04D-D0DE-4EBC-AB37-A3DCF387EC5A}" type="datetime1">
              <a:rPr lang="it-IT" noProof="0" smtClean="0"/>
              <a:t>02/06/2026</a:t>
            </a:fld>
            <a:endParaRPr lang="it-IT" noProof="0" dirty="0"/>
          </a:p>
        </p:txBody>
      </p:sp>
      <p:sp>
        <p:nvSpPr>
          <p:cNvPr id="10" name="Segnaposto piè di pagina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 rtlCol="0"/>
          <a:lstStyle/>
          <a:p>
            <a:pPr rtl="0"/>
            <a:endParaRPr lang="it-IT" noProof="0" dirty="0"/>
          </a:p>
        </p:txBody>
      </p:sp>
      <p:sp>
        <p:nvSpPr>
          <p:cNvPr id="11" name="Segnaposto numero diapositiva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 rtlCol="0"/>
          <a:lstStyle/>
          <a:p>
            <a:pPr rtl="0"/>
            <a:fld id="{3A98EE3D-8CD1-4C3F-BD1C-C98C9596463C}" type="slidenum">
              <a:rPr lang="it-IT" noProof="0" smtClean="0"/>
              <a:pPr/>
              <a:t>‹N›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26315306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  <a:endParaRPr lang="it-IT" noProof="0" dirty="0"/>
          </a:p>
        </p:txBody>
      </p:sp>
      <p:sp>
        <p:nvSpPr>
          <p:cNvPr id="3" name="Segnaposto immagine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it-IT" noProof="0"/>
              <a:t>Fare clic sull'icona per inserire un'immagine</a:t>
            </a:r>
            <a:endParaRPr lang="it-IT" noProof="0" dirty="0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rtlCol="0"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it-IT" noProof="0"/>
              <a:t>Fare clic per modificare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027C449-9051-432C-BB34-DA2542A8FA59}" type="datetime1">
              <a:rPr lang="it-IT" noProof="0" smtClean="0"/>
              <a:t>02/06/2026</a:t>
            </a:fld>
            <a:endParaRPr lang="it-IT" noProof="0" dirty="0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algn="l" rtl="0"/>
            <a:endParaRPr lang="it-IT" noProof="0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it-IT" noProof="0" smtClean="0"/>
              <a:t>‹N›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925840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it-IT" noProof="0" dirty="0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it-IT" noProof="0" dirty="0"/>
              <a:t>Fare clic per modificare gli stili del testo dello schema</a:t>
            </a:r>
          </a:p>
          <a:p>
            <a:pPr lvl="1" rtl="0"/>
            <a:r>
              <a:rPr lang="it-IT" noProof="0" dirty="0"/>
              <a:t>Secondo livello</a:t>
            </a:r>
          </a:p>
          <a:p>
            <a:pPr lvl="2" rtl="0"/>
            <a:r>
              <a:rPr lang="it-IT" noProof="0" dirty="0"/>
              <a:t>Terzo livello</a:t>
            </a:r>
          </a:p>
          <a:p>
            <a:pPr lvl="3" rtl="0"/>
            <a:r>
              <a:rPr lang="it-IT" noProof="0" dirty="0"/>
              <a:t>Quarto livello</a:t>
            </a:r>
          </a:p>
          <a:p>
            <a:pPr lvl="4" rtl="0"/>
            <a:r>
              <a:rPr lang="it-IT" noProof="0" dirty="0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C5F202A1-0708-4EA3-8AAF-86C12B9A7B14}" type="datetime1">
              <a:rPr lang="it-IT" noProof="0" smtClean="0"/>
              <a:t>02/06/2026</a:t>
            </a:fld>
            <a:endParaRPr lang="it-IT" noProof="0" dirty="0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it-IT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A98EE3D-8CD1-4C3F-BD1C-C98C9596463C}" type="slidenum">
              <a:rPr lang="it-IT" noProof="0" smtClean="0"/>
              <a:t>‹N›</a:t>
            </a:fld>
            <a:endParaRPr lang="it-IT" noProof="0" dirty="0"/>
          </a:p>
        </p:txBody>
      </p:sp>
      <p:sp>
        <p:nvSpPr>
          <p:cNvPr id="9" name="Rettangolo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10" name="Rettangolo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11" name="Rettangolo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65219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sldNum="0" hdr="0" ftr="0" dt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6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85.pn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Relationship Id="rId9" Type="http://schemas.openxmlformats.org/officeDocument/2006/relationships/image" Target="../media/image9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7" Type="http://schemas.openxmlformats.org/officeDocument/2006/relationships/image" Target="../media/image97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ttangolo 37">
            <a:extLst>
              <a:ext uri="{FF2B5EF4-FFF2-40B4-BE49-F238E27FC236}">
                <a16:creationId xmlns:a16="http://schemas.microsoft.com/office/drawing/2014/main" id="{6B695AA2-4B70-477F-AF90-536B720A1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Book" panose="020B0502020104020203"/>
              <a:ea typeface="+mn-ea"/>
              <a:cs typeface="+mn-cs"/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8BD66B72-49BB-E223-64D1-1CA08341A51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1C21E816-31F5-48BB-BD02-D15F2F18B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38276" y="120663"/>
            <a:ext cx="10225530" cy="1210704"/>
          </a:xfrm>
        </p:spPr>
        <p:txBody>
          <a:bodyPr rtlCol="0">
            <a:normAutofit/>
          </a:bodyPr>
          <a:lstStyle/>
          <a:p>
            <a:r>
              <a:rPr lang="it-IT" sz="4800">
                <a:solidFill>
                  <a:schemeClr val="tx1"/>
                </a:solidFill>
              </a:rPr>
              <a:t>Studio filtro passa alto (HP)</a:t>
            </a:r>
            <a:endParaRPr lang="it-IT" sz="4800" dirty="0">
              <a:solidFill>
                <a:schemeClr val="tx1"/>
              </a:solidFill>
            </a:endParaRP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35D6E6B-3353-491C-A3C6-F278D6CED8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8276" y="1654198"/>
            <a:ext cx="10225530" cy="590321"/>
          </a:xfrm>
        </p:spPr>
        <p:txBody>
          <a:bodyPr rtlCol="0">
            <a:normAutofit/>
          </a:bodyPr>
          <a:lstStyle/>
          <a:p>
            <a:pPr rtl="0"/>
            <a:r>
              <a:rPr lang="it-IT" sz="1600">
                <a:solidFill>
                  <a:schemeClr val="tx1"/>
                </a:solidFill>
              </a:rPr>
              <a:t>Lavoro di:</a:t>
            </a:r>
            <a:endParaRPr lang="it-IT" sz="1600" dirty="0">
              <a:solidFill>
                <a:schemeClr val="tx1"/>
              </a:solidFill>
            </a:endParaRPr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F26CD8AA-61D9-BDB3-CE6C-E60A3EF6490D}"/>
              </a:ext>
            </a:extLst>
          </p:cNvPr>
          <p:cNvSpPr txBox="1">
            <a:spLocks/>
          </p:cNvSpPr>
          <p:nvPr/>
        </p:nvSpPr>
        <p:spPr>
          <a:xfrm>
            <a:off x="1838910" y="2016641"/>
            <a:ext cx="10225530" cy="59032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defRPr sz="1600" kern="1200" cap="all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>
                <a:solidFill>
                  <a:schemeClr val="tx1"/>
                </a:solidFill>
              </a:rPr>
              <a:t>Riccardo Motta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>
                <a:solidFill>
                  <a:schemeClr val="tx1"/>
                </a:solidFill>
              </a:rPr>
              <a:t>Riccardo scola colombo</a:t>
            </a:r>
            <a:endParaRPr lang="it-IT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52488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08173C22-8646-3B78-C22F-8FD89E7E3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it-IT" b="0" kern="1200" cap="all" dirty="0">
                <a:latin typeface="+mj-lt"/>
                <a:ea typeface="+mj-ea"/>
                <a:cs typeface="+mj-cs"/>
              </a:rPr>
              <a:t>Cosa è un filtro passa alto?</a:t>
            </a:r>
            <a:br>
              <a:rPr lang="it-IT" b="0" kern="1200" cap="all" dirty="0">
                <a:latin typeface="+mj-lt"/>
                <a:ea typeface="+mj-ea"/>
                <a:cs typeface="+mj-cs"/>
              </a:rPr>
            </a:br>
            <a:endParaRPr lang="it-IT" b="0" kern="1200" cap="all" dirty="0">
              <a:latin typeface="+mj-lt"/>
              <a:ea typeface="+mj-ea"/>
              <a:cs typeface="+mj-cs"/>
            </a:endParaRPr>
          </a:p>
        </p:txBody>
      </p:sp>
      <p:grpSp>
        <p:nvGrpSpPr>
          <p:cNvPr id="12" name="Gruppo 11">
            <a:extLst>
              <a:ext uri="{FF2B5EF4-FFF2-40B4-BE49-F238E27FC236}">
                <a16:creationId xmlns:a16="http://schemas.microsoft.com/office/drawing/2014/main" id="{40C3F8B0-BC03-968A-C1A4-E0D856C33CDF}"/>
              </a:ext>
            </a:extLst>
          </p:cNvPr>
          <p:cNvGrpSpPr/>
          <p:nvPr/>
        </p:nvGrpSpPr>
        <p:grpSpPr>
          <a:xfrm>
            <a:off x="581191" y="2250891"/>
            <a:ext cx="5194769" cy="1798436"/>
            <a:chOff x="581191" y="2250891"/>
            <a:chExt cx="5194769" cy="1798436"/>
          </a:xfrm>
        </p:grpSpPr>
        <p:sp>
          <p:nvSpPr>
            <p:cNvPr id="5" name="CasellaDiTesto 4">
              <a:extLst>
                <a:ext uri="{FF2B5EF4-FFF2-40B4-BE49-F238E27FC236}">
                  <a16:creationId xmlns:a16="http://schemas.microsoft.com/office/drawing/2014/main" id="{75AFB858-71A3-F171-46D1-078DFF220426}"/>
                </a:ext>
              </a:extLst>
            </p:cNvPr>
            <p:cNvSpPr txBox="1"/>
            <p:nvPr/>
          </p:nvSpPr>
          <p:spPr>
            <a:xfrm>
              <a:off x="581191" y="2250891"/>
              <a:ext cx="5194769" cy="557784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/>
            <a:p>
              <a:pPr defTabSz="457200">
                <a:lnSpc>
                  <a:spcPct val="110000"/>
                </a:lnSpc>
                <a:spcBef>
                  <a:spcPct val="20000"/>
                </a:spcBef>
                <a:spcAft>
                  <a:spcPts val="600"/>
                </a:spcAft>
                <a:buClr>
                  <a:schemeClr val="accent1"/>
                </a:buClr>
                <a:buSzPct val="92000"/>
              </a:pPr>
              <a:r>
                <a:rPr lang="it-IT" sz="2000" b="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rPr>
                <a:t>Nel caso più semplice RC passivo: </a:t>
              </a:r>
            </a:p>
          </p:txBody>
        </p:sp>
        <p:sp>
          <p:nvSpPr>
            <p:cNvPr id="3" name="CasellaDiTesto 2">
              <a:extLst>
                <a:ext uri="{FF2B5EF4-FFF2-40B4-BE49-F238E27FC236}">
                  <a16:creationId xmlns:a16="http://schemas.microsoft.com/office/drawing/2014/main" id="{F05895E1-45F1-1114-1C62-D03D1F1E51DC}"/>
                </a:ext>
              </a:extLst>
            </p:cNvPr>
            <p:cNvSpPr txBox="1"/>
            <p:nvPr/>
          </p:nvSpPr>
          <p:spPr>
            <a:xfrm>
              <a:off x="581194" y="2926053"/>
              <a:ext cx="5194766" cy="112327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/>
            <a:p>
              <a:pPr marL="306000" indent="-306000" defTabSz="457200">
                <a:spcBef>
                  <a:spcPct val="20000"/>
                </a:spcBef>
                <a:spcAft>
                  <a:spcPts val="600"/>
                </a:spcAft>
                <a:buClr>
                  <a:schemeClr val="accent1"/>
                </a:buClr>
                <a:buSzPct val="92000"/>
                <a:buFont typeface="Wingdings 2" panose="05020102010507070707" pitchFamily="18" charset="2"/>
                <a:buChar char=""/>
              </a:pPr>
              <a:r>
                <a:rPr lang="it-IT" sz="17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Il condensatore blocca le basse frequenze;</a:t>
              </a:r>
            </a:p>
            <a:p>
              <a:pPr marL="306000" indent="-306000" defTabSz="457200">
                <a:spcBef>
                  <a:spcPct val="20000"/>
                </a:spcBef>
                <a:spcAft>
                  <a:spcPts val="600"/>
                </a:spcAft>
                <a:buClr>
                  <a:schemeClr val="accent1"/>
                </a:buClr>
                <a:buSzPct val="92000"/>
                <a:buFont typeface="Wingdings 2" panose="05020102010507070707" pitchFamily="18" charset="2"/>
                <a:buChar char=""/>
              </a:pPr>
              <a:r>
                <a:rPr lang="it-IT" sz="17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Mentre alle alte frequenze la sua impedenza diminuisce e il segnale passa in uscita.</a:t>
              </a:r>
            </a:p>
          </p:txBody>
        </p:sp>
      </p:grpSp>
      <p:pic>
        <p:nvPicPr>
          <p:cNvPr id="11" name="Immagine 10">
            <a:extLst>
              <a:ext uri="{FF2B5EF4-FFF2-40B4-BE49-F238E27FC236}">
                <a16:creationId xmlns:a16="http://schemas.microsoft.com/office/drawing/2014/main" id="{D9F22274-292D-C754-5291-7095938E3A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4" t="-138" r="5" b="7128"/>
          <a:stretch>
            <a:fillRect/>
          </a:stretch>
        </p:blipFill>
        <p:spPr>
          <a:xfrm>
            <a:off x="5985782" y="1415932"/>
            <a:ext cx="5194771" cy="4831690"/>
          </a:xfrm>
          <a:prstGeom prst="rect">
            <a:avLst/>
          </a:prstGeom>
          <a:noFill/>
        </p:spPr>
      </p:pic>
      <p:grpSp>
        <p:nvGrpSpPr>
          <p:cNvPr id="10" name="Gruppo 9">
            <a:extLst>
              <a:ext uri="{FF2B5EF4-FFF2-40B4-BE49-F238E27FC236}">
                <a16:creationId xmlns:a16="http://schemas.microsoft.com/office/drawing/2014/main" id="{AA640698-7928-49AD-B1B6-1E4D631AC460}"/>
              </a:ext>
            </a:extLst>
          </p:cNvPr>
          <p:cNvGrpSpPr/>
          <p:nvPr/>
        </p:nvGrpSpPr>
        <p:grpSpPr>
          <a:xfrm>
            <a:off x="581191" y="4968284"/>
            <a:ext cx="6097218" cy="578235"/>
            <a:chOff x="581191" y="4509536"/>
            <a:chExt cx="6097218" cy="57823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sellaDiTesto 5">
                  <a:extLst>
                    <a:ext uri="{FF2B5EF4-FFF2-40B4-BE49-F238E27FC236}">
                      <a16:creationId xmlns:a16="http://schemas.microsoft.com/office/drawing/2014/main" id="{E1A935B9-47E3-5529-DEBA-2A9B395AC37D}"/>
                    </a:ext>
                  </a:extLst>
                </p:cNvPr>
                <p:cNvSpPr txBox="1"/>
                <p:nvPr/>
              </p:nvSpPr>
              <p:spPr>
                <a:xfrm>
                  <a:off x="3388399" y="4509536"/>
                  <a:ext cx="2086242" cy="57823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it-IT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it-IT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it-IT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it-IT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it-IT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𝑅𝐶</m:t>
                            </m:r>
                          </m:den>
                        </m:f>
                      </m:oMath>
                    </m:oMathPara>
                  </a14:m>
                  <a:endParaRPr lang="it-IT" sz="2000" dirty="0"/>
                </a:p>
              </p:txBody>
            </p:sp>
          </mc:Choice>
          <mc:Fallback xmlns="">
            <p:sp>
              <p:nvSpPr>
                <p:cNvPr id="6" name="CasellaDiTesto 5">
                  <a:extLst>
                    <a:ext uri="{FF2B5EF4-FFF2-40B4-BE49-F238E27FC236}">
                      <a16:creationId xmlns:a16="http://schemas.microsoft.com/office/drawing/2014/main" id="{E1A935B9-47E3-5529-DEBA-2A9B395AC3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8399" y="4509536"/>
                  <a:ext cx="2086242" cy="57823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sellaDiTesto 8">
              <a:extLst>
                <a:ext uri="{FF2B5EF4-FFF2-40B4-BE49-F238E27FC236}">
                  <a16:creationId xmlns:a16="http://schemas.microsoft.com/office/drawing/2014/main" id="{BEEA7EAD-B56C-6031-9FF2-34781081F562}"/>
                </a:ext>
              </a:extLst>
            </p:cNvPr>
            <p:cNvSpPr txBox="1"/>
            <p:nvPr/>
          </p:nvSpPr>
          <p:spPr>
            <a:xfrm>
              <a:off x="581191" y="4613988"/>
              <a:ext cx="6097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dirty="0"/>
                <a:t>La frequenza di taglio vale: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35228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023AF3FD-ACC6-2D5D-0D9A-885BAA38BE5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227" y="1676763"/>
            <a:ext cx="10022920" cy="4921387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CCF2EFC7-4F47-D777-0B58-D8F6BE966865}"/>
              </a:ext>
            </a:extLst>
          </p:cNvPr>
          <p:cNvPicPr/>
          <p:nvPr/>
        </p:nvPicPr>
        <p:blipFill>
          <a:blip r:embed="rId2"/>
          <a:srcRect l="47270" t="31327" r="40720" b="43415"/>
          <a:stretch>
            <a:fillRect/>
          </a:stretch>
        </p:blipFill>
        <p:spPr>
          <a:xfrm>
            <a:off x="8343900" y="2301430"/>
            <a:ext cx="3649077" cy="33515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6346A5-8110-CD64-1702-93628F6C69B1}"/>
              </a:ext>
            </a:extLst>
          </p:cNvPr>
          <p:cNvSpPr txBox="1">
            <a:spLocks/>
          </p:cNvSpPr>
          <p:nvPr/>
        </p:nvSpPr>
        <p:spPr>
          <a:xfrm>
            <a:off x="581193" y="729658"/>
            <a:ext cx="11029616" cy="98833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it-IT" dirty="0"/>
              <a:t>Cosa è un filtro passa alto (esempio bode)?</a:t>
            </a:r>
            <a:br>
              <a:rPr lang="it-IT" dirty="0"/>
            </a:br>
            <a:endParaRPr lang="it-IT" dirty="0"/>
          </a:p>
        </p:txBody>
      </p:sp>
      <p:sp>
        <p:nvSpPr>
          <p:cNvPr id="7" name="Ovale 6">
            <a:extLst>
              <a:ext uri="{FF2B5EF4-FFF2-40B4-BE49-F238E27FC236}">
                <a16:creationId xmlns:a16="http://schemas.microsoft.com/office/drawing/2014/main" id="{518F4A30-1D9D-35DD-D299-F266FC8F1FBC}"/>
              </a:ext>
            </a:extLst>
          </p:cNvPr>
          <p:cNvSpPr/>
          <p:nvPr/>
        </p:nvSpPr>
        <p:spPr>
          <a:xfrm>
            <a:off x="4446481" y="2026374"/>
            <a:ext cx="745067" cy="68873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79F60ECE-AE7C-AAE0-3968-55AF22CDBD39}"/>
                  </a:ext>
                </a:extLst>
              </p:cNvPr>
              <p:cNvSpPr txBox="1"/>
              <p:nvPr/>
            </p:nvSpPr>
            <p:spPr>
              <a:xfrm>
                <a:off x="5005581" y="1820973"/>
                <a:ext cx="2086242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it-IT" sz="20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  <m:r>
                        <a:rPr lang="it-IT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000" b="1" i="1" smtClean="0">
                          <a:latin typeface="Cambria Math" panose="02040503050406030204" pitchFamily="18" charset="0"/>
                        </a:rPr>
                        <m:t>𝟏𝟓𝟗</m:t>
                      </m:r>
                      <m:r>
                        <a:rPr lang="it-IT" sz="2000" b="1" i="1" smtClean="0">
                          <a:latin typeface="Cambria Math" panose="02040503050406030204" pitchFamily="18" charset="0"/>
                        </a:rPr>
                        <m:t>𝑯𝒛</m:t>
                      </m:r>
                    </m:oMath>
                  </m:oMathPara>
                </a14:m>
                <a:endParaRPr lang="it-IT" sz="2000" b="1" dirty="0"/>
              </a:p>
            </p:txBody>
          </p:sp>
        </mc:Choice>
        <mc:Fallback xmlns="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79F60ECE-AE7C-AAE0-3968-55AF22CDBD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5581" y="1820973"/>
                <a:ext cx="2086242" cy="307777"/>
              </a:xfrm>
              <a:prstGeom prst="rect">
                <a:avLst/>
              </a:prstGeom>
              <a:blipFill>
                <a:blip r:embed="rId3"/>
                <a:stretch>
                  <a:fillRect b="-360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1CC9970F-3CA6-58F5-239A-627A9D51DF75}"/>
              </a:ext>
            </a:extLst>
          </p:cNvPr>
          <p:cNvSpPr txBox="1"/>
          <p:nvPr/>
        </p:nvSpPr>
        <p:spPr>
          <a:xfrm>
            <a:off x="8739751" y="817278"/>
            <a:ext cx="283934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it-IT" dirty="0"/>
              <a:t>Nel diagramma di Bode, il filtro passa-alto </a:t>
            </a:r>
            <a:r>
              <a:rPr lang="it-IT" b="1" i="1" u="sng" dirty="0"/>
              <a:t>attenua le basse frequenze e lascia passare quelle alte.</a:t>
            </a:r>
          </a:p>
        </p:txBody>
      </p:sp>
      <p:sp>
        <p:nvSpPr>
          <p:cNvPr id="17" name="Ovale 16">
            <a:extLst>
              <a:ext uri="{FF2B5EF4-FFF2-40B4-BE49-F238E27FC236}">
                <a16:creationId xmlns:a16="http://schemas.microsoft.com/office/drawing/2014/main" id="{F0311132-1AE0-83BB-22A5-2E76DCBB2C27}"/>
              </a:ext>
            </a:extLst>
          </p:cNvPr>
          <p:cNvSpPr/>
          <p:nvPr/>
        </p:nvSpPr>
        <p:spPr>
          <a:xfrm>
            <a:off x="10159421" y="2633484"/>
            <a:ext cx="2158999" cy="1261534"/>
          </a:xfrm>
          <a:prstGeom prst="ellips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DFFB7E31-9C03-3B43-901C-A97014B507EC}"/>
              </a:ext>
            </a:extLst>
          </p:cNvPr>
          <p:cNvCxnSpPr>
            <a:cxnSpLocks/>
            <a:endCxn id="7" idx="6"/>
          </p:cNvCxnSpPr>
          <p:nvPr/>
        </p:nvCxnSpPr>
        <p:spPr>
          <a:xfrm flipH="1" flipV="1">
            <a:off x="5191548" y="2370741"/>
            <a:ext cx="3291489" cy="77563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rapezio 20">
            <a:extLst>
              <a:ext uri="{FF2B5EF4-FFF2-40B4-BE49-F238E27FC236}">
                <a16:creationId xmlns:a16="http://schemas.microsoft.com/office/drawing/2014/main" id="{ECA1FF3A-FC09-49AF-29D8-3F5FB6671D3D}"/>
              </a:ext>
            </a:extLst>
          </p:cNvPr>
          <p:cNvSpPr/>
          <p:nvPr/>
        </p:nvSpPr>
        <p:spPr>
          <a:xfrm rot="16200000">
            <a:off x="5690875" y="3067076"/>
            <a:ext cx="3222310" cy="1794716"/>
          </a:xfrm>
          <a:prstGeom prst="trapezoid">
            <a:avLst>
              <a:gd name="adj" fmla="val 46579"/>
            </a:avLst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95B2A971-96DC-0024-8A3D-CB41B0D5E942}"/>
                  </a:ext>
                </a:extLst>
              </p:cNvPr>
              <p:cNvSpPr txBox="1"/>
              <p:nvPr/>
            </p:nvSpPr>
            <p:spPr>
              <a:xfrm>
                <a:off x="8343900" y="5787946"/>
                <a:ext cx="3716866" cy="8309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it-IT" sz="1600" dirty="0"/>
                  <a:t>In corrispondenza di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ar-AE" sz="1600" b="1" i="1">
                            <a:latin typeface="Cambria Math" panose="02040503050406030204" pitchFamily="18" charset="0"/>
                          </a:rPr>
                          <m:t>𝒄</m:t>
                        </m:r>
                        <m:r>
                          <a:rPr lang="it-IT" sz="1600" b="1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it-IT" sz="1600" b="1" dirty="0"/>
                  <a:t>il guadagno è pari a -3 dB</a:t>
                </a:r>
                <a:r>
                  <a:rPr lang="it-IT" sz="1600" dirty="0"/>
                  <a:t>, mentre sopra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it-IT" sz="1600" dirty="0"/>
                  <a:t>il segnale viene trasferito quasi interamente.</a:t>
                </a:r>
              </a:p>
            </p:txBody>
          </p:sp>
        </mc:Choice>
        <mc:Fallback xmlns="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95B2A971-96DC-0024-8A3D-CB41B0D5E9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3900" y="5787946"/>
                <a:ext cx="3716866" cy="830997"/>
              </a:xfrm>
              <a:prstGeom prst="rect">
                <a:avLst/>
              </a:prstGeom>
              <a:blipFill>
                <a:blip r:embed="rId4"/>
                <a:stretch>
                  <a:fillRect t="-1439" b="-719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D5761892-DF49-6CC0-821E-A5D7E0B740DD}"/>
              </a:ext>
            </a:extLst>
          </p:cNvPr>
          <p:cNvCxnSpPr>
            <a:cxnSpLocks/>
            <a:endCxn id="23" idx="0"/>
          </p:cNvCxnSpPr>
          <p:nvPr/>
        </p:nvCxnSpPr>
        <p:spPr>
          <a:xfrm flipH="1">
            <a:off x="10202333" y="4057741"/>
            <a:ext cx="1079499" cy="1730205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ttore diritto 30">
            <a:extLst>
              <a:ext uri="{FF2B5EF4-FFF2-40B4-BE49-F238E27FC236}">
                <a16:creationId xmlns:a16="http://schemas.microsoft.com/office/drawing/2014/main" id="{24F63F3E-BD93-1426-018A-7C53C353448D}"/>
              </a:ext>
            </a:extLst>
          </p:cNvPr>
          <p:cNvCxnSpPr/>
          <p:nvPr/>
        </p:nvCxnSpPr>
        <p:spPr>
          <a:xfrm>
            <a:off x="8568267" y="3179585"/>
            <a:ext cx="12446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325FF307-FA28-B898-6AA3-3F30CC6ACF16}"/>
              </a:ext>
            </a:extLst>
          </p:cNvPr>
          <p:cNvSpPr txBox="1"/>
          <p:nvPr/>
        </p:nvSpPr>
        <p:spPr>
          <a:xfrm>
            <a:off x="8300988" y="3660123"/>
            <a:ext cx="2023749" cy="738664"/>
          </a:xfrm>
          <a:prstGeom prst="rect">
            <a:avLst/>
          </a:prstGeom>
          <a:solidFill>
            <a:schemeClr val="bg1"/>
          </a:solidFill>
          <a:ln w="19050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sz="1400" dirty="0"/>
              <a:t>dove il guadagno è </a:t>
            </a:r>
            <a:r>
              <a:rPr lang="it-IT" sz="1400" b="1" dirty="0"/>
              <a:t>-3 dB</a:t>
            </a:r>
            <a:r>
              <a:rPr lang="it-IT" sz="1400" dirty="0"/>
              <a:t>, la fase vale circa </a:t>
            </a:r>
            <a:r>
              <a:rPr lang="it-IT" sz="1400" b="1" dirty="0"/>
              <a:t>+45°</a:t>
            </a:r>
            <a:endParaRPr lang="it-IT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asellaDiTesto 33">
                <a:extLst>
                  <a:ext uri="{FF2B5EF4-FFF2-40B4-BE49-F238E27FC236}">
                    <a16:creationId xmlns:a16="http://schemas.microsoft.com/office/drawing/2014/main" id="{506F503F-54AF-3FCD-9904-A7F828233193}"/>
                  </a:ext>
                </a:extLst>
              </p:cNvPr>
              <p:cNvSpPr txBox="1"/>
              <p:nvPr/>
            </p:nvSpPr>
            <p:spPr>
              <a:xfrm>
                <a:off x="381122" y="5632721"/>
                <a:ext cx="7165809" cy="120032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it-IT" b="1" i="1" dirty="0"/>
                  <a:t>Nel filtro passa-alto RC, la fase passa da circa +90° alle basse frequenze a circa 0° alle alte frequenze. </a:t>
                </a:r>
              </a:p>
              <a:p>
                <a:pPr algn="just"/>
                <a:r>
                  <a:rPr lang="it-IT" u="sng" dirty="0"/>
                  <a:t>Alla frequenza di taglio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u="sng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 u="sng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ar-AE" i="1" u="sng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it-IT" u="sng" dirty="0"/>
                  <a:t> dove il modulo del guadagno è pari a -3 dB, lo sfasamento è di circa +45°</a:t>
                </a:r>
              </a:p>
            </p:txBody>
          </p:sp>
        </mc:Choice>
        <mc:Fallback xmlns="">
          <p:sp>
            <p:nvSpPr>
              <p:cNvPr id="34" name="CasellaDiTesto 33">
                <a:extLst>
                  <a:ext uri="{FF2B5EF4-FFF2-40B4-BE49-F238E27FC236}">
                    <a16:creationId xmlns:a16="http://schemas.microsoft.com/office/drawing/2014/main" id="{506F503F-54AF-3FCD-9904-A7F8282331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122" y="5632721"/>
                <a:ext cx="7165809" cy="1200329"/>
              </a:xfrm>
              <a:prstGeom prst="rect">
                <a:avLst/>
              </a:prstGeom>
              <a:blipFill>
                <a:blip r:embed="rId5"/>
                <a:stretch>
                  <a:fillRect l="-680" t="-2010" r="-595" b="-65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64526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1987036A-373E-1475-4046-8B8CC7AEB8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755" r="46503" b="50359"/>
          <a:stretch>
            <a:fillRect/>
          </a:stretch>
        </p:blipFill>
        <p:spPr>
          <a:xfrm>
            <a:off x="587228" y="712029"/>
            <a:ext cx="3225567" cy="2917438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2C5B56FF-DFCB-164C-362D-7202B21961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4399" y="840630"/>
            <a:ext cx="5281376" cy="258837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E01CF37E-3035-5FDA-0785-153B91AD60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3078" y="3587260"/>
            <a:ext cx="5952815" cy="2917438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A6EB8366-55F3-7F04-EBAD-800893F4A731}"/>
              </a:ext>
            </a:extLst>
          </p:cNvPr>
          <p:cNvSpPr txBox="1"/>
          <p:nvPr/>
        </p:nvSpPr>
        <p:spPr>
          <a:xfrm>
            <a:off x="3859306" y="4936850"/>
            <a:ext cx="1456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Esempio </a:t>
            </a:r>
            <a:r>
              <a:rPr lang="it-IT" dirty="0" err="1"/>
              <a:t>rc</a:t>
            </a:r>
            <a:r>
              <a:rPr lang="it-IT" dirty="0"/>
              <a:t> passivo</a:t>
            </a:r>
          </a:p>
        </p:txBody>
      </p:sp>
    </p:spTree>
    <p:extLst>
      <p:ext uri="{BB962C8B-B14F-4D97-AF65-F5344CB8AC3E}">
        <p14:creationId xmlns:p14="http://schemas.microsoft.com/office/powerpoint/2010/main" val="14187122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B987A302-9030-9FD3-6949-7F90FFE92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741" y="1243731"/>
            <a:ext cx="3873544" cy="189840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17145D76-7111-CBDA-978A-1B89D22AAA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3487476"/>
            <a:ext cx="2838846" cy="1057423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5CE2BC5A-5D4D-E8FD-71DB-379E0A03F0E4}"/>
              </a:ext>
            </a:extLst>
          </p:cNvPr>
          <p:cNvSpPr txBox="1"/>
          <p:nvPr/>
        </p:nvSpPr>
        <p:spPr>
          <a:xfrm>
            <a:off x="242046" y="4688539"/>
            <a:ext cx="2541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F=159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50DE01F-024E-80C2-313C-739B575B7E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7316" y="1334924"/>
            <a:ext cx="3687472" cy="1807207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577F8FB2-F5FA-6EE8-5C90-EFB51830BD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8418" y="3335055"/>
            <a:ext cx="3315163" cy="1209844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B8B2CA4A-488A-EE13-0F78-D16FF35AE569}"/>
              </a:ext>
            </a:extLst>
          </p:cNvPr>
          <p:cNvSpPr txBox="1"/>
          <p:nvPr/>
        </p:nvSpPr>
        <p:spPr>
          <a:xfrm>
            <a:off x="4438418" y="4643715"/>
            <a:ext cx="2541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F=1590</a:t>
            </a: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2AE1B130-EAEC-19AD-0B68-113637AAF9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5819" y="1384539"/>
            <a:ext cx="3586236" cy="1757592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B0B6D580-01BD-5843-030C-3B8B9CFA548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1640" y="3344581"/>
            <a:ext cx="3591426" cy="1190791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FB04F3D6-3B21-23F0-2E0B-61C32CD92696}"/>
              </a:ext>
            </a:extLst>
          </p:cNvPr>
          <p:cNvSpPr txBox="1"/>
          <p:nvPr/>
        </p:nvSpPr>
        <p:spPr>
          <a:xfrm>
            <a:off x="8401640" y="4643715"/>
            <a:ext cx="2541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F=15900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864A91E-7822-1B66-3069-6C85DBD22FB6}"/>
              </a:ext>
            </a:extLst>
          </p:cNvPr>
          <p:cNvSpPr txBox="1"/>
          <p:nvPr/>
        </p:nvSpPr>
        <p:spPr>
          <a:xfrm>
            <a:off x="5217458" y="5304403"/>
            <a:ext cx="14567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Come cambia </a:t>
            </a:r>
            <a:r>
              <a:rPr lang="it-IT" dirty="0" err="1"/>
              <a:t>fc</a:t>
            </a:r>
            <a:r>
              <a:rPr lang="it-IT" dirty="0"/>
              <a:t> e la sinusoide rispetto a Vin</a:t>
            </a:r>
          </a:p>
        </p:txBody>
      </p:sp>
    </p:spTree>
    <p:extLst>
      <p:ext uri="{BB962C8B-B14F-4D97-AF65-F5344CB8AC3E}">
        <p14:creationId xmlns:p14="http://schemas.microsoft.com/office/powerpoint/2010/main" val="1307252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E149CA22-7560-C411-7FBC-E81A30285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76" y="1050988"/>
            <a:ext cx="4065609" cy="199253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39F9D9F1-5C13-3070-DCA1-71ADAA229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0648" y="1050988"/>
            <a:ext cx="3989294" cy="2010754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4FD0BB3A-2317-BF4A-48FA-FF3C4EB379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0647" y="3182630"/>
            <a:ext cx="3994497" cy="196759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111FFF97-61A6-D185-DB7A-74DD3D61D8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2671" y="5345082"/>
            <a:ext cx="2774576" cy="1359803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B47AA382-63E3-F6F2-C122-D302EDA8FD0D}"/>
              </a:ext>
            </a:extLst>
          </p:cNvPr>
          <p:cNvSpPr txBox="1"/>
          <p:nvPr/>
        </p:nvSpPr>
        <p:spPr>
          <a:xfrm>
            <a:off x="963706" y="658906"/>
            <a:ext cx="2487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F=10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4AAF23B8-9355-2F10-B426-BB16CD99502D}"/>
              </a:ext>
            </a:extLst>
          </p:cNvPr>
          <p:cNvSpPr txBox="1"/>
          <p:nvPr/>
        </p:nvSpPr>
        <p:spPr>
          <a:xfrm>
            <a:off x="4603377" y="621212"/>
            <a:ext cx="2487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F=159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09ECB90-E9F9-F8D5-0414-2C2E8EC68CE3}"/>
              </a:ext>
            </a:extLst>
          </p:cNvPr>
          <p:cNvSpPr txBox="1"/>
          <p:nvPr/>
        </p:nvSpPr>
        <p:spPr>
          <a:xfrm>
            <a:off x="8870577" y="621212"/>
            <a:ext cx="2487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F=250</a:t>
            </a:r>
          </a:p>
        </p:txBody>
      </p:sp>
      <p:pic>
        <p:nvPicPr>
          <p:cNvPr id="15" name="Immagine 14">
            <a:extLst>
              <a:ext uri="{FF2B5EF4-FFF2-40B4-BE49-F238E27FC236}">
                <a16:creationId xmlns:a16="http://schemas.microsoft.com/office/drawing/2014/main" id="{8F28EBBE-28B1-B343-0132-A76159ADCB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5778" y="1098336"/>
            <a:ext cx="3563470" cy="174643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294F0406-D6DE-550B-0C79-BBED566B310E}"/>
                  </a:ext>
                </a:extLst>
              </p:cNvPr>
              <p:cNvSpPr txBox="1"/>
              <p:nvPr/>
            </p:nvSpPr>
            <p:spPr>
              <a:xfrm>
                <a:off x="9289698" y="5295551"/>
                <a:ext cx="760080" cy="398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:r>
                  <a:rPr lang="it-IT" dirty="0"/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360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 ∙ ∆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endParaRPr lang="it-IT" dirty="0"/>
              </a:p>
            </p:txBody>
          </p:sp>
        </mc:Choice>
        <mc:Fallback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294F0406-D6DE-550B-0C79-BBED566B31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9698" y="5295551"/>
                <a:ext cx="760080" cy="398764"/>
              </a:xfrm>
              <a:prstGeom prst="rect">
                <a:avLst/>
              </a:prstGeom>
              <a:blipFill>
                <a:blip r:embed="rId7"/>
                <a:stretch>
                  <a:fillRect l="-19200" t="-4615" r="-5600" b="-200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F4E53710-1947-E465-67D1-CD080F5DCA70}"/>
                  </a:ext>
                </a:extLst>
              </p:cNvPr>
              <p:cNvSpPr txBox="1"/>
              <p:nvPr/>
            </p:nvSpPr>
            <p:spPr>
              <a:xfrm>
                <a:off x="8870577" y="4909657"/>
                <a:ext cx="235840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90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it-IT" b="0" i="0" smtClean="0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e>
                            <m:sup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fName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𝑅𝐶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F4E53710-1947-E465-67D1-CD080F5DCA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0577" y="4909657"/>
                <a:ext cx="2358403" cy="276999"/>
              </a:xfrm>
              <a:prstGeom prst="rect">
                <a:avLst/>
              </a:prstGeom>
              <a:blipFill>
                <a:blip r:embed="rId8"/>
                <a:stretch>
                  <a:fillRect l="-2067" r="-3101" b="-3478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sellaDiTesto 3">
            <a:extLst>
              <a:ext uri="{FF2B5EF4-FFF2-40B4-BE49-F238E27FC236}">
                <a16:creationId xmlns:a16="http://schemas.microsoft.com/office/drawing/2014/main" id="{8FE72F43-4AE4-88B1-E07D-598A846896E5}"/>
              </a:ext>
            </a:extLst>
          </p:cNvPr>
          <p:cNvSpPr txBox="1"/>
          <p:nvPr/>
        </p:nvSpPr>
        <p:spPr>
          <a:xfrm>
            <a:off x="1120588" y="4461721"/>
            <a:ext cx="1456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Studio sfasamento </a:t>
            </a:r>
          </a:p>
        </p:txBody>
      </p:sp>
    </p:spTree>
    <p:extLst>
      <p:ext uri="{BB962C8B-B14F-4D97-AF65-F5344CB8AC3E}">
        <p14:creationId xmlns:p14="http://schemas.microsoft.com/office/powerpoint/2010/main" val="2006509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6289BA31-DA74-5352-7EE6-4E0AED8CA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650" y="626222"/>
            <a:ext cx="5533117" cy="271827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D58C984B-1458-4094-B0D8-FC20026127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651" y="3622546"/>
            <a:ext cx="6337184" cy="3105815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84D5E926-6D32-B5AB-32F6-EAC1263F93B8}"/>
              </a:ext>
            </a:extLst>
          </p:cNvPr>
          <p:cNvSpPr txBox="1"/>
          <p:nvPr/>
        </p:nvSpPr>
        <p:spPr>
          <a:xfrm>
            <a:off x="8221211" y="1661020"/>
            <a:ext cx="20133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Uscite del passivo con resistenza a terminale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5BAC40D6-321E-6F87-7E7C-7EE4B41BD5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7160" y="3972027"/>
            <a:ext cx="6517342" cy="1706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232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E436C731-8292-0A60-2E65-9992B049F6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755" r="46503" b="50359"/>
          <a:stretch>
            <a:fillRect/>
          </a:stretch>
        </p:blipFill>
        <p:spPr>
          <a:xfrm>
            <a:off x="1111541" y="909912"/>
            <a:ext cx="2785144" cy="2519088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C614C32B-DB12-DC75-C681-6F5DEA8E73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44" r="70597" b="50359"/>
          <a:stretch>
            <a:fillRect/>
          </a:stretch>
        </p:blipFill>
        <p:spPr>
          <a:xfrm>
            <a:off x="440420" y="3641186"/>
            <a:ext cx="3485626" cy="2734723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A3AC5A34-8456-861F-DCA9-4655F0F6A6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9634" y="763562"/>
            <a:ext cx="3327306" cy="1630692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A48E2E02-54D1-0179-4FD1-AB166AB71A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6290" y="763562"/>
            <a:ext cx="3540154" cy="1735007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F0A7070B-283F-D2E8-5152-273F70D7EA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7366" y="2644710"/>
            <a:ext cx="3200569" cy="1568579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9202FAC3-49F0-B5E1-32EA-53C0509561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1369" y="2714805"/>
            <a:ext cx="2631665" cy="1289763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42E36095-74D6-7EF3-BAB2-9E39A64B28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6724" y="4546882"/>
            <a:ext cx="3157673" cy="1547556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2FF277F-FF11-79D1-67FF-EFC667D13271}"/>
              </a:ext>
            </a:extLst>
          </p:cNvPr>
          <p:cNvSpPr txBox="1"/>
          <p:nvPr/>
        </p:nvSpPr>
        <p:spPr>
          <a:xfrm>
            <a:off x="7491369" y="5524150"/>
            <a:ext cx="3749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Parassiti</a:t>
            </a:r>
            <a:br>
              <a:rPr lang="it-IT" dirty="0"/>
            </a:br>
            <a:r>
              <a:rPr lang="it-IT" dirty="0"/>
              <a:t>r=1</a:t>
            </a:r>
            <a:br>
              <a:rPr lang="it-IT" dirty="0"/>
            </a:br>
            <a:r>
              <a:rPr lang="it-IT" dirty="0"/>
              <a:t>L=100u</a:t>
            </a:r>
          </a:p>
          <a:p>
            <a:r>
              <a:rPr lang="it-IT" dirty="0"/>
              <a:t>Bode su 100Ghz</a:t>
            </a: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EE899864-BBA2-553E-908F-E0445A1970D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38585" y="4206604"/>
            <a:ext cx="2631665" cy="1317546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8FF358C9-385D-99DE-CF4E-38692E084FC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0614" y="763562"/>
            <a:ext cx="1150152" cy="1347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69892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18D954D-9601-FE0D-0CAB-C33497D533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36" y="885141"/>
            <a:ext cx="5336890" cy="2615577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3F53F350-634F-10F7-565C-28E2C094CEED}"/>
              </a:ext>
            </a:extLst>
          </p:cNvPr>
          <p:cNvSpPr txBox="1"/>
          <p:nvPr/>
        </p:nvSpPr>
        <p:spPr>
          <a:xfrm>
            <a:off x="869576" y="4155141"/>
            <a:ext cx="285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R=1k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927E82E0-B982-837C-65B4-F6F2429FD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4397" y="1079094"/>
            <a:ext cx="4941145" cy="2421624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E06BD915-75BE-E664-B632-4DEC8354B8D6}"/>
              </a:ext>
            </a:extLst>
          </p:cNvPr>
          <p:cNvSpPr txBox="1"/>
          <p:nvPr/>
        </p:nvSpPr>
        <p:spPr>
          <a:xfrm>
            <a:off x="6728011" y="3926541"/>
            <a:ext cx="285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R=100k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9AFB5BFE-C90A-36AB-2C8A-C65B37AA4F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5152" y="3879910"/>
            <a:ext cx="2082353" cy="278095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77C67AC6-1EC2-D3B2-A0DF-253716B1BC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2594" y="3879910"/>
            <a:ext cx="2192367" cy="2575420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5830783A-5EB4-B407-D7E5-84E253CE705E}"/>
              </a:ext>
            </a:extLst>
          </p:cNvPr>
          <p:cNvSpPr txBox="1"/>
          <p:nvPr/>
        </p:nvSpPr>
        <p:spPr>
          <a:xfrm>
            <a:off x="5024717" y="4771002"/>
            <a:ext cx="1456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Cambio R</a:t>
            </a:r>
          </a:p>
        </p:txBody>
      </p:sp>
    </p:spTree>
    <p:extLst>
      <p:ext uri="{BB962C8B-B14F-4D97-AF65-F5344CB8AC3E}">
        <p14:creationId xmlns:p14="http://schemas.microsoft.com/office/powerpoint/2010/main" val="27127352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E69A5E7E-D940-F2E5-7676-7E5299211B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42" y="1091329"/>
            <a:ext cx="6100482" cy="2989808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8E59010B-33AB-E1F2-DA20-6ABE02BF048E}"/>
              </a:ext>
            </a:extLst>
          </p:cNvPr>
          <p:cNvSpPr txBox="1"/>
          <p:nvPr/>
        </p:nvSpPr>
        <p:spPr>
          <a:xfrm>
            <a:off x="829235" y="4527176"/>
            <a:ext cx="2523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C=1n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7D91ECF7-3962-CE60-D8BD-74C6209F0D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5258" y="1684457"/>
            <a:ext cx="4890247" cy="2396680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F1BA1389-1E5B-D48E-BAC6-C8F890055888}"/>
              </a:ext>
            </a:extLst>
          </p:cNvPr>
          <p:cNvSpPr txBox="1"/>
          <p:nvPr/>
        </p:nvSpPr>
        <p:spPr>
          <a:xfrm>
            <a:off x="7153835" y="4446494"/>
            <a:ext cx="2523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C=1u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F94F4332-0E62-C1D0-DEA5-16D0FD891F2F}"/>
                  </a:ext>
                </a:extLst>
              </p:cNvPr>
              <p:cNvSpPr txBox="1"/>
              <p:nvPr/>
            </p:nvSpPr>
            <p:spPr>
              <a:xfrm>
                <a:off x="4594370" y="4711842"/>
                <a:ext cx="1470870" cy="52046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it-IT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𝑅𝐶</m:t>
                          </m:r>
                        </m:den>
                      </m:f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F94F4332-0E62-C1D0-DEA5-16D0FD891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4370" y="4711842"/>
                <a:ext cx="1470870" cy="5204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>
            <a:extLst>
              <a:ext uri="{FF2B5EF4-FFF2-40B4-BE49-F238E27FC236}">
                <a16:creationId xmlns:a16="http://schemas.microsoft.com/office/drawing/2014/main" id="{6223DBF1-71E8-C899-674D-A0B0A74036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2048" y="4216471"/>
            <a:ext cx="1833947" cy="2396681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755D67CA-D065-6FC8-4699-69A1078513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2363" y="4274909"/>
            <a:ext cx="1976156" cy="2461451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B65BD500-FF7A-A8FB-C225-33044D193F59}"/>
              </a:ext>
            </a:extLst>
          </p:cNvPr>
          <p:cNvSpPr txBox="1"/>
          <p:nvPr/>
        </p:nvSpPr>
        <p:spPr>
          <a:xfrm>
            <a:off x="7373471" y="902792"/>
            <a:ext cx="1456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Cambio C</a:t>
            </a:r>
          </a:p>
        </p:txBody>
      </p:sp>
    </p:spTree>
    <p:extLst>
      <p:ext uri="{BB962C8B-B14F-4D97-AF65-F5344CB8AC3E}">
        <p14:creationId xmlns:p14="http://schemas.microsoft.com/office/powerpoint/2010/main" val="40092545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96C4DCB0-027D-BE6B-AC0C-6ED599169C65}"/>
              </a:ext>
            </a:extLst>
          </p:cNvPr>
          <p:cNvSpPr txBox="1"/>
          <p:nvPr/>
        </p:nvSpPr>
        <p:spPr>
          <a:xfrm>
            <a:off x="1333850" y="1228987"/>
            <a:ext cx="50837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Filtro hp attivo ideale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C313D8D2-C36B-5429-EFD3-D4CE6C1096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838" y="3775347"/>
            <a:ext cx="5599651" cy="2771676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367F470D-04B1-8A59-CAAE-7C32040C109A}"/>
              </a:ext>
            </a:extLst>
          </p:cNvPr>
          <p:cNvSpPr txBox="1"/>
          <p:nvPr/>
        </p:nvSpPr>
        <p:spPr>
          <a:xfrm>
            <a:off x="6391836" y="4354637"/>
            <a:ext cx="2339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Fc</a:t>
            </a:r>
            <a:r>
              <a:rPr lang="it-IT" dirty="0"/>
              <a:t>=159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6995DDB1-CF34-2617-73AC-8B3A679A66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0846" y="801467"/>
            <a:ext cx="5939118" cy="292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7439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AE392488-8D0F-35F7-3E78-44DB9DDF15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817" y="856129"/>
            <a:ext cx="3120195" cy="3005294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60CD573-5C40-D8BA-24AA-567D10A132E9}"/>
              </a:ext>
            </a:extLst>
          </p:cNvPr>
          <p:cNvSpPr txBox="1"/>
          <p:nvPr/>
        </p:nvSpPr>
        <p:spPr>
          <a:xfrm>
            <a:off x="2460812" y="4567518"/>
            <a:ext cx="28552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identici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F229A54-C0C2-EFBB-949E-EDADFB96D664}"/>
              </a:ext>
            </a:extLst>
          </p:cNvPr>
          <p:cNvSpPr txBox="1"/>
          <p:nvPr/>
        </p:nvSpPr>
        <p:spPr>
          <a:xfrm>
            <a:off x="3859306" y="4936850"/>
            <a:ext cx="1456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Uscita ideale terminali</a:t>
            </a: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A8BA705D-955B-EFBF-93E1-D1A34F0C04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6765" y="926875"/>
            <a:ext cx="5105400" cy="2502125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CCB6CCD5-004B-EFEF-25E7-B2AC5E1C14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2600" y="3642950"/>
            <a:ext cx="5280212" cy="2587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693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47397318-3D8C-7363-1C13-C21F130180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614" y="763562"/>
            <a:ext cx="1150152" cy="1347626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5BE684FC-E2B6-B7F6-08B5-F547721F535D}"/>
              </a:ext>
            </a:extLst>
          </p:cNvPr>
          <p:cNvSpPr txBox="1"/>
          <p:nvPr/>
        </p:nvSpPr>
        <p:spPr>
          <a:xfrm>
            <a:off x="9051228" y="701138"/>
            <a:ext cx="3749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Parassiti</a:t>
            </a:r>
            <a:br>
              <a:rPr lang="it-IT" dirty="0"/>
            </a:br>
            <a:r>
              <a:rPr lang="it-IT" dirty="0"/>
              <a:t>r=1</a:t>
            </a:r>
            <a:br>
              <a:rPr lang="it-IT" dirty="0"/>
            </a:br>
            <a:r>
              <a:rPr lang="it-IT" dirty="0"/>
              <a:t>L=100u</a:t>
            </a:r>
          </a:p>
          <a:p>
            <a:r>
              <a:rPr lang="it-IT" dirty="0"/>
              <a:t>Bode su 100Ghz</a:t>
            </a: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F033319A-C16E-45BD-0C46-E2ACFA66D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5473" y="763562"/>
            <a:ext cx="7481048" cy="1798580"/>
          </a:xfrm>
          <a:prstGeom prst="rect">
            <a:avLst/>
          </a:prstGeom>
        </p:spPr>
      </p:pic>
      <p:pic>
        <p:nvPicPr>
          <p:cNvPr id="18" name="Immagine 17">
            <a:extLst>
              <a:ext uri="{FF2B5EF4-FFF2-40B4-BE49-F238E27FC236}">
                <a16:creationId xmlns:a16="http://schemas.microsoft.com/office/drawing/2014/main" id="{265A2E3F-FC3D-78E7-35A8-FC96EF7F66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477" y="2805953"/>
            <a:ext cx="3397957" cy="1665318"/>
          </a:xfrm>
          <a:prstGeom prst="rect">
            <a:avLst/>
          </a:prstGeom>
        </p:spPr>
      </p:pic>
      <p:pic>
        <p:nvPicPr>
          <p:cNvPr id="20" name="Immagine 19">
            <a:extLst>
              <a:ext uri="{FF2B5EF4-FFF2-40B4-BE49-F238E27FC236}">
                <a16:creationId xmlns:a16="http://schemas.microsoft.com/office/drawing/2014/main" id="{307B3CEC-4EFD-3CF1-F78E-704713A984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3450" y="2855828"/>
            <a:ext cx="3749878" cy="1837792"/>
          </a:xfrm>
          <a:prstGeom prst="rect">
            <a:avLst/>
          </a:prstGeom>
        </p:spPr>
      </p:pic>
      <p:pic>
        <p:nvPicPr>
          <p:cNvPr id="22" name="Immagine 21">
            <a:extLst>
              <a:ext uri="{FF2B5EF4-FFF2-40B4-BE49-F238E27FC236}">
                <a16:creationId xmlns:a16="http://schemas.microsoft.com/office/drawing/2014/main" id="{CDEA813E-496B-3D6B-EE81-F09C37FC1F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2156" y="2855827"/>
            <a:ext cx="3749879" cy="183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4086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B523092B-8C05-8D86-EFE9-88EA29A46F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53" y="831353"/>
            <a:ext cx="3594847" cy="1761813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3EDD6BE3-0126-F12B-8F7A-A3D7CA925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865" y="2018150"/>
            <a:ext cx="1952241" cy="325373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AFAC5FD6-CEFB-DACC-6731-77B0F458DA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2712" y="976339"/>
            <a:ext cx="3594847" cy="1761813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4D8B5F4E-1C13-3CBE-9DCB-A94D3B3D1A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2712" y="2835602"/>
            <a:ext cx="2261523" cy="1109260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4A5E8D55-4888-A8E5-744C-DB897D1431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2712" y="4042312"/>
            <a:ext cx="1885006" cy="924581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5C452CBB-FEDB-E5A1-8048-9FE24BDA2D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82712" y="5117357"/>
            <a:ext cx="2693894" cy="1326246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B52D70C7-F8B6-6C9A-C832-1B8445FCAE1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194" y="2399938"/>
            <a:ext cx="1117983" cy="285200"/>
          </a:xfrm>
          <a:prstGeom prst="rect">
            <a:avLst/>
          </a:prstGeom>
        </p:spPr>
      </p:pic>
      <p:pic>
        <p:nvPicPr>
          <p:cNvPr id="17" name="Immagine 16">
            <a:extLst>
              <a:ext uri="{FF2B5EF4-FFF2-40B4-BE49-F238E27FC236}">
                <a16:creationId xmlns:a16="http://schemas.microsoft.com/office/drawing/2014/main" id="{6118EA19-2C2B-2F6E-929E-B9DE319D5DC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37796" y="1154291"/>
            <a:ext cx="3123579" cy="1530847"/>
          </a:xfrm>
          <a:prstGeom prst="rect">
            <a:avLst/>
          </a:prstGeom>
        </p:spPr>
      </p:pic>
      <p:pic>
        <p:nvPicPr>
          <p:cNvPr id="19" name="Immagine 18">
            <a:extLst>
              <a:ext uri="{FF2B5EF4-FFF2-40B4-BE49-F238E27FC236}">
                <a16:creationId xmlns:a16="http://schemas.microsoft.com/office/drawing/2014/main" id="{930D0198-CDCF-BB29-2594-6476200E04C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42649" y="2290090"/>
            <a:ext cx="2410161" cy="504895"/>
          </a:xfrm>
          <a:prstGeom prst="rect">
            <a:avLst/>
          </a:prstGeom>
        </p:spPr>
      </p:pic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D9C7B19E-D2D5-14B0-F14D-DCF61AE9D533}"/>
              </a:ext>
            </a:extLst>
          </p:cNvPr>
          <p:cNvSpPr txBox="1"/>
          <p:nvPr/>
        </p:nvSpPr>
        <p:spPr>
          <a:xfrm>
            <a:off x="645459" y="3702424"/>
            <a:ext cx="2339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F=10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3FD2A928-025E-4170-0D3D-366B0D2009DE}"/>
              </a:ext>
            </a:extLst>
          </p:cNvPr>
          <p:cNvSpPr txBox="1"/>
          <p:nvPr/>
        </p:nvSpPr>
        <p:spPr>
          <a:xfrm>
            <a:off x="9000566" y="3119262"/>
            <a:ext cx="2339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F=250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6442F633-D960-45E0-289A-5628EF106FE2}"/>
              </a:ext>
            </a:extLst>
          </p:cNvPr>
          <p:cNvSpPr txBox="1"/>
          <p:nvPr/>
        </p:nvSpPr>
        <p:spPr>
          <a:xfrm>
            <a:off x="6544236" y="4507037"/>
            <a:ext cx="2339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F=159</a:t>
            </a:r>
          </a:p>
        </p:txBody>
      </p:sp>
    </p:spTree>
    <p:extLst>
      <p:ext uri="{BB962C8B-B14F-4D97-AF65-F5344CB8AC3E}">
        <p14:creationId xmlns:p14="http://schemas.microsoft.com/office/powerpoint/2010/main" val="26371877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143171D6-E68E-4C2C-317B-40EFEF36DF7D}"/>
              </a:ext>
            </a:extLst>
          </p:cNvPr>
          <p:cNvSpPr txBox="1"/>
          <p:nvPr/>
        </p:nvSpPr>
        <p:spPr>
          <a:xfrm>
            <a:off x="192741" y="918882"/>
            <a:ext cx="4867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Cambio valori r</a:t>
            </a:r>
          </a:p>
        </p:txBody>
      </p:sp>
      <p:pic>
        <p:nvPicPr>
          <p:cNvPr id="18" name="Immagine 17">
            <a:extLst>
              <a:ext uri="{FF2B5EF4-FFF2-40B4-BE49-F238E27FC236}">
                <a16:creationId xmlns:a16="http://schemas.microsoft.com/office/drawing/2014/main" id="{37DF7EB5-65BF-EECC-4FDE-13D486E8A4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9624" y="750670"/>
            <a:ext cx="3581400" cy="1755222"/>
          </a:xfrm>
          <a:prstGeom prst="rect">
            <a:avLst/>
          </a:prstGeom>
        </p:spPr>
      </p:pic>
      <p:pic>
        <p:nvPicPr>
          <p:cNvPr id="20" name="Immagine 19">
            <a:extLst>
              <a:ext uri="{FF2B5EF4-FFF2-40B4-BE49-F238E27FC236}">
                <a16:creationId xmlns:a16="http://schemas.microsoft.com/office/drawing/2014/main" id="{11512E5E-34FB-A04C-4451-CEBA87143F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0937" y="750670"/>
            <a:ext cx="3791231" cy="1858059"/>
          </a:xfrm>
          <a:prstGeom prst="rect">
            <a:avLst/>
          </a:prstGeom>
        </p:spPr>
      </p:pic>
      <p:pic>
        <p:nvPicPr>
          <p:cNvPr id="22" name="Immagine 21">
            <a:extLst>
              <a:ext uri="{FF2B5EF4-FFF2-40B4-BE49-F238E27FC236}">
                <a16:creationId xmlns:a16="http://schemas.microsoft.com/office/drawing/2014/main" id="{2B2F8BBA-41DA-ACCA-0C0B-0809552149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882" y="643350"/>
            <a:ext cx="1825785" cy="1858059"/>
          </a:xfrm>
          <a:prstGeom prst="rect">
            <a:avLst/>
          </a:prstGeom>
        </p:spPr>
      </p:pic>
      <p:pic>
        <p:nvPicPr>
          <p:cNvPr id="24" name="Immagine 23">
            <a:extLst>
              <a:ext uri="{FF2B5EF4-FFF2-40B4-BE49-F238E27FC236}">
                <a16:creationId xmlns:a16="http://schemas.microsoft.com/office/drawing/2014/main" id="{5CDEC647-3185-8C0C-56C3-47C8D2BF35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2718" y="3169986"/>
            <a:ext cx="3478306" cy="1704696"/>
          </a:xfrm>
          <a:prstGeom prst="rect">
            <a:avLst/>
          </a:prstGeom>
        </p:spPr>
      </p:pic>
      <p:pic>
        <p:nvPicPr>
          <p:cNvPr id="26" name="Immagine 25">
            <a:extLst>
              <a:ext uri="{FF2B5EF4-FFF2-40B4-BE49-F238E27FC236}">
                <a16:creationId xmlns:a16="http://schemas.microsoft.com/office/drawing/2014/main" id="{0ACF32A3-2B0E-C881-B42D-AFBB1D4D56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1444" y="3169986"/>
            <a:ext cx="4203320" cy="2060021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0B7C5BC4-4DE0-6BAF-F237-030F683F8D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2483" y="3222555"/>
            <a:ext cx="2301202" cy="2505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4841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05F9972-0C70-28BD-E83C-868BDCB80098}"/>
              </a:ext>
            </a:extLst>
          </p:cNvPr>
          <p:cNvSpPr txBox="1"/>
          <p:nvPr/>
        </p:nvSpPr>
        <p:spPr>
          <a:xfrm>
            <a:off x="372035" y="1192306"/>
            <a:ext cx="3922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Sposto </a:t>
            </a:r>
            <a:r>
              <a:rPr lang="it-IT" dirty="0" err="1"/>
              <a:t>fc</a:t>
            </a:r>
            <a:r>
              <a:rPr lang="it-IT" dirty="0"/>
              <a:t> = 96Mhz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C3DB08D4-ED36-1E3B-4205-23973B85CF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443" y="5077191"/>
            <a:ext cx="1152244" cy="1347333"/>
          </a:xfrm>
          <a:prstGeom prst="rect">
            <a:avLst/>
          </a:prstGeom>
        </p:spPr>
      </p:pic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FB473086-3D8F-CACC-EBA9-1A0E9A1DE201}"/>
              </a:ext>
            </a:extLst>
          </p:cNvPr>
          <p:cNvCxnSpPr/>
          <p:nvPr/>
        </p:nvCxnSpPr>
        <p:spPr>
          <a:xfrm flipV="1">
            <a:off x="658906" y="3388659"/>
            <a:ext cx="11178988" cy="5737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5D22374F-4735-F194-1F4B-4B8C6755E461}"/>
              </a:ext>
            </a:extLst>
          </p:cNvPr>
          <p:cNvSpPr txBox="1"/>
          <p:nvPr/>
        </p:nvSpPr>
        <p:spPr>
          <a:xfrm>
            <a:off x="804443" y="4198690"/>
            <a:ext cx="2597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 parassiti</a:t>
            </a:r>
          </a:p>
        </p:txBody>
      </p:sp>
      <p:pic>
        <p:nvPicPr>
          <p:cNvPr id="23" name="Immagine 22">
            <a:extLst>
              <a:ext uri="{FF2B5EF4-FFF2-40B4-BE49-F238E27FC236}">
                <a16:creationId xmlns:a16="http://schemas.microsoft.com/office/drawing/2014/main" id="{3EFBB577-8A3D-5F4F-E00B-B2723794A9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045" y="1588589"/>
            <a:ext cx="1807555" cy="1941741"/>
          </a:xfrm>
          <a:prstGeom prst="rect">
            <a:avLst/>
          </a:prstGeom>
        </p:spPr>
      </p:pic>
      <p:pic>
        <p:nvPicPr>
          <p:cNvPr id="25" name="Immagine 24">
            <a:extLst>
              <a:ext uri="{FF2B5EF4-FFF2-40B4-BE49-F238E27FC236}">
                <a16:creationId xmlns:a16="http://schemas.microsoft.com/office/drawing/2014/main" id="{A0399F1C-1F2F-AB5C-F0D3-5721F9504A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6224" y="1021857"/>
            <a:ext cx="4509247" cy="2209954"/>
          </a:xfrm>
          <a:prstGeom prst="rect">
            <a:avLst/>
          </a:prstGeom>
        </p:spPr>
      </p:pic>
      <p:pic>
        <p:nvPicPr>
          <p:cNvPr id="27" name="Immagine 26">
            <a:extLst>
              <a:ext uri="{FF2B5EF4-FFF2-40B4-BE49-F238E27FC236}">
                <a16:creationId xmlns:a16="http://schemas.microsoft.com/office/drawing/2014/main" id="{0D894A0B-12D9-9C97-D76F-915104AB41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446" y="1376972"/>
            <a:ext cx="3290047" cy="1619742"/>
          </a:xfrm>
          <a:prstGeom prst="rect">
            <a:avLst/>
          </a:prstGeom>
        </p:spPr>
      </p:pic>
      <p:pic>
        <p:nvPicPr>
          <p:cNvPr id="29" name="Immagine 28">
            <a:extLst>
              <a:ext uri="{FF2B5EF4-FFF2-40B4-BE49-F238E27FC236}">
                <a16:creationId xmlns:a16="http://schemas.microsoft.com/office/drawing/2014/main" id="{8421678B-9A81-0645-CF40-A173FE0F21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0059" y="4429029"/>
            <a:ext cx="2720788" cy="1333441"/>
          </a:xfrm>
          <a:prstGeom prst="rect">
            <a:avLst/>
          </a:prstGeom>
        </p:spPr>
      </p:pic>
      <p:pic>
        <p:nvPicPr>
          <p:cNvPr id="31" name="Immagine 30">
            <a:extLst>
              <a:ext uri="{FF2B5EF4-FFF2-40B4-BE49-F238E27FC236}">
                <a16:creationId xmlns:a16="http://schemas.microsoft.com/office/drawing/2014/main" id="{D100FF97-7C2F-EC02-E294-09C607A494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6012" y="4548778"/>
            <a:ext cx="2720787" cy="1333441"/>
          </a:xfrm>
          <a:prstGeom prst="rect">
            <a:avLst/>
          </a:prstGeom>
        </p:spPr>
      </p:pic>
      <p:pic>
        <p:nvPicPr>
          <p:cNvPr id="33" name="Immagine 32">
            <a:extLst>
              <a:ext uri="{FF2B5EF4-FFF2-40B4-BE49-F238E27FC236}">
                <a16:creationId xmlns:a16="http://schemas.microsoft.com/office/drawing/2014/main" id="{4DACF0D5-196D-1EFB-A747-009F48BCF70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03341" y="4320757"/>
            <a:ext cx="2918012" cy="143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6444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546AACB5-8623-EEE5-F259-EBC010DF91CD}"/>
              </a:ext>
            </a:extLst>
          </p:cNvPr>
          <p:cNvSpPr txBox="1"/>
          <p:nvPr/>
        </p:nvSpPr>
        <p:spPr>
          <a:xfrm>
            <a:off x="998290" y="1006679"/>
            <a:ext cx="4819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reale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64D6F964-C8BB-E7AB-13CD-93D301F697FB}"/>
              </a:ext>
            </a:extLst>
          </p:cNvPr>
          <p:cNvSpPr txBox="1"/>
          <p:nvPr/>
        </p:nvSpPr>
        <p:spPr>
          <a:xfrm>
            <a:off x="1255059" y="4527176"/>
            <a:ext cx="31914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Fc</a:t>
            </a:r>
            <a:r>
              <a:rPr lang="it-IT" dirty="0"/>
              <a:t>=159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0DA03FF8-151B-FFBF-07AF-0B44B49CA6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1687" y="1703450"/>
            <a:ext cx="2443597" cy="1197592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E6FF58A1-5840-67A2-2237-98F50DF334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2494" y="3501158"/>
            <a:ext cx="5235388" cy="2565831"/>
          </a:xfrm>
          <a:prstGeom prst="rect">
            <a:avLst/>
          </a:prstGeom>
        </p:spPr>
      </p:pic>
      <p:pic>
        <p:nvPicPr>
          <p:cNvPr id="17" name="Immagine 16">
            <a:extLst>
              <a:ext uri="{FF2B5EF4-FFF2-40B4-BE49-F238E27FC236}">
                <a16:creationId xmlns:a16="http://schemas.microsoft.com/office/drawing/2014/main" id="{D052F8F7-620A-3695-B4AA-12465B8EA0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7159" y="4618941"/>
            <a:ext cx="3818669" cy="1871506"/>
          </a:xfrm>
          <a:prstGeom prst="rect">
            <a:avLst/>
          </a:prstGeom>
        </p:spPr>
      </p:pic>
      <p:pic>
        <p:nvPicPr>
          <p:cNvPr id="19" name="Immagine 18">
            <a:extLst>
              <a:ext uri="{FF2B5EF4-FFF2-40B4-BE49-F238E27FC236}">
                <a16:creationId xmlns:a16="http://schemas.microsoft.com/office/drawing/2014/main" id="{72766AF8-A941-DC9B-AA6E-F6CC9094BC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0334" y="1164243"/>
            <a:ext cx="3294736" cy="1623767"/>
          </a:xfrm>
          <a:prstGeom prst="rect">
            <a:avLst/>
          </a:prstGeom>
        </p:spPr>
      </p:pic>
      <p:pic>
        <p:nvPicPr>
          <p:cNvPr id="21" name="Immagine 20">
            <a:extLst>
              <a:ext uri="{FF2B5EF4-FFF2-40B4-BE49-F238E27FC236}">
                <a16:creationId xmlns:a16="http://schemas.microsoft.com/office/drawing/2014/main" id="{CFA93E26-5D43-8708-BAD4-AE633472BB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1568418"/>
            <a:ext cx="4858008" cy="2503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6933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516D7A52-7B51-CB7C-F751-28ED1196DA34}"/>
              </a:ext>
            </a:extLst>
          </p:cNvPr>
          <p:cNvSpPr txBox="1"/>
          <p:nvPr/>
        </p:nvSpPr>
        <p:spPr>
          <a:xfrm>
            <a:off x="493059" y="735106"/>
            <a:ext cx="20708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terminali</a:t>
            </a: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6C43C987-8DA5-20F2-B66D-8F90CD335C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4883" y="4253637"/>
            <a:ext cx="3204882" cy="1570693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EA0AEC8B-FDCD-F2AB-51E3-44FE82EA8E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336" y="865365"/>
            <a:ext cx="5230906" cy="2563635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16DF07A6-255E-D0AC-6639-88F21B2929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149" y="2070846"/>
            <a:ext cx="3743213" cy="3895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8963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443EF7E0-F78D-310E-3E56-A119B4F5F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255" y="1737838"/>
            <a:ext cx="1152244" cy="1347333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B88F19FF-87C9-AD5B-4A8F-593A14A203CF}"/>
              </a:ext>
            </a:extLst>
          </p:cNvPr>
          <p:cNvSpPr txBox="1"/>
          <p:nvPr/>
        </p:nvSpPr>
        <p:spPr>
          <a:xfrm>
            <a:off x="804443" y="1057835"/>
            <a:ext cx="3341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parassiti</a:t>
            </a:r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BD63744E-B188-9C42-85AC-ACB1B5CB1B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295" y="831353"/>
            <a:ext cx="3864399" cy="1893918"/>
          </a:xfrm>
          <a:prstGeom prst="rect">
            <a:avLst/>
          </a:prstGeom>
        </p:spPr>
      </p:pic>
      <p:pic>
        <p:nvPicPr>
          <p:cNvPr id="19" name="Immagine 18">
            <a:extLst>
              <a:ext uri="{FF2B5EF4-FFF2-40B4-BE49-F238E27FC236}">
                <a16:creationId xmlns:a16="http://schemas.microsoft.com/office/drawing/2014/main" id="{260FA9E8-CCF7-969D-4730-2C1A3AB6B5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152" y="3359847"/>
            <a:ext cx="4289612" cy="2379750"/>
          </a:xfrm>
          <a:prstGeom prst="rect">
            <a:avLst/>
          </a:prstGeom>
        </p:spPr>
      </p:pic>
      <p:pic>
        <p:nvPicPr>
          <p:cNvPr id="21" name="Immagine 20">
            <a:extLst>
              <a:ext uri="{FF2B5EF4-FFF2-40B4-BE49-F238E27FC236}">
                <a16:creationId xmlns:a16="http://schemas.microsoft.com/office/drawing/2014/main" id="{8E37AD61-4879-3D68-8DA0-AAC6A4B6A9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3085171"/>
            <a:ext cx="4545106" cy="2227528"/>
          </a:xfrm>
          <a:prstGeom prst="rect">
            <a:avLst/>
          </a:prstGeom>
        </p:spPr>
      </p:pic>
      <p:pic>
        <p:nvPicPr>
          <p:cNvPr id="23" name="Immagine 22">
            <a:extLst>
              <a:ext uri="{FF2B5EF4-FFF2-40B4-BE49-F238E27FC236}">
                <a16:creationId xmlns:a16="http://schemas.microsoft.com/office/drawing/2014/main" id="{3CDD423A-12E0-92B3-FE28-CDA79E35AB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37811" y="1312492"/>
            <a:ext cx="3070412" cy="1504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59323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5FC736F2-4CB9-356C-CE5A-957EC434CB0B}"/>
              </a:ext>
            </a:extLst>
          </p:cNvPr>
          <p:cNvSpPr txBox="1"/>
          <p:nvPr/>
        </p:nvSpPr>
        <p:spPr>
          <a:xfrm>
            <a:off x="564776" y="600635"/>
            <a:ext cx="2846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sinusoidi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09117E90-7F7F-66E0-F86E-1046CD5135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8965" y="682206"/>
            <a:ext cx="2989412" cy="1465093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C46229F4-525B-C46A-5439-476192914310}"/>
              </a:ext>
            </a:extLst>
          </p:cNvPr>
          <p:cNvSpPr txBox="1"/>
          <p:nvPr/>
        </p:nvSpPr>
        <p:spPr>
          <a:xfrm>
            <a:off x="5042646" y="112949"/>
            <a:ext cx="2380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159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CC452715-14E4-F5E8-A057-02D679571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8965" y="2177744"/>
            <a:ext cx="2989412" cy="1470177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E56F1D5C-81B8-048C-598D-20EE8A5D25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965" y="3730207"/>
            <a:ext cx="2989412" cy="1474060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7E47A7F5-DFC3-8D1A-B118-7B51A0E13B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8965" y="5286554"/>
            <a:ext cx="2989412" cy="1458497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59ECE32D-ABFC-0B5F-8785-0F3B890A23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4800" y="735139"/>
            <a:ext cx="3836894" cy="1880438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E47DD377-B05B-23EF-9060-692D8FADDAC1}"/>
              </a:ext>
            </a:extLst>
          </p:cNvPr>
          <p:cNvSpPr txBox="1"/>
          <p:nvPr/>
        </p:nvSpPr>
        <p:spPr>
          <a:xfrm>
            <a:off x="8653182" y="68125"/>
            <a:ext cx="2380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250</a:t>
            </a:r>
          </a:p>
        </p:txBody>
      </p:sp>
      <p:pic>
        <p:nvPicPr>
          <p:cNvPr id="18" name="Immagine 17">
            <a:extLst>
              <a:ext uri="{FF2B5EF4-FFF2-40B4-BE49-F238E27FC236}">
                <a16:creationId xmlns:a16="http://schemas.microsoft.com/office/drawing/2014/main" id="{BB0C53FE-7EF3-74BB-65DF-2FBAB1420C4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549" y="1082365"/>
            <a:ext cx="4193652" cy="2055283"/>
          </a:xfrm>
          <a:prstGeom prst="rect">
            <a:avLst/>
          </a:prstGeom>
        </p:spPr>
      </p:pic>
      <p:pic>
        <p:nvPicPr>
          <p:cNvPr id="20" name="Immagine 19">
            <a:extLst>
              <a:ext uri="{FF2B5EF4-FFF2-40B4-BE49-F238E27FC236}">
                <a16:creationId xmlns:a16="http://schemas.microsoft.com/office/drawing/2014/main" id="{5596FD16-A497-6475-5B4A-3FD81E11084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549" y="3720353"/>
            <a:ext cx="4509530" cy="2071083"/>
          </a:xfrm>
          <a:prstGeom prst="rect">
            <a:avLst/>
          </a:prstGeom>
        </p:spPr>
      </p:pic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83521C71-F913-AC5E-C22B-CD102D8A2694}"/>
              </a:ext>
            </a:extLst>
          </p:cNvPr>
          <p:cNvSpPr txBox="1"/>
          <p:nvPr/>
        </p:nvSpPr>
        <p:spPr>
          <a:xfrm>
            <a:off x="1259540" y="68125"/>
            <a:ext cx="2380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5182799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8643D07F-C4CD-EE83-1B2C-5908C8B5FD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994976"/>
            <a:ext cx="4435984" cy="2174048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1F771940-FF05-BDFB-1454-9CE0E51D34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812" y="1180976"/>
            <a:ext cx="3644896" cy="1786341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9EF16BF0-E913-0954-B12B-33AA222C79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6446" y="824753"/>
            <a:ext cx="2795438" cy="2604247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83F3CB2A-3154-F211-B87B-A70473B15C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0784" y="3529442"/>
            <a:ext cx="3501622" cy="3180640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8CE4349B-9EF4-5E51-766C-2A894618FD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594" y="4392705"/>
            <a:ext cx="3644896" cy="1786341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C59D66CE-5461-D6EB-FC03-C46069CA3C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7528" y="4214691"/>
            <a:ext cx="3693459" cy="1810141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78E9D249-1FE2-6C0B-AB06-3ECC7CCFA8C9}"/>
              </a:ext>
            </a:extLst>
          </p:cNvPr>
          <p:cNvSpPr txBox="1"/>
          <p:nvPr/>
        </p:nvSpPr>
        <p:spPr>
          <a:xfrm>
            <a:off x="842682" y="3429000"/>
            <a:ext cx="24742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Cambio r</a:t>
            </a:r>
          </a:p>
        </p:txBody>
      </p:sp>
    </p:spTree>
    <p:extLst>
      <p:ext uri="{BB962C8B-B14F-4D97-AF65-F5344CB8AC3E}">
        <p14:creationId xmlns:p14="http://schemas.microsoft.com/office/powerpoint/2010/main" val="30382864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4F7BC596-8274-283B-97B3-CD11F6E49E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8423" y="875942"/>
            <a:ext cx="5607424" cy="2748164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49859A6E-A0EC-5726-EF64-9F25AECA5A37}"/>
              </a:ext>
            </a:extLst>
          </p:cNvPr>
          <p:cNvSpPr txBox="1"/>
          <p:nvPr/>
        </p:nvSpPr>
        <p:spPr>
          <a:xfrm>
            <a:off x="1228165" y="1017494"/>
            <a:ext cx="2420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Fc</a:t>
            </a:r>
            <a:r>
              <a:rPr lang="it-IT" dirty="0"/>
              <a:t>=96Mhz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EFEAE090-ECFC-23E1-BC2E-B5E91E5335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731" y="1577789"/>
            <a:ext cx="2614210" cy="2397286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12CEACCB-4116-7F3E-1BEC-89465D51DB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815630"/>
            <a:ext cx="5172635" cy="2542527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A69CB71D-3F09-CFC3-D6AF-46A9EE25D261}"/>
              </a:ext>
            </a:extLst>
          </p:cNvPr>
          <p:cNvSpPr txBox="1"/>
          <p:nvPr/>
        </p:nvSpPr>
        <p:spPr>
          <a:xfrm>
            <a:off x="2097741" y="4715435"/>
            <a:ext cx="24204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Particolarità </a:t>
            </a:r>
            <a:r>
              <a:rPr lang="it-IT" dirty="0" err="1"/>
              <a:t>fc</a:t>
            </a:r>
            <a:r>
              <a:rPr lang="it-IT" dirty="0"/>
              <a:t> 96mhz con </a:t>
            </a:r>
            <a:r>
              <a:rPr lang="it-IT" dirty="0" err="1"/>
              <a:t>db</a:t>
            </a:r>
            <a:r>
              <a:rPr lang="it-IT" dirty="0"/>
              <a:t> negativi</a:t>
            </a:r>
          </a:p>
        </p:txBody>
      </p:sp>
    </p:spTree>
    <p:extLst>
      <p:ext uri="{BB962C8B-B14F-4D97-AF65-F5344CB8AC3E}">
        <p14:creationId xmlns:p14="http://schemas.microsoft.com/office/powerpoint/2010/main" val="3061993102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Aspect">
      <a:dk1>
        <a:sysClr val="windowText" lastClr="000000"/>
      </a:dk1>
      <a:lt1>
        <a:sysClr val="window" lastClr="FFFFFF"/>
      </a:lt1>
      <a:dk2>
        <a:srgbClr val="585753"/>
      </a:dk2>
      <a:lt2>
        <a:srgbClr val="EBDDC3"/>
      </a:lt2>
      <a:accent1>
        <a:srgbClr val="71B9E4"/>
      </a:accent1>
      <a:accent2>
        <a:srgbClr val="E25D3C"/>
      </a:accent2>
      <a:accent3>
        <a:srgbClr val="BDB59D"/>
      </a:accent3>
      <a:accent4>
        <a:srgbClr val="A5AB81"/>
      </a:accent4>
      <a:accent5>
        <a:srgbClr val="7BA79D"/>
      </a:accent5>
      <a:accent6>
        <a:srgbClr val="968C8C"/>
      </a:accent6>
      <a:hlink>
        <a:srgbClr val="F7B615"/>
      </a:hlink>
      <a:folHlink>
        <a:srgbClr val="704404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4285835_TF56535239.potx" id="{8AC92C66-2335-4D9D-B3F7-547D838916F3}" vid="{A5091B74-503B-4B29-B10A-A89675BAE0DE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116C154-5A0F-4CDC-8C15-D2E2158464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6D3478-2986-4664-940C-67E0CAA21E04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956C3F92-CC28-42D8-BF09-07707555106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{A292CFAD-7C47-402E-8314-0F0B1AC4C42B}TFc753ccf7-4498-4ed8-94c0-86a3b9f2a1ee874eb9ef_win32-2ec58b3002be</Template>
  <TotalTime>501</TotalTime>
  <Words>320</Words>
  <Application>Microsoft Office PowerPoint</Application>
  <PresentationFormat>Widescreen</PresentationFormat>
  <Paragraphs>64</Paragraphs>
  <Slides>22</Slides>
  <Notes>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29" baseType="lpstr">
      <vt:lpstr>Arial</vt:lpstr>
      <vt:lpstr>Calibri</vt:lpstr>
      <vt:lpstr>Cambria Math</vt:lpstr>
      <vt:lpstr>Franklin Gothic Book</vt:lpstr>
      <vt:lpstr>Franklin Gothic Demi</vt:lpstr>
      <vt:lpstr>Wingdings 2</vt:lpstr>
      <vt:lpstr>DividendVTI</vt:lpstr>
      <vt:lpstr>Studio filtro passa alto (HP)</vt:lpstr>
      <vt:lpstr>Cosa è un filtro passa alto? 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Riccardo Scola</dc:creator>
  <cp:lastModifiedBy>RICCARDO SCOLA COLOMBO</cp:lastModifiedBy>
  <cp:revision>21</cp:revision>
  <dcterms:created xsi:type="dcterms:W3CDTF">2026-05-27T09:26:50Z</dcterms:created>
  <dcterms:modified xsi:type="dcterms:W3CDTF">2026-06-02T16:27:38Z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