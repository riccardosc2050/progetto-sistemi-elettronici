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64" r:id="rId2"/>
    <p:sldId id="304" r:id="rId3"/>
    <p:sldId id="305" r:id="rId4"/>
    <p:sldId id="420" r:id="rId5"/>
    <p:sldId id="267" r:id="rId6"/>
    <p:sldId id="269" r:id="rId7"/>
    <p:sldId id="272" r:id="rId8"/>
    <p:sldId id="270" r:id="rId9"/>
    <p:sldId id="271" r:id="rId10"/>
    <p:sldId id="273" r:id="rId11"/>
    <p:sldId id="274" r:id="rId12"/>
    <p:sldId id="292" r:id="rId13"/>
    <p:sldId id="275" r:id="rId14"/>
    <p:sldId id="276" r:id="rId15"/>
    <p:sldId id="277" r:id="rId16"/>
    <p:sldId id="278" r:id="rId17"/>
    <p:sldId id="282" r:id="rId18"/>
    <p:sldId id="281" r:id="rId19"/>
    <p:sldId id="283" r:id="rId20"/>
    <p:sldId id="280" r:id="rId21"/>
    <p:sldId id="284" r:id="rId22"/>
    <p:sldId id="285" r:id="rId23"/>
    <p:sldId id="296" r:id="rId24"/>
    <p:sldId id="291" r:id="rId25"/>
    <p:sldId id="293" r:id="rId26"/>
    <p:sldId id="294" r:id="rId27"/>
    <p:sldId id="295" r:id="rId28"/>
    <p:sldId id="286" r:id="rId29"/>
    <p:sldId id="288" r:id="rId30"/>
    <p:sldId id="287" r:id="rId31"/>
    <p:sldId id="289" r:id="rId32"/>
    <p:sldId id="263" r:id="rId33"/>
    <p:sldId id="290" r:id="rId34"/>
    <p:sldId id="298" r:id="rId35"/>
    <p:sldId id="299" r:id="rId36"/>
    <p:sldId id="301" r:id="rId37"/>
    <p:sldId id="302" r:id="rId38"/>
    <p:sldId id="303" r:id="rId39"/>
    <p:sldId id="300" r:id="rId40"/>
    <p:sldId id="297" r:id="rId41"/>
    <p:sldId id="27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57BAE"/>
    <a:srgbClr val="F0FFFF"/>
    <a:srgbClr val="FF00FF"/>
    <a:srgbClr val="FF0000"/>
    <a:srgbClr val="00AFAF"/>
    <a:srgbClr val="00FF00"/>
    <a:srgbClr val="0000FF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14904-A269-46AC-84F1-6578725D6215}" type="doc">
      <dgm:prSet loTypeId="urn:microsoft.com/office/officeart/2005/8/layout/hChevron3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A9CB530-55D1-4C88-B786-AED541884898}">
      <dgm:prSet custT="1"/>
      <dgm:spPr/>
      <dgm:t>
        <a:bodyPr wrap="square"/>
        <a:lstStyle/>
        <a:p>
          <a:pPr marL="0" algn="l" defTabSz="457200" rtl="0" eaLnBrk="1" latinLnBrk="0" hangingPunct="1"/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Jack di ingresso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gm:t>
    </dgm:pt>
    <dgm:pt modelId="{9490D7D5-9926-4CC5-8042-A87215077AC0}" type="parTrans" cxnId="{FCCE056F-C2BE-478D-B802-90FFF228574A}">
      <dgm:prSet/>
      <dgm:spPr/>
      <dgm:t>
        <a:bodyPr/>
        <a:lstStyle/>
        <a:p>
          <a:endParaRPr lang="en-US"/>
        </a:p>
      </dgm:t>
    </dgm:pt>
    <dgm:pt modelId="{659BA824-20C5-4D95-BCA2-ADB2F7C0B180}" type="sibTrans" cxnId="{FCCE056F-C2BE-478D-B802-90FFF228574A}">
      <dgm:prSet/>
      <dgm:spPr/>
      <dgm:t>
        <a:bodyPr/>
        <a:lstStyle/>
        <a:p>
          <a:endParaRPr lang="en-US"/>
        </a:p>
      </dgm:t>
    </dgm:pt>
    <dgm:pt modelId="{F2354CAF-8929-439B-ADB3-6EA1C1DF0CBF}">
      <dgm:prSet custT="1"/>
      <dgm:spPr/>
      <dgm:t>
        <a:bodyPr spcFirstLastPara="0" vert="horz" wrap="square" lIns="133350" tIns="66675" rIns="33338" bIns="66675" numCol="1" spcCol="1270" anchor="ctr" anchorCtr="0"/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OPA1678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gm:t>
    </dgm:pt>
    <dgm:pt modelId="{8CDE29FA-81AE-43E9-94E7-6875B45FD760}" type="parTrans" cxnId="{4D54C368-9829-499A-80F2-38020209CA2B}">
      <dgm:prSet/>
      <dgm:spPr/>
      <dgm:t>
        <a:bodyPr/>
        <a:lstStyle/>
        <a:p>
          <a:endParaRPr lang="en-US"/>
        </a:p>
      </dgm:t>
    </dgm:pt>
    <dgm:pt modelId="{223DE37D-E046-48C0-BCCB-31228EA62069}" type="sibTrans" cxnId="{4D54C368-9829-499A-80F2-38020209CA2B}">
      <dgm:prSet/>
      <dgm:spPr/>
      <dgm:t>
        <a:bodyPr/>
        <a:lstStyle/>
        <a:p>
          <a:endParaRPr lang="en-US"/>
        </a:p>
      </dgm:t>
    </dgm:pt>
    <dgm:pt modelId="{4D7B1006-1A25-4EC9-93BF-98D9FFA4A27E}">
      <dgm:prSet custT="1"/>
      <dgm:spPr/>
      <dgm:t>
        <a:bodyPr spcFirstLastPara="0" vert="horz" wrap="square" lIns="133350" tIns="66675" rIns="33338" bIns="66675" numCol="1" spcCol="1270" anchor="ctr" anchorCtr="0"/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LM386 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gm:t>
    </dgm:pt>
    <dgm:pt modelId="{06F27885-1167-4BC6-AA1E-40127D8FAAF4}" type="parTrans" cxnId="{2082AA57-969F-41E6-BE21-F07DDCDE234E}">
      <dgm:prSet/>
      <dgm:spPr/>
      <dgm:t>
        <a:bodyPr/>
        <a:lstStyle/>
        <a:p>
          <a:endParaRPr lang="en-US"/>
        </a:p>
      </dgm:t>
    </dgm:pt>
    <dgm:pt modelId="{569487DF-29AD-4E19-8FBD-1649714B59AB}" type="sibTrans" cxnId="{2082AA57-969F-41E6-BE21-F07DDCDE234E}">
      <dgm:prSet/>
      <dgm:spPr/>
      <dgm:t>
        <a:bodyPr/>
        <a:lstStyle/>
        <a:p>
          <a:endParaRPr lang="en-US"/>
        </a:p>
      </dgm:t>
    </dgm:pt>
    <dgm:pt modelId="{D2107091-2152-455E-A8A4-FAD2EED80084}">
      <dgm:prSet custT="1"/>
      <dgm:spPr/>
      <dgm:t>
        <a:bodyPr spcFirstLastPara="0" vert="horz" wrap="square" lIns="133350" tIns="66675" rIns="33338" bIns="66675" numCol="1" spcCol="1270" anchor="ctr" anchorCtr="0"/>
        <a:lstStyle/>
        <a:p>
          <a:r>
            <a:rPr lang="it-IT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Jack di </a:t>
          </a: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uscita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gm:t>
    </dgm:pt>
    <dgm:pt modelId="{AF7B60F4-A93F-4266-BB1D-CBF94A67CE88}" type="parTrans" cxnId="{7B0F583B-9B89-4FD4-BDF4-612A61BACFBC}">
      <dgm:prSet/>
      <dgm:spPr/>
      <dgm:t>
        <a:bodyPr/>
        <a:lstStyle/>
        <a:p>
          <a:endParaRPr lang="en-US"/>
        </a:p>
      </dgm:t>
    </dgm:pt>
    <dgm:pt modelId="{26C9BC8A-0C84-4448-A2E8-EE9A6DAC1E16}" type="sibTrans" cxnId="{7B0F583B-9B89-4FD4-BDF4-612A61BACFBC}">
      <dgm:prSet/>
      <dgm:spPr/>
      <dgm:t>
        <a:bodyPr/>
        <a:lstStyle/>
        <a:p>
          <a:endParaRPr lang="en-US"/>
        </a:p>
      </dgm:t>
    </dgm:pt>
    <dgm:pt modelId="{193BB209-5BE8-4455-9D6E-E428CDCD278B}">
      <dgm:prSet phldrT="[Testo]" custT="1"/>
      <dgm:spPr/>
      <dgm:t>
        <a:bodyPr spcFirstLastPara="0" vert="horz" wrap="square" lIns="133350" tIns="66675" rIns="33338" bIns="66675" numCol="1" spcCol="1270" anchor="ctr" anchorCtr="0"/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Potenziometro </a:t>
          </a:r>
        </a:p>
      </dgm:t>
    </dgm:pt>
    <dgm:pt modelId="{C58067EB-707F-4B36-82A7-3D0CD58261D5}" type="parTrans" cxnId="{D9021686-FD05-4400-9167-5B4422D3CFE7}">
      <dgm:prSet/>
      <dgm:spPr/>
      <dgm:t>
        <a:bodyPr/>
        <a:lstStyle/>
        <a:p>
          <a:endParaRPr lang="it-IT"/>
        </a:p>
      </dgm:t>
    </dgm:pt>
    <dgm:pt modelId="{16E08EAA-390D-402A-8C1E-D8FFD7F241B8}" type="sibTrans" cxnId="{D9021686-FD05-4400-9167-5B4422D3CFE7}">
      <dgm:prSet/>
      <dgm:spPr/>
      <dgm:t>
        <a:bodyPr/>
        <a:lstStyle/>
        <a:p>
          <a:endParaRPr lang="it-IT"/>
        </a:p>
      </dgm:t>
    </dgm:pt>
    <dgm:pt modelId="{3B18E804-3409-4D5D-A9A8-563643697776}" type="pres">
      <dgm:prSet presAssocID="{CAE14904-A269-46AC-84F1-6578725D6215}" presName="Name0" presStyleCnt="0">
        <dgm:presLayoutVars>
          <dgm:dir/>
          <dgm:resizeHandles val="exact"/>
        </dgm:presLayoutVars>
      </dgm:prSet>
      <dgm:spPr/>
    </dgm:pt>
    <dgm:pt modelId="{E9C044D4-EDC0-48F8-8104-ACEE6F44074C}" type="pres">
      <dgm:prSet presAssocID="{FA9CB530-55D1-4C88-B786-AED541884898}" presName="parTxOnly" presStyleLbl="node1" presStyleIdx="0" presStyleCnt="5">
        <dgm:presLayoutVars>
          <dgm:bulletEnabled val="1"/>
        </dgm:presLayoutVars>
      </dgm:prSet>
      <dgm:spPr>
        <a:xfrm>
          <a:off x="1181" y="929943"/>
          <a:ext cx="2304039" cy="921615"/>
        </a:xfrm>
        <a:prstGeom prst="homePlate">
          <a:avLst/>
        </a:prstGeom>
      </dgm:spPr>
    </dgm:pt>
    <dgm:pt modelId="{F06F7E7F-E2E6-4731-A398-CFE49E6ADEA4}" type="pres">
      <dgm:prSet presAssocID="{659BA824-20C5-4D95-BCA2-ADB2F7C0B180}" presName="parSpace" presStyleCnt="0"/>
      <dgm:spPr/>
    </dgm:pt>
    <dgm:pt modelId="{57438F90-FA0A-406C-B0F3-0704FA843561}" type="pres">
      <dgm:prSet presAssocID="{F2354CAF-8929-439B-ADB3-6EA1C1DF0CBF}" presName="parTxOnly" presStyleLbl="node1" presStyleIdx="1" presStyleCnt="5">
        <dgm:presLayoutVars>
          <dgm:bulletEnabled val="1"/>
        </dgm:presLayoutVars>
      </dgm:prSet>
      <dgm:spPr>
        <a:xfrm>
          <a:off x="1844413" y="929943"/>
          <a:ext cx="2304039" cy="921615"/>
        </a:xfrm>
        <a:prstGeom prst="chevron">
          <a:avLst/>
        </a:prstGeom>
      </dgm:spPr>
    </dgm:pt>
    <dgm:pt modelId="{E7B792A3-40A2-4DCF-B076-7741C1EC84E3}" type="pres">
      <dgm:prSet presAssocID="{223DE37D-E046-48C0-BCCB-31228EA62069}" presName="parSpace" presStyleCnt="0"/>
      <dgm:spPr/>
    </dgm:pt>
    <dgm:pt modelId="{ECA2E5C6-0C4E-4C8F-B5C8-DE556CA12777}" type="pres">
      <dgm:prSet presAssocID="{193BB209-5BE8-4455-9D6E-E428CDCD278B}" presName="parTxOnly" presStyleLbl="node1" presStyleIdx="2" presStyleCnt="5">
        <dgm:presLayoutVars>
          <dgm:bulletEnabled val="1"/>
        </dgm:presLayoutVars>
      </dgm:prSet>
      <dgm:spPr>
        <a:xfrm>
          <a:off x="3687645" y="929943"/>
          <a:ext cx="2304039" cy="921615"/>
        </a:xfrm>
        <a:prstGeom prst="chevron">
          <a:avLst/>
        </a:prstGeom>
      </dgm:spPr>
    </dgm:pt>
    <dgm:pt modelId="{0F31EA94-8A04-4B12-BC45-39731E7DD7BE}" type="pres">
      <dgm:prSet presAssocID="{16E08EAA-390D-402A-8C1E-D8FFD7F241B8}" presName="parSpace" presStyleCnt="0"/>
      <dgm:spPr/>
    </dgm:pt>
    <dgm:pt modelId="{A2A53298-6E09-4897-BA5D-FEEB6394C557}" type="pres">
      <dgm:prSet presAssocID="{4D7B1006-1A25-4EC9-93BF-98D9FFA4A27E}" presName="parTxOnly" presStyleLbl="node1" presStyleIdx="3" presStyleCnt="5">
        <dgm:presLayoutVars>
          <dgm:bulletEnabled val="1"/>
        </dgm:presLayoutVars>
      </dgm:prSet>
      <dgm:spPr>
        <a:xfrm>
          <a:off x="5530876" y="929943"/>
          <a:ext cx="2304039" cy="921615"/>
        </a:xfrm>
        <a:prstGeom prst="chevron">
          <a:avLst/>
        </a:prstGeom>
      </dgm:spPr>
    </dgm:pt>
    <dgm:pt modelId="{0AB39508-CE17-49F8-8C0F-BE5FFC14071D}" type="pres">
      <dgm:prSet presAssocID="{569487DF-29AD-4E19-8FBD-1649714B59AB}" presName="parSpace" presStyleCnt="0"/>
      <dgm:spPr/>
    </dgm:pt>
    <dgm:pt modelId="{02DA8C6D-0726-4DDD-9F95-B0319D7E1F6F}" type="pres">
      <dgm:prSet presAssocID="{D2107091-2152-455E-A8A4-FAD2EED80084}" presName="parTxOnly" presStyleLbl="node1" presStyleIdx="4" presStyleCnt="5">
        <dgm:presLayoutVars>
          <dgm:bulletEnabled val="1"/>
        </dgm:presLayoutVars>
      </dgm:prSet>
      <dgm:spPr>
        <a:xfrm>
          <a:off x="7374108" y="929943"/>
          <a:ext cx="2304039" cy="921615"/>
        </a:xfrm>
        <a:prstGeom prst="chevron">
          <a:avLst/>
        </a:prstGeom>
      </dgm:spPr>
    </dgm:pt>
  </dgm:ptLst>
  <dgm:cxnLst>
    <dgm:cxn modelId="{AB6E8F0C-73E0-41F1-9858-6521F25BC849}" type="presOf" srcId="{D2107091-2152-455E-A8A4-FAD2EED80084}" destId="{02DA8C6D-0726-4DDD-9F95-B0319D7E1F6F}" srcOrd="0" destOrd="0" presId="urn:microsoft.com/office/officeart/2005/8/layout/hChevron3"/>
    <dgm:cxn modelId="{9266C216-8761-400F-A7A9-8814D62599CC}" type="presOf" srcId="{CAE14904-A269-46AC-84F1-6578725D6215}" destId="{3B18E804-3409-4D5D-A9A8-563643697776}" srcOrd="0" destOrd="0" presId="urn:microsoft.com/office/officeart/2005/8/layout/hChevron3"/>
    <dgm:cxn modelId="{7B0F583B-9B89-4FD4-BDF4-612A61BACFBC}" srcId="{CAE14904-A269-46AC-84F1-6578725D6215}" destId="{D2107091-2152-455E-A8A4-FAD2EED80084}" srcOrd="4" destOrd="0" parTransId="{AF7B60F4-A93F-4266-BB1D-CBF94A67CE88}" sibTransId="{26C9BC8A-0C84-4448-A2E8-EE9A6DAC1E16}"/>
    <dgm:cxn modelId="{4D54C368-9829-499A-80F2-38020209CA2B}" srcId="{CAE14904-A269-46AC-84F1-6578725D6215}" destId="{F2354CAF-8929-439B-ADB3-6EA1C1DF0CBF}" srcOrd="1" destOrd="0" parTransId="{8CDE29FA-81AE-43E9-94E7-6875B45FD760}" sibTransId="{223DE37D-E046-48C0-BCCB-31228EA62069}"/>
    <dgm:cxn modelId="{FCCE056F-C2BE-478D-B802-90FFF228574A}" srcId="{CAE14904-A269-46AC-84F1-6578725D6215}" destId="{FA9CB530-55D1-4C88-B786-AED541884898}" srcOrd="0" destOrd="0" parTransId="{9490D7D5-9926-4CC5-8042-A87215077AC0}" sibTransId="{659BA824-20C5-4D95-BCA2-ADB2F7C0B180}"/>
    <dgm:cxn modelId="{2082AA57-969F-41E6-BE21-F07DDCDE234E}" srcId="{CAE14904-A269-46AC-84F1-6578725D6215}" destId="{4D7B1006-1A25-4EC9-93BF-98D9FFA4A27E}" srcOrd="3" destOrd="0" parTransId="{06F27885-1167-4BC6-AA1E-40127D8FAAF4}" sibTransId="{569487DF-29AD-4E19-8FBD-1649714B59AB}"/>
    <dgm:cxn modelId="{D9021686-FD05-4400-9167-5B4422D3CFE7}" srcId="{CAE14904-A269-46AC-84F1-6578725D6215}" destId="{193BB209-5BE8-4455-9D6E-E428CDCD278B}" srcOrd="2" destOrd="0" parTransId="{C58067EB-707F-4B36-82A7-3D0CD58261D5}" sibTransId="{16E08EAA-390D-402A-8C1E-D8FFD7F241B8}"/>
    <dgm:cxn modelId="{BFBC78A8-B104-4FF3-B3D8-74F4A7C58C86}" type="presOf" srcId="{FA9CB530-55D1-4C88-B786-AED541884898}" destId="{E9C044D4-EDC0-48F8-8104-ACEE6F44074C}" srcOrd="0" destOrd="0" presId="urn:microsoft.com/office/officeart/2005/8/layout/hChevron3"/>
    <dgm:cxn modelId="{F0684EB9-B012-4F9B-BC0B-201D150B0455}" type="presOf" srcId="{F2354CAF-8929-439B-ADB3-6EA1C1DF0CBF}" destId="{57438F90-FA0A-406C-B0F3-0704FA843561}" srcOrd="0" destOrd="0" presId="urn:microsoft.com/office/officeart/2005/8/layout/hChevron3"/>
    <dgm:cxn modelId="{087D0CCE-6F2F-4FF8-A140-E20131D4E8EE}" type="presOf" srcId="{193BB209-5BE8-4455-9D6E-E428CDCD278B}" destId="{ECA2E5C6-0C4E-4C8F-B5C8-DE556CA12777}" srcOrd="0" destOrd="0" presId="urn:microsoft.com/office/officeart/2005/8/layout/hChevron3"/>
    <dgm:cxn modelId="{619FF2DC-2E77-42D8-83BB-D6E78728347F}" type="presOf" srcId="{4D7B1006-1A25-4EC9-93BF-98D9FFA4A27E}" destId="{A2A53298-6E09-4897-BA5D-FEEB6394C557}" srcOrd="0" destOrd="0" presId="urn:microsoft.com/office/officeart/2005/8/layout/hChevron3"/>
    <dgm:cxn modelId="{318F7A21-DC4E-4F3D-AEBD-FDA0EFCB1D25}" type="presParOf" srcId="{3B18E804-3409-4D5D-A9A8-563643697776}" destId="{E9C044D4-EDC0-48F8-8104-ACEE6F44074C}" srcOrd="0" destOrd="0" presId="urn:microsoft.com/office/officeart/2005/8/layout/hChevron3"/>
    <dgm:cxn modelId="{318CF99A-40E1-43B9-A29B-D5CCB0EA6253}" type="presParOf" srcId="{3B18E804-3409-4D5D-A9A8-563643697776}" destId="{F06F7E7F-E2E6-4731-A398-CFE49E6ADEA4}" srcOrd="1" destOrd="0" presId="urn:microsoft.com/office/officeart/2005/8/layout/hChevron3"/>
    <dgm:cxn modelId="{814D56AF-866B-4002-9099-E7A61FE6FA99}" type="presParOf" srcId="{3B18E804-3409-4D5D-A9A8-563643697776}" destId="{57438F90-FA0A-406C-B0F3-0704FA843561}" srcOrd="2" destOrd="0" presId="urn:microsoft.com/office/officeart/2005/8/layout/hChevron3"/>
    <dgm:cxn modelId="{A5DF555D-42C2-48F6-9C03-44854961B3A3}" type="presParOf" srcId="{3B18E804-3409-4D5D-A9A8-563643697776}" destId="{E7B792A3-40A2-4DCF-B076-7741C1EC84E3}" srcOrd="3" destOrd="0" presId="urn:microsoft.com/office/officeart/2005/8/layout/hChevron3"/>
    <dgm:cxn modelId="{FE06C6B3-D1BD-4214-9B5F-D917A9E96B08}" type="presParOf" srcId="{3B18E804-3409-4D5D-A9A8-563643697776}" destId="{ECA2E5C6-0C4E-4C8F-B5C8-DE556CA12777}" srcOrd="4" destOrd="0" presId="urn:microsoft.com/office/officeart/2005/8/layout/hChevron3"/>
    <dgm:cxn modelId="{6F7B65BA-437E-4409-A342-3D3520B751FD}" type="presParOf" srcId="{3B18E804-3409-4D5D-A9A8-563643697776}" destId="{0F31EA94-8A04-4B12-BC45-39731E7DD7BE}" srcOrd="5" destOrd="0" presId="urn:microsoft.com/office/officeart/2005/8/layout/hChevron3"/>
    <dgm:cxn modelId="{DE96E4B8-5CF5-4B53-8DF1-478D437F12C3}" type="presParOf" srcId="{3B18E804-3409-4D5D-A9A8-563643697776}" destId="{A2A53298-6E09-4897-BA5D-FEEB6394C557}" srcOrd="6" destOrd="0" presId="urn:microsoft.com/office/officeart/2005/8/layout/hChevron3"/>
    <dgm:cxn modelId="{C0732733-BB58-4E92-BA4F-911C5D591AD8}" type="presParOf" srcId="{3B18E804-3409-4D5D-A9A8-563643697776}" destId="{0AB39508-CE17-49F8-8C0F-BE5FFC14071D}" srcOrd="7" destOrd="0" presId="urn:microsoft.com/office/officeart/2005/8/layout/hChevron3"/>
    <dgm:cxn modelId="{79CBABA3-93AD-4E16-96C9-2A9B76D37FE1}" type="presParOf" srcId="{3B18E804-3409-4D5D-A9A8-563643697776}" destId="{02DA8C6D-0726-4DDD-9F95-B0319D7E1F6F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044D4-EDC0-48F8-8104-ACEE6F44074C}">
      <dsp:nvSpPr>
        <dsp:cNvPr id="0" name=""/>
        <dsp:cNvSpPr/>
      </dsp:nvSpPr>
      <dsp:spPr>
        <a:xfrm>
          <a:off x="1229" y="543352"/>
          <a:ext cx="2398266" cy="959306"/>
        </a:xfrm>
        <a:prstGeom prst="homePlate">
          <a:avLst/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Jack di ingresso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sp:txBody>
      <dsp:txXfrm>
        <a:off x="1229" y="543352"/>
        <a:ext cx="2158440" cy="959306"/>
      </dsp:txXfrm>
    </dsp:sp>
    <dsp:sp modelId="{57438F90-FA0A-406C-B0F3-0704FA843561}">
      <dsp:nvSpPr>
        <dsp:cNvPr id="0" name=""/>
        <dsp:cNvSpPr/>
      </dsp:nvSpPr>
      <dsp:spPr>
        <a:xfrm>
          <a:off x="1919842" y="543352"/>
          <a:ext cx="2398266" cy="959306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3">
                <a:hueOff val="-3082042"/>
                <a:satOff val="3141"/>
                <a:lumOff val="-588"/>
                <a:alphaOff val="0"/>
                <a:shade val="74000"/>
                <a:satMod val="130000"/>
                <a:lumMod val="90000"/>
              </a:schemeClr>
              <a:schemeClr val="accent3">
                <a:hueOff val="-3082042"/>
                <a:satOff val="3141"/>
                <a:lumOff val="-588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33338" bIns="66675" numCol="1" spcCol="1270" anchor="ctr" anchorCtr="0">
          <a:noAutofit/>
        </a:bodyPr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OPA1678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sp:txBody>
      <dsp:txXfrm>
        <a:off x="2399495" y="543352"/>
        <a:ext cx="1438960" cy="959306"/>
      </dsp:txXfrm>
    </dsp:sp>
    <dsp:sp modelId="{ECA2E5C6-0C4E-4C8F-B5C8-DE556CA12777}">
      <dsp:nvSpPr>
        <dsp:cNvPr id="0" name=""/>
        <dsp:cNvSpPr/>
      </dsp:nvSpPr>
      <dsp:spPr>
        <a:xfrm>
          <a:off x="3838455" y="543352"/>
          <a:ext cx="2398266" cy="959306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3">
                <a:hueOff val="-6164083"/>
                <a:satOff val="6281"/>
                <a:lumOff val="-1177"/>
                <a:alphaOff val="0"/>
                <a:shade val="74000"/>
                <a:satMod val="130000"/>
                <a:lumMod val="90000"/>
              </a:schemeClr>
              <a:schemeClr val="accent3">
                <a:hueOff val="-6164083"/>
                <a:satOff val="6281"/>
                <a:lumOff val="-1177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33338" bIns="66675" numCol="1" spcCol="1270" anchor="ctr" anchorCtr="0">
          <a:noAutofit/>
        </a:bodyPr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Potenziometro </a:t>
          </a:r>
        </a:p>
      </dsp:txBody>
      <dsp:txXfrm>
        <a:off x="4318108" y="543352"/>
        <a:ext cx="1438960" cy="959306"/>
      </dsp:txXfrm>
    </dsp:sp>
    <dsp:sp modelId="{A2A53298-6E09-4897-BA5D-FEEB6394C557}">
      <dsp:nvSpPr>
        <dsp:cNvPr id="0" name=""/>
        <dsp:cNvSpPr/>
      </dsp:nvSpPr>
      <dsp:spPr>
        <a:xfrm>
          <a:off x="5757068" y="543352"/>
          <a:ext cx="2398266" cy="959306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3">
                <a:hueOff val="-9246125"/>
                <a:satOff val="9422"/>
                <a:lumOff val="-1765"/>
                <a:alphaOff val="0"/>
                <a:shade val="74000"/>
                <a:satMod val="130000"/>
                <a:lumMod val="90000"/>
              </a:schemeClr>
              <a:schemeClr val="accent3">
                <a:hueOff val="-9246125"/>
                <a:satOff val="9422"/>
                <a:lumOff val="-176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33338" bIns="66675" numCol="1" spcCol="1270" anchor="ctr" anchorCtr="0">
          <a:noAutofit/>
        </a:bodyPr>
        <a:lstStyle/>
        <a:p>
          <a:pPr marL="0" lvl="0" indent="0" algn="l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LM386 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sp:txBody>
      <dsp:txXfrm>
        <a:off x="6236721" y="543352"/>
        <a:ext cx="1438960" cy="959306"/>
      </dsp:txXfrm>
    </dsp:sp>
    <dsp:sp modelId="{02DA8C6D-0726-4DDD-9F95-B0319D7E1F6F}">
      <dsp:nvSpPr>
        <dsp:cNvPr id="0" name=""/>
        <dsp:cNvSpPr/>
      </dsp:nvSpPr>
      <dsp:spPr>
        <a:xfrm>
          <a:off x="7675681" y="543352"/>
          <a:ext cx="2398266" cy="959306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3">
                <a:hueOff val="-12328166"/>
                <a:satOff val="12562"/>
                <a:lumOff val="-2354"/>
                <a:alphaOff val="0"/>
                <a:shade val="74000"/>
                <a:satMod val="130000"/>
                <a:lumMod val="90000"/>
              </a:schemeClr>
              <a:schemeClr val="accent3">
                <a:hueOff val="-12328166"/>
                <a:satOff val="12562"/>
                <a:lumOff val="-2354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33338" bIns="6667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Jack di </a:t>
          </a:r>
          <a:r>
            <a:rPr lang="it-IT" sz="1800" kern="12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rPr>
            <a:t>uscita</a:t>
          </a:r>
          <a:endParaRPr lang="en-US" sz="1800" kern="1200" dirty="0">
            <a:latin typeface="Segoe UI Semibold" panose="020B0702040204020203" pitchFamily="34" charset="0"/>
            <a:ea typeface="+mn-ea"/>
            <a:cs typeface="Segoe UI Semibold" panose="020B0702040204020203" pitchFamily="34" charset="0"/>
          </a:endParaRPr>
        </a:p>
      </dsp:txBody>
      <dsp:txXfrm>
        <a:off x="8155334" y="543352"/>
        <a:ext cx="1438960" cy="959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08B27-6000-4434-AF53-ADE7EC0DC818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CC10A-A272-4DD8-BA35-CA7173CD03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256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CC10A-A272-4DD8-BA35-CA7173CD03E8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084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CC10A-A272-4DD8-BA35-CA7173CD03E8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8229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CC10A-A272-4DD8-BA35-CA7173CD03E8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6115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CC10A-A272-4DD8-BA35-CA7173CD03E8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7756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34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2373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3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672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50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02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284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94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146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26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16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639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3283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116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251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72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08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7D3A88-C638-4F1F-A252-6CDA5C7DD28C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CC9FCA1-68CD-4CB7-8DDD-E4B3735F8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197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ti.com/lit/ds/symlink/opa1678.pdf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hyperlink" Target="https://www.ti.com/lit/ds/symlink/lm386.pdf" TargetMode="Externa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hyperlink" Target="https://groups.google.com/g/sci.electronics/c/Ssv3p_PDaw8/m/CRdbm7cUhdsJ?pli=1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0F41CF1-9F69-2397-1B0D-FAAC23FB7C4A}"/>
              </a:ext>
            </a:extLst>
          </p:cNvPr>
          <p:cNvSpPr txBox="1"/>
          <p:nvPr/>
        </p:nvSpPr>
        <p:spPr>
          <a:xfrm>
            <a:off x="1048626" y="2171408"/>
            <a:ext cx="100947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dirty="0"/>
              <a:t>Il circuito è pensato per </a:t>
            </a:r>
            <a:r>
              <a:rPr lang="it-IT" sz="1400" u="sng" dirty="0"/>
              <a:t>prendere un segnale audio </a:t>
            </a:r>
            <a:r>
              <a:rPr lang="it-IT" sz="1400" dirty="0"/>
              <a:t>in ingresso, </a:t>
            </a:r>
            <a:r>
              <a:rPr lang="it-IT" sz="1400" u="sng" dirty="0"/>
              <a:t>trattarlo con uno stadio a operazionale OPA1678</a:t>
            </a:r>
            <a:r>
              <a:rPr lang="it-IT" sz="1400" dirty="0"/>
              <a:t>, regolarne il livello tramite potenziometro, </a:t>
            </a:r>
            <a:r>
              <a:rPr lang="it-IT" sz="1400" u="sng" dirty="0"/>
              <a:t>e pilotare l’uscita tramite uno stadio finale con LM386</a:t>
            </a:r>
            <a:r>
              <a:rPr lang="it-IT" sz="1400" dirty="0"/>
              <a:t>.</a:t>
            </a:r>
            <a:br>
              <a:rPr lang="it-IT" sz="1400" dirty="0"/>
            </a:br>
            <a:endParaRPr lang="it-IT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400" dirty="0"/>
              <a:t>La progettazione non si limita allo schematico: il PCB è stato sviluppato considerando anche aspetti come </a:t>
            </a:r>
            <a:r>
              <a:rPr lang="it-IT" sz="1400" i="1" dirty="0"/>
              <a:t>rumore sull’alimentazione, separazione dei rami +E </a:t>
            </a:r>
            <a:r>
              <a:rPr lang="it-IT" sz="1400" i="1" dirty="0" err="1"/>
              <a:t>e</a:t>
            </a:r>
            <a:r>
              <a:rPr lang="it-IT" sz="1400" i="1" dirty="0"/>
              <a:t> +K, gestione della massa AGND, condensatori di bypass, jack audio, potenziometro e robustezza meccanica della scheda.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CF0D58A-C7D6-916F-9D47-C78CB4B8E757}"/>
              </a:ext>
            </a:extLst>
          </p:cNvPr>
          <p:cNvSpPr txBox="1"/>
          <p:nvPr/>
        </p:nvSpPr>
        <p:spPr>
          <a:xfrm>
            <a:off x="1048625" y="856937"/>
            <a:ext cx="61155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Obiettivo del progetto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0B41198-3514-77E5-635A-CEAABF9E9B39}"/>
              </a:ext>
            </a:extLst>
          </p:cNvPr>
          <p:cNvSpPr txBox="1"/>
          <p:nvPr/>
        </p:nvSpPr>
        <p:spPr>
          <a:xfrm>
            <a:off x="1048625" y="1402707"/>
            <a:ext cx="10094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Progettare e realizzare in Autodesk EAGLE/Fusion un amplificatore audio su PCB alimentato a 9 V singola, curando sia la parte elettrica sia quella pratica di montaggio.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503F26FE-28F0-5BDB-D738-81FD4BA9E586}"/>
              </a:ext>
            </a:extLst>
          </p:cNvPr>
          <p:cNvCxnSpPr>
            <a:cxnSpLocks/>
          </p:cNvCxnSpPr>
          <p:nvPr/>
        </p:nvCxnSpPr>
        <p:spPr>
          <a:xfrm>
            <a:off x="4952792" y="4924201"/>
            <a:ext cx="2341435" cy="301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>
            <a:extLst>
              <a:ext uri="{FF2B5EF4-FFF2-40B4-BE49-F238E27FC236}">
                <a16:creationId xmlns:a16="http://schemas.microsoft.com/office/drawing/2014/main" id="{B7FB533B-8DD4-0F99-1F94-9C08AEEE7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20" y="3615422"/>
            <a:ext cx="3748972" cy="2524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BBEAE54E-E3B1-00CE-B94D-60BF310B0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227" y="3615422"/>
            <a:ext cx="3611461" cy="25268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781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846D-02ED-7047-04C5-396722E6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AD81D63-9E92-22E1-E127-E31DC982F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08" y="641205"/>
            <a:ext cx="8278783" cy="557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9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B9964-03BC-D24B-CD12-AE399278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D4F394D-99AF-F47D-9929-1A43A266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1786" b="1687"/>
          <a:stretch>
            <a:fillRect/>
          </a:stretch>
        </p:blipFill>
        <p:spPr>
          <a:xfrm>
            <a:off x="804334" y="1285717"/>
            <a:ext cx="4969932" cy="4286566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E4A1F24-8B3C-D1F5-AC05-A9F32D7F7C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6" r="6236" b="3423"/>
          <a:stretch>
            <a:fillRect/>
          </a:stretch>
        </p:blipFill>
        <p:spPr>
          <a:xfrm>
            <a:off x="6417733" y="1250023"/>
            <a:ext cx="4969932" cy="4357954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22447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78516D7-FF57-4427-B445-E33108271B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4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BC59A3-B96E-AA20-AE61-010225025070}"/>
              </a:ext>
            </a:extLst>
          </p:cNvPr>
          <p:cNvSpPr txBox="1"/>
          <p:nvPr/>
        </p:nvSpPr>
        <p:spPr>
          <a:xfrm>
            <a:off x="3404532" y="2463747"/>
            <a:ext cx="9106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dirty="0"/>
              <a:t>Back list</a:t>
            </a:r>
          </a:p>
        </p:txBody>
      </p:sp>
    </p:spTree>
    <p:extLst>
      <p:ext uri="{BB962C8B-B14F-4D97-AF65-F5344CB8AC3E}">
        <p14:creationId xmlns:p14="http://schemas.microsoft.com/office/powerpoint/2010/main" val="66449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E75F3A4-4A9B-2C1A-82AD-A00951B80596}"/>
              </a:ext>
            </a:extLst>
          </p:cNvPr>
          <p:cNvSpPr txBox="1"/>
          <p:nvPr/>
        </p:nvSpPr>
        <p:spPr>
          <a:xfrm>
            <a:off x="1065401" y="857666"/>
            <a:ext cx="10075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5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it-IT" dirty="0"/>
              <a:t>Architettura generale dell’amplificatore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786BE8-7BB4-0B5C-C456-633EF353B8C1}"/>
              </a:ext>
            </a:extLst>
          </p:cNvPr>
          <p:cNvSpPr txBox="1"/>
          <p:nvPr/>
        </p:nvSpPr>
        <p:spPr>
          <a:xfrm>
            <a:off x="1065401" y="1474095"/>
            <a:ext cx="10075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Il circuito è stato diviso in blocchi funzionali, in modo da separare chiaramente la parte di segnale audio a basso livello dalla parte di potenza in uscita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59AE535-3CAF-8D53-2436-41EED8762C8B}"/>
              </a:ext>
            </a:extLst>
          </p:cNvPr>
          <p:cNvSpPr txBox="1"/>
          <p:nvPr/>
        </p:nvSpPr>
        <p:spPr>
          <a:xfrm>
            <a:off x="1128900" y="5014573"/>
            <a:ext cx="100751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1400" b="1" dirty="0"/>
              <a:t>Lo stadio con OPA1678 lavora sul segnale piccolo e deve quindi essere più pulito e meno disturbato.</a:t>
            </a:r>
            <a:br>
              <a:rPr lang="it-IT" sz="1400" b="1" dirty="0"/>
            </a:br>
            <a:endParaRPr lang="it-IT" sz="1400" b="1" dirty="0"/>
          </a:p>
          <a:p>
            <a:pPr algn="ctr"/>
            <a:r>
              <a:rPr lang="it-IT" sz="1400" b="1" dirty="0"/>
              <a:t>Lo stadio con LM386 lavora invece con correnti maggiori e pilota l’uscita audio.</a:t>
            </a:r>
          </a:p>
        </p:txBody>
      </p:sp>
      <p:graphicFrame>
        <p:nvGraphicFramePr>
          <p:cNvPr id="26" name="TextBox 3">
            <a:extLst>
              <a:ext uri="{FF2B5EF4-FFF2-40B4-BE49-F238E27FC236}">
                <a16:creationId xmlns:a16="http://schemas.microsoft.com/office/drawing/2014/main" id="{ECE9B033-C00D-A788-08A1-4FC806770E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5948171"/>
              </p:ext>
            </p:extLst>
          </p:nvPr>
        </p:nvGraphicFramePr>
        <p:xfrm>
          <a:off x="1065400" y="1974688"/>
          <a:ext cx="10075177" cy="2046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9EBF6FA-27C8-503C-A3EF-B8D18A4E8739}"/>
              </a:ext>
            </a:extLst>
          </p:cNvPr>
          <p:cNvSpPr txBox="1"/>
          <p:nvPr/>
        </p:nvSpPr>
        <p:spPr>
          <a:xfrm>
            <a:off x="3703108" y="4178408"/>
            <a:ext cx="52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800" dirty="0"/>
              <a:t>+E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B25BC66D-9232-BEA7-15C2-E4FB52D579DE}"/>
              </a:ext>
            </a:extLst>
          </p:cNvPr>
          <p:cNvSpPr/>
          <p:nvPr/>
        </p:nvSpPr>
        <p:spPr>
          <a:xfrm>
            <a:off x="3658658" y="4059628"/>
            <a:ext cx="614892" cy="58161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DD2E3693-318D-9FBA-AF5C-5B1BA4220E5D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3966104" y="3429000"/>
            <a:ext cx="0" cy="63062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9DBA727-5CF4-4102-9FCF-65D88232AE39}"/>
              </a:ext>
            </a:extLst>
          </p:cNvPr>
          <p:cNvSpPr txBox="1"/>
          <p:nvPr/>
        </p:nvSpPr>
        <p:spPr>
          <a:xfrm>
            <a:off x="7608358" y="4197830"/>
            <a:ext cx="52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800" dirty="0"/>
              <a:t>+K</a:t>
            </a: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498A2CCF-9ED7-5CA7-2E48-84B6F048A48A}"/>
              </a:ext>
            </a:extLst>
          </p:cNvPr>
          <p:cNvSpPr/>
          <p:nvPr/>
        </p:nvSpPr>
        <p:spPr>
          <a:xfrm>
            <a:off x="7563908" y="4079050"/>
            <a:ext cx="614892" cy="581618"/>
          </a:xfrm>
          <a:prstGeom prst="ellipse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FA02482B-9A25-5E59-89CC-8AA0E0DDA7AE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7871354" y="3448422"/>
            <a:ext cx="0" cy="630628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BB406426-BAF6-0ACB-B3FE-53D5D1357791}"/>
              </a:ext>
            </a:extLst>
          </p:cNvPr>
          <p:cNvSpPr txBox="1"/>
          <p:nvPr/>
        </p:nvSpPr>
        <p:spPr>
          <a:xfrm>
            <a:off x="4624387" y="3855242"/>
            <a:ext cx="2943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200" b="0" dirty="0"/>
              <a:t>Entrambi derivati dalla stessa alimentazione a 9 V, ma filtrati separatamente.</a:t>
            </a:r>
          </a:p>
        </p:txBody>
      </p:sp>
    </p:spTree>
    <p:extLst>
      <p:ext uri="{BB962C8B-B14F-4D97-AF65-F5344CB8AC3E}">
        <p14:creationId xmlns:p14="http://schemas.microsoft.com/office/powerpoint/2010/main" val="172453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F21D878-AFC5-CF0F-FD9C-13E3C2BB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61913"/>
            <a:ext cx="5368335" cy="2266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C81B3B7-2E85-3AC8-3416-69E35208B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67" y="1356647"/>
            <a:ext cx="4819868" cy="301784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71FD3BD-7C30-3AD7-F326-CC6C1BBCA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267" y="4374492"/>
            <a:ext cx="4819868" cy="165413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EB06072-96EA-98C7-833E-EB82E4AD7A85}"/>
              </a:ext>
            </a:extLst>
          </p:cNvPr>
          <p:cNvSpPr txBox="1"/>
          <p:nvPr/>
        </p:nvSpPr>
        <p:spPr>
          <a:xfrm>
            <a:off x="6217834" y="1973925"/>
            <a:ext cx="51246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dirty="0"/>
              <a:t>L’OPA1678 è stato scelto perché è un operazionale pensato per </a:t>
            </a:r>
            <a:r>
              <a:rPr lang="it-IT" b="1" dirty="0"/>
              <a:t>applicazioni audio</a:t>
            </a:r>
            <a:r>
              <a:rPr lang="it-IT" dirty="0"/>
              <a:t>, adatto a trattare il piccolo segnale iniziale con basso rumore e bassa distorsione.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dirty="0"/>
              <a:t>È un </a:t>
            </a:r>
            <a:r>
              <a:rPr lang="it-IT" b="1" i="1" dirty="0"/>
              <a:t>dual op </a:t>
            </a:r>
            <a:r>
              <a:rPr lang="it-IT" b="1" i="1" dirty="0" err="1"/>
              <a:t>amp</a:t>
            </a:r>
            <a:r>
              <a:rPr lang="it-IT" dirty="0"/>
              <a:t>, quindi nello stesso integrato contiene due operazionali indipendenti, </a:t>
            </a:r>
            <a:r>
              <a:rPr lang="it-IT" i="1" u="sng" dirty="0"/>
              <a:t>gestiti separatamente sia in Eagle/Fusion sia in </a:t>
            </a:r>
            <a:r>
              <a:rPr lang="it-IT" i="1" u="sng" dirty="0" err="1"/>
              <a:t>LTspice</a:t>
            </a:r>
            <a:r>
              <a:rPr lang="it-IT" i="1" u="sng" dirty="0"/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dirty="0"/>
              <a:t>Nel progetto un canale viene usato per generare/bufferizzare V_REF, mentre l’altro lavora come stadio di </a:t>
            </a:r>
            <a:r>
              <a:rPr lang="it-IT" dirty="0" err="1"/>
              <a:t>preamplificazione</a:t>
            </a:r>
            <a:r>
              <a:rPr lang="it-IT" dirty="0"/>
              <a:t> audio.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dirty="0"/>
              <a:t>Per usarlo correttamente </a:t>
            </a:r>
            <a:r>
              <a:rPr lang="it-IT" b="1" u="sng" dirty="0"/>
              <a:t>è stato necessario importare librerie dedicate e verificare </a:t>
            </a:r>
            <a:r>
              <a:rPr lang="it-IT" b="1" u="sng" dirty="0" err="1"/>
              <a:t>pinout</a:t>
            </a:r>
            <a:r>
              <a:rPr lang="it-IT" b="1" u="sng" dirty="0"/>
              <a:t> e package dal datasheet.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i="1" dirty="0"/>
              <a:t>L’alimentazione dell’OPA1678 è sul ramo filtrato +E, separato dal ramo +K del LM386 per ridurre i disturbi.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47A302C-FC43-8F95-37C3-CDCA185906B1}"/>
              </a:ext>
            </a:extLst>
          </p:cNvPr>
          <p:cNvSpPr txBox="1"/>
          <p:nvPr/>
        </p:nvSpPr>
        <p:spPr>
          <a:xfrm>
            <a:off x="1048625" y="856937"/>
            <a:ext cx="61155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OPA1678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27E235B-780A-721D-AF11-4E60B265CA9C}"/>
              </a:ext>
            </a:extLst>
          </p:cNvPr>
          <p:cNvSpPr txBox="1"/>
          <p:nvPr/>
        </p:nvSpPr>
        <p:spPr>
          <a:xfrm>
            <a:off x="2642532" y="956964"/>
            <a:ext cx="55954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https://www.ti.com/lit/ds/symlink/opa1678.pdf</a:t>
            </a:r>
            <a:endParaRPr lang="it-IT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11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29F1C69-FA05-60EF-2C19-466199588704}"/>
              </a:ext>
            </a:extLst>
          </p:cNvPr>
          <p:cNvSpPr txBox="1"/>
          <p:nvPr/>
        </p:nvSpPr>
        <p:spPr>
          <a:xfrm>
            <a:off x="6096000" y="1593631"/>
            <a:ext cx="516516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R1 e R2 (47 </a:t>
            </a:r>
            <a:r>
              <a:rPr lang="it-IT" b="1" dirty="0" err="1"/>
              <a:t>kΩ</a:t>
            </a:r>
            <a:r>
              <a:rPr lang="it-IT" b="1" dirty="0"/>
              <a:t>): </a:t>
            </a:r>
            <a:r>
              <a:rPr lang="it-IT" dirty="0"/>
              <a:t>creano la massa virtuale VREF_RAW ≈ 4,5 V partendo dai +9 V.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C4 (22 µF) e C5 (100 </a:t>
            </a:r>
            <a:r>
              <a:rPr lang="it-IT" b="1" dirty="0" err="1"/>
              <a:t>nF</a:t>
            </a:r>
            <a:r>
              <a:rPr lang="it-IT" b="1" dirty="0"/>
              <a:t>): </a:t>
            </a:r>
            <a:r>
              <a:rPr lang="it-IT" dirty="0"/>
              <a:t>filtrano e stabilizzano la massa virtuale eliminando rumore e disturbi.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U2:</a:t>
            </a:r>
            <a:r>
              <a:rPr lang="it-IT" dirty="0"/>
              <a:t> bufferizza VREF, rendendola stabile e a bassa impedenza.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C3 (1 µF): </a:t>
            </a:r>
            <a:r>
              <a:rPr lang="it-IT" dirty="0"/>
              <a:t>accoppia il segnale in AC e blocca eventuale continua dall’ingresso.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R3 (10 </a:t>
            </a:r>
            <a:r>
              <a:rPr lang="it-IT" b="1" dirty="0" err="1"/>
              <a:t>kΩ</a:t>
            </a:r>
            <a:r>
              <a:rPr lang="it-IT" b="1" dirty="0"/>
              <a:t>): </a:t>
            </a:r>
            <a:r>
              <a:rPr lang="it-IT" dirty="0"/>
              <a:t>polarizza il segnale audio rispetto a VREF.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U1:</a:t>
            </a:r>
            <a:r>
              <a:rPr lang="it-IT" dirty="0"/>
              <a:t> amplifica il segnale audio in configurazione non invertente.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R4 (10 </a:t>
            </a:r>
            <a:r>
              <a:rPr lang="it-IT" b="1" dirty="0" err="1"/>
              <a:t>kΩ</a:t>
            </a:r>
            <a:r>
              <a:rPr lang="it-IT" b="1" dirty="0"/>
              <a:t>) e R5 (10 </a:t>
            </a:r>
            <a:r>
              <a:rPr lang="it-IT" b="1" dirty="0" err="1"/>
              <a:t>kΩ</a:t>
            </a:r>
            <a:r>
              <a:rPr lang="it-IT" b="1" dirty="0"/>
              <a:t>): </a:t>
            </a:r>
            <a:r>
              <a:rPr lang="it-IT" dirty="0"/>
              <a:t>impostano il guadagno del preamplificatore a circa 2.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C6 (1 µF)</a:t>
            </a:r>
            <a:r>
              <a:rPr lang="it-IT" dirty="0"/>
              <a:t>: blocca la continua nel ramo di retroazione, evitando saturazione.</a:t>
            </a:r>
          </a:p>
          <a:p>
            <a:r>
              <a:rPr lang="it-IT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1" dirty="0"/>
              <a:t>C7 (47 pF): </a:t>
            </a:r>
            <a:r>
              <a:rPr lang="it-IT" dirty="0"/>
              <a:t>limita il guadagno alle alte frequenze e migliora la stabilità.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097206-9271-842F-E775-E531DA2718D7}"/>
              </a:ext>
            </a:extLst>
          </p:cNvPr>
          <p:cNvSpPr txBox="1"/>
          <p:nvPr/>
        </p:nvSpPr>
        <p:spPr>
          <a:xfrm>
            <a:off x="6096000" y="829985"/>
            <a:ext cx="53255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CONFIGURAZIONE OPA1678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2973A1B-3B7B-78AE-7A51-EA680D455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05" y="3440425"/>
            <a:ext cx="4536666" cy="22011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F2B9FDC-CBC2-EB9C-C669-4336614A7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06" y="866642"/>
            <a:ext cx="4536666" cy="24304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5668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37458BA-00FA-0DD2-5788-FC7B2DB7AD2D}"/>
              </a:ext>
            </a:extLst>
          </p:cNvPr>
          <p:cNvSpPr txBox="1"/>
          <p:nvPr/>
        </p:nvSpPr>
        <p:spPr>
          <a:xfrm>
            <a:off x="991659" y="848268"/>
            <a:ext cx="611505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5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it-IT" dirty="0"/>
              <a:t>Perché ingresso non invertente?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FADA0E-BA61-D4A3-E1BD-97EEFDF56413}"/>
              </a:ext>
            </a:extLst>
          </p:cNvPr>
          <p:cNvSpPr txBox="1"/>
          <p:nvPr/>
        </p:nvSpPr>
        <p:spPr>
          <a:xfrm>
            <a:off x="821268" y="1879600"/>
            <a:ext cx="5104341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Alta impedenza di ingresso</a:t>
            </a:r>
            <a:br>
              <a:rPr lang="it-IT" dirty="0"/>
            </a:br>
            <a:r>
              <a:rPr lang="it-IT" sz="1200" dirty="0"/>
              <a:t>In un amplificatore audio è importante non caricare la sorgente collegata al jack, come telefono, chitarra o altro dispositivo audio. La configurazione non invertente permette di applicare il segnale all’ingresso + dell’OPA1678 mantenendo un’impedenza di ingresso elevata. </a:t>
            </a:r>
          </a:p>
          <a:p>
            <a:endParaRPr lang="it-IT" dirty="0"/>
          </a:p>
          <a:p>
            <a:r>
              <a:rPr lang="it-IT" b="1" dirty="0"/>
              <a:t>Più adatta all’alimentazione singola</a:t>
            </a:r>
            <a:br>
              <a:rPr lang="it-IT" dirty="0"/>
            </a:br>
            <a:r>
              <a:rPr lang="it-IT" sz="1200" dirty="0"/>
              <a:t>Il circuito lavora con una sola alimentazione da 9 V, quindi il segnale audio viene centrato su V_REF ≈ 4,5 V. Usare l’ingresso non invertente rende più semplice polarizzare il segnale attorno alla massa virtuale senza riferirlo direttamente alla massa reale. </a:t>
            </a:r>
          </a:p>
          <a:p>
            <a:endParaRPr lang="it-IT" dirty="0"/>
          </a:p>
          <a:p>
            <a:r>
              <a:rPr lang="it-IT" b="1" dirty="0"/>
              <a:t>Segnale non invertito</a:t>
            </a:r>
            <a:br>
              <a:rPr lang="it-IT" dirty="0"/>
            </a:br>
            <a:r>
              <a:rPr lang="it-IT" sz="1200" dirty="0"/>
              <a:t>La configurazione non invertente mantiene la fase del segnale in uscita. Nel nostro progetto non era necessaria un’inversione di fase, quindi questa scelta è più naturale per il percorso audio.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DA8E62A-93D0-8AFB-4808-F69E37D7A861}"/>
              </a:ext>
            </a:extLst>
          </p:cNvPr>
          <p:cNvSpPr txBox="1"/>
          <p:nvPr/>
        </p:nvSpPr>
        <p:spPr>
          <a:xfrm>
            <a:off x="6242437" y="4269832"/>
            <a:ext cx="5087023" cy="1241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Lo studio fatto sul filtro passa-alto passivo e sugli stadi attivi invertenti resta valido: </a:t>
            </a:r>
            <a:r>
              <a:rPr lang="it-IT" sz="12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il principio di accoppiamento AC e frequenza di taglio non cambia.</a:t>
            </a:r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Nel progetto cambia solo la configurazione dell’amplificatore: il segnale entra sul morsetto non invertente, viene riferito a V_REF invece che alla massa reale, e il guadagno segue la formula della configurazione non invertente.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2507F6C0-575E-8C48-1E3B-AD2C2DC86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990" y="978367"/>
            <a:ext cx="5063067" cy="2712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7455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C651D4A0-0A80-07AF-F6D0-928BAD04F805}"/>
              </a:ext>
            </a:extLst>
          </p:cNvPr>
          <p:cNvSpPr txBox="1"/>
          <p:nvPr/>
        </p:nvSpPr>
        <p:spPr>
          <a:xfrm>
            <a:off x="1045632" y="978367"/>
            <a:ext cx="5050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Lo stadio OPA1678 è configurato come amplificatore non invertente</a:t>
            </a:r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it-IT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il segnale entra su V+ e la retroazione forza il nodo invertente a seguirlo</a:t>
            </a:r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, quindi: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D6B9253-D679-383D-A8FA-5171C44ED0F9}"/>
                  </a:ext>
                </a:extLst>
              </p:cNvPr>
              <p:cNvSpPr txBox="1"/>
              <p:nvPr/>
            </p:nvSpPr>
            <p:spPr>
              <a:xfrm>
                <a:off x="1773767" y="1575512"/>
                <a:ext cx="98021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it-IT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it-IT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D6B9253-D679-383D-A8FA-5171C44ED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767" y="1575512"/>
                <a:ext cx="980219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D332ECA6-7941-2F9C-CA9E-C751C572A0CD}"/>
              </a:ext>
            </a:extLst>
          </p:cNvPr>
          <p:cNvSpPr txBox="1"/>
          <p:nvPr/>
        </p:nvSpPr>
        <p:spPr>
          <a:xfrm>
            <a:off x="1045631" y="1996098"/>
            <a:ext cx="5050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In ingresso c’è un </a:t>
            </a:r>
            <a:r>
              <a:rPr lang="it-IT" b="1" dirty="0"/>
              <a:t>passa-alto passivo dato da C3-R3: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55570F2-2E17-E9F2-F614-B6FE9243B6E5}"/>
                  </a:ext>
                </a:extLst>
              </p:cNvPr>
              <p:cNvSpPr txBox="1"/>
              <p:nvPr/>
            </p:nvSpPr>
            <p:spPr>
              <a:xfrm>
                <a:off x="1773767" y="2445188"/>
                <a:ext cx="4322233" cy="424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it-IT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it-IT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≈16</m:t>
                    </m:r>
                    <m:r>
                      <a:rPr lang="it-IT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it-IT" sz="1400" dirty="0"/>
                  <a:t> </a:t>
                </a: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55570F2-2E17-E9F2-F614-B6FE9243B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767" y="2445188"/>
                <a:ext cx="4322233" cy="4241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A0DC983-F730-28B3-3CEB-0D0F4531FB31}"/>
              </a:ext>
            </a:extLst>
          </p:cNvPr>
          <p:cNvSpPr txBox="1"/>
          <p:nvPr/>
        </p:nvSpPr>
        <p:spPr>
          <a:xfrm>
            <a:off x="1045630" y="2998491"/>
            <a:ext cx="50503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Nella retroazione c’è un </a:t>
            </a:r>
            <a:r>
              <a:rPr lang="it-IT" b="1" dirty="0"/>
              <a:t>passa-alto attivo dato da C6-R5-R4: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90B4265-AA90-C9D2-EADC-641A5F494DA6}"/>
                  </a:ext>
                </a:extLst>
              </p:cNvPr>
              <p:cNvSpPr txBox="1"/>
              <p:nvPr/>
            </p:nvSpPr>
            <p:spPr>
              <a:xfrm>
                <a:off x="1777043" y="3489873"/>
                <a:ext cx="6115050" cy="436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it-IT">
                        <a:latin typeface="Cambria Math" panose="02040503050406030204" pitchFamily="18" charset="0"/>
                      </a:rPr>
                      <m:t>≈1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90B4265-AA90-C9D2-EADC-641A5F494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043" y="3489873"/>
                <a:ext cx="6115050" cy="4362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F72B763-5195-9E3F-DE21-72E265F82B4C}"/>
              </a:ext>
            </a:extLst>
          </p:cNvPr>
          <p:cNvSpPr txBox="1"/>
          <p:nvPr/>
        </p:nvSpPr>
        <p:spPr>
          <a:xfrm>
            <a:off x="1045630" y="4056372"/>
            <a:ext cx="50503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Il taglio complessivo non si somma: </a:t>
            </a:r>
            <a:r>
              <a:rPr lang="it-IT" i="1" u="sng" dirty="0"/>
              <a:t>domina il taglio più alto, quindi: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451FA025-BDA3-FEE9-D0FE-B2F1B21C4E0C}"/>
                  </a:ext>
                </a:extLst>
              </p:cNvPr>
              <p:cNvSpPr txBox="1"/>
              <p:nvPr/>
            </p:nvSpPr>
            <p:spPr>
              <a:xfrm>
                <a:off x="1773767" y="4567637"/>
                <a:ext cx="4322231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451FA025-BDA3-FEE9-D0FE-B2F1B21C4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767" y="4567637"/>
                <a:ext cx="4322231" cy="317203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82BC094-CC97-FB9B-0326-163DAD103BAB}"/>
              </a:ext>
            </a:extLst>
          </p:cNvPr>
          <p:cNvSpPr txBox="1"/>
          <p:nvPr/>
        </p:nvSpPr>
        <p:spPr>
          <a:xfrm>
            <a:off x="1075265" y="5083708"/>
            <a:ext cx="5050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In banda audio utile il guadagno vale: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9295C16-76A9-3403-B91E-FD2EEFECA51F}"/>
                  </a:ext>
                </a:extLst>
              </p:cNvPr>
              <p:cNvSpPr txBox="1"/>
              <p:nvPr/>
            </p:nvSpPr>
            <p:spPr>
              <a:xfrm>
                <a:off x="1773767" y="5490933"/>
                <a:ext cx="1583426" cy="5321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it-IT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9295C16-76A9-3403-B91E-FD2EEFECA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767" y="5490933"/>
                <a:ext cx="1583426" cy="532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CD893848-065C-1F83-4CE1-4FBF18D4D816}"/>
              </a:ext>
            </a:extLst>
          </p:cNvPr>
          <p:cNvSpPr txBox="1"/>
          <p:nvPr/>
        </p:nvSpPr>
        <p:spPr>
          <a:xfrm>
            <a:off x="6240993" y="4772038"/>
            <a:ext cx="50630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it-IT" dirty="0"/>
              <a:t>L'OPA1678 realizza il preamplificatore audio</a:t>
            </a:r>
            <a:r>
              <a:rPr lang="it-IT" b="0" dirty="0"/>
              <a:t>, </a:t>
            </a:r>
            <a:r>
              <a:rPr lang="it-IT" b="0" i="1" dirty="0"/>
              <a:t>amplificando il debole segnale proveniente dal jack d'ingresso.</a:t>
            </a:r>
          </a:p>
          <a:p>
            <a:pPr algn="just"/>
            <a:r>
              <a:rPr lang="it-IT" b="0" dirty="0"/>
              <a:t>Condiziona il segnale, </a:t>
            </a:r>
            <a:r>
              <a:rPr lang="it-IT" b="0" i="1" u="sng" dirty="0"/>
              <a:t>eliminando la componente continua e limitando le frequenze indesiderate.</a:t>
            </a:r>
          </a:p>
          <a:p>
            <a:pPr algn="just"/>
            <a:r>
              <a:rPr lang="it-IT" u="sng" dirty="0"/>
              <a:t>Fornisce così un segnale pulito </a:t>
            </a:r>
            <a:r>
              <a:rPr lang="it-IT" b="0" dirty="0"/>
              <a:t>e con </a:t>
            </a:r>
            <a:r>
              <a:rPr lang="it-IT" u="sng" dirty="0"/>
              <a:t>ampiezza adeguata da inviare al LM386</a:t>
            </a:r>
            <a:r>
              <a:rPr lang="it-IT" b="0" dirty="0"/>
              <a:t> per la successiva amplificazione di potenza.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66835F1-7F73-54B0-4123-DB97848DA18C}"/>
              </a:ext>
            </a:extLst>
          </p:cNvPr>
          <p:cNvSpPr txBox="1"/>
          <p:nvPr/>
        </p:nvSpPr>
        <p:spPr>
          <a:xfrm>
            <a:off x="6240992" y="4408176"/>
            <a:ext cx="5063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Che scopo ha nel progetto?</a:t>
            </a:r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382F61DA-9A64-D9C0-8897-5213A1711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990" y="978367"/>
            <a:ext cx="5063067" cy="2712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238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837EB4EB-2C9F-6E24-BFF5-BBB8F3BFE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33"/>
            <a:ext cx="12192000" cy="5968934"/>
          </a:xfrm>
          <a:prstGeom prst="rect">
            <a:avLst/>
          </a:prstGeom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E3C5B305-1940-0E8D-9631-F5DFB924B2B7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5578679" y="3694684"/>
            <a:ext cx="1882629" cy="0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A71AC35-05A0-D274-AD99-08B3AC9CE7C2}"/>
                  </a:ext>
                </a:extLst>
              </p:cNvPr>
              <p:cNvSpPr txBox="1"/>
              <p:nvPr/>
            </p:nvSpPr>
            <p:spPr>
              <a:xfrm>
                <a:off x="4990130" y="1249262"/>
                <a:ext cx="2319867" cy="478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it-IT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sSub>
                          <m:sSubPr>
                            <m:ctrlP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it-IT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it-IT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it-IT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𝟏𝟔</m:t>
                    </m:r>
                    <m:r>
                      <a:rPr lang="it-IT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𝑯𝒛</m:t>
                    </m:r>
                  </m:oMath>
                </a14:m>
                <a:r>
                  <a:rPr lang="it-IT" sz="1600" b="1" dirty="0"/>
                  <a:t>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A71AC35-05A0-D274-AD99-08B3AC9CE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130" y="1249262"/>
                <a:ext cx="2319867" cy="478272"/>
              </a:xfrm>
              <a:prstGeom prst="rect">
                <a:avLst/>
              </a:prstGeo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89E15703-6266-9130-1C9B-FE5FC3AEB3CE}"/>
              </a:ext>
            </a:extLst>
          </p:cNvPr>
          <p:cNvSpPr txBox="1"/>
          <p:nvPr/>
        </p:nvSpPr>
        <p:spPr>
          <a:xfrm>
            <a:off x="4990130" y="972263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HP passivo 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13D7ADE1-EDDB-D1FE-5599-9F3E89175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20" t="38909" r="55011" b="35723"/>
          <a:stretch>
            <a:fillRect/>
          </a:stretch>
        </p:blipFill>
        <p:spPr>
          <a:xfrm>
            <a:off x="7461308" y="2267886"/>
            <a:ext cx="2727121" cy="2853596"/>
          </a:xfrm>
          <a:prstGeom prst="rect">
            <a:avLst/>
          </a:prstGeom>
        </p:spPr>
      </p:pic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F28606A9-0AFF-48CA-F53E-3DC502694717}"/>
              </a:ext>
            </a:extLst>
          </p:cNvPr>
          <p:cNvCxnSpPr/>
          <p:nvPr/>
        </p:nvCxnSpPr>
        <p:spPr>
          <a:xfrm>
            <a:off x="7793372" y="3082954"/>
            <a:ext cx="796955" cy="0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580BCBAB-4B73-8036-4525-D9CCE383454B}"/>
              </a:ext>
            </a:extLst>
          </p:cNvPr>
          <p:cNvCxnSpPr/>
          <p:nvPr/>
        </p:nvCxnSpPr>
        <p:spPr>
          <a:xfrm>
            <a:off x="9089471" y="3024231"/>
            <a:ext cx="796955" cy="0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FF6AA2D8-CC82-D0E0-FC74-47F083BC9FFD}"/>
              </a:ext>
            </a:extLst>
          </p:cNvPr>
          <p:cNvCxnSpPr/>
          <p:nvPr/>
        </p:nvCxnSpPr>
        <p:spPr>
          <a:xfrm>
            <a:off x="3499219" y="4529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850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C691B16F-2E89-B416-2867-DBCEC0018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56"/>
            <a:ext cx="12192000" cy="5975287"/>
          </a:xfrm>
          <a:prstGeom prst="rect">
            <a:avLst/>
          </a:prstGeom>
        </p:spPr>
      </p:pic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F550896-7F2D-CCE7-28E7-7E6704990D4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259897" y="3010681"/>
            <a:ext cx="1804371" cy="98031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873D563-4460-A0ED-EA03-AD8B358D0FD8}"/>
                  </a:ext>
                </a:extLst>
              </p:cNvPr>
              <p:cNvSpPr txBox="1"/>
              <p:nvPr/>
            </p:nvSpPr>
            <p:spPr>
              <a:xfrm>
                <a:off x="7172524" y="2138894"/>
                <a:ext cx="3032024" cy="478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600" b="1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𝐜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𝐨𝐮𝐭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𝛑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den>
                    </m:f>
                    <m:r>
                      <a:rPr lang="it-IT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it-IT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>
                        <a:latin typeface="Cambria Math" panose="02040503050406030204" pitchFamily="18" charset="0"/>
                      </a:rPr>
                      <m:t>𝟗𝐇𝐳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873D563-4460-A0ED-EA03-AD8B358D0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524" y="2138894"/>
                <a:ext cx="3032024" cy="4783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2C82591A-C7E7-8845-CD2F-16D257CEC087}"/>
              </a:ext>
            </a:extLst>
          </p:cNvPr>
          <p:cNvSpPr txBox="1"/>
          <p:nvPr/>
        </p:nvSpPr>
        <p:spPr>
          <a:xfrm>
            <a:off x="7172524" y="1926971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HP attivo 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C0CAC09D-95DB-D09D-60F0-6DBC577C91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02" t="29023" r="56835" b="45355"/>
          <a:stretch>
            <a:fillRect/>
          </a:stretch>
        </p:blipFill>
        <p:spPr>
          <a:xfrm>
            <a:off x="7064268" y="2617230"/>
            <a:ext cx="2595655" cy="2747531"/>
          </a:xfrm>
          <a:prstGeom prst="rect">
            <a:avLst/>
          </a:prstGeom>
        </p:spPr>
      </p:pic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154E9661-2A04-C80F-9982-09A76920B2F8}"/>
              </a:ext>
            </a:extLst>
          </p:cNvPr>
          <p:cNvCxnSpPr/>
          <p:nvPr/>
        </p:nvCxnSpPr>
        <p:spPr>
          <a:xfrm>
            <a:off x="3528581" y="441356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35168267-558A-671D-C83F-1626818B8B67}"/>
              </a:ext>
            </a:extLst>
          </p:cNvPr>
          <p:cNvCxnSpPr/>
          <p:nvPr/>
        </p:nvCxnSpPr>
        <p:spPr>
          <a:xfrm>
            <a:off x="7373923" y="3372375"/>
            <a:ext cx="796955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F5D8D2BB-458E-9FC4-3515-2E76E6F12696}"/>
              </a:ext>
            </a:extLst>
          </p:cNvPr>
          <p:cNvCxnSpPr/>
          <p:nvPr/>
        </p:nvCxnSpPr>
        <p:spPr>
          <a:xfrm>
            <a:off x="8657438" y="3372375"/>
            <a:ext cx="796955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70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0203CD7-96F6-5DDF-5BF7-3EB1D8F7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D122C4D-3CFE-F05F-E685-D22DCA728194}"/>
              </a:ext>
            </a:extLst>
          </p:cNvPr>
          <p:cNvCxnSpPr/>
          <p:nvPr/>
        </p:nvCxnSpPr>
        <p:spPr>
          <a:xfrm>
            <a:off x="3499219" y="4529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AC997686-D49D-B5E9-55A3-97AB45310D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20" t="38909" r="55011" b="35723"/>
          <a:stretch>
            <a:fillRect/>
          </a:stretch>
        </p:blipFill>
        <p:spPr>
          <a:xfrm>
            <a:off x="5939362" y="2039323"/>
            <a:ext cx="1981448" cy="207334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CA41A61-0CE3-A285-BC1A-8C32B4DDDF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302" t="29023" r="56835" b="45355"/>
          <a:stretch>
            <a:fillRect/>
          </a:stretch>
        </p:blipFill>
        <p:spPr>
          <a:xfrm>
            <a:off x="8581675" y="2039321"/>
            <a:ext cx="1958736" cy="2073344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E854CE9-A2B6-FB62-DAF0-6A247F3469C9}"/>
              </a:ext>
            </a:extLst>
          </p:cNvPr>
          <p:cNvSpPr txBox="1"/>
          <p:nvPr/>
        </p:nvSpPr>
        <p:spPr>
          <a:xfrm>
            <a:off x="5339592" y="4540028"/>
            <a:ext cx="6115574" cy="1384995"/>
          </a:xfrm>
          <a:prstGeom prst="rect">
            <a:avLst/>
          </a:prstGeom>
          <a:solidFill>
            <a:srgbClr val="F0FF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 algn="just">
              <a:buFont typeface="Arial" panose="020B0604020202020204" pitchFamily="34" charset="0"/>
              <a:buChar char="•"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Sovrapposizione dei filtri passa-alto: </a:t>
            </a:r>
            <a:r>
              <a:rPr lang="it-IT" dirty="0"/>
              <a:t>con R3 = 10 </a:t>
            </a:r>
            <a:r>
              <a:rPr lang="it-IT" dirty="0" err="1"/>
              <a:t>kΩ</a:t>
            </a:r>
            <a:r>
              <a:rPr lang="it-IT" dirty="0"/>
              <a:t>, il filtro passa-alto d’ingresso e quello in retroazione hanno entrambi una frequenza teorica di taglio pari a circa 15,9 Hz. </a:t>
            </a:r>
          </a:p>
          <a:p>
            <a:endParaRPr lang="it-IT" dirty="0"/>
          </a:p>
          <a:p>
            <a:r>
              <a:rPr lang="it-IT" b="1" dirty="0"/>
              <a:t>Somma delle attenuazioni: </a:t>
            </a:r>
            <a:r>
              <a:rPr lang="it-IT" dirty="0"/>
              <a:t>poiché i due filtri agiscono contemporaneamente, alla frequenza di 15,9 Hz l’attenuazione complessiva non è più circa −3 dB, ma diventa circa −6 dB.</a:t>
            </a:r>
          </a:p>
        </p:txBody>
      </p:sp>
    </p:spTree>
    <p:extLst>
      <p:ext uri="{BB962C8B-B14F-4D97-AF65-F5344CB8AC3E}">
        <p14:creationId xmlns:p14="http://schemas.microsoft.com/office/powerpoint/2010/main" val="2454877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>
            <a:extLst>
              <a:ext uri="{FF2B5EF4-FFF2-40B4-BE49-F238E27FC236}">
                <a16:creationId xmlns:a16="http://schemas.microsoft.com/office/drawing/2014/main" id="{7BE3DAC2-1C44-3A6F-26C7-796761C1D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CEB6234-5FFF-3632-FC53-2099CBAA8D02}"/>
              </a:ext>
            </a:extLst>
          </p:cNvPr>
          <p:cNvCxnSpPr/>
          <p:nvPr/>
        </p:nvCxnSpPr>
        <p:spPr>
          <a:xfrm>
            <a:off x="3767667" y="4487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3849CEF-E9A3-2F2A-9815-3A9207E84690}"/>
              </a:ext>
            </a:extLst>
          </p:cNvPr>
          <p:cNvCxnSpPr/>
          <p:nvPr/>
        </p:nvCxnSpPr>
        <p:spPr>
          <a:xfrm>
            <a:off x="11929534" y="4487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FBDE1B0-D6D3-5091-80DB-CB3F439200F4}"/>
              </a:ext>
            </a:extLst>
          </p:cNvPr>
          <p:cNvSpPr txBox="1"/>
          <p:nvPr/>
        </p:nvSpPr>
        <p:spPr>
          <a:xfrm>
            <a:off x="3195210" y="931961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20Hz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79DD664-7BA6-8440-0E33-25CE4DB424AF}"/>
              </a:ext>
            </a:extLst>
          </p:cNvPr>
          <p:cNvSpPr txBox="1"/>
          <p:nvPr/>
        </p:nvSpPr>
        <p:spPr>
          <a:xfrm>
            <a:off x="11285110" y="597527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20KHz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3B4E176-A858-4BDC-9A28-A13322039CF1}"/>
              </a:ext>
            </a:extLst>
          </p:cNvPr>
          <p:cNvSpPr txBox="1"/>
          <p:nvPr/>
        </p:nvSpPr>
        <p:spPr>
          <a:xfrm>
            <a:off x="4546740" y="2403462"/>
            <a:ext cx="617431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0" dirty="0"/>
              <a:t>Il preamplificatore funziona correttamente nella banda audio perché lascia passare il segnale a partire da circa 16 Hz.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0" dirty="0"/>
              <a:t>Il taglio inferiore è dominato dal passa-alto C6–R5, quindi le frequenze sotto questa zona vengono attenuate.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0" dirty="0"/>
              <a:t>Da circa 20 Hz in poi il segnale rientra nella banda udibile umana e viene amplificato correttamente. Il guadagno resta stabile nella zona utile, quindi il contenuto musicale non viene alterato in modo significativo.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b="0" dirty="0"/>
              <a:t>Il crollo ad altissima frequenza avviene molto oltre l’udibile umano e quindi non influenza l’ascolto. Per questo il circuito è adatto a trattare segnali audio come quelli provenienti da un microfono standard elettronico.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0A62089-48BB-8C0A-CB78-3CBB1D68866D}"/>
              </a:ext>
            </a:extLst>
          </p:cNvPr>
          <p:cNvSpPr txBox="1"/>
          <p:nvPr/>
        </p:nvSpPr>
        <p:spPr>
          <a:xfrm>
            <a:off x="6736193" y="1120859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BANDA DEL SUONO UDIBILE DALL’UOMO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396EEE9-639D-43CD-6966-E11157F993E6}"/>
              </a:ext>
            </a:extLst>
          </p:cNvPr>
          <p:cNvSpPr txBox="1"/>
          <p:nvPr/>
        </p:nvSpPr>
        <p:spPr>
          <a:xfrm>
            <a:off x="11308724" y="1662877"/>
            <a:ext cx="635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71BD48A-925D-8C83-17D4-C7646577C4BD}"/>
              </a:ext>
            </a:extLst>
          </p:cNvPr>
          <p:cNvSpPr txBox="1"/>
          <p:nvPr/>
        </p:nvSpPr>
        <p:spPr>
          <a:xfrm>
            <a:off x="2136052" y="1541015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</p:spTree>
    <p:extLst>
      <p:ext uri="{BB962C8B-B14F-4D97-AF65-F5344CB8AC3E}">
        <p14:creationId xmlns:p14="http://schemas.microsoft.com/office/powerpoint/2010/main" val="196861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8AD1FE97-1C55-BBB6-8A42-718867330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8543F75-73B9-3B11-27A0-E9EF493B45BF}"/>
              </a:ext>
            </a:extLst>
          </p:cNvPr>
          <p:cNvSpPr txBox="1"/>
          <p:nvPr/>
        </p:nvSpPr>
        <p:spPr>
          <a:xfrm>
            <a:off x="11417915" y="1006151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4BBC4CC-5C35-EB79-0E8F-4DB517E53D89}"/>
              </a:ext>
            </a:extLst>
          </p:cNvPr>
          <p:cNvSpPr txBox="1"/>
          <p:nvPr/>
        </p:nvSpPr>
        <p:spPr>
          <a:xfrm>
            <a:off x="9018269" y="2302828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652C717-A2DF-0FCA-F6A6-6A64753770A8}"/>
              </a:ext>
            </a:extLst>
          </p:cNvPr>
          <p:cNvCxnSpPr/>
          <p:nvPr/>
        </p:nvCxnSpPr>
        <p:spPr>
          <a:xfrm>
            <a:off x="1255164" y="456078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83F64BE0-EC73-2B3C-BAE2-57D2FF353EA4}"/>
              </a:ext>
            </a:extLst>
          </p:cNvPr>
          <p:cNvCxnSpPr/>
          <p:nvPr/>
        </p:nvCxnSpPr>
        <p:spPr>
          <a:xfrm>
            <a:off x="4249413" y="456078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0EDDB0-8E85-55B1-30B0-40B77FF53171}"/>
              </a:ext>
            </a:extLst>
          </p:cNvPr>
          <p:cNvSpPr txBox="1"/>
          <p:nvPr/>
        </p:nvSpPr>
        <p:spPr>
          <a:xfrm>
            <a:off x="732347" y="2122303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20Hz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DC8BEC5-A8D0-5215-865C-C0BF6FE85F66}"/>
              </a:ext>
            </a:extLst>
          </p:cNvPr>
          <p:cNvSpPr txBox="1"/>
          <p:nvPr/>
        </p:nvSpPr>
        <p:spPr>
          <a:xfrm>
            <a:off x="4293487" y="2122304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20KHz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926C1B8-73A8-0B74-AD9C-BBCC5E1A1E77}"/>
              </a:ext>
            </a:extLst>
          </p:cNvPr>
          <p:cNvSpPr txBox="1"/>
          <p:nvPr/>
        </p:nvSpPr>
        <p:spPr>
          <a:xfrm>
            <a:off x="4367647" y="2743893"/>
            <a:ext cx="547263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 algn="just">
              <a:buFont typeface="Arial" panose="020B0604020202020204" pitchFamily="34" charset="0"/>
              <a:buChar char="•"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it-IT" b="1" dirty="0"/>
              <a:t>Taglio alle basse frequenze</a:t>
            </a:r>
            <a:br>
              <a:rPr lang="it-IT" dirty="0"/>
            </a:br>
            <a:r>
              <a:rPr lang="it-IT" i="1" dirty="0"/>
              <a:t>Sotto i 20 Hz il guadagno diminuisce per effetto dei condensatori di accoppiamento C3 e C6, che realizzano il filtro passa-alto eliminando la componente continua e attenuando le frequenze molto basse</a:t>
            </a:r>
            <a:r>
              <a:rPr lang="it-IT" dirty="0"/>
              <a:t>.</a:t>
            </a:r>
          </a:p>
          <a:p>
            <a:pPr algn="l"/>
            <a:endParaRPr lang="it-IT" dirty="0"/>
          </a:p>
          <a:p>
            <a:pPr algn="l"/>
            <a:r>
              <a:rPr lang="it-IT" b="1" dirty="0"/>
              <a:t>Riduzione del guadagno alle alte frequenze</a:t>
            </a:r>
            <a:br>
              <a:rPr lang="it-IT" dirty="0"/>
            </a:br>
            <a:r>
              <a:rPr lang="it-IT" u="sng" dirty="0"/>
              <a:t>Oltre circa 34 kHz il guadagno inizia a diminuire per effetto del condensatore C7 in parallelo a R4</a:t>
            </a:r>
            <a:r>
              <a:rPr lang="it-IT" dirty="0"/>
              <a:t>, che limita progressivamente il guadagno alle alte frequenze, </a:t>
            </a:r>
            <a:r>
              <a:rPr lang="it-IT" i="1" dirty="0"/>
              <a:t>migliorando la stabilità del circuito e riducendo i disturbi fuori dalla banda audio.</a:t>
            </a:r>
          </a:p>
          <a:p>
            <a:endParaRPr lang="it-IT" dirty="0"/>
          </a:p>
          <a:p>
            <a:pPr algn="l"/>
            <a:r>
              <a:rPr lang="it-IT" b="1" dirty="0"/>
              <a:t>Limite dell'operazionale</a:t>
            </a:r>
            <a:br>
              <a:rPr lang="it-IT" dirty="0"/>
            </a:br>
            <a:r>
              <a:rPr lang="it-IT" b="1" i="1" dirty="0"/>
              <a:t>Alle frequenze dell'ordine delle decine di MHz il guadagno crolla rapidamente a causa del prodotto guadagno-banda (GBW) dell'OPA1678</a:t>
            </a:r>
            <a:r>
              <a:rPr lang="it-IT" dirty="0"/>
              <a:t>, che rappresenta il limite fisico dell'amplificatore operazionale reale. </a:t>
            </a:r>
            <a:r>
              <a:rPr lang="it-IT" i="1" u="sng" dirty="0"/>
              <a:t>Questo decadimento avviene ben oltre la banda udibile umana e non influenza la riproduzione del segnale audio.</a:t>
            </a:r>
          </a:p>
        </p:txBody>
      </p:sp>
    </p:spTree>
    <p:extLst>
      <p:ext uri="{BB962C8B-B14F-4D97-AF65-F5344CB8AC3E}">
        <p14:creationId xmlns:p14="http://schemas.microsoft.com/office/powerpoint/2010/main" val="197253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0CE26-049D-14F4-DDFD-477C08911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B60A50B-8EA0-94C4-6889-7D1EDEFD1480}"/>
              </a:ext>
            </a:extLst>
          </p:cNvPr>
          <p:cNvSpPr txBox="1"/>
          <p:nvPr/>
        </p:nvSpPr>
        <p:spPr>
          <a:xfrm>
            <a:off x="1048625" y="856937"/>
            <a:ext cx="61155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LM386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92252A-27DA-9C3A-3338-73289BCA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54" t="10942" r="20683"/>
          <a:stretch>
            <a:fillRect/>
          </a:stretch>
        </p:blipFill>
        <p:spPr>
          <a:xfrm>
            <a:off x="970326" y="1772908"/>
            <a:ext cx="2558641" cy="206900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CCD5F2D-85FA-8197-EA23-AB8D0CD8B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547" y="846121"/>
            <a:ext cx="5332534" cy="397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9BB314F-2C75-E448-05D7-768D4241D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27" y="3823145"/>
            <a:ext cx="5125673" cy="17164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6C8982D-BF51-BBBA-29D8-8DFFF4371F08}"/>
              </a:ext>
            </a:extLst>
          </p:cNvPr>
          <p:cNvSpPr txBox="1"/>
          <p:nvPr/>
        </p:nvSpPr>
        <p:spPr>
          <a:xfrm>
            <a:off x="2642532" y="956964"/>
            <a:ext cx="31878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https://www.ti.com/lit/ds/symlink/lm386.pdf</a:t>
            </a:r>
            <a:endParaRPr lang="it-IT" sz="1200" dirty="0">
              <a:solidFill>
                <a:srgbClr val="0070C0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908A2B9-941C-64AA-704B-E347FE5FA7C5}"/>
              </a:ext>
            </a:extLst>
          </p:cNvPr>
          <p:cNvSpPr txBox="1"/>
          <p:nvPr/>
        </p:nvSpPr>
        <p:spPr>
          <a:xfrm>
            <a:off x="6212048" y="2022762"/>
            <a:ext cx="48404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Il LM386 è stato scelto come </a:t>
            </a:r>
            <a:r>
              <a:rPr lang="it-IT" dirty="0"/>
              <a:t>stadio finale perché è un </a:t>
            </a:r>
            <a:r>
              <a:rPr lang="it-IT" b="1" dirty="0"/>
              <a:t>amplificatore audio di potenza a bassa tensione</a:t>
            </a:r>
            <a:r>
              <a:rPr lang="it-IT" i="1" dirty="0"/>
              <a:t>, adatto a circuiti alimentati con una singola sorgente.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Rispetto all’OPA1678, non </a:t>
            </a:r>
            <a:r>
              <a:rPr lang="it-IT" i="1" u="sng" dirty="0"/>
              <a:t>lavora principalmente </a:t>
            </a:r>
            <a:r>
              <a:rPr lang="it-IT" dirty="0"/>
              <a:t>sulla qualità del piccolo segnale, ma </a:t>
            </a:r>
            <a:r>
              <a:rPr lang="it-IT" i="1" u="sng" dirty="0"/>
              <a:t>sulla capacità di fornire più corrente al carico audio in uscita.</a:t>
            </a:r>
          </a:p>
          <a:p>
            <a:endParaRPr lang="it-IT" i="1" u="sng" dirty="0"/>
          </a:p>
          <a:p>
            <a:r>
              <a:rPr lang="it-IT" dirty="0"/>
              <a:t>Il datasheet indica un funzionamento con alimentazione tipica da 4 V a 12 V, quindi compatibile con il nostro progetto a 9 V.</a:t>
            </a:r>
            <a:br>
              <a:rPr lang="it-IT" dirty="0"/>
            </a:br>
            <a:r>
              <a:rPr lang="it-IT" dirty="0"/>
              <a:t>Il guadagno interno è impostato a 20, ma può essere aumentato fino a 200 tramite componenti esterni sui pin di gain.</a:t>
            </a:r>
          </a:p>
          <a:p>
            <a:endParaRPr lang="it-IT" dirty="0"/>
          </a:p>
          <a:p>
            <a:r>
              <a:rPr lang="it-IT" i="1" dirty="0"/>
              <a:t>Nel circuito è alimentato dal ramo filtrato +K, separato dal ramo +E dell’OPA1678 per ridurre il trasferimento di disturbi tra stadio di potenza e stadio di segnale.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089CB9BB-279B-016B-03AC-A8E3C8CF0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8967" y="2106696"/>
            <a:ext cx="2548580" cy="171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88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65A7FE4-CA54-3272-7CC4-1C4BE9DD530A}"/>
              </a:ext>
            </a:extLst>
          </p:cNvPr>
          <p:cNvSpPr txBox="1"/>
          <p:nvPr/>
        </p:nvSpPr>
        <p:spPr>
          <a:xfrm>
            <a:off x="4672667" y="1328866"/>
            <a:ext cx="645532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indent="0">
              <a:buNone/>
            </a:pPr>
            <a:r>
              <a:rPr lang="it-IT" dirty="0"/>
              <a:t>Durante la progettazione in Eagle è emersa una criticità: il simbolo usato non corrispondeva al </a:t>
            </a:r>
            <a:r>
              <a:rPr lang="it-IT" dirty="0" err="1"/>
              <a:t>pinout</a:t>
            </a:r>
            <a:r>
              <a:rPr lang="it-IT" dirty="0"/>
              <a:t> del datasheet TI standard.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Nel datasheet LM386 i pin 1 e 8 sono dedicati al GAIN, mentre il pin 7 è il BYPASS. </a:t>
            </a:r>
            <a:br>
              <a:rPr lang="it-IT" dirty="0"/>
            </a:br>
            <a:r>
              <a:rPr lang="it-IT" dirty="0"/>
              <a:t>Nel componente Eagle trovato, invece, il pin 8 risultava indicato come BYPASS e il pin 7 come G2/GAIN.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Per questo il componente non è stato usato “a fiducia”, ma confrontato con il datasheet, verificando la corrispondenza tra simbolo, pin fisici e footprint prima del PCB.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7BDBA75-9557-0FCD-9969-3C6F15465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08" y="1004160"/>
            <a:ext cx="2578722" cy="25884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60792B3-8D54-F0CF-6357-EB7A7F554C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354" t="10942" r="20683"/>
          <a:stretch>
            <a:fillRect/>
          </a:stretch>
        </p:blipFill>
        <p:spPr>
          <a:xfrm>
            <a:off x="1453408" y="3996771"/>
            <a:ext cx="2578722" cy="20852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E8542340-95D8-E2EE-921D-E734A8CD8A8F}"/>
              </a:ext>
            </a:extLst>
          </p:cNvPr>
          <p:cNvSpPr txBox="1"/>
          <p:nvPr/>
        </p:nvSpPr>
        <p:spPr>
          <a:xfrm>
            <a:off x="2393787" y="727161"/>
            <a:ext cx="6979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EAGLE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DE2E866-B4F4-203E-F7AE-1FB15CD0C903}"/>
              </a:ext>
            </a:extLst>
          </p:cNvPr>
          <p:cNvSpPr txBox="1"/>
          <p:nvPr/>
        </p:nvSpPr>
        <p:spPr>
          <a:xfrm>
            <a:off x="2167488" y="3719772"/>
            <a:ext cx="1150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DATASHEET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EC3C21B-5B6F-5578-3F49-C3E967D3F93F}"/>
              </a:ext>
            </a:extLst>
          </p:cNvPr>
          <p:cNvSpPr txBox="1"/>
          <p:nvPr/>
        </p:nvSpPr>
        <p:spPr>
          <a:xfrm>
            <a:off x="4672666" y="3996771"/>
            <a:ext cx="6455328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Poiché il componente proveniva da una libreria Eagle già strutturata con simbolo e footprint coerenti tra loro, abbiamo mantenuto quel componente seguendo la sua configurazione interna.</a:t>
            </a:r>
          </a:p>
          <a:p>
            <a:br>
              <a:rPr lang="it-IT" dirty="0"/>
            </a:br>
            <a:r>
              <a:rPr lang="it-IT" dirty="0"/>
              <a:t>Questa scelta è stata fatta consapevolmente, evidenziando che nella progettazione PCB non basta guardare il simbolo: bisogna sempre considerare anche la libreria utilizzata e il collegamento reale tra simbolo, package e footprint.</a:t>
            </a: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E2290F21-2D1A-50A3-6B58-B6A3CC162F4E}"/>
              </a:ext>
            </a:extLst>
          </p:cNvPr>
          <p:cNvSpPr/>
          <p:nvPr/>
        </p:nvSpPr>
        <p:spPr>
          <a:xfrm>
            <a:off x="3091751" y="4060672"/>
            <a:ext cx="830102" cy="4655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8F2CF8A4-2799-7C6F-0F6D-6EAFBDA08091}"/>
              </a:ext>
            </a:extLst>
          </p:cNvPr>
          <p:cNvSpPr/>
          <p:nvPr/>
        </p:nvSpPr>
        <p:spPr>
          <a:xfrm>
            <a:off x="3091751" y="1472267"/>
            <a:ext cx="830102" cy="4655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D9DD8FFC-DE97-4DAE-47E6-4E7688752DE2}"/>
              </a:ext>
            </a:extLst>
          </p:cNvPr>
          <p:cNvSpPr/>
          <p:nvPr/>
        </p:nvSpPr>
        <p:spPr>
          <a:xfrm>
            <a:off x="3107245" y="4605756"/>
            <a:ext cx="830102" cy="46558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E7D7415-971A-D0E0-3AD2-33CC0D9FF642}"/>
              </a:ext>
            </a:extLst>
          </p:cNvPr>
          <p:cNvSpPr/>
          <p:nvPr/>
        </p:nvSpPr>
        <p:spPr>
          <a:xfrm>
            <a:off x="2604782" y="2755783"/>
            <a:ext cx="1286426" cy="51207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2076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BEECC51-0D92-4A19-4C56-6439F01B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39" y="969742"/>
            <a:ext cx="5059960" cy="3808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FA328E6-D75A-6AE9-561E-86B783E12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469" y="1519955"/>
            <a:ext cx="4395831" cy="447261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4B6AE87-A0E9-6CE3-5EE0-8E333D6948C4}"/>
              </a:ext>
            </a:extLst>
          </p:cNvPr>
          <p:cNvSpPr txBox="1"/>
          <p:nvPr/>
        </p:nvSpPr>
        <p:spPr>
          <a:xfrm>
            <a:off x="1036040" y="5642179"/>
            <a:ext cx="5059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b="1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https://groups.google.com/g/sci.electronics/c/Ssv3p_PDaw8/m/CRdbm7cUhdsJ?pli=1</a:t>
            </a:r>
            <a:endParaRPr lang="it-IT" sz="1050" b="1" dirty="0">
              <a:solidFill>
                <a:srgbClr val="0070C0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CC733AE-36EC-DA2B-430D-E650825453A2}"/>
              </a:ext>
            </a:extLst>
          </p:cNvPr>
          <p:cNvSpPr txBox="1"/>
          <p:nvPr/>
        </p:nvSpPr>
        <p:spPr>
          <a:xfrm>
            <a:off x="1036040" y="5365180"/>
            <a:ext cx="1388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LINK LIBRERIA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82C3A2D-2AA4-B66E-1FAD-A6FD15B3252A}"/>
              </a:ext>
            </a:extLst>
          </p:cNvPr>
          <p:cNvSpPr txBox="1"/>
          <p:nvPr/>
        </p:nvSpPr>
        <p:spPr>
          <a:xfrm>
            <a:off x="1036040" y="1742077"/>
            <a:ext cx="5059960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Per simulare il LM386 in </a:t>
            </a:r>
            <a:r>
              <a:rPr lang="it-IT" dirty="0" err="1"/>
              <a:t>LTspice</a:t>
            </a:r>
            <a:r>
              <a:rPr lang="it-IT" dirty="0"/>
              <a:t> abbiamo dovuto gestire manualmente il modello SPICE, perché non era disponibile in modo immediato come componente standard.</a:t>
            </a:r>
          </a:p>
          <a:p>
            <a:br>
              <a:rPr lang="it-IT" dirty="0"/>
            </a:br>
            <a:r>
              <a:rPr lang="it-IT" dirty="0"/>
              <a:t>La difficoltà è confermata anche dalla discussione trovata online, dove viene spiegato che il LM386 è un audio power </a:t>
            </a:r>
            <a:r>
              <a:rPr lang="it-IT" dirty="0" err="1"/>
              <a:t>amplifier</a:t>
            </a:r>
            <a:r>
              <a:rPr lang="it-IT" dirty="0"/>
              <a:t>, non un semplice op </a:t>
            </a:r>
            <a:r>
              <a:rPr lang="it-IT" dirty="0" err="1"/>
              <a:t>amp</a:t>
            </a:r>
            <a:r>
              <a:rPr lang="it-IT" dirty="0"/>
              <a:t>, quindi i suoi modelli SPICE sono meno comuni. </a:t>
            </a:r>
          </a:p>
          <a:p>
            <a:br>
              <a:rPr lang="it-IT" dirty="0"/>
            </a:br>
            <a:r>
              <a:rPr lang="it-IT" dirty="0"/>
              <a:t>Abbiamo quindi creato un file libreria .</a:t>
            </a:r>
            <a:r>
              <a:rPr lang="it-IT" dirty="0" err="1"/>
              <a:t>lib</a:t>
            </a:r>
            <a:r>
              <a:rPr lang="it-IT" dirty="0"/>
              <a:t> contenente il </a:t>
            </a:r>
            <a:r>
              <a:rPr lang="it-IT" dirty="0" err="1"/>
              <a:t>sottocircuito</a:t>
            </a:r>
            <a:r>
              <a:rPr lang="it-IT" dirty="0"/>
              <a:t> del LM386 e lo abbiamo incluso nello schema con il comando .include.</a:t>
            </a:r>
            <a:br>
              <a:rPr lang="it-IT" dirty="0"/>
            </a:br>
            <a:r>
              <a:rPr lang="it-IT" dirty="0"/>
              <a:t>Successivamente è stato necessario creare anche un simbolo/componente </a:t>
            </a:r>
            <a:r>
              <a:rPr lang="it-IT" dirty="0" err="1"/>
              <a:t>LTspice</a:t>
            </a:r>
            <a:r>
              <a:rPr lang="it-IT" dirty="0"/>
              <a:t> associato a quel modello, collegando correttamente i pin del simbolo ai pin del </a:t>
            </a:r>
            <a:r>
              <a:rPr lang="it-IT" dirty="0" err="1"/>
              <a:t>sottocircuito</a:t>
            </a:r>
            <a:r>
              <a:rPr lang="it-IT" dirty="0"/>
              <a:t>.</a:t>
            </a:r>
          </a:p>
          <a:p>
            <a:br>
              <a:rPr lang="it-IT" dirty="0"/>
            </a:br>
            <a:r>
              <a:rPr lang="it-IT" dirty="0"/>
              <a:t>In questo modo il LM386 è diventato simulabile insieme al resto dell’amplificatore audio.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1EEFE60-A1A8-28CB-C319-AE03F6432A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06" t="18425"/>
          <a:stretch>
            <a:fillRect/>
          </a:stretch>
        </p:blipFill>
        <p:spPr>
          <a:xfrm>
            <a:off x="6652468" y="696285"/>
            <a:ext cx="4395831" cy="82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0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7E0C9365-C532-8468-7654-4B171A07AF2E}"/>
              </a:ext>
            </a:extLst>
          </p:cNvPr>
          <p:cNvSpPr txBox="1"/>
          <p:nvPr/>
        </p:nvSpPr>
        <p:spPr>
          <a:xfrm>
            <a:off x="922789" y="3877784"/>
            <a:ext cx="50473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U1 LM386: </a:t>
            </a:r>
            <a:r>
              <a:rPr lang="it-IT" b="0" dirty="0"/>
              <a:t>è lo stadio finale di potenza audio; riceve il segnale dal blocco OPA1678 e lo amplifica per pilotare l’uscita. </a:t>
            </a:r>
          </a:p>
          <a:p>
            <a:endParaRPr lang="it-IT" b="0" dirty="0"/>
          </a:p>
          <a:p>
            <a:r>
              <a:rPr lang="it-IT" dirty="0"/>
              <a:t>C10 (1 µF): </a:t>
            </a:r>
            <a:r>
              <a:rPr lang="it-IT" b="0" dirty="0"/>
              <a:t>è il condensatore di accoppiamento in ingresso; trasferisce solo la componente AC del segnale e blocca eventuale continua proveniente dal preamplificatore. </a:t>
            </a:r>
          </a:p>
          <a:p>
            <a:endParaRPr lang="it-IT" b="0" dirty="0"/>
          </a:p>
          <a:p>
            <a:r>
              <a:rPr lang="it-IT" dirty="0"/>
              <a:t>R6 (10 </a:t>
            </a:r>
            <a:r>
              <a:rPr lang="it-IT" dirty="0" err="1"/>
              <a:t>kΩ</a:t>
            </a:r>
            <a:r>
              <a:rPr lang="it-IT" dirty="0"/>
              <a:t>): </a:t>
            </a:r>
            <a:r>
              <a:rPr lang="it-IT" b="0" dirty="0"/>
              <a:t>rappresenta il potenziometro/controllo di livello; regola quanto segnale viene inviato all’ingresso del LM386. </a:t>
            </a:r>
          </a:p>
          <a:p>
            <a:endParaRPr lang="it-IT" b="0" dirty="0"/>
          </a:p>
          <a:p>
            <a:r>
              <a:rPr lang="it-IT" dirty="0"/>
              <a:t>Pin 2 a massa e pin 3 come ingresso:</a:t>
            </a:r>
            <a:r>
              <a:rPr lang="it-IT" b="0" dirty="0"/>
              <a:t> il LM386 è usato in configurazione non invertente, con il segnale applicato al pin +IN.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EF4BCFD-3262-F650-4D29-7C19B84A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2318732" y="608974"/>
            <a:ext cx="7302866" cy="32058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6F0BF6C-E281-9E1E-A826-492FA2D85635}"/>
              </a:ext>
            </a:extLst>
          </p:cNvPr>
          <p:cNvSpPr txBox="1"/>
          <p:nvPr/>
        </p:nvSpPr>
        <p:spPr>
          <a:xfrm>
            <a:off x="6096000" y="3877784"/>
            <a:ext cx="53591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Pin 6 su +K e pin 4 ad AGND: </a:t>
            </a:r>
            <a:r>
              <a:rPr lang="it-IT" b="0" dirty="0"/>
              <a:t>il LM386 è alimentato dal ramo filtrato dedicato +K, separato dal ramo dell’OPA1678 per ridurre disturbi e accoppiamenti indesiderati.</a:t>
            </a:r>
          </a:p>
          <a:p>
            <a:endParaRPr lang="it-IT" b="0" dirty="0"/>
          </a:p>
          <a:p>
            <a:r>
              <a:rPr lang="it-IT" dirty="0"/>
              <a:t>C11 (10 µF): </a:t>
            </a:r>
            <a:r>
              <a:rPr lang="it-IT" b="0" dirty="0"/>
              <a:t>collegato al pin BYPASS, serve a migliorare la stabilità interna e ridurre il rumore sull’amplificatore. </a:t>
            </a:r>
          </a:p>
          <a:p>
            <a:endParaRPr lang="it-IT" b="0" dirty="0"/>
          </a:p>
          <a:p>
            <a:r>
              <a:rPr lang="it-IT" dirty="0"/>
              <a:t>Pin 1 e 8: </a:t>
            </a:r>
            <a:r>
              <a:rPr lang="it-IT" b="0" dirty="0"/>
              <a:t>sono i pin di gain; se non viene inserito un condensatore tra loro, il guadagno base del LM386 resta circa 20.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263AB22-7939-BB3D-4DA7-9505C30D8713}"/>
              </a:ext>
            </a:extLst>
          </p:cNvPr>
          <p:cNvSpPr txBox="1"/>
          <p:nvPr/>
        </p:nvSpPr>
        <p:spPr>
          <a:xfrm>
            <a:off x="2318733" y="608974"/>
            <a:ext cx="730286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CONFIGURAZIONE LM386</a:t>
            </a:r>
          </a:p>
        </p:txBody>
      </p:sp>
    </p:spTree>
    <p:extLst>
      <p:ext uri="{BB962C8B-B14F-4D97-AF65-F5344CB8AC3E}">
        <p14:creationId xmlns:p14="http://schemas.microsoft.com/office/powerpoint/2010/main" val="933885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B4A8E7-8686-E09C-AC9C-BD9963210088}"/>
              </a:ext>
            </a:extLst>
          </p:cNvPr>
          <p:cNvSpPr txBox="1"/>
          <p:nvPr/>
        </p:nvSpPr>
        <p:spPr>
          <a:xfrm>
            <a:off x="872105" y="4121266"/>
            <a:ext cx="104477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it-IT" dirty="0"/>
          </a:p>
          <a:p>
            <a:endParaRPr lang="it-IT" dirty="0"/>
          </a:p>
          <a:p>
            <a:r>
              <a:rPr lang="it-IT" dirty="0"/>
              <a:t>C12 (1000 µF): </a:t>
            </a:r>
            <a:r>
              <a:rPr lang="it-IT" b="0" dirty="0"/>
              <a:t>è il condensatore di uscita; blocca la componente continua presente sull’uscita del LM386 e lascia passare il segnale audio verso il jack. </a:t>
            </a:r>
          </a:p>
          <a:p>
            <a:endParaRPr lang="it-IT" b="0" dirty="0"/>
          </a:p>
          <a:p>
            <a:r>
              <a:rPr lang="it-IT" dirty="0"/>
              <a:t>R7 (10 Ω): </a:t>
            </a:r>
            <a:r>
              <a:rPr lang="it-IT" b="0" dirty="0"/>
              <a:t>rappresenta il carico/terminazione usato in simulazione per verificare il comportamento dell’uscita. </a:t>
            </a:r>
          </a:p>
          <a:p>
            <a:endParaRPr lang="it-IT" dirty="0"/>
          </a:p>
          <a:p>
            <a:r>
              <a:rPr lang="it-IT" dirty="0"/>
              <a:t>OUT-LM386: </a:t>
            </a:r>
            <a:r>
              <a:rPr lang="it-IT" b="0" dirty="0"/>
              <a:t>è il segnale audio finale, già amplificato in potenza e pronto per essere inviato al jack di uscita.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FC0C04FF-97A9-AB35-777A-C5BFD196F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580"/>
          <a:stretch>
            <a:fillRect/>
          </a:stretch>
        </p:blipFill>
        <p:spPr>
          <a:xfrm>
            <a:off x="2063347" y="763371"/>
            <a:ext cx="8065305" cy="33578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E42780-C5DB-9382-E612-9CBDE65A9F54}"/>
              </a:ext>
            </a:extLst>
          </p:cNvPr>
          <p:cNvSpPr txBox="1"/>
          <p:nvPr/>
        </p:nvSpPr>
        <p:spPr>
          <a:xfrm>
            <a:off x="2063346" y="763371"/>
            <a:ext cx="806530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CONFIGURAZIONE LM386</a:t>
            </a:r>
          </a:p>
        </p:txBody>
      </p:sp>
    </p:spTree>
    <p:extLst>
      <p:ext uri="{BB962C8B-B14F-4D97-AF65-F5344CB8AC3E}">
        <p14:creationId xmlns:p14="http://schemas.microsoft.com/office/powerpoint/2010/main" val="1994100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7D9787B-3642-537E-941E-B17F1A491E72}"/>
              </a:ext>
            </a:extLst>
          </p:cNvPr>
          <p:cNvSpPr txBox="1"/>
          <p:nvPr/>
        </p:nvSpPr>
        <p:spPr>
          <a:xfrm>
            <a:off x="1065402" y="3587554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GUADAGNO TOTALE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8DCEBF-B2D5-67CD-8EB9-2AD2014C83CE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GUADAGNO LM386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EEB3ACF-7C35-F10C-6D67-272A69617F77}"/>
              </a:ext>
            </a:extLst>
          </p:cNvPr>
          <p:cNvSpPr txBox="1"/>
          <p:nvPr/>
        </p:nvSpPr>
        <p:spPr>
          <a:xfrm>
            <a:off x="1065401" y="1271074"/>
            <a:ext cx="10083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indent="0">
              <a:buNone/>
            </a:pPr>
            <a:r>
              <a:rPr lang="it-IT" b="0" dirty="0"/>
              <a:t>Nel datasheet, se i pin di gain non vengono usati per aumentare il guadagno, il LM386 ha guadagno base: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DBA61B0-2A80-513D-E786-46F1750CC76E}"/>
                  </a:ext>
                </a:extLst>
              </p:cNvPr>
              <p:cNvSpPr txBox="1"/>
              <p:nvPr/>
            </p:nvSpPr>
            <p:spPr>
              <a:xfrm>
                <a:off x="5672255" y="1963572"/>
                <a:ext cx="8698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DBA61B0-2A80-513D-E786-46F1750CC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255" y="1963572"/>
                <a:ext cx="869854" cy="276999"/>
              </a:xfrm>
              <a:prstGeom prst="rect">
                <a:avLst/>
              </a:prstGeom>
              <a:blipFill>
                <a:blip r:embed="rId2"/>
                <a:stretch>
                  <a:fillRect l="-5594" r="-6294" b="-86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1D26A6B4-71BF-F975-A199-BF9B38BC7101}"/>
              </a:ext>
            </a:extLst>
          </p:cNvPr>
          <p:cNvSpPr txBox="1"/>
          <p:nvPr/>
        </p:nvSpPr>
        <p:spPr>
          <a:xfrm>
            <a:off x="1065400" y="2479557"/>
            <a:ext cx="10083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cioè circa: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71C0D3D-0811-8862-DD90-B3A273DD1BD3}"/>
                  </a:ext>
                </a:extLst>
              </p:cNvPr>
              <p:cNvSpPr txBox="1"/>
              <p:nvPr/>
            </p:nvSpPr>
            <p:spPr>
              <a:xfrm>
                <a:off x="5778662" y="3033555"/>
                <a:ext cx="657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26 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𝑑𝐵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71C0D3D-0811-8862-DD90-B3A273DD1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662" y="3033555"/>
                <a:ext cx="657039" cy="276999"/>
              </a:xfrm>
              <a:prstGeom prst="rect">
                <a:avLst/>
              </a:prstGeom>
              <a:blipFill>
                <a:blip r:embed="rId3"/>
                <a:stretch>
                  <a:fillRect l="-8333" r="-7407" b="-88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FE6660A-A446-6D2A-44C2-EA260D9A6C36}"/>
                  </a:ext>
                </a:extLst>
              </p:cNvPr>
              <p:cNvSpPr txBox="1"/>
              <p:nvPr/>
            </p:nvSpPr>
            <p:spPr>
              <a:xfrm>
                <a:off x="1065400" y="5309927"/>
                <a:ext cx="1446935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𝐿𝑀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386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FE6660A-A446-6D2A-44C2-EA260D9A6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00" y="5309927"/>
                <a:ext cx="1446935" cy="289182"/>
              </a:xfrm>
              <a:prstGeom prst="rect">
                <a:avLst/>
              </a:prstGeom>
              <a:blipFill>
                <a:blip r:embed="rId4"/>
                <a:stretch>
                  <a:fillRect l="-2954" r="-2954" b="-1276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8830C4F-1EAE-92C2-7B82-296047F62B33}"/>
                  </a:ext>
                </a:extLst>
              </p:cNvPr>
              <p:cNvSpPr txBox="1"/>
              <p:nvPr/>
            </p:nvSpPr>
            <p:spPr>
              <a:xfrm>
                <a:off x="1065400" y="4542676"/>
                <a:ext cx="1506245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𝑂𝑃𝐴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1678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8830C4F-1EAE-92C2-7B82-296047F62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00" y="4542676"/>
                <a:ext cx="1506245" cy="289182"/>
              </a:xfrm>
              <a:prstGeom prst="rect">
                <a:avLst/>
              </a:prstGeom>
              <a:blipFill>
                <a:blip r:embed="rId5"/>
                <a:stretch>
                  <a:fillRect l="-3239" r="-2834" b="-104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670137A-DA04-A818-F27C-934A226E19BC}"/>
                  </a:ext>
                </a:extLst>
              </p:cNvPr>
              <p:cNvSpPr txBox="1"/>
              <p:nvPr/>
            </p:nvSpPr>
            <p:spPr>
              <a:xfrm>
                <a:off x="3984024" y="4927562"/>
                <a:ext cx="3682547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𝑂𝑃𝐴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1678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𝐿𝑀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386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670137A-DA04-A818-F27C-934A226E1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024" y="4927562"/>
                <a:ext cx="3682547" cy="289182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arentesi graffa chiusa 12">
            <a:extLst>
              <a:ext uri="{FF2B5EF4-FFF2-40B4-BE49-F238E27FC236}">
                <a16:creationId xmlns:a16="http://schemas.microsoft.com/office/drawing/2014/main" id="{4497DD0F-3615-251C-2A1B-7CCEB6BDFE07}"/>
              </a:ext>
            </a:extLst>
          </p:cNvPr>
          <p:cNvSpPr/>
          <p:nvPr/>
        </p:nvSpPr>
        <p:spPr>
          <a:xfrm>
            <a:off x="2873229" y="4687267"/>
            <a:ext cx="896708" cy="76977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2FAC2B-BC1A-46F2-9D60-8D302BE635FE}"/>
              </a:ext>
            </a:extLst>
          </p:cNvPr>
          <p:cNvSpPr txBox="1"/>
          <p:nvPr/>
        </p:nvSpPr>
        <p:spPr>
          <a:xfrm>
            <a:off x="8162488" y="4358010"/>
            <a:ext cx="2679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In decibel: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9D4BE0BD-3908-AC32-8DFC-D5FF16248BC9}"/>
                  </a:ext>
                </a:extLst>
              </p:cNvPr>
              <p:cNvSpPr txBox="1"/>
              <p:nvPr/>
            </p:nvSpPr>
            <p:spPr>
              <a:xfrm>
                <a:off x="8258961" y="4939745"/>
                <a:ext cx="1653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mtClean="0">
                          <a:latin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it-IT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  <m:r>
                        <a:rPr lang="it-IT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9D4BE0BD-3908-AC32-8DFC-D5FF16248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961" y="4939745"/>
                <a:ext cx="1653530" cy="276999"/>
              </a:xfrm>
              <a:prstGeom prst="rect">
                <a:avLst/>
              </a:prstGeom>
              <a:blipFill>
                <a:blip r:embed="rId7"/>
                <a:stretch>
                  <a:fillRect l="-2952" t="-2174" r="-2952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F54F6BF-4B6F-0439-FAF2-2FAAE5215BA5}"/>
              </a:ext>
            </a:extLst>
          </p:cNvPr>
          <p:cNvSpPr txBox="1"/>
          <p:nvPr/>
        </p:nvSpPr>
        <p:spPr>
          <a:xfrm>
            <a:off x="4029513" y="4369344"/>
            <a:ext cx="41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Teoricamente</a:t>
            </a:r>
          </a:p>
        </p:txBody>
      </p:sp>
    </p:spTree>
    <p:extLst>
      <p:ext uri="{BB962C8B-B14F-4D97-AF65-F5344CB8AC3E}">
        <p14:creationId xmlns:p14="http://schemas.microsoft.com/office/powerpoint/2010/main" val="1623757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D3CBF8E6-F494-6E30-EA5C-E2AB801B6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08D58673-2EE6-C307-AA2E-EB33D7B354CB}"/>
              </a:ext>
            </a:extLst>
          </p:cNvPr>
          <p:cNvCxnSpPr/>
          <p:nvPr/>
        </p:nvCxnSpPr>
        <p:spPr>
          <a:xfrm>
            <a:off x="3767667" y="4487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022C0CDB-C1F4-4DFB-EC4D-668180E1AB6A}"/>
              </a:ext>
            </a:extLst>
          </p:cNvPr>
          <p:cNvCxnSpPr/>
          <p:nvPr/>
        </p:nvCxnSpPr>
        <p:spPr>
          <a:xfrm>
            <a:off x="11929534" y="448733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E74B108-BB29-4E03-3168-6BDE8A6BA37A}"/>
              </a:ext>
            </a:extLst>
          </p:cNvPr>
          <p:cNvSpPr txBox="1"/>
          <p:nvPr/>
        </p:nvSpPr>
        <p:spPr>
          <a:xfrm>
            <a:off x="3195210" y="931961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20Hz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5690A2-670A-1BD5-3702-E7C2F7A3641E}"/>
              </a:ext>
            </a:extLst>
          </p:cNvPr>
          <p:cNvSpPr txBox="1"/>
          <p:nvPr/>
        </p:nvSpPr>
        <p:spPr>
          <a:xfrm>
            <a:off x="11243165" y="793461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20KHz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A610672-5CD0-FEAF-2183-F120785EF2F5}"/>
              </a:ext>
            </a:extLst>
          </p:cNvPr>
          <p:cNvSpPr txBox="1"/>
          <p:nvPr/>
        </p:nvSpPr>
        <p:spPr>
          <a:xfrm>
            <a:off x="4765647" y="3734653"/>
            <a:ext cx="6165908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Nel Bode si vede quindi il guadagno teorico complessivo della catena: </a:t>
            </a:r>
            <a:r>
              <a:rPr lang="it-IT" i="1" u="sng" dirty="0"/>
              <a:t>il segnale viene prima amplificato dal preamplificatore e poi ulteriormente aumentato dal finale di potenza.</a:t>
            </a:r>
            <a:br>
              <a:rPr lang="it-IT" i="1" u="sng" dirty="0"/>
            </a:br>
            <a:r>
              <a:rPr lang="it-IT" b="1" dirty="0"/>
              <a:t>È importante però specificare che il grafico in AC mostra il comportamento “ideale” in piccolo segnale</a:t>
            </a:r>
            <a:r>
              <a:rPr lang="it-IT" dirty="0"/>
              <a:t>, quindi indica quanto il circuito tenderebbe ad amplificare alle varie frequenze.</a:t>
            </a:r>
            <a:br>
              <a:rPr lang="it-IT" dirty="0"/>
            </a:br>
            <a:r>
              <a:rPr lang="it-IT" dirty="0"/>
              <a:t>Nella realtà l’ampiezza massima non può crescere indefinitamente: l’uscita si ferma ai limiti imposti dall’alimentazione a 9 V e dalla dinamica reale degli integrati.</a:t>
            </a:r>
            <a:br>
              <a:rPr lang="it-IT" dirty="0"/>
            </a:br>
            <a:r>
              <a:rPr lang="it-IT" dirty="0"/>
              <a:t>Quindi la curva rossa è utile per capire banda passante e guadagno, ma non rappresenta direttamente la massima tensione reale ottenibile senza saturazione.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E84EA29-E0B6-41D7-6685-41CD836050DE}"/>
              </a:ext>
            </a:extLst>
          </p:cNvPr>
          <p:cNvSpPr txBox="1"/>
          <p:nvPr/>
        </p:nvSpPr>
        <p:spPr>
          <a:xfrm>
            <a:off x="5347672" y="1184355"/>
            <a:ext cx="6153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La traccia rossa rappresenta l’uscita finale dell’amplificatore, cioè il segnale dopo il passaggio sia nello stadio OPA1678 sia nello stadio LM386.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95D8B61-3EB7-5E64-1D1F-D5CCFB8DAA22}"/>
              </a:ext>
            </a:extLst>
          </p:cNvPr>
          <p:cNvSpPr txBox="1"/>
          <p:nvPr/>
        </p:nvSpPr>
        <p:spPr>
          <a:xfrm>
            <a:off x="4765647" y="798357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0267A63-41EB-F09A-0752-5190032D7CCE}"/>
              </a:ext>
            </a:extLst>
          </p:cNvPr>
          <p:cNvSpPr txBox="1"/>
          <p:nvPr/>
        </p:nvSpPr>
        <p:spPr>
          <a:xfrm>
            <a:off x="11500608" y="3152001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772E1E0-AE1D-8F35-D9B3-21E99DE60C16}"/>
              </a:ext>
            </a:extLst>
          </p:cNvPr>
          <p:cNvSpPr txBox="1"/>
          <p:nvPr/>
        </p:nvSpPr>
        <p:spPr>
          <a:xfrm>
            <a:off x="4839115" y="2413337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</p:spTree>
    <p:extLst>
      <p:ext uri="{BB962C8B-B14F-4D97-AF65-F5344CB8AC3E}">
        <p14:creationId xmlns:p14="http://schemas.microsoft.com/office/powerpoint/2010/main" val="1708803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4C35B03E-DCB8-7E88-423F-D2CA3E3E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443D5F2-BDA0-938C-624A-EFA571867304}"/>
              </a:ext>
            </a:extLst>
          </p:cNvPr>
          <p:cNvSpPr txBox="1"/>
          <p:nvPr/>
        </p:nvSpPr>
        <p:spPr>
          <a:xfrm>
            <a:off x="11371692" y="1429795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F504231-888D-D5DE-F56E-AF6DB7AFE935}"/>
              </a:ext>
            </a:extLst>
          </p:cNvPr>
          <p:cNvSpPr txBox="1"/>
          <p:nvPr/>
        </p:nvSpPr>
        <p:spPr>
          <a:xfrm>
            <a:off x="1937960" y="1291295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1168077F-0E6B-3D7E-AE3C-6896E5B112CD}"/>
              </a:ext>
            </a:extLst>
          </p:cNvPr>
          <p:cNvCxnSpPr/>
          <p:nvPr/>
        </p:nvCxnSpPr>
        <p:spPr>
          <a:xfrm>
            <a:off x="1255164" y="456078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CAA5E648-DCB2-0B57-9F0C-81C74ACBFBFA}"/>
              </a:ext>
            </a:extLst>
          </p:cNvPr>
          <p:cNvCxnSpPr/>
          <p:nvPr/>
        </p:nvCxnSpPr>
        <p:spPr>
          <a:xfrm>
            <a:off x="4249413" y="456078"/>
            <a:ext cx="0" cy="59605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31F4293-4CA7-378D-D180-C4CEB10021E7}"/>
              </a:ext>
            </a:extLst>
          </p:cNvPr>
          <p:cNvSpPr txBox="1"/>
          <p:nvPr/>
        </p:nvSpPr>
        <p:spPr>
          <a:xfrm>
            <a:off x="732347" y="2122303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20Hz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B770D4C-E431-61BA-CBCF-F17DF9B9037D}"/>
              </a:ext>
            </a:extLst>
          </p:cNvPr>
          <p:cNvSpPr txBox="1"/>
          <p:nvPr/>
        </p:nvSpPr>
        <p:spPr>
          <a:xfrm>
            <a:off x="4293487" y="2122304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20KHz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24CBFD8-BB3A-8A5C-6B1D-17CF734B6A19}"/>
              </a:ext>
            </a:extLst>
          </p:cNvPr>
          <p:cNvSpPr txBox="1"/>
          <p:nvPr/>
        </p:nvSpPr>
        <p:spPr>
          <a:xfrm>
            <a:off x="4328870" y="2706383"/>
            <a:ext cx="4405270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Il Bode conferma che la catena audio lavora correttamente nella banda utile: </a:t>
            </a:r>
            <a:r>
              <a:rPr lang="it-IT" b="1" dirty="0"/>
              <a:t>il guadagno rimane stabile nella zona udibile e cala solo fuori banda.</a:t>
            </a:r>
          </a:p>
          <a:p>
            <a:br>
              <a:rPr lang="it-IT" b="1" dirty="0"/>
            </a:br>
            <a:r>
              <a:rPr lang="it-IT" dirty="0"/>
              <a:t>La </a:t>
            </a:r>
            <a:r>
              <a:rPr lang="it-IT" i="1" dirty="0"/>
              <a:t>traccia blu è il riferimento di ingresso</a:t>
            </a:r>
            <a:r>
              <a:rPr lang="it-IT" dirty="0"/>
              <a:t>, </a:t>
            </a:r>
            <a:r>
              <a:rPr lang="it-IT" i="1" dirty="0"/>
              <a:t>la verde è l’uscita dell’OPA1678</a:t>
            </a:r>
            <a:r>
              <a:rPr lang="it-IT" dirty="0"/>
              <a:t>, mentre </a:t>
            </a:r>
            <a:r>
              <a:rPr lang="it-IT" i="1" dirty="0"/>
              <a:t>la rossa è l’uscita finale dopo il LM386</a:t>
            </a:r>
            <a:r>
              <a:rPr lang="it-IT" dirty="0"/>
              <a:t>.</a:t>
            </a:r>
            <a:br>
              <a:rPr lang="it-IT" dirty="0"/>
            </a:br>
            <a:r>
              <a:rPr lang="it-IT" i="1" u="sng" dirty="0"/>
              <a:t>La curva verde cresce nella banda audio, poi alle alte frequenze tende verso 0 dB perché il condensatore C7 rende la retroazione più diretta e lo stadio OPA1678 si comporta sempre più come un buffer.</a:t>
            </a:r>
          </a:p>
          <a:p>
            <a:br>
              <a:rPr lang="it-IT" dirty="0"/>
            </a:br>
            <a:r>
              <a:rPr lang="it-IT" dirty="0"/>
              <a:t>La curva </a:t>
            </a:r>
            <a:r>
              <a:rPr lang="it-IT" u="sng" dirty="0"/>
              <a:t>rossa invece rappresenta l’intera catena OPA1678 + LM386,</a:t>
            </a:r>
            <a:r>
              <a:rPr lang="it-IT" dirty="0"/>
              <a:t> </a:t>
            </a:r>
            <a:r>
              <a:rPr lang="it-IT" b="1" dirty="0"/>
              <a:t>quindi non si stabilizza a 0 dB ma decade per i limiti di banda del finale di potenza e del modello complessivo.</a:t>
            </a:r>
          </a:p>
          <a:p>
            <a:br>
              <a:rPr lang="it-IT" b="1" dirty="0"/>
            </a:br>
            <a:r>
              <a:rPr lang="it-IT" dirty="0"/>
              <a:t>Per il suono il comportamento è corretto: la banda audio viene amplificata, </a:t>
            </a:r>
            <a:r>
              <a:rPr lang="it-IT" u="sng" dirty="0"/>
              <a:t>mentre le frequenze fuori banda vengono progressivamente attenuate.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0855721-C580-DE74-56D8-2E69F86F2178}"/>
              </a:ext>
            </a:extLst>
          </p:cNvPr>
          <p:cNvSpPr txBox="1"/>
          <p:nvPr/>
        </p:nvSpPr>
        <p:spPr>
          <a:xfrm>
            <a:off x="4358232" y="776947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</p:spTree>
    <p:extLst>
      <p:ext uri="{BB962C8B-B14F-4D97-AF65-F5344CB8AC3E}">
        <p14:creationId xmlns:p14="http://schemas.microsoft.com/office/powerpoint/2010/main" val="3578454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08D2246-7DF6-2B7D-C54C-3026226E45C3}"/>
                  </a:ext>
                </a:extLst>
              </p:cNvPr>
              <p:cNvSpPr txBox="1"/>
              <p:nvPr/>
            </p:nvSpPr>
            <p:spPr>
              <a:xfrm>
                <a:off x="1065402" y="1526250"/>
                <a:ext cx="611617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0">
                  <a:buFont typeface="Arial" panose="020B0604020202020204" pitchFamily="34" charset="0"/>
                  <a:buNone/>
                  <a:defRPr sz="1200" b="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r>
                  <a:rPr lang="it-IT" dirty="0"/>
                  <a:t>Con OPA1678 alimentato a 9 V e guadagno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𝑂𝑃𝐴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dirty="0"/>
                  <a:t>, un ingresso microfonico di: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08D2246-7DF6-2B7D-C54C-3026226E4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02" y="1526250"/>
                <a:ext cx="6116170" cy="276999"/>
              </a:xfrm>
              <a:prstGeom prst="rect">
                <a:avLst/>
              </a:prstGeom>
              <a:blipFill>
                <a:blip r:embed="rId2"/>
                <a:stretch>
                  <a:fillRect l="-100" t="-2174" b="-13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C99F35EF-2445-5CF5-FA80-4E4852501E52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ANALISI DEI SEGNALI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B39E351-7C7F-05E8-166F-4E56A7758EDB}"/>
                  </a:ext>
                </a:extLst>
              </p:cNvPr>
              <p:cNvSpPr txBox="1"/>
              <p:nvPr/>
            </p:nvSpPr>
            <p:spPr>
              <a:xfrm>
                <a:off x="6803471" y="1512271"/>
                <a:ext cx="1845701" cy="2346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it-IT" sz="1400" i="0">
                          <a:latin typeface="Cambria Math" panose="02040503050406030204" pitchFamily="18" charset="0"/>
                        </a:rPr>
                        <m:t>=0,05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𝑒𝑎𝑘</m:t>
                          </m:r>
                        </m:sub>
                      </m:sSub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B39E351-7C7F-05E8-166F-4E56A7758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471" y="1512271"/>
                <a:ext cx="1845701" cy="234616"/>
              </a:xfrm>
              <a:prstGeom prst="rect">
                <a:avLst/>
              </a:prstGeom>
              <a:blipFill>
                <a:blip r:embed="rId3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0515849C-7494-5C66-AA21-68DFB7C760B2}"/>
              </a:ext>
            </a:extLst>
          </p:cNvPr>
          <p:cNvSpPr txBox="1"/>
          <p:nvPr/>
        </p:nvSpPr>
        <p:spPr>
          <a:xfrm>
            <a:off x="1065402" y="2339125"/>
            <a:ext cx="61155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diventa in uscita dall’OPA: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D1F7556-53E4-4969-6458-5011CB2B4E6F}"/>
                  </a:ext>
                </a:extLst>
              </p:cNvPr>
              <p:cNvSpPr txBox="1"/>
              <p:nvPr/>
            </p:nvSpPr>
            <p:spPr>
              <a:xfrm>
                <a:off x="3208789" y="2328416"/>
                <a:ext cx="3342804" cy="2984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out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𝑂𝑃𝐴</m:t>
                          </m:r>
                        </m:sub>
                      </m:sSub>
                      <m:r>
                        <a:rPr lang="it-IT">
                          <a:latin typeface="Cambria Math" panose="02040503050406030204" pitchFamily="18" charset="0"/>
                        </a:rPr>
                        <m:t>=0,05∙2=0,1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4D1F7556-53E4-4969-6458-5011CB2B4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789" y="2328416"/>
                <a:ext cx="3342804" cy="298415"/>
              </a:xfrm>
              <a:prstGeom prst="rect">
                <a:avLst/>
              </a:prstGeom>
              <a:blipFill>
                <a:blip r:embed="rId4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2400E4F-0FB4-5C1B-3893-5480D24F0B63}"/>
                  </a:ext>
                </a:extLst>
              </p:cNvPr>
              <p:cNvSpPr txBox="1"/>
              <p:nvPr/>
            </p:nvSpPr>
            <p:spPr>
              <a:xfrm>
                <a:off x="1065402" y="3152001"/>
                <a:ext cx="804084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indent="0">
                  <a:buFont typeface="Arial" panose="020B0604020202020204" pitchFamily="34" charset="0"/>
                  <a:buNone/>
                  <a:defRPr sz="1200" b="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r>
                  <a:rPr lang="it-IT" dirty="0"/>
                  <a:t>Il LM386, alimentato a 9 V e con guadagno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𝐿𝑀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it-IT" dirty="0"/>
                  <a:t>, porta il segnale finale a:</a:t>
                </a: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2400E4F-0FB4-5C1B-3893-5480D24F0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02" y="3152001"/>
                <a:ext cx="8040847" cy="276999"/>
              </a:xfrm>
              <a:prstGeom prst="rect">
                <a:avLst/>
              </a:prstGeom>
              <a:blipFill>
                <a:blip r:embed="rId5"/>
                <a:stretch>
                  <a:fillRect l="-76" t="-2174" b="-13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74BA115-600D-3811-342C-D9F056947940}"/>
                  </a:ext>
                </a:extLst>
              </p:cNvPr>
              <p:cNvSpPr txBox="1"/>
              <p:nvPr/>
            </p:nvSpPr>
            <p:spPr>
              <a:xfrm>
                <a:off x="6803471" y="3139195"/>
                <a:ext cx="2806895" cy="2320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400">
                              <a:latin typeface="Cambria Math" panose="02040503050406030204" pitchFamily="18" charset="0"/>
                            </a:rPr>
                            <m:t>out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  <m:r>
                        <a:rPr lang="it-IT" sz="1400">
                          <a:latin typeface="Cambria Math" panose="02040503050406030204" pitchFamily="18" charset="0"/>
                        </a:rPr>
                        <m:t>=0,10∙20=2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it-IT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74BA115-600D-3811-342C-D9F056947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471" y="3139195"/>
                <a:ext cx="2806895" cy="232051"/>
              </a:xfrm>
              <a:prstGeom prst="rect">
                <a:avLst/>
              </a:prstGeom>
              <a:blipFill>
                <a:blip r:embed="rId6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D2C12EC-0442-CDAA-22EB-BCE555112E47}"/>
              </a:ext>
            </a:extLst>
          </p:cNvPr>
          <p:cNvSpPr txBox="1"/>
          <p:nvPr/>
        </p:nvSpPr>
        <p:spPr>
          <a:xfrm>
            <a:off x="1065402" y="3973487"/>
            <a:ext cx="6065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Con alimentazione a 9 V, il limite teorico di LM386 di ampiezza massima sarebbe: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2845965-1C58-8108-8490-08DEDDC78FCF}"/>
                  </a:ext>
                </a:extLst>
              </p:cNvPr>
              <p:cNvSpPr txBox="1"/>
              <p:nvPr/>
            </p:nvSpPr>
            <p:spPr>
              <a:xfrm>
                <a:off x="6803471" y="3960681"/>
                <a:ext cx="1067925" cy="2320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>
                          <a:latin typeface="Cambria Math" panose="02040503050406030204" pitchFamily="18" charset="0"/>
                        </a:rPr>
                        <m:t>4,5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it-IT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F2845965-1C58-8108-8490-08DEDDC78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471" y="3960681"/>
                <a:ext cx="1067925" cy="232051"/>
              </a:xfrm>
              <a:prstGeom prst="rect">
                <a:avLst/>
              </a:prstGeom>
              <a:blipFill>
                <a:blip r:embed="rId7"/>
                <a:stretch>
                  <a:fillRect b="-236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2253C57-F864-EDFA-5C2D-B48192A00EF3}"/>
              </a:ext>
            </a:extLst>
          </p:cNvPr>
          <p:cNvSpPr txBox="1"/>
          <p:nvPr/>
        </p:nvSpPr>
        <p:spPr>
          <a:xfrm>
            <a:off x="1065402" y="4844495"/>
            <a:ext cx="61155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ma il limite realistico del LM386 è circa: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231ABD1A-E40C-0A84-1F99-01988F2A433C}"/>
                  </a:ext>
                </a:extLst>
              </p:cNvPr>
              <p:cNvSpPr txBox="1"/>
              <p:nvPr/>
            </p:nvSpPr>
            <p:spPr>
              <a:xfrm>
                <a:off x="4186105" y="4833786"/>
                <a:ext cx="1627305" cy="2320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400">
                              <a:latin typeface="Cambria Math" panose="02040503050406030204" pitchFamily="18" charset="0"/>
                            </a:rPr>
                            <m:t>out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𝐿𝑀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≈3</m:t>
                          </m:r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40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it-IT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231ABD1A-E40C-0A84-1F99-01988F2A4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105" y="4833786"/>
                <a:ext cx="1627305" cy="232051"/>
              </a:xfrm>
              <a:prstGeom prst="rect">
                <a:avLst/>
              </a:prstGeom>
              <a:blipFill>
                <a:blip r:embed="rId8"/>
                <a:stretch>
                  <a:fillRect l="-1124" r="-749" b="-236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A9CDDBF-D75C-C24B-795C-E1BD79DD869E}"/>
              </a:ext>
            </a:extLst>
          </p:cNvPr>
          <p:cNvSpPr txBox="1"/>
          <p:nvPr/>
        </p:nvSpPr>
        <p:spPr>
          <a:xfrm>
            <a:off x="1065402" y="5616459"/>
            <a:ext cx="10083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dirty="0"/>
              <a:t>Quindi con un </a:t>
            </a:r>
            <a:r>
              <a:rPr lang="it-IT" b="1" i="1" u="sng" dirty="0"/>
              <a:t>microfono da 0,05 </a:t>
            </a:r>
            <a:r>
              <a:rPr lang="it-IT" b="1" i="1" u="sng" dirty="0" err="1"/>
              <a:t>Vpeak</a:t>
            </a:r>
            <a:r>
              <a:rPr lang="it-IT" b="1" i="1" u="sng" dirty="0"/>
              <a:t>, l’uscita finale è circa 2 </a:t>
            </a:r>
            <a:r>
              <a:rPr lang="it-IT" b="1" i="1" u="sng" dirty="0" err="1"/>
              <a:t>Vpeak</a:t>
            </a:r>
            <a:r>
              <a:rPr lang="it-IT" b="1" i="1" u="sng" dirty="0"/>
              <a:t>, rimane sotto il limite reale del LM386 e non viene tagliata dall’alimentazione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7118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05F20E7B-2000-0DAA-0A70-E7F0F9AD2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8D9B43-3DB1-6835-E260-9B4949B998BA}"/>
              </a:ext>
            </a:extLst>
          </p:cNvPr>
          <p:cNvSpPr txBox="1"/>
          <p:nvPr/>
        </p:nvSpPr>
        <p:spPr>
          <a:xfrm>
            <a:off x="11268597" y="3917500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721DFE6-B003-25E3-E31A-4E23FA5DF1E4}"/>
              </a:ext>
            </a:extLst>
          </p:cNvPr>
          <p:cNvSpPr txBox="1"/>
          <p:nvPr/>
        </p:nvSpPr>
        <p:spPr>
          <a:xfrm>
            <a:off x="2534112" y="834095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1A8E1A-C17B-26B3-34B1-8E3E264A649C}"/>
              </a:ext>
            </a:extLst>
          </p:cNvPr>
          <p:cNvSpPr txBox="1"/>
          <p:nvPr/>
        </p:nvSpPr>
        <p:spPr>
          <a:xfrm>
            <a:off x="5052996" y="2418201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3E5B649-43A1-6229-3746-5EC51D9EA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072" y="1273551"/>
            <a:ext cx="3624273" cy="11446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9B54414-0EE4-FE1F-475B-AB89E700E283}"/>
              </a:ext>
            </a:extLst>
          </p:cNvPr>
          <p:cNvSpPr txBox="1"/>
          <p:nvPr/>
        </p:nvSpPr>
        <p:spPr>
          <a:xfrm>
            <a:off x="8123062" y="972594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Pot=10k</a:t>
            </a:r>
          </a:p>
        </p:txBody>
      </p:sp>
    </p:spTree>
    <p:extLst>
      <p:ext uri="{BB962C8B-B14F-4D97-AF65-F5344CB8AC3E}">
        <p14:creationId xmlns:p14="http://schemas.microsoft.com/office/powerpoint/2010/main" val="3463174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4AC0080-C197-DA7A-29FB-D553E33FE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66D437D-1202-991D-863F-29813C6B932D}"/>
              </a:ext>
            </a:extLst>
          </p:cNvPr>
          <p:cNvSpPr txBox="1"/>
          <p:nvPr/>
        </p:nvSpPr>
        <p:spPr>
          <a:xfrm>
            <a:off x="11296951" y="5558042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AE87756-3FFD-F946-9850-F01EA4F436B4}"/>
              </a:ext>
            </a:extLst>
          </p:cNvPr>
          <p:cNvSpPr txBox="1"/>
          <p:nvPr/>
        </p:nvSpPr>
        <p:spPr>
          <a:xfrm>
            <a:off x="1544972" y="1201648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25601D-E889-59E3-E9BE-2A391C8BCC52}"/>
              </a:ext>
            </a:extLst>
          </p:cNvPr>
          <p:cNvSpPr txBox="1"/>
          <p:nvPr/>
        </p:nvSpPr>
        <p:spPr>
          <a:xfrm>
            <a:off x="4991703" y="5281043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06457CB-E1B6-A65C-F333-BA1A8DEC9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941" y="1634385"/>
            <a:ext cx="4270763" cy="118012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2EA13A3-39DD-3C70-AA49-83C3A226DE91}"/>
              </a:ext>
            </a:extLst>
          </p:cNvPr>
          <p:cNvSpPr txBox="1"/>
          <p:nvPr/>
        </p:nvSpPr>
        <p:spPr>
          <a:xfrm>
            <a:off x="7507941" y="1299958"/>
            <a:ext cx="1045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Pot=1k</a:t>
            </a:r>
          </a:p>
        </p:txBody>
      </p:sp>
    </p:spTree>
    <p:extLst>
      <p:ext uri="{BB962C8B-B14F-4D97-AF65-F5344CB8AC3E}">
        <p14:creationId xmlns:p14="http://schemas.microsoft.com/office/powerpoint/2010/main" val="1875322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978990DE-6E8A-6BF8-17F1-07FC883C51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88"/>
            <a:ext cx="12192000" cy="597522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A673B37-BC6F-E0C6-49B9-0EF4DBDAE68B}"/>
              </a:ext>
            </a:extLst>
          </p:cNvPr>
          <p:cNvSpPr txBox="1">
            <a:spLocks/>
          </p:cNvSpPr>
          <p:nvPr/>
        </p:nvSpPr>
        <p:spPr>
          <a:xfrm>
            <a:off x="8899098" y="4623615"/>
            <a:ext cx="53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00FF"/>
                </a:solidFill>
              </a:rPr>
              <a:t>Vin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6760455-0E58-DA8F-CADC-3E2A1379408A}"/>
              </a:ext>
            </a:extLst>
          </p:cNvPr>
          <p:cNvSpPr txBox="1"/>
          <p:nvPr/>
        </p:nvSpPr>
        <p:spPr>
          <a:xfrm>
            <a:off x="2517642" y="2541872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FF00"/>
                </a:solidFill>
              </a:rPr>
              <a:t>Uscita Opa1678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F10CE9E-0274-B9DF-377E-C015FC6B80C9}"/>
              </a:ext>
            </a:extLst>
          </p:cNvPr>
          <p:cNvSpPr txBox="1">
            <a:spLocks/>
          </p:cNvSpPr>
          <p:nvPr/>
        </p:nvSpPr>
        <p:spPr>
          <a:xfrm>
            <a:off x="10989578" y="4938202"/>
            <a:ext cx="1145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00AFAF"/>
                </a:solidFill>
              </a:rPr>
              <a:t>Ingresso LM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1E5DF5C-BDAC-B08F-2F46-CBFD0B2ECDEB}"/>
              </a:ext>
            </a:extLst>
          </p:cNvPr>
          <p:cNvSpPr txBox="1"/>
          <p:nvPr/>
        </p:nvSpPr>
        <p:spPr>
          <a:xfrm>
            <a:off x="4990079" y="3529742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00"/>
                </a:solidFill>
              </a:rPr>
              <a:t>Uscita LM386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388CCEF-961D-3AA7-A13B-F44CB8C2EBDE}"/>
              </a:ext>
            </a:extLst>
          </p:cNvPr>
          <p:cNvSpPr txBox="1"/>
          <p:nvPr/>
        </p:nvSpPr>
        <p:spPr>
          <a:xfrm>
            <a:off x="5023635" y="681680"/>
            <a:ext cx="3508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FF00FF"/>
                </a:solidFill>
              </a:rPr>
              <a:t>Uscita LM386 con DC</a:t>
            </a:r>
          </a:p>
        </p:txBody>
      </p:sp>
    </p:spTree>
    <p:extLst>
      <p:ext uri="{BB962C8B-B14F-4D97-AF65-F5344CB8AC3E}">
        <p14:creationId xmlns:p14="http://schemas.microsoft.com/office/powerpoint/2010/main" val="3859986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3F544F8-CD3E-A884-FE21-D733C87DD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1" y="1138102"/>
            <a:ext cx="5176032" cy="181062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C5C4EF8-9AB6-2DCC-4366-2283A53BB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625" y="656263"/>
            <a:ext cx="4540622" cy="267657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72F420E-BA4A-CC2A-997C-F04C8B397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41" y="3505763"/>
            <a:ext cx="5009324" cy="2652806"/>
          </a:xfrm>
          <a:prstGeom prst="rect">
            <a:avLst/>
          </a:prstGeom>
        </p:spPr>
      </p:pic>
      <p:sp>
        <p:nvSpPr>
          <p:cNvPr id="8" name="Ovale 7">
            <a:extLst>
              <a:ext uri="{FF2B5EF4-FFF2-40B4-BE49-F238E27FC236}">
                <a16:creationId xmlns:a16="http://schemas.microsoft.com/office/drawing/2014/main" id="{A44929E1-58F3-A815-C75B-D81B1B635E94}"/>
              </a:ext>
            </a:extLst>
          </p:cNvPr>
          <p:cNvSpPr/>
          <p:nvPr/>
        </p:nvSpPr>
        <p:spPr>
          <a:xfrm>
            <a:off x="1111541" y="4861420"/>
            <a:ext cx="461395" cy="423644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5E5E05B7-FBB8-C112-ED0C-011557A73740}"/>
              </a:ext>
            </a:extLst>
          </p:cNvPr>
          <p:cNvSpPr/>
          <p:nvPr/>
        </p:nvSpPr>
        <p:spPr>
          <a:xfrm>
            <a:off x="4202884" y="4790114"/>
            <a:ext cx="1006679" cy="423644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2FB6123C-4592-6839-254F-A9F413E22020}"/>
              </a:ext>
            </a:extLst>
          </p:cNvPr>
          <p:cNvSpPr/>
          <p:nvPr/>
        </p:nvSpPr>
        <p:spPr>
          <a:xfrm>
            <a:off x="989901" y="1539380"/>
            <a:ext cx="1006679" cy="423644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E99F4DEC-4D1E-4EDC-A744-BE7F3EEC638F}"/>
              </a:ext>
            </a:extLst>
          </p:cNvPr>
          <p:cNvSpPr/>
          <p:nvPr/>
        </p:nvSpPr>
        <p:spPr>
          <a:xfrm>
            <a:off x="4945886" y="1539380"/>
            <a:ext cx="1006679" cy="423644"/>
          </a:xfrm>
          <a:prstGeom prst="ellipse">
            <a:avLst/>
          </a:prstGeom>
          <a:noFill/>
          <a:ln>
            <a:solidFill>
              <a:srgbClr val="00A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53E9C354-59F3-373C-59D8-67E39B6D968F}"/>
              </a:ext>
            </a:extLst>
          </p:cNvPr>
          <p:cNvSpPr/>
          <p:nvPr/>
        </p:nvSpPr>
        <p:spPr>
          <a:xfrm>
            <a:off x="6527211" y="1182848"/>
            <a:ext cx="1006679" cy="423644"/>
          </a:xfrm>
          <a:prstGeom prst="ellipse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20CEC568-9C1B-16FC-9487-A5FF79C374FB}"/>
              </a:ext>
            </a:extLst>
          </p:cNvPr>
          <p:cNvSpPr/>
          <p:nvPr/>
        </p:nvSpPr>
        <p:spPr>
          <a:xfrm>
            <a:off x="10017031" y="1142297"/>
            <a:ext cx="431457" cy="4236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2ABEE62-5E16-075C-7CBC-F74CFDB0651F}"/>
              </a:ext>
            </a:extLst>
          </p:cNvPr>
          <p:cNvSpPr txBox="1"/>
          <p:nvPr/>
        </p:nvSpPr>
        <p:spPr>
          <a:xfrm>
            <a:off x="6120865" y="3505763"/>
            <a:ext cx="5401414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Il segnale OPA1678 oscilla attorno a 4,5 V perché l’operazionale lavora a singola alimentazione 0–9 V e usa VREF = 4,5 V come massa virtuale.</a:t>
            </a:r>
          </a:p>
          <a:p>
            <a:endParaRPr lang="it-IT" b="1" dirty="0"/>
          </a:p>
          <a:p>
            <a:r>
              <a:rPr lang="it-IT" b="1" dirty="0"/>
              <a:t>I condensatori di accoppiamento C3 e C10 bloccano la componente continua, lasciando passare solo la variazione AC del segnale.</a:t>
            </a:r>
          </a:p>
          <a:p>
            <a:r>
              <a:rPr lang="it-IT" b="1" dirty="0"/>
              <a:t>Per questo, dopo C10, l’ingresso del LM386 torna riferito a 0 V, perché la DC da 4,5 V dell’OPA viene eliminata.</a:t>
            </a:r>
          </a:p>
          <a:p>
            <a:endParaRPr lang="it-IT" b="1" dirty="0"/>
          </a:p>
          <a:p>
            <a:r>
              <a:rPr lang="it-IT" b="1" dirty="0"/>
              <a:t>Internamente però il LM386 ricentra il segnale attorno alla propria polarizzazione, quindi prima del condensatore d’uscita può comparire una sinusoide con offset DC.</a:t>
            </a:r>
          </a:p>
          <a:p>
            <a:endParaRPr lang="it-IT" b="1" dirty="0"/>
          </a:p>
          <a:p>
            <a:r>
              <a:rPr lang="it-IT" b="1" dirty="0"/>
              <a:t>Infine C12 elimina di nuovo la componente continua: all’uscita finale resta solo il segnale audio AC, centrato attorno a 0 V.</a:t>
            </a:r>
          </a:p>
        </p:txBody>
      </p:sp>
    </p:spTree>
    <p:extLst>
      <p:ext uri="{BB962C8B-B14F-4D97-AF65-F5344CB8AC3E}">
        <p14:creationId xmlns:p14="http://schemas.microsoft.com/office/powerpoint/2010/main" val="758341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6E1A8DB-30DF-C473-C822-F2BCCBA13298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Alimentazioni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2E1D180-AED0-97ED-3108-6CD67F808365}"/>
              </a:ext>
            </a:extLst>
          </p:cNvPr>
          <p:cNvSpPr txBox="1"/>
          <p:nvPr/>
        </p:nvSpPr>
        <p:spPr>
          <a:xfrm>
            <a:off x="1065402" y="2023087"/>
            <a:ext cx="5030598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È alimentato tra +E ≈ 9 V e AGND = 0 V, quindi non ha alimentazione duale ±.</a:t>
            </a:r>
          </a:p>
          <a:p>
            <a:br>
              <a:rPr lang="it-IT" dirty="0"/>
            </a:br>
            <a:r>
              <a:rPr lang="it-IT" dirty="0"/>
              <a:t>Per far lavorare il segnale audio con alimentazione singola viene creata V_REF ≈ E/2 ≈ 4,5 V, usata come massa virtuale.</a:t>
            </a:r>
          </a:p>
          <a:p>
            <a:br>
              <a:rPr lang="it-IT" dirty="0"/>
            </a:br>
            <a:r>
              <a:rPr lang="it-IT" dirty="0"/>
              <a:t>L’uscita dell’OPA1678 quindi oscilla attorno a V_REF, non attorno ad AGND: il segnale è una sinusoide “sollevata” in continua.</a:t>
            </a:r>
          </a:p>
          <a:p>
            <a:br>
              <a:rPr lang="it-IT" dirty="0"/>
            </a:br>
            <a:r>
              <a:rPr lang="it-IT" dirty="0"/>
              <a:t>Idealmente può muoversi tra quasi 0 V e 9 V, ma nella pratica resta entro i limiti reali dell’operazionale.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9530CF0-C8A7-6AF4-0049-726053FF925B}"/>
              </a:ext>
            </a:extLst>
          </p:cNvPr>
          <p:cNvSpPr txBox="1"/>
          <p:nvPr/>
        </p:nvSpPr>
        <p:spPr>
          <a:xfrm>
            <a:off x="6096000" y="2023087"/>
            <a:ext cx="5030598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È alimentato tra +K ≈ 9 V e AGND = 0 V, quindi anche lui lavora con alimentazione singola.</a:t>
            </a:r>
          </a:p>
          <a:p>
            <a:br>
              <a:rPr lang="it-IT" dirty="0"/>
            </a:br>
            <a:r>
              <a:rPr lang="it-IT" dirty="0"/>
              <a:t>A differenza dell’OPA1678, il riferimento interno è già gestito dal chip: l’uscita sul pin 5 si porta circa a +K/2 ≈ 4,5 V in continua.</a:t>
            </a:r>
          </a:p>
          <a:p>
            <a:br>
              <a:rPr lang="it-IT" dirty="0"/>
            </a:br>
            <a:r>
              <a:rPr lang="it-IT" dirty="0"/>
              <a:t>Il segnale audio amplificato oscilla attorno a questa continua interna.</a:t>
            </a:r>
          </a:p>
          <a:p>
            <a:br>
              <a:rPr lang="it-IT" dirty="0"/>
            </a:br>
            <a:r>
              <a:rPr lang="it-IT" dirty="0"/>
              <a:t>Per questo si usa C12 in serie all’uscita: elimina la componente DC e manda al jack solo il segnale audio alternato centrato su 0 V.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1762486-486E-6283-B5B5-1C850BB4E112}"/>
              </a:ext>
            </a:extLst>
          </p:cNvPr>
          <p:cNvSpPr txBox="1"/>
          <p:nvPr/>
        </p:nvSpPr>
        <p:spPr>
          <a:xfrm>
            <a:off x="1065401" y="1746088"/>
            <a:ext cx="5030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dirty="0"/>
              <a:t>OPA1678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E6E2BC9-433C-9C6D-DBA1-EAD06E27E767}"/>
              </a:ext>
            </a:extLst>
          </p:cNvPr>
          <p:cNvSpPr txBox="1"/>
          <p:nvPr/>
        </p:nvSpPr>
        <p:spPr>
          <a:xfrm>
            <a:off x="6096000" y="1746087"/>
            <a:ext cx="5030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dirty="0"/>
              <a:t>LM386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591E789-742D-BDDD-CD3C-4F8F9E679F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90" t="3837" r="3953" b="7578"/>
          <a:stretch>
            <a:fillRect/>
          </a:stretch>
        </p:blipFill>
        <p:spPr>
          <a:xfrm>
            <a:off x="1065401" y="4370621"/>
            <a:ext cx="2025942" cy="16107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3C3BA4FA-9101-399F-2E3E-5E8B3CDA2C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46" r="21498"/>
          <a:stretch>
            <a:fillRect/>
          </a:stretch>
        </p:blipFill>
        <p:spPr>
          <a:xfrm>
            <a:off x="3397541" y="4370621"/>
            <a:ext cx="2504115" cy="16160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747A8C0A-1E5E-83A8-FFC0-C13FA79AF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350" y="4369834"/>
            <a:ext cx="1855364" cy="16115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CFEE0C6F-EF4F-6ED5-F8F8-C1A42A29F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738" y="4369834"/>
            <a:ext cx="2902231" cy="16115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0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705A2E3-ABDF-05D2-B931-C789F2295BF4}"/>
              </a:ext>
            </a:extLst>
          </p:cNvPr>
          <p:cNvSpPr txBox="1"/>
          <p:nvPr/>
        </p:nvSpPr>
        <p:spPr>
          <a:xfrm>
            <a:off x="1065402" y="1712141"/>
            <a:ext cx="5030598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0" dirty="0"/>
              <a:t>Una </a:t>
            </a:r>
            <a:r>
              <a:rPr lang="it-IT" dirty="0"/>
              <a:t>ferrite </a:t>
            </a:r>
            <a:r>
              <a:rPr lang="it-IT" dirty="0" err="1"/>
              <a:t>bead</a:t>
            </a:r>
            <a:r>
              <a:rPr lang="it-IT" dirty="0"/>
              <a:t> </a:t>
            </a:r>
            <a:r>
              <a:rPr lang="it-IT" b="0" dirty="0"/>
              <a:t>è un </a:t>
            </a:r>
            <a:r>
              <a:rPr lang="it-IT" b="0" i="1" dirty="0"/>
              <a:t>componente passivo a due terminali usato come filtro sull’alimentazione.</a:t>
            </a:r>
            <a:br>
              <a:rPr lang="it-IT" b="0" dirty="0"/>
            </a:br>
            <a:r>
              <a:rPr lang="it-IT" b="0" i="1" u="sng" dirty="0"/>
              <a:t>In corrente continua si comporta quasi come un collegamento normale, quindi lascia passare i 9 V con caduta molto bassa</a:t>
            </a:r>
            <a:r>
              <a:rPr lang="it-IT" b="0" dirty="0"/>
              <a:t>; alle alte frequenze invece aumenta la sua impedenza e ostacola rumore, </a:t>
            </a:r>
            <a:r>
              <a:rPr lang="it-IT" b="0" dirty="0" err="1"/>
              <a:t>ripple</a:t>
            </a:r>
            <a:r>
              <a:rPr lang="it-IT" b="0" dirty="0"/>
              <a:t> e disturbi veloci.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63F27B5-55D6-F332-713E-80C2FF0D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90" t="3837" r="3953" b="7578"/>
          <a:stretch>
            <a:fillRect/>
          </a:stretch>
        </p:blipFill>
        <p:spPr>
          <a:xfrm>
            <a:off x="6442191" y="1133334"/>
            <a:ext cx="2237761" cy="17791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6D101655-0BA5-3141-A0B4-F5059BB3A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990" y="1133334"/>
            <a:ext cx="2025942" cy="17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1D622AA-B08E-1977-A2D9-53A23E31C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553" y="3555797"/>
            <a:ext cx="2206297" cy="23057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990F1A7-F106-EBDC-26B2-0DFA7B8AE60B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USO DELLA FERRITE BEAD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0D4FA0CE-BE62-8A9E-80AE-AD32C78E3D11}"/>
              </a:ext>
            </a:extLst>
          </p:cNvPr>
          <p:cNvSpPr/>
          <p:nvPr/>
        </p:nvSpPr>
        <p:spPr>
          <a:xfrm>
            <a:off x="7281644" y="1363211"/>
            <a:ext cx="549486" cy="4770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933E1B7E-89F6-31DA-F16D-CDC584A8A917}"/>
              </a:ext>
            </a:extLst>
          </p:cNvPr>
          <p:cNvSpPr/>
          <p:nvPr/>
        </p:nvSpPr>
        <p:spPr>
          <a:xfrm>
            <a:off x="9823508" y="1363211"/>
            <a:ext cx="549486" cy="4770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AAB0739-ACCE-7FA7-75B5-6CBD6DD750E9}"/>
              </a:ext>
            </a:extLst>
          </p:cNvPr>
          <p:cNvSpPr txBox="1"/>
          <p:nvPr/>
        </p:nvSpPr>
        <p:spPr>
          <a:xfrm>
            <a:off x="1065402" y="3555797"/>
            <a:ext cx="645952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Nel progetto sono state usate due ferrite </a:t>
            </a:r>
            <a:r>
              <a:rPr lang="it-IT" dirty="0" err="1"/>
              <a:t>bead</a:t>
            </a:r>
            <a:r>
              <a:rPr lang="it-IT" dirty="0"/>
              <a:t> separate, una per ciascun ramo di alimentazione: </a:t>
            </a:r>
            <a:r>
              <a:rPr lang="it-IT" b="1" u="sng" dirty="0"/>
              <a:t>FB1 genera il ramo +E per l’OPA1678, mentre FB2 genera il ramo +K per il LM386.</a:t>
            </a:r>
            <a:br>
              <a:rPr lang="it-IT" b="1" u="sng" dirty="0"/>
            </a:br>
            <a:r>
              <a:rPr lang="it-IT" dirty="0"/>
              <a:t>Questa scelta </a:t>
            </a:r>
            <a:r>
              <a:rPr lang="it-IT" i="1" dirty="0"/>
              <a:t>permette di partire dalla stessa sorgente a 9 V, </a:t>
            </a:r>
            <a:r>
              <a:rPr lang="it-IT" i="1" u="sng" dirty="0"/>
              <a:t>ma ottenere due alimentazioni filtrate e più indipendenti.</a:t>
            </a:r>
          </a:p>
          <a:p>
            <a:br>
              <a:rPr lang="it-IT" dirty="0"/>
            </a:br>
            <a:r>
              <a:rPr lang="it-IT" b="1" i="1" dirty="0"/>
              <a:t>La separazione è importante perché il LM386, essendo lo stadio di potenza, può assorbire correnti più impulsive e generare disturbi; la ferrite evita che questi si trasferiscano facilmente al ramo dell’OPA1678.</a:t>
            </a:r>
          </a:p>
          <a:p>
            <a:br>
              <a:rPr lang="it-IT" dirty="0"/>
            </a:br>
            <a:r>
              <a:rPr lang="it-IT" i="1" dirty="0"/>
              <a:t>Dopo ogni ferrite sono stati inseriti condensatori di bypass scelti in base al carico: 10 µF + 100 </a:t>
            </a:r>
            <a:r>
              <a:rPr lang="it-IT" i="1" dirty="0" err="1"/>
              <a:t>nF</a:t>
            </a:r>
            <a:r>
              <a:rPr lang="it-IT" i="1" dirty="0"/>
              <a:t> per il preamplificatore e 100 µF + 100 </a:t>
            </a:r>
            <a:r>
              <a:rPr lang="it-IT" i="1" dirty="0" err="1"/>
              <a:t>nF</a:t>
            </a:r>
            <a:r>
              <a:rPr lang="it-IT" i="1" dirty="0"/>
              <a:t> per il finale di potenza.</a:t>
            </a:r>
          </a:p>
        </p:txBody>
      </p:sp>
    </p:spTree>
    <p:extLst>
      <p:ext uri="{BB962C8B-B14F-4D97-AF65-F5344CB8AC3E}">
        <p14:creationId xmlns:p14="http://schemas.microsoft.com/office/powerpoint/2010/main" val="3536239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43D365B-81DB-C0E2-4A0C-EBDEB67AE4BC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ANALISI COMPONENTI D’INTERFACCIA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3583394-86ED-D72A-06ED-EDE8F2ADE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526" y="3706651"/>
            <a:ext cx="4106411" cy="24305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7D83035-0E33-D546-3EDE-5D4047EC5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02" y="1428417"/>
            <a:ext cx="4902452" cy="21210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75F4E23-A8F7-E8B8-D3E5-78E4D89F299F}"/>
              </a:ext>
            </a:extLst>
          </p:cNvPr>
          <p:cNvSpPr txBox="1"/>
          <p:nvPr/>
        </p:nvSpPr>
        <p:spPr>
          <a:xfrm>
            <a:off x="1065401" y="3706651"/>
            <a:ext cx="503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J1 — Jack di ingresso audio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34822CC-DEF5-5A8F-DD31-50BC4EFC9D56}"/>
              </a:ext>
            </a:extLst>
          </p:cNvPr>
          <p:cNvSpPr txBox="1"/>
          <p:nvPr/>
        </p:nvSpPr>
        <p:spPr>
          <a:xfrm>
            <a:off x="6096000" y="1429256"/>
            <a:ext cx="503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it-IT" dirty="0"/>
              <a:t>J2 — Jack di uscita audio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5A26EAD-8A1D-6115-813E-BB2F33466E13}"/>
              </a:ext>
            </a:extLst>
          </p:cNvPr>
          <p:cNvSpPr txBox="1"/>
          <p:nvPr/>
        </p:nvSpPr>
        <p:spPr>
          <a:xfrm>
            <a:off x="1076586" y="4233208"/>
            <a:ext cx="5030599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È un jack audio TRS da 1/4”, usato come ingresso del segnale proveniente da una sorgente esterna.</a:t>
            </a:r>
            <a:br>
              <a:rPr lang="it-IT" b="1" dirty="0"/>
            </a:br>
            <a:r>
              <a:rPr lang="it-IT" dirty="0"/>
              <a:t>Nel progetto </a:t>
            </a:r>
            <a:r>
              <a:rPr lang="it-IT" i="1" u="sng" dirty="0"/>
              <a:t>porta il segnale al nodo IN</a:t>
            </a:r>
            <a:r>
              <a:rPr lang="it-IT" dirty="0"/>
              <a:t>, </a:t>
            </a:r>
            <a:r>
              <a:rPr lang="it-IT" i="1" dirty="0"/>
              <a:t>che poi entra nello stadio OPA1678 tramite il condensatore di accoppiamento.</a:t>
            </a:r>
            <a:br>
              <a:rPr lang="it-IT" i="1" dirty="0"/>
            </a:br>
            <a:r>
              <a:rPr lang="it-IT" u="sng" dirty="0"/>
              <a:t>La massa del jack è collegata ad AGND, così il segnale ha un riferimento comune con il circuito.</a:t>
            </a:r>
            <a:br>
              <a:rPr lang="it-IT" dirty="0"/>
            </a:br>
            <a:r>
              <a:rPr lang="it-IT" dirty="0"/>
              <a:t>È stato scelto perché adatto a collegamenti audio pratici come microfono standard.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AE54AE0-E8F0-47A0-BBBE-59410EE5D5D7}"/>
              </a:ext>
            </a:extLst>
          </p:cNvPr>
          <p:cNvSpPr txBox="1"/>
          <p:nvPr/>
        </p:nvSpPr>
        <p:spPr>
          <a:xfrm>
            <a:off x="6107185" y="1956770"/>
            <a:ext cx="504178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dirty="0"/>
              <a:t>È un jack audio TRS da 1/4” usato come uscita del segnale amplificato.</a:t>
            </a:r>
            <a:br>
              <a:rPr lang="it-IT" b="1" dirty="0"/>
            </a:br>
            <a:r>
              <a:rPr lang="it-IT" i="1" u="sng" dirty="0"/>
              <a:t>Riceve il segnale dal LM386 dopo C12</a:t>
            </a:r>
            <a:r>
              <a:rPr lang="it-IT" dirty="0"/>
              <a:t>, che blocca la componente continua </a:t>
            </a:r>
            <a:r>
              <a:rPr lang="it-IT" b="1" dirty="0"/>
              <a:t>e </a:t>
            </a:r>
            <a:r>
              <a:rPr lang="it-IT" b="1" i="1" dirty="0"/>
              <a:t>lascia passare solo l’audio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Il terminale di massa/sleeve è collegato ad AGND, mentre il terminale di segnale va al carico audio.</a:t>
            </a:r>
            <a:br>
              <a:rPr lang="it-IT" dirty="0"/>
            </a:br>
            <a:r>
              <a:rPr lang="it-IT" u="sng" dirty="0"/>
              <a:t>È il punto di collegamento finale verso cuffie, speaker amplificato o altro dispositivo audio esterno.</a:t>
            </a:r>
          </a:p>
        </p:txBody>
      </p:sp>
    </p:spTree>
    <p:extLst>
      <p:ext uri="{BB962C8B-B14F-4D97-AF65-F5344CB8AC3E}">
        <p14:creationId xmlns:p14="http://schemas.microsoft.com/office/powerpoint/2010/main" val="3050999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2E162C53-6191-B4F8-DA32-064EB3BC6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264" y="750815"/>
            <a:ext cx="2506450" cy="26194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9442846-9625-FD6A-1A77-6C21BE6BE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548" y="3465788"/>
            <a:ext cx="2457569" cy="15348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CB4843-8B0E-80C7-CEB5-161CF016545C}"/>
              </a:ext>
            </a:extLst>
          </p:cNvPr>
          <p:cNvSpPr txBox="1"/>
          <p:nvPr/>
        </p:nvSpPr>
        <p:spPr>
          <a:xfrm>
            <a:off x="1065401" y="3706651"/>
            <a:ext cx="503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it-IT" dirty="0"/>
              <a:t>R6 — Potenziometro volume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EAE3F7-DC16-874B-57D1-11E43C68CA40}"/>
              </a:ext>
            </a:extLst>
          </p:cNvPr>
          <p:cNvSpPr txBox="1"/>
          <p:nvPr/>
        </p:nvSpPr>
        <p:spPr>
          <a:xfrm>
            <a:off x="6095999" y="870465"/>
            <a:ext cx="503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it-IT" dirty="0"/>
              <a:t>J3 — Jack di alimentazione DC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73F6A72-DC44-06EA-E5F3-3DE9A67B7BBA}"/>
              </a:ext>
            </a:extLst>
          </p:cNvPr>
          <p:cNvSpPr txBox="1"/>
          <p:nvPr/>
        </p:nvSpPr>
        <p:spPr>
          <a:xfrm>
            <a:off x="1076586" y="4233208"/>
            <a:ext cx="5030599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0" i="1" dirty="0"/>
              <a:t>R6 è un potenziometro da 10 </a:t>
            </a:r>
            <a:r>
              <a:rPr lang="it-IT" b="0" i="1" dirty="0" err="1"/>
              <a:t>kΩ</a:t>
            </a:r>
            <a:r>
              <a:rPr lang="it-IT" b="0" i="1" dirty="0"/>
              <a:t> inserito tra l’uscita dell’OPA1678 e l’ingresso del LM386, dopo il condensatore di accoppiamento C10.</a:t>
            </a:r>
            <a:br>
              <a:rPr lang="it-IT" b="0" dirty="0"/>
            </a:br>
            <a:r>
              <a:rPr lang="it-IT" dirty="0"/>
              <a:t>Funziona come un partitore variabile: spostando il cursore si decide quanta parte del segnale preamplificato arriva al finale di potenza.</a:t>
            </a:r>
            <a:br>
              <a:rPr lang="it-IT" dirty="0"/>
            </a:br>
            <a:r>
              <a:rPr lang="it-IT" b="0" dirty="0"/>
              <a:t>Poiché non è presente una resistenza fissa in serie che limiti il minimo, il controllo </a:t>
            </a:r>
            <a:r>
              <a:rPr lang="it-IT" u="sng" dirty="0"/>
              <a:t>può portare il segnale praticamente da 0 fino al massimo livello disponibile in uscita dall’OPA1678.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2C355A6-4C2C-EAD0-CA14-8C9E8427CFBD}"/>
              </a:ext>
            </a:extLst>
          </p:cNvPr>
          <p:cNvSpPr txBox="1"/>
          <p:nvPr/>
        </p:nvSpPr>
        <p:spPr>
          <a:xfrm>
            <a:off x="6107185" y="1461675"/>
            <a:ext cx="504178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 i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1" i="0" dirty="0"/>
              <a:t>È un connettore di alimentazione DC usato per portare nel circuito la sorgente esterna a 9 V.</a:t>
            </a:r>
            <a:br>
              <a:rPr lang="it-IT" b="1" i="0" dirty="0"/>
            </a:br>
            <a:r>
              <a:rPr lang="it-IT" dirty="0"/>
              <a:t>Il pin positivo alimenta il nodo principale </a:t>
            </a:r>
            <a:r>
              <a:rPr lang="it-IT" b="1" i="0" dirty="0"/>
              <a:t>da cui vengono poi generati i rami filtrati +E </a:t>
            </a:r>
            <a:r>
              <a:rPr lang="it-IT" b="1" i="0" dirty="0" err="1"/>
              <a:t>e</a:t>
            </a:r>
            <a:r>
              <a:rPr lang="it-IT" b="1" i="0" dirty="0"/>
              <a:t> +K.</a:t>
            </a:r>
            <a:br>
              <a:rPr lang="it-IT" i="0" dirty="0"/>
            </a:br>
            <a:r>
              <a:rPr lang="it-IT" dirty="0"/>
              <a:t>Il riferimento negativo è collegato ad AGND, cioè la massa comune del circuito.</a:t>
            </a:r>
            <a:br>
              <a:rPr lang="it-IT" dirty="0"/>
            </a:br>
            <a:r>
              <a:rPr lang="it-IT" i="0" dirty="0"/>
              <a:t>È un componente di interfaccia perché collega fisicamente il PCB all’alimentatore esterno.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6D1CBDD-E6E3-6BDA-D954-C985DFB43E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654"/>
          <a:stretch>
            <a:fillRect/>
          </a:stretch>
        </p:blipFill>
        <p:spPr>
          <a:xfrm>
            <a:off x="8767481" y="4487983"/>
            <a:ext cx="2684437" cy="16205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6731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E01BEAC4-E69F-5DB1-0E5F-44115D55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069"/>
            <a:ext cx="12192000" cy="6357862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E882479-D0E7-214F-954E-4E29502B423D}"/>
              </a:ext>
            </a:extLst>
          </p:cNvPr>
          <p:cNvSpPr/>
          <p:nvPr/>
        </p:nvSpPr>
        <p:spPr>
          <a:xfrm>
            <a:off x="243281" y="1442907"/>
            <a:ext cx="5796791" cy="444197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FEC11F0-5F85-3747-D8B1-080A8A99D10A}"/>
              </a:ext>
            </a:extLst>
          </p:cNvPr>
          <p:cNvSpPr/>
          <p:nvPr/>
        </p:nvSpPr>
        <p:spPr>
          <a:xfrm>
            <a:off x="6191076" y="1338045"/>
            <a:ext cx="5675152" cy="514245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39ED89-07D7-03EC-A2DA-6157CA2607FD}"/>
              </a:ext>
            </a:extLst>
          </p:cNvPr>
          <p:cNvSpPr txBox="1"/>
          <p:nvPr/>
        </p:nvSpPr>
        <p:spPr>
          <a:xfrm>
            <a:off x="1342239" y="1141118"/>
            <a:ext cx="175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OPA1678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FA1B275-1E50-8F17-BA01-C331BEE7DA0E}"/>
              </a:ext>
            </a:extLst>
          </p:cNvPr>
          <p:cNvSpPr txBox="1"/>
          <p:nvPr/>
        </p:nvSpPr>
        <p:spPr>
          <a:xfrm>
            <a:off x="8464491" y="873948"/>
            <a:ext cx="191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LM386</a:t>
            </a:r>
          </a:p>
        </p:txBody>
      </p:sp>
    </p:spTree>
    <p:extLst>
      <p:ext uri="{BB962C8B-B14F-4D97-AF65-F5344CB8AC3E}">
        <p14:creationId xmlns:p14="http://schemas.microsoft.com/office/powerpoint/2010/main" val="3523440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E3CED3-8830-45C9-8D6C-F4ECADD4F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2D62A-C66C-42DF-8C05-99B0B1A8B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611" y="350556"/>
            <a:ext cx="11542779" cy="6156888"/>
          </a:xfrm>
          <a:prstGeom prst="rect">
            <a:avLst/>
          </a:prstGeom>
          <a:noFill/>
          <a:ln w="25400" cap="flat">
            <a:solidFill>
              <a:srgbClr val="DB6460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39B66C5-328C-C1F0-C6C2-CC6940156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608" y="641205"/>
            <a:ext cx="8278783" cy="557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92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3A4D19-A6C4-24D1-842C-05D63908A7C3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ANALISI PCB 2D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06B9ACC-CEE2-D3BF-F94F-736B7C0E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02" y="1694552"/>
            <a:ext cx="4957893" cy="3468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DA196B-E605-F01E-9103-A7C1B83D5B55}"/>
              </a:ext>
            </a:extLst>
          </p:cNvPr>
          <p:cNvSpPr txBox="1"/>
          <p:nvPr/>
        </p:nvSpPr>
        <p:spPr>
          <a:xfrm>
            <a:off x="6132513" y="1207991"/>
            <a:ext cx="5016456" cy="489364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indent="-228600">
              <a:buFont typeface="+mj-lt"/>
              <a:buAutoNum type="arabicPeriod"/>
            </a:pPr>
            <a:r>
              <a:rPr lang="it-IT" dirty="0"/>
              <a:t>Partire dai componenti meccanici</a:t>
            </a:r>
            <a:br>
              <a:rPr lang="it-IT" b="0" dirty="0"/>
            </a:br>
            <a:r>
              <a:rPr lang="it-IT" b="0" dirty="0"/>
              <a:t>Posizionare prima jack, potenziometro e connettore di alimentazione perché definiscono forma, ingombri e accesso esterno. 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Separare gli stadi del circuito</a:t>
            </a:r>
            <a:br>
              <a:rPr lang="it-IT" b="0" dirty="0"/>
            </a:br>
            <a:r>
              <a:rPr lang="it-IT" b="0" dirty="0"/>
              <a:t>Tenere separati lo stadio di piccolo segnale con OPA1678 e lo stadio di potenza con LM386 per ridurre disturbi e accoppiamenti indesiderati. 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Condensatori vicini agli integrati</a:t>
            </a:r>
            <a:br>
              <a:rPr lang="it-IT" b="0" dirty="0"/>
            </a:br>
            <a:r>
              <a:rPr lang="it-IT" b="0" dirty="0"/>
              <a:t>I condensatori di bypass e alimentazione vanno messi il più vicino possibile ai pin di alimentazione degli op-</a:t>
            </a:r>
            <a:r>
              <a:rPr lang="it-IT" b="0" dirty="0" err="1"/>
              <a:t>amp</a:t>
            </a:r>
            <a:r>
              <a:rPr lang="it-IT" b="0" dirty="0"/>
              <a:t> e dell’LM386. 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Percorsi del segnale corti</a:t>
            </a:r>
            <a:br>
              <a:rPr lang="it-IT" b="0" dirty="0"/>
            </a:br>
            <a:r>
              <a:rPr lang="it-IT" b="0" dirty="0"/>
              <a:t>Le piste audio, soprattutto in ingresso, devono essere corte e lontane da piste di potenza o alimentazione rumorose. 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Piste di alimentazione più larghe</a:t>
            </a:r>
            <a:br>
              <a:rPr lang="it-IT" b="0" dirty="0"/>
            </a:br>
            <a:r>
              <a:rPr lang="it-IT" b="0" dirty="0"/>
              <a:t>Le alimentazioni devono usare piste più larghe rispetto ai segnali, perché portano più corrente e devono avere minore caduta di tensione.</a:t>
            </a:r>
          </a:p>
          <a:p>
            <a:pPr marL="228600" indent="-228600">
              <a:buFont typeface="+mj-lt"/>
              <a:buAutoNum type="arabicPeriod"/>
            </a:pPr>
            <a:endParaRPr lang="it-IT" b="0" dirty="0"/>
          </a:p>
          <a:p>
            <a:pPr marL="228600" indent="-228600">
              <a:buFont typeface="+mj-lt"/>
              <a:buAutoNum type="arabicPeriod"/>
            </a:pPr>
            <a:r>
              <a:rPr lang="it-IT" dirty="0"/>
              <a:t>Gestire bene la massa</a:t>
            </a:r>
            <a:br>
              <a:rPr lang="it-IT" b="0" dirty="0"/>
            </a:br>
            <a:r>
              <a:rPr lang="it-IT" b="0" dirty="0"/>
              <a:t>Il piano di massa su top e bottom aiuta a ridurre rumore, impedenza di ritorno e disturbi sul segnale audio.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6F17D8D-1E5C-D5A3-669B-C6F3EFADB7C0}"/>
              </a:ext>
            </a:extLst>
          </p:cNvPr>
          <p:cNvSpPr txBox="1">
            <a:spLocks/>
          </p:cNvSpPr>
          <p:nvPr/>
        </p:nvSpPr>
        <p:spPr>
          <a:xfrm>
            <a:off x="6132513" y="794020"/>
            <a:ext cx="4994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400" dirty="0"/>
              <a:t>Punti da seguire per la progettazione pcb</a:t>
            </a:r>
          </a:p>
        </p:txBody>
      </p:sp>
    </p:spTree>
    <p:extLst>
      <p:ext uri="{BB962C8B-B14F-4D97-AF65-F5344CB8AC3E}">
        <p14:creationId xmlns:p14="http://schemas.microsoft.com/office/powerpoint/2010/main" val="850973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B118F-2E52-726A-DE2C-EC0D2E78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20C158C-37B6-D7C8-CD13-61D70FBDFE07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ANALISI PCB 2D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A403CBB-A22D-2CB6-7BE3-1DF77666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02" y="1694552"/>
            <a:ext cx="4957893" cy="3468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0DCE9BD-EBCB-D584-C39A-D6224E4858D3}"/>
              </a:ext>
            </a:extLst>
          </p:cNvPr>
          <p:cNvSpPr txBox="1"/>
          <p:nvPr/>
        </p:nvSpPr>
        <p:spPr>
          <a:xfrm>
            <a:off x="6132513" y="1271074"/>
            <a:ext cx="5016456" cy="45243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indent="-228600">
              <a:buFont typeface="+mj-lt"/>
              <a:buAutoNum type="arabicPeriod" startAt="7"/>
            </a:pPr>
            <a:r>
              <a:rPr lang="it-IT" dirty="0"/>
              <a:t>Evitare incroci inutili</a:t>
            </a:r>
            <a:br>
              <a:rPr lang="it-IT" b="0" dirty="0"/>
            </a:br>
            <a:r>
              <a:rPr lang="it-IT" b="0" dirty="0"/>
              <a:t>Prima di sbrogliare, ruotare e spostare i componenti per ridurre </a:t>
            </a:r>
            <a:r>
              <a:rPr lang="it-IT" b="0" dirty="0" err="1"/>
              <a:t>airwire</a:t>
            </a:r>
            <a:r>
              <a:rPr lang="it-IT" b="0" dirty="0"/>
              <a:t>, piste lunghe e necessità di via.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Usare via solo quando servono</a:t>
            </a:r>
            <a:br>
              <a:rPr lang="it-IT" b="0" dirty="0"/>
            </a:br>
            <a:r>
              <a:rPr lang="it-IT" b="0" dirty="0"/>
              <a:t>I via sono utili per passare da top a bottom, ma troppi via aumentano complessità e possono peggiorare il percorso del segnale.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Tenere puliti ingresso e uscita</a:t>
            </a:r>
            <a:br>
              <a:rPr lang="it-IT" b="0" dirty="0"/>
            </a:br>
            <a:r>
              <a:rPr lang="it-IT" b="0" dirty="0"/>
              <a:t>L’ingresso audio deve stare lontano dall’uscita amplificata dell’LM386, perché l’uscita può reintrodurre rumore o oscillazioni.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Evitare angoli a 90°</a:t>
            </a:r>
            <a:br>
              <a:rPr lang="it-IT" b="0" dirty="0"/>
            </a:br>
            <a:r>
              <a:rPr lang="it-IT" b="0" dirty="0"/>
              <a:t>Meglio usare curve morbide o angoli a 45°, perché migliorano la realizzazione e riducono problemi di produzione.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Controllare distanze e fori</a:t>
            </a:r>
            <a:br>
              <a:rPr lang="it-IT" b="0" dirty="0"/>
            </a:br>
            <a:r>
              <a:rPr lang="it-IT" b="0" dirty="0"/>
              <a:t>Le distanze tra piste, piazzole, fori e bordo scheda devono rispettare le regole DRC del produttore PCB. </a:t>
            </a:r>
          </a:p>
          <a:p>
            <a:pPr marL="228600" indent="-228600">
              <a:buFont typeface="+mj-lt"/>
              <a:buAutoNum type="arabicPeriod" startAt="7"/>
            </a:pPr>
            <a:endParaRPr lang="it-IT" b="0" dirty="0"/>
          </a:p>
          <a:p>
            <a:pPr marL="228600" indent="-228600">
              <a:buFont typeface="+mj-lt"/>
              <a:buAutoNum type="arabicPeriod" startAt="7"/>
            </a:pPr>
            <a:r>
              <a:rPr lang="it-IT" dirty="0"/>
              <a:t>Fare sempre ERC e DRC finali</a:t>
            </a:r>
            <a:br>
              <a:rPr lang="it-IT" b="0" dirty="0"/>
            </a:br>
            <a:r>
              <a:rPr lang="it-IT" b="0" dirty="0"/>
              <a:t>Prima della produzione bisogna controllare errori elettrici nello schematico e violazioni fisiche nel PCB.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0F83B81-F236-0522-5650-F4022FCE7A94}"/>
              </a:ext>
            </a:extLst>
          </p:cNvPr>
          <p:cNvSpPr txBox="1">
            <a:spLocks/>
          </p:cNvSpPr>
          <p:nvPr/>
        </p:nvSpPr>
        <p:spPr>
          <a:xfrm>
            <a:off x="6132513" y="794020"/>
            <a:ext cx="4994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400" dirty="0"/>
              <a:t>Punti da seguire per la progettazione pcb</a:t>
            </a:r>
          </a:p>
        </p:txBody>
      </p:sp>
    </p:spTree>
    <p:extLst>
      <p:ext uri="{BB962C8B-B14F-4D97-AF65-F5344CB8AC3E}">
        <p14:creationId xmlns:p14="http://schemas.microsoft.com/office/powerpoint/2010/main" val="1840113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4CEA3A3-7215-1783-FB2C-925AE37BE3AE}"/>
              </a:ext>
            </a:extLst>
          </p:cNvPr>
          <p:cNvSpPr txBox="1"/>
          <p:nvPr/>
        </p:nvSpPr>
        <p:spPr>
          <a:xfrm>
            <a:off x="1065402" y="1695943"/>
            <a:ext cx="5030598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0" dirty="0"/>
              <a:t>Nel </a:t>
            </a:r>
            <a:r>
              <a:rPr lang="it-IT" b="0" dirty="0" err="1"/>
              <a:t>routing</a:t>
            </a:r>
            <a:r>
              <a:rPr lang="it-IT" b="0" dirty="0"/>
              <a:t> del PCB le piste sono state organizzate in base al tipo di segnale trasportato.</a:t>
            </a:r>
          </a:p>
          <a:p>
            <a:br>
              <a:rPr lang="it-IT" b="0" dirty="0"/>
            </a:br>
            <a:r>
              <a:rPr lang="it-IT" b="0" dirty="0"/>
              <a:t>Le piste audio a basso livello, soprattutto nella zona di ingresso e attorno all’OPA1678, sono state mantenute lontane dall’uscita del LM386, dove il segnale è già amplificato e circolano correnti maggiori.</a:t>
            </a:r>
            <a:br>
              <a:rPr lang="it-IT" b="0" dirty="0"/>
            </a:br>
            <a:r>
              <a:rPr lang="it-IT" b="0" dirty="0"/>
              <a:t>Per questo sono state usate larghezze diverse: </a:t>
            </a:r>
            <a:r>
              <a:rPr lang="it-IT" dirty="0"/>
              <a:t>circa 12 mil per i segnali audio, 24 mil per alimentazioni e collegamenti ai condensatori di bypass, e 32 mil per il tratto finale verso C12 e il jack di uscita.</a:t>
            </a:r>
          </a:p>
          <a:p>
            <a:br>
              <a:rPr lang="it-IT" b="0" dirty="0"/>
            </a:br>
            <a:r>
              <a:rPr lang="it-IT" b="0" dirty="0"/>
              <a:t>Questa scelta riduce cadute di tensione, disturbi accoppiati e possibili rientri di segnale tra uscita e ingresso.</a:t>
            </a:r>
          </a:p>
          <a:p>
            <a:endParaRPr lang="it-IT" b="0" dirty="0"/>
          </a:p>
          <a:p>
            <a:r>
              <a:rPr lang="it-IT" dirty="0">
                <a:solidFill>
                  <a:srgbClr val="057BAE"/>
                </a:solidFill>
              </a:rPr>
              <a:t>In quel punto è stato usato il bottom </a:t>
            </a:r>
            <a:r>
              <a:rPr lang="it-IT" dirty="0" err="1">
                <a:solidFill>
                  <a:srgbClr val="057BAE"/>
                </a:solidFill>
              </a:rPr>
              <a:t>layer</a:t>
            </a:r>
            <a:r>
              <a:rPr lang="it-IT" dirty="0">
                <a:solidFill>
                  <a:srgbClr val="057BAE"/>
                </a:solidFill>
              </a:rPr>
              <a:t> </a:t>
            </a:r>
            <a:r>
              <a:rPr lang="it-IT" dirty="0"/>
              <a:t>per evitare che la pista dell’ingresso/controllo volume intralciasse il percorso dell’uscita verso il jack.</a:t>
            </a:r>
            <a:br>
              <a:rPr lang="it-IT" dirty="0"/>
            </a:br>
            <a:r>
              <a:rPr lang="it-IT" b="0" dirty="0"/>
              <a:t>La pista di uscita del LM386, più larga e critica, è stata mantenuta più diretta e pulita sul top </a:t>
            </a:r>
            <a:r>
              <a:rPr lang="it-IT" b="0" dirty="0" err="1"/>
              <a:t>layer</a:t>
            </a:r>
            <a:r>
              <a:rPr lang="it-IT" b="0" dirty="0"/>
              <a:t>.</a:t>
            </a:r>
            <a:br>
              <a:rPr lang="it-IT" b="0" dirty="0"/>
            </a:br>
            <a:r>
              <a:rPr lang="it-IT" b="0" i="1" u="sng" dirty="0"/>
              <a:t>Il passaggio sul bottom permette quindi di separare meglio i percorsi e ridurre incroci inutili tra segnale e uscita di potenza</a:t>
            </a:r>
            <a:r>
              <a:rPr lang="it-IT" b="0" dirty="0"/>
              <a:t>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5F19409-C1F1-0BFE-8685-D2AD7345A1F4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Separazione segnali e larghezza piste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A693FF7-0B94-6FC3-0C07-02388CAC4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54" t="17353" r="25689" b="14422"/>
          <a:stretch>
            <a:fillRect/>
          </a:stretch>
        </p:blipFill>
        <p:spPr>
          <a:xfrm>
            <a:off x="6838425" y="1758589"/>
            <a:ext cx="3529256" cy="322395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C0CBE4EE-0D14-69F6-B2DB-B37313471071}"/>
              </a:ext>
            </a:extLst>
          </p:cNvPr>
          <p:cNvCxnSpPr/>
          <p:nvPr/>
        </p:nvCxnSpPr>
        <p:spPr>
          <a:xfrm flipV="1">
            <a:off x="5800987" y="2877424"/>
            <a:ext cx="3108121" cy="1640048"/>
          </a:xfrm>
          <a:prstGeom prst="straightConnector1">
            <a:avLst/>
          </a:prstGeom>
          <a:ln w="38100">
            <a:solidFill>
              <a:srgbClr val="05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325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245FEC5-C507-F185-7327-6D7BD29F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99" t="30522" r="25242" b="16110"/>
          <a:stretch>
            <a:fillRect/>
          </a:stretch>
        </p:blipFill>
        <p:spPr>
          <a:xfrm>
            <a:off x="7131568" y="837416"/>
            <a:ext cx="3325761" cy="51831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38CA1259-6706-5BB1-6E87-0C07BF58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83" t="17345" r="50616" b="34877"/>
          <a:stretch>
            <a:fillRect/>
          </a:stretch>
        </p:blipFill>
        <p:spPr>
          <a:xfrm rot="16200000">
            <a:off x="2011287" y="421340"/>
            <a:ext cx="2675965" cy="32291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4F9FC44-0F7E-B8C8-7BE1-E42AC708674B}"/>
              </a:ext>
            </a:extLst>
          </p:cNvPr>
          <p:cNvSpPr txBox="1"/>
          <p:nvPr/>
        </p:nvSpPr>
        <p:spPr>
          <a:xfrm>
            <a:off x="817074" y="3482389"/>
            <a:ext cx="6229678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Nel PCB sono state usate tre larghezze di pista, scelte in base alla corrente e alla funzione del collegamento.</a:t>
            </a:r>
            <a:br>
              <a:rPr lang="it-IT" dirty="0"/>
            </a:br>
            <a:r>
              <a:rPr lang="it-IT" b="1" dirty="0">
                <a:solidFill>
                  <a:srgbClr val="00B0F0"/>
                </a:solidFill>
              </a:rPr>
              <a:t>Le piste da 12 mil </a:t>
            </a:r>
            <a:r>
              <a:rPr lang="it-IT" dirty="0"/>
              <a:t>sono state usate per i segnali audio a basso livello: </a:t>
            </a:r>
            <a:r>
              <a:rPr lang="it-IT" i="1" u="sng" dirty="0"/>
              <a:t>ingresso jack, zona OPA1678, uscita preamplificata e ingresso del LM386. </a:t>
            </a:r>
            <a:r>
              <a:rPr lang="it-IT" dirty="0"/>
              <a:t>Qui la corrente è piccola, quindi conta soprattutto tenere i percorsi corti e lontani da zone rumorose.</a:t>
            </a:r>
          </a:p>
          <a:p>
            <a:r>
              <a:rPr lang="it-IT" b="1" dirty="0">
                <a:solidFill>
                  <a:srgbClr val="00B050"/>
                </a:solidFill>
              </a:rPr>
              <a:t>Le piste da 24 mil </a:t>
            </a:r>
            <a:r>
              <a:rPr lang="it-IT" dirty="0"/>
              <a:t>sono state usate per le alimentazioni e i collegamenti ai condensatori di bypass. </a:t>
            </a:r>
            <a:r>
              <a:rPr lang="it-IT" i="1" dirty="0"/>
              <a:t>Dal jack di alimentazione la 9 V entra nella scheda e viene divisa nei due rami filtrati +E </a:t>
            </a:r>
            <a:r>
              <a:rPr lang="it-IT" i="1" dirty="0" err="1"/>
              <a:t>e</a:t>
            </a:r>
            <a:r>
              <a:rPr lang="it-IT" i="1" dirty="0"/>
              <a:t> +K, tramite le ferrite </a:t>
            </a:r>
            <a:r>
              <a:rPr lang="it-IT" i="1" dirty="0" err="1"/>
              <a:t>bead</a:t>
            </a:r>
            <a:r>
              <a:rPr lang="it-IT" i="1" dirty="0"/>
              <a:t> FB1 e FB2. Il ramo +E alimenta l’OPA1678, mentre il ramo +K alimenta il LM386, mantenendo separato il preamplificatore dallo stadio di potenza.</a:t>
            </a:r>
          </a:p>
          <a:p>
            <a:r>
              <a:rPr lang="it-IT" b="1" dirty="0">
                <a:solidFill>
                  <a:srgbClr val="FFFF00"/>
                </a:solidFill>
                <a:highlight>
                  <a:srgbClr val="000000"/>
                </a:highlight>
              </a:rPr>
              <a:t>La pista da 32 mil </a:t>
            </a:r>
            <a:r>
              <a:rPr lang="it-IT" dirty="0"/>
              <a:t>è stata usata sull’uscita del LM386 verso jack, perché il segnale può arrivare a circa 3 </a:t>
            </a:r>
            <a:r>
              <a:rPr lang="it-IT" dirty="0" err="1"/>
              <a:t>Vpeak</a:t>
            </a:r>
            <a:r>
              <a:rPr lang="it-IT" dirty="0"/>
              <a:t>. </a:t>
            </a:r>
            <a:r>
              <a:rPr lang="it-IT" b="1" i="1" dirty="0"/>
              <a:t>Con un carico da 10 Ω, la corrente di picco può essere circa 0,3 A. Quindi non è più un segnale debole, ma un tratto di uscita di potenza audio.</a:t>
            </a:r>
            <a:br>
              <a:rPr lang="it-IT" dirty="0"/>
            </a:br>
            <a:r>
              <a:rPr lang="it-IT" i="1" u="sng" dirty="0"/>
              <a:t>La larghezza maggiore riduce caduta di tensione, resistenza della pista e riscaldamento.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E354573-A6CC-E2E3-D0C8-356DED59D1C8}"/>
              </a:ext>
            </a:extLst>
          </p:cNvPr>
          <p:cNvSpPr/>
          <p:nvPr/>
        </p:nvSpPr>
        <p:spPr>
          <a:xfrm>
            <a:off x="1862356" y="633369"/>
            <a:ext cx="2118220" cy="66273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4C40591-3C29-020D-C26F-B90BEA6D54A8}"/>
              </a:ext>
            </a:extLst>
          </p:cNvPr>
          <p:cNvSpPr/>
          <p:nvPr/>
        </p:nvSpPr>
        <p:spPr>
          <a:xfrm>
            <a:off x="2042719" y="2252444"/>
            <a:ext cx="2118220" cy="66273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085FF1D-F327-0F14-16A8-5A9185398045}"/>
              </a:ext>
            </a:extLst>
          </p:cNvPr>
          <p:cNvSpPr/>
          <p:nvPr/>
        </p:nvSpPr>
        <p:spPr>
          <a:xfrm>
            <a:off x="7131568" y="4274191"/>
            <a:ext cx="2118220" cy="16022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08AF622-F44F-5956-4A3D-009D54AF0BDE}"/>
              </a:ext>
            </a:extLst>
          </p:cNvPr>
          <p:cNvSpPr/>
          <p:nvPr/>
        </p:nvSpPr>
        <p:spPr>
          <a:xfrm>
            <a:off x="7794299" y="1153487"/>
            <a:ext cx="2118220" cy="211821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6686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42E0EA4-71C9-0A77-9E04-AD5352AB3091}"/>
              </a:ext>
            </a:extLst>
          </p:cNvPr>
          <p:cNvSpPr txBox="1"/>
          <p:nvPr/>
        </p:nvSpPr>
        <p:spPr>
          <a:xfrm>
            <a:off x="747854" y="940414"/>
            <a:ext cx="5240569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b="0" dirty="0"/>
              <a:t>Prima di considerare concluso il PCB sono stati eseguiti i controlli ERC sullo schematico e DRC sul layout. </a:t>
            </a:r>
          </a:p>
          <a:p>
            <a:endParaRPr lang="it-IT" b="0" dirty="0"/>
          </a:p>
          <a:p>
            <a:r>
              <a:rPr lang="it-IT" dirty="0"/>
              <a:t>L’ERC ha permesso di verificare collegamenti</a:t>
            </a:r>
            <a:r>
              <a:rPr lang="it-IT" b="0" dirty="0"/>
              <a:t>, alimentazioni e net principali come AGND, +E </a:t>
            </a:r>
            <a:r>
              <a:rPr lang="it-IT" b="0" dirty="0" err="1"/>
              <a:t>e</a:t>
            </a:r>
            <a:r>
              <a:rPr lang="it-IT" b="0" dirty="0"/>
              <a:t> +K. </a:t>
            </a:r>
            <a:br>
              <a:rPr lang="it-IT" b="0" dirty="0"/>
            </a:br>
            <a:r>
              <a:rPr lang="it-IT" b="0" u="sng" dirty="0"/>
              <a:t>Nel DRC sono state mantenute le regole standard, tranne la distanza minima bordo-fori/</a:t>
            </a:r>
            <a:r>
              <a:rPr lang="it-IT" b="0" u="sng" dirty="0" err="1"/>
              <a:t>pad</a:t>
            </a:r>
            <a:r>
              <a:rPr lang="it-IT" b="0" u="sng" dirty="0"/>
              <a:t>, </a:t>
            </a:r>
            <a:r>
              <a:rPr lang="it-IT" b="0" i="1" u="sng" dirty="0"/>
              <a:t>ridotta da 40 mil a 10 mil per evitare errori dovuti ai componenti meccanici vicini al bordo. </a:t>
            </a:r>
          </a:p>
          <a:p>
            <a:endParaRPr lang="it-IT" b="0" dirty="0"/>
          </a:p>
          <a:p>
            <a:r>
              <a:rPr lang="it-IT" b="0" dirty="0"/>
              <a:t>Sono stati inoltre controllati footprint, ingombri dei jack, potenziometro, piani di massa e collegamenti top-bottom. Questo passaggio è servito a verificare che il circuito fosse non solo corretto elettricamente, ma anche producibile.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FDC47D5-98B0-AFFC-6B5C-1B2253AA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616" y="1036162"/>
            <a:ext cx="4581043" cy="24286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2ED558C-76FA-E022-C04D-1C816FA88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616" y="4087783"/>
            <a:ext cx="4581043" cy="14421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7B42C9D-FDE1-3EB2-68A7-BDD0E3A17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771" y="3625181"/>
            <a:ext cx="4242794" cy="247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42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C29D9D7-144C-BC0F-3818-4DB6729DD7F6}"/>
              </a:ext>
            </a:extLst>
          </p:cNvPr>
          <p:cNvSpPr txBox="1"/>
          <p:nvPr/>
        </p:nvSpPr>
        <p:spPr>
          <a:xfrm>
            <a:off x="984720" y="2116510"/>
            <a:ext cx="5030598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Per migliorare il riferimento elettrico del circuito è stata usata una massa comune AGND, distribuita tramite piano di massa.</a:t>
            </a:r>
          </a:p>
          <a:p>
            <a:br>
              <a:rPr lang="it-IT" b="0" dirty="0"/>
            </a:br>
            <a:r>
              <a:rPr lang="it-IT" i="1" dirty="0"/>
              <a:t>Il piano di massa è stato previsto sia sul </a:t>
            </a:r>
            <a:r>
              <a:rPr lang="it-IT" i="1" dirty="0" err="1"/>
              <a:t>layer</a:t>
            </a:r>
            <a:r>
              <a:rPr lang="it-IT" i="1" dirty="0"/>
              <a:t> top sia sul </a:t>
            </a:r>
            <a:r>
              <a:rPr lang="it-IT" i="1" dirty="0" err="1"/>
              <a:t>layer</a:t>
            </a:r>
            <a:r>
              <a:rPr lang="it-IT" i="1" dirty="0"/>
              <a:t> bottom</a:t>
            </a:r>
            <a:r>
              <a:rPr lang="it-IT" b="0" dirty="0"/>
              <a:t>, in modo da ridurre l’impedenza dei ritorni di corrente.</a:t>
            </a:r>
          </a:p>
          <a:p>
            <a:br>
              <a:rPr lang="it-IT" b="0" dirty="0"/>
            </a:br>
            <a:r>
              <a:rPr lang="it-IT" b="0" i="1" dirty="0"/>
              <a:t>Per collegare correttamente i due piani </a:t>
            </a:r>
            <a:r>
              <a:rPr lang="it-IT" i="1" dirty="0"/>
              <a:t>sono state inserite </a:t>
            </a:r>
            <a:r>
              <a:rPr lang="it-IT" i="1" dirty="0" err="1"/>
              <a:t>stitching</a:t>
            </a:r>
            <a:r>
              <a:rPr lang="it-IT" i="1" dirty="0"/>
              <a:t> </a:t>
            </a:r>
            <a:r>
              <a:rPr lang="it-IT" i="1" dirty="0" err="1"/>
              <a:t>vias</a:t>
            </a:r>
            <a:r>
              <a:rPr lang="it-IT" b="0" dirty="0"/>
              <a:t>, cioè </a:t>
            </a:r>
            <a:r>
              <a:rPr lang="it-IT" b="0" i="1" dirty="0"/>
              <a:t>via dedicate alla massa.</a:t>
            </a:r>
            <a:br>
              <a:rPr lang="it-IT" b="0" dirty="0"/>
            </a:br>
            <a:r>
              <a:rPr lang="it-IT" b="0" u="sng" dirty="0"/>
              <a:t>Queste via permettono di rendere la massa più continua e stabile tra i due lati della scheda.</a:t>
            </a:r>
          </a:p>
          <a:p>
            <a:br>
              <a:rPr lang="it-IT" b="0" dirty="0"/>
            </a:br>
            <a:r>
              <a:rPr lang="it-IT" b="0" dirty="0"/>
              <a:t>Questo è importante soprattutto in un circuito audio,</a:t>
            </a:r>
            <a:r>
              <a:rPr lang="it-IT" b="0" i="1" dirty="0"/>
              <a:t> dove ritorni di massa mal gestiti possono introdurre rumore o instabilità.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D7A2701-A91C-9118-A6F7-479AFE6CABEC}"/>
              </a:ext>
            </a:extLst>
          </p:cNvPr>
          <p:cNvSpPr txBox="1"/>
          <p:nvPr/>
        </p:nvSpPr>
        <p:spPr>
          <a:xfrm>
            <a:off x="1065402" y="794020"/>
            <a:ext cx="100835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MASSA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B7770C2-D78A-729A-2DB7-4C32435C65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03" t="32824" r="51551" b="32288"/>
          <a:stretch>
            <a:fillRect/>
          </a:stretch>
        </p:blipFill>
        <p:spPr>
          <a:xfrm>
            <a:off x="6675581" y="924344"/>
            <a:ext cx="4473388" cy="51396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6898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9EA27C-DE62-4CEC-A6D3-4FA9EF40A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62ACE64-383E-D3E3-965C-D86CFA7615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1786" b="1687"/>
          <a:stretch>
            <a:fillRect/>
          </a:stretch>
        </p:blipFill>
        <p:spPr>
          <a:xfrm>
            <a:off x="804334" y="1285717"/>
            <a:ext cx="4969932" cy="4286566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891F50E-061E-E24F-C110-2FAB8DF1D7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76" r="6236" b="3423"/>
          <a:stretch>
            <a:fillRect/>
          </a:stretch>
        </p:blipFill>
        <p:spPr>
          <a:xfrm>
            <a:off x="6417733" y="1250023"/>
            <a:ext cx="4969932" cy="4357954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450FA-0879-9F22-C9CC-10B9418C000F}"/>
              </a:ext>
            </a:extLst>
          </p:cNvPr>
          <p:cNvSpPr txBox="1"/>
          <p:nvPr/>
        </p:nvSpPr>
        <p:spPr>
          <a:xfrm>
            <a:off x="0" y="404332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PIANI DI MASSA</a:t>
            </a:r>
          </a:p>
        </p:txBody>
      </p:sp>
    </p:spTree>
    <p:extLst>
      <p:ext uri="{BB962C8B-B14F-4D97-AF65-F5344CB8AC3E}">
        <p14:creationId xmlns:p14="http://schemas.microsoft.com/office/powerpoint/2010/main" val="4032725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9EA27C-DE62-4CEC-A6D3-4FA9EF40A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05A2F3F-494A-3858-18F1-11817A167A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03" t="50887" r="59888"/>
          <a:stretch>
            <a:fillRect/>
          </a:stretch>
        </p:blipFill>
        <p:spPr>
          <a:xfrm>
            <a:off x="804334" y="1365562"/>
            <a:ext cx="4969932" cy="4126875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04A7272-D7BA-E026-376D-788EF445EC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297" t="50887" r="7446"/>
          <a:stretch>
            <a:fillRect/>
          </a:stretch>
        </p:blipFill>
        <p:spPr>
          <a:xfrm>
            <a:off x="6417733" y="1318904"/>
            <a:ext cx="4969932" cy="4220192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0283EAE-D61E-FD79-4F35-52AC6820BA83}"/>
              </a:ext>
            </a:extLst>
          </p:cNvPr>
          <p:cNvSpPr txBox="1"/>
          <p:nvPr/>
        </p:nvSpPr>
        <p:spPr>
          <a:xfrm>
            <a:off x="0" y="404332"/>
            <a:ext cx="12192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UN 3D MANCATO </a:t>
            </a:r>
            <a:br>
              <a:rPr lang="it-IT" sz="25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it-IT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(ALCUNI COMPONENTI NON AVEVANO LIBRERIE DI RENDERING)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8028972-1E62-0B28-EEE0-7EA347A4A9AC}"/>
              </a:ext>
            </a:extLst>
          </p:cNvPr>
          <p:cNvSpPr txBox="1"/>
          <p:nvPr/>
        </p:nvSpPr>
        <p:spPr>
          <a:xfrm>
            <a:off x="671118" y="5872294"/>
            <a:ext cx="1086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FORI DI FISSAGGIO NON ANCORA IMPLEMENTATI</a:t>
            </a:r>
          </a:p>
        </p:txBody>
      </p:sp>
    </p:spTree>
    <p:extLst>
      <p:ext uri="{BB962C8B-B14F-4D97-AF65-F5344CB8AC3E}">
        <p14:creationId xmlns:p14="http://schemas.microsoft.com/office/powerpoint/2010/main" val="39387879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o">
  <a:themeElements>
    <a:clrScheme name="Orga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813</TotalTime>
  <Words>4259</Words>
  <Application>Microsoft Office PowerPoint</Application>
  <PresentationFormat>Widescreen</PresentationFormat>
  <Paragraphs>277</Paragraphs>
  <Slides>41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8" baseType="lpstr">
      <vt:lpstr>Aptos</vt:lpstr>
      <vt:lpstr>Arial</vt:lpstr>
      <vt:lpstr>Cambria Math</vt:lpstr>
      <vt:lpstr>Garamond</vt:lpstr>
      <vt:lpstr>Segoe UI</vt:lpstr>
      <vt:lpstr>Segoe UI Semibold</vt:lpstr>
      <vt:lpstr>Organico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SCOLA COLOMBO</dc:creator>
  <cp:lastModifiedBy>RICCARDO SCOLA COLOMBO</cp:lastModifiedBy>
  <cp:revision>26</cp:revision>
  <dcterms:created xsi:type="dcterms:W3CDTF">2026-06-29T22:47:44Z</dcterms:created>
  <dcterms:modified xsi:type="dcterms:W3CDTF">2026-07-02T16:23:10Z</dcterms:modified>
</cp:coreProperties>
</file>