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63"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Lst>
  <p:sldSz cy="6858000" cx="12192000"/>
  <p:notesSz cx="6858000" cy="9144000"/>
  <p:embeddedFontLst>
    <p:embeddedFont>
      <p:font typeface="Libre Franklin SemiBold"/>
      <p:regular r:id="rId67"/>
      <p:bold r:id="rId68"/>
      <p:italic r:id="rId69"/>
      <p:boldItalic r:id="rId70"/>
    </p:embeddedFont>
    <p:embeddedFont>
      <p:font typeface="Libre Franklin"/>
      <p:regular r:id="rId71"/>
      <p:bold r:id="rId72"/>
      <p:italic r:id="rId73"/>
      <p:boldItalic r:id="rId74"/>
    </p:embeddedFont>
    <p:embeddedFont>
      <p:font typeface="Open Sans"/>
      <p:regular r:id="rId75"/>
      <p:bold r:id="rId76"/>
      <p:italic r:id="rId77"/>
      <p:boldItalic r:id="rId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392">
          <p15:clr>
            <a:srgbClr val="A4A3A4"/>
          </p15:clr>
        </p15:guide>
        <p15:guide id="2" pos="7056">
          <p15:clr>
            <a:srgbClr val="A4A3A4"/>
          </p15:clr>
        </p15:guide>
        <p15:guide id="3" orient="horz" pos="3168">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392" orient="horz"/>
        <p:guide pos="7056"/>
        <p:guide pos="3168"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font" Target="fonts/LibreFranklin-italic.fntdata"/><Relationship Id="rId72" Type="http://schemas.openxmlformats.org/officeDocument/2006/relationships/font" Target="fonts/LibreFranklin-bold.fntdata"/><Relationship Id="rId31" Type="http://schemas.openxmlformats.org/officeDocument/2006/relationships/slide" Target="slides/slide26.xml"/><Relationship Id="rId75" Type="http://schemas.openxmlformats.org/officeDocument/2006/relationships/font" Target="fonts/OpenSans-regular.fntdata"/><Relationship Id="rId30" Type="http://schemas.openxmlformats.org/officeDocument/2006/relationships/slide" Target="slides/slide25.xml"/><Relationship Id="rId74" Type="http://schemas.openxmlformats.org/officeDocument/2006/relationships/font" Target="fonts/LibreFranklin-boldItalic.fntdata"/><Relationship Id="rId33" Type="http://schemas.openxmlformats.org/officeDocument/2006/relationships/slide" Target="slides/slide28.xml"/><Relationship Id="rId77" Type="http://schemas.openxmlformats.org/officeDocument/2006/relationships/font" Target="fonts/OpenSans-italic.fntdata"/><Relationship Id="rId32" Type="http://schemas.openxmlformats.org/officeDocument/2006/relationships/slide" Target="slides/slide27.xml"/><Relationship Id="rId76" Type="http://schemas.openxmlformats.org/officeDocument/2006/relationships/font" Target="fonts/OpenSans-bold.fntdata"/><Relationship Id="rId35" Type="http://schemas.openxmlformats.org/officeDocument/2006/relationships/slide" Target="slides/slide30.xml"/><Relationship Id="rId34" Type="http://schemas.openxmlformats.org/officeDocument/2006/relationships/slide" Target="slides/slide29.xml"/><Relationship Id="rId78" Type="http://schemas.openxmlformats.org/officeDocument/2006/relationships/font" Target="fonts/OpenSans-boldItalic.fntdata"/><Relationship Id="rId71" Type="http://schemas.openxmlformats.org/officeDocument/2006/relationships/font" Target="fonts/LibreFranklin-regular.fntdata"/><Relationship Id="rId70" Type="http://schemas.openxmlformats.org/officeDocument/2006/relationships/font" Target="fonts/LibreFranklinSemiBold-boldItalic.fntdata"/><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font" Target="fonts/LibreFranklinSemiBold-bold.fntdata"/><Relationship Id="rId23" Type="http://schemas.openxmlformats.org/officeDocument/2006/relationships/slide" Target="slides/slide18.xml"/><Relationship Id="rId67" Type="http://schemas.openxmlformats.org/officeDocument/2006/relationships/font" Target="fonts/LibreFranklinSemiBold-regular.fntdata"/><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font" Target="fonts/LibreFranklinSemiBold-italic.fntdata"/><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it-IT"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200" u="none" cap="none" strike="noStrike">
              <a:solidFill>
                <a:schemeClr val="dk1"/>
              </a:solidFill>
              <a:latin typeface="Calibri"/>
              <a:ea typeface="Calibri"/>
              <a:cs typeface="Calibri"/>
              <a:sym typeface="Calibri"/>
            </a:endParaRPr>
          </a:p>
        </p:txBody>
      </p:sp>
      <p:sp>
        <p:nvSpPr>
          <p:cNvPr id="143" name="Google Shape;143;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it-IT"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ef670dd640_0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ef670dd640_0_1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9" name="Google Shape;149;g3ef670dd640_0_1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ef670dd640_0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ef670dd640_0_2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9" name="Google Shape;159;g3ef670dd640_0_2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f670dd640_0_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ef670dd640_0_3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2" name="Google Shape;172;g3ef670dd640_0_3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ef670dd640_0_3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ef670dd640_0_33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6" name="Google Shape;186;g3ef670dd640_0_33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f670dd640_0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ef670dd640_0_4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2" name="Google Shape;192;g3ef670dd640_0_4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ef670dd640_0_3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ef670dd640_0_35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5" name="Google Shape;205;g3ef670dd640_0_35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ef670dd640_0_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3ef670dd640_0_19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g3ef670dd640_0_19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t-IT"/>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ef670dd640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ef670dd640_0_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7" name="Google Shape;227;g3ef670dd640_0_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3ef670dd640_0_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3ef670dd640_0_36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6" name="Google Shape;236;g3ef670dd640_0_36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3" name="Google Shape;24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g3ef670dd640_0_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2" name="Google Shape;252;g3ef670dd640_0_37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g3ef670dd640_0_37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0" name="Google Shape;26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ef670dd640_0_3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ef670dd640_0_39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0" name="Google Shape;270;g3ef670dd640_0_39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f670dd640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78" name="Google Shape;278;g3ef670dd640_0_41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9" name="Google Shape;279;g3ef670dd640_0_41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ef670dd640_0_4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3ef670dd640_0_44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6" name="Google Shape;286;g3ef670dd640_0_44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ef670dd640_0_4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ef670dd640_0_42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8" name="Google Shape;298;g3ef670dd640_0_42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ef670dd640_0_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3ef670dd640_0_45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g3ef670dd640_0_45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ef670dd640_0_4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3ef670dd640_0_47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1" name="Google Shape;321;g3ef670dd640_0_47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ef670dd640_0_4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ef670dd640_0_49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g3ef670dd640_0_49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g3ef670dd640_0_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40" name="Google Shape;340;g3ef670dd640_0_48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1" name="Google Shape;341;g3ef670dd640_0_48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g3ef670dd640_0_5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47" name="Google Shape;347;g3ef670dd640_0_5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8" name="Google Shape;348;g3ef670dd640_0_5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3ef670dd640_0_5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60" name="Google Shape;360;g3ef670dd640_0_52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1" name="Google Shape;361;g3ef670dd640_0_52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g3ef670dd640_0_5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71" name="Google Shape;371;g3ef670dd640_0_55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2" name="Google Shape;372;g3ef670dd640_0_55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3ef670dd640_0_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3ef670dd640_0_56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2" name="Google Shape;382;g3ef670dd640_0_56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 name="Google Shape;38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3ef670dd640_0_5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3ef670dd640_0_57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6" name="Google Shape;396;g3ef670dd640_0_57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g3ef670dd640_0_5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6" name="Google Shape;406;g3ef670dd640_0_59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7" name="Google Shape;407;g3ef670dd640_0_59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f670dd640_0_5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3" name="Google Shape;413;g3ef670dd640_0_59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4" name="Google Shape;414;g3ef670dd640_0_59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g3ef670dd640_0_6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2" name="Google Shape;422;g3ef670dd640_0_61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3" name="Google Shape;423;g3ef670dd640_0_61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ef670dd640_0_6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3ef670dd640_0_62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7" name="Google Shape;437;g3ef670dd640_0_62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3ef670dd640_0_6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3ef670dd640_0_63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4" name="Google Shape;444;g3ef670dd640_0_63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ef670dd640_0_6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3" name="Google Shape;453;g3ef670dd640_0_65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4" name="Google Shape;454;g3ef670dd640_0_65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g3ef670dd640_0_6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9" name="Google Shape;459;g3ef670dd640_0_66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0" name="Google Shape;460;g3ef670dd640_0_66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8" name="Google Shape;46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g3ef670dd640_0_6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79" name="Google Shape;479;g3ef670dd640_0_69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0" name="Google Shape;480;g3ef670dd640_0_69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g3ef670dd640_0_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8" name="Google Shape;488;g3ef670dd640_0_71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9" name="Google Shape;489;g3ef670dd640_0_71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ef670dd640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8" name="Google Shape;498;g3ef670dd640_0_67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9" name="Google Shape;499;g3ef670dd640_0_67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g3ef670dd640_0_7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07" name="Google Shape;507;g3ef670dd640_0_74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8" name="Google Shape;508;g3ef670dd640_0_74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f670dd640_0_7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15" name="Google Shape;515;g3ef670dd640_0_73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6" name="Google Shape;516;g3ef670dd640_0_73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1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5" name="Google Shape;52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g3ef670dd640_0_7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8" name="Google Shape;538;g3ef670dd640_0_76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9" name="Google Shape;539;g3ef670dd640_0_76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f670dd640_0_7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51" name="Google Shape;551;g3ef670dd640_0_78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2" name="Google Shape;552;g3ef670dd640_0_78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2" name="Google Shape;562;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g3ef670dd640_0_8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67" name="Google Shape;567;g3ef670dd640_0_80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8" name="Google Shape;568;g3ef670dd640_0_80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p2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8" name="Google Shape;5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g3ef670dd640_0_8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5" name="Google Shape;585;g3ef670dd640_0_80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6" name="Google Shape;586;g3ef670dd640_0_80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f670dd640_0_8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93" name="Google Shape;593;g3ef670dd640_0_82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4" name="Google Shape;594;g3ef670dd640_0_82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g3ef670dd640_0_8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02" name="Google Shape;602;g3ef670dd640_0_84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3" name="Google Shape;603;g3ef670dd640_0_84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ef670dd640_0_8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3ef670dd640_0_81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0" name="Google Shape;610;g3ef670dd640_0_81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p2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8" name="Google Shape;618;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p2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7" name="Google Shape;627;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p2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7" name="Google Shape;63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g3ef670dd640_0_8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45" name="Google Shape;645;g3ef670dd640_0_87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6" name="Google Shape;646;g3ef670dd640_0_87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g3ef670dd640_0_8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53" name="Google Shape;653;g3ef670dd640_0_88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4" name="Google Shape;654;g3ef670dd640_0_88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p2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8" name="Google Shape;66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3ef670dd640_0_9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3ef670dd640_0_9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6" name="Google Shape;676;g3ef670dd640_0_9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2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3" name="Google Shape;683;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g3ef670dd640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91" name="Google Shape;691;g3ef670dd640_0_91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92" name="Google Shape;692;g3ef670dd640_0_91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f670dd640_0_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00" name="Google Shape;700;g3ef670dd640_0_93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1" name="Google Shape;701;g3ef670dd640_0_93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7" name="Shape 707"/>
        <p:cNvGrpSpPr/>
        <p:nvPr/>
      </p:nvGrpSpPr>
      <p:grpSpPr>
        <a:xfrm>
          <a:off x="0" y="0"/>
          <a:ext cx="0" cy="0"/>
          <a:chOff x="0" y="0"/>
          <a:chExt cx="0" cy="0"/>
        </a:xfrm>
      </p:grpSpPr>
      <p:sp>
        <p:nvSpPr>
          <p:cNvPr id="708" name="Google Shape;708;g3ef670dd640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09" name="Google Shape;709;g3ef670dd640_0_94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0" name="Google Shape;710;g3ef670dd640_0_94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it-IT"/>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solo titolo">
  <p:cSld name="Diapositiva solo titolo">
    <p:bg>
      <p:bgPr>
        <a:gradFill>
          <a:gsLst>
            <a:gs pos="0">
              <a:schemeClr val="accent2"/>
            </a:gs>
            <a:gs pos="100000">
              <a:schemeClr val="accent4"/>
            </a:gs>
          </a:gsLst>
          <a:lin ang="2700000" scaled="0"/>
        </a:gradFill>
      </p:bgPr>
    </p:bg>
    <p:spTree>
      <p:nvGrpSpPr>
        <p:cNvPr id="15" name="Shape 15"/>
        <p:cNvGrpSpPr/>
        <p:nvPr/>
      </p:nvGrpSpPr>
      <p:grpSpPr>
        <a:xfrm>
          <a:off x="0" y="0"/>
          <a:ext cx="0" cy="0"/>
          <a:chOff x="0" y="0"/>
          <a:chExt cx="0" cy="0"/>
        </a:xfrm>
      </p:grpSpPr>
      <p:sp>
        <p:nvSpPr>
          <p:cNvPr id="16" name="Google Shape;16;p2"/>
          <p:cNvSpPr txBox="1"/>
          <p:nvPr>
            <p:ph type="ctrTitle"/>
          </p:nvPr>
        </p:nvSpPr>
        <p:spPr>
          <a:xfrm>
            <a:off x="1280159" y="357809"/>
            <a:ext cx="7983110" cy="3080335"/>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lt1"/>
              </a:buClr>
              <a:buSzPts val="5400"/>
              <a:buFont typeface="Open Sans"/>
              <a:buNone/>
              <a:defRPr b="1" i="0" sz="54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cxnSp>
        <p:nvCxnSpPr>
          <p:cNvPr id="17" name="Google Shape;17;p2"/>
          <p:cNvCxnSpPr/>
          <p:nvPr/>
        </p:nvCxnSpPr>
        <p:spPr>
          <a:xfrm>
            <a:off x="1280160" y="3496322"/>
            <a:ext cx="0" cy="3352800"/>
          </a:xfrm>
          <a:prstGeom prst="straightConnector1">
            <a:avLst/>
          </a:prstGeom>
          <a:noFill/>
          <a:ln cap="sq" cmpd="sng" w="25400">
            <a:solidFill>
              <a:schemeClr val="lt1"/>
            </a:solidFill>
            <a:prstDash val="solid"/>
            <a:bevel/>
            <a:headEnd len="sm" w="sm" type="none"/>
            <a:tailEnd len="sm" w="sm" type="none"/>
          </a:ln>
        </p:spPr>
      </p:cxnSp>
      <p:grpSp>
        <p:nvGrpSpPr>
          <p:cNvPr id="18" name="Google Shape;18;p2"/>
          <p:cNvGrpSpPr/>
          <p:nvPr/>
        </p:nvGrpSpPr>
        <p:grpSpPr>
          <a:xfrm>
            <a:off x="8161510" y="2744546"/>
            <a:ext cx="465456" cy="581432"/>
            <a:chOff x="7843462" y="2744546"/>
            <a:chExt cx="465456" cy="581432"/>
          </a:xfrm>
        </p:grpSpPr>
        <p:sp>
          <p:nvSpPr>
            <p:cNvPr id="19" name="Google Shape;19;p2"/>
            <p:cNvSpPr/>
            <p:nvPr/>
          </p:nvSpPr>
          <p:spPr>
            <a:xfrm>
              <a:off x="8217780" y="2973840"/>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1800" u="none" cap="none" strike="noStrike">
                <a:solidFill>
                  <a:schemeClr val="dk1"/>
                </a:solidFill>
                <a:latin typeface="Open Sans"/>
                <a:ea typeface="Open Sans"/>
                <a:cs typeface="Open Sans"/>
                <a:sym typeface="Open Sans"/>
              </a:endParaRPr>
            </a:p>
          </p:txBody>
        </p:sp>
        <p:sp>
          <p:nvSpPr>
            <p:cNvPr id="20" name="Google Shape;20;p2"/>
            <p:cNvSpPr/>
            <p:nvPr/>
          </p:nvSpPr>
          <p:spPr>
            <a:xfrm>
              <a:off x="7859002" y="2744546"/>
              <a:ext cx="139038" cy="139038"/>
            </a:xfrm>
            <a:custGeom>
              <a:rect b="b" l="l" r="r" t="t"/>
              <a:pathLst>
                <a:path extrusionOk="0" h="139038" w="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1800" u="none" cap="none" strike="noStrike">
                <a:solidFill>
                  <a:schemeClr val="dk1"/>
                </a:solidFill>
                <a:latin typeface="Open Sans"/>
                <a:ea typeface="Open Sans"/>
                <a:cs typeface="Open Sans"/>
                <a:sym typeface="Open Sans"/>
              </a:endParaRPr>
            </a:p>
          </p:txBody>
        </p:sp>
        <p:sp>
          <p:nvSpPr>
            <p:cNvPr id="21" name="Google Shape;21;p2"/>
            <p:cNvSpPr/>
            <p:nvPr/>
          </p:nvSpPr>
          <p:spPr>
            <a:xfrm>
              <a:off x="7843462" y="3198265"/>
              <a:ext cx="127713" cy="127713"/>
            </a:xfrm>
            <a:custGeom>
              <a:rect b="b" l="l" r="r" t="t"/>
              <a:pathLst>
                <a:path extrusionOk="0" h="127713" w="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1800" u="none" cap="none" strike="noStrike">
                <a:solidFill>
                  <a:schemeClr val="dk1"/>
                </a:solidFill>
                <a:latin typeface="Open Sans"/>
                <a:ea typeface="Open Sans"/>
                <a:cs typeface="Open Sans"/>
                <a:sym typeface="Open Sans"/>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uoto" type="blank">
  <p:cSld name="BLANK">
    <p:spTree>
      <p:nvGrpSpPr>
        <p:cNvPr id="22" name="Shape 22"/>
        <p:cNvGrpSpPr/>
        <p:nvPr/>
      </p:nvGrpSpPr>
      <p:grpSpPr>
        <a:xfrm>
          <a:off x="0" y="0"/>
          <a:ext cx="0" cy="0"/>
          <a:chOff x="0" y="0"/>
          <a:chExt cx="0" cy="0"/>
        </a:xfrm>
      </p:grpSpPr>
      <p:cxnSp>
        <p:nvCxnSpPr>
          <p:cNvPr id="23" name="Google Shape;23;p3"/>
          <p:cNvCxnSpPr/>
          <p:nvPr/>
        </p:nvCxnSpPr>
        <p:spPr>
          <a:xfrm>
            <a:off x="715890" y="1371600"/>
            <a:ext cx="0" cy="5486400"/>
          </a:xfrm>
          <a:prstGeom prst="straightConnector1">
            <a:avLst/>
          </a:prstGeom>
          <a:noFill/>
          <a:ln cap="sq" cmpd="sng" w="25400">
            <a:solidFill>
              <a:schemeClr val="accent2"/>
            </a:solidFill>
            <a:prstDash val="solid"/>
            <a:bevel/>
            <a:headEnd len="sm" w="sm" type="none"/>
            <a:tailEnd len="sm" w="sm" type="none"/>
          </a:ln>
        </p:spPr>
      </p:cxnSp>
      <p:sp>
        <p:nvSpPr>
          <p:cNvPr id="24" name="Google Shape;24;p3"/>
          <p:cNvSpPr txBox="1"/>
          <p:nvPr>
            <p:ph idx="11" type="ftr"/>
          </p:nvPr>
        </p:nvSpPr>
        <p:spPr>
          <a:xfrm>
            <a:off x="7238999" y="6356350"/>
            <a:ext cx="4114800" cy="365125"/>
          </a:xfrm>
          <a:prstGeom prst="rect">
            <a:avLst/>
          </a:prstGeom>
          <a:noFill/>
          <a:ln>
            <a:noFill/>
          </a:ln>
        </p:spPr>
        <p:txBody>
          <a:bodyPr anchorCtr="0" anchor="ctr" bIns="45700" lIns="91425" spcFirstLastPara="1" rIns="0"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
          <p:cNvSpPr txBox="1"/>
          <p:nvPr>
            <p:ph idx="12" type="sldNum"/>
          </p:nvPr>
        </p:nvSpPr>
        <p:spPr>
          <a:xfrm>
            <a:off x="486121" y="726630"/>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u="none" cap="none" strike="noStrike">
                <a:solidFill>
                  <a:schemeClr val="accent2"/>
                </a:solidFill>
                <a:latin typeface="Open Sans"/>
                <a:ea typeface="Open Sans"/>
                <a:cs typeface="Open Sans"/>
                <a:sym typeface="Open Sans"/>
              </a:defRPr>
            </a:lvl1pPr>
            <a:lvl2pPr indent="0" lvl="1" marL="0" marR="0" algn="ctr">
              <a:spcBef>
                <a:spcPts val="0"/>
              </a:spcBef>
              <a:buNone/>
              <a:defRPr b="1" i="0" sz="1800" u="none" cap="none" strike="noStrike">
                <a:solidFill>
                  <a:schemeClr val="accent2"/>
                </a:solidFill>
                <a:latin typeface="Open Sans"/>
                <a:ea typeface="Open Sans"/>
                <a:cs typeface="Open Sans"/>
                <a:sym typeface="Open Sans"/>
              </a:defRPr>
            </a:lvl2pPr>
            <a:lvl3pPr indent="0" lvl="2" marL="0" marR="0" algn="ctr">
              <a:spcBef>
                <a:spcPts val="0"/>
              </a:spcBef>
              <a:buNone/>
              <a:defRPr b="1" i="0" sz="1800" u="none" cap="none" strike="noStrike">
                <a:solidFill>
                  <a:schemeClr val="accent2"/>
                </a:solidFill>
                <a:latin typeface="Open Sans"/>
                <a:ea typeface="Open Sans"/>
                <a:cs typeface="Open Sans"/>
                <a:sym typeface="Open Sans"/>
              </a:defRPr>
            </a:lvl3pPr>
            <a:lvl4pPr indent="0" lvl="3" marL="0" marR="0" algn="ctr">
              <a:spcBef>
                <a:spcPts val="0"/>
              </a:spcBef>
              <a:buNone/>
              <a:defRPr b="1" i="0" sz="1800" u="none" cap="none" strike="noStrike">
                <a:solidFill>
                  <a:schemeClr val="accent2"/>
                </a:solidFill>
                <a:latin typeface="Open Sans"/>
                <a:ea typeface="Open Sans"/>
                <a:cs typeface="Open Sans"/>
                <a:sym typeface="Open Sans"/>
              </a:defRPr>
            </a:lvl4pPr>
            <a:lvl5pPr indent="0" lvl="4" marL="0" marR="0" algn="ctr">
              <a:spcBef>
                <a:spcPts val="0"/>
              </a:spcBef>
              <a:buNone/>
              <a:defRPr b="1" i="0" sz="1800" u="none" cap="none" strike="noStrike">
                <a:solidFill>
                  <a:schemeClr val="accent2"/>
                </a:solidFill>
                <a:latin typeface="Open Sans"/>
                <a:ea typeface="Open Sans"/>
                <a:cs typeface="Open Sans"/>
                <a:sym typeface="Open Sans"/>
              </a:defRPr>
            </a:lvl5pPr>
            <a:lvl6pPr indent="0" lvl="5" marL="0" marR="0" algn="ctr">
              <a:spcBef>
                <a:spcPts val="0"/>
              </a:spcBef>
              <a:buNone/>
              <a:defRPr b="1" i="0" sz="1800" u="none" cap="none" strike="noStrike">
                <a:solidFill>
                  <a:schemeClr val="accent2"/>
                </a:solidFill>
                <a:latin typeface="Open Sans"/>
                <a:ea typeface="Open Sans"/>
                <a:cs typeface="Open Sans"/>
                <a:sym typeface="Open Sans"/>
              </a:defRPr>
            </a:lvl6pPr>
            <a:lvl7pPr indent="0" lvl="6" marL="0" marR="0" algn="ctr">
              <a:spcBef>
                <a:spcPts val="0"/>
              </a:spcBef>
              <a:buNone/>
              <a:defRPr b="1" i="0" sz="1800" u="none" cap="none" strike="noStrike">
                <a:solidFill>
                  <a:schemeClr val="accent2"/>
                </a:solidFill>
                <a:latin typeface="Open Sans"/>
                <a:ea typeface="Open Sans"/>
                <a:cs typeface="Open Sans"/>
                <a:sym typeface="Open Sans"/>
              </a:defRPr>
            </a:lvl7pPr>
            <a:lvl8pPr indent="0" lvl="7" marL="0" marR="0" algn="ctr">
              <a:spcBef>
                <a:spcPts val="0"/>
              </a:spcBef>
              <a:buNone/>
              <a:defRPr b="1" i="0" sz="1800" u="none" cap="none" strike="noStrike">
                <a:solidFill>
                  <a:schemeClr val="accent2"/>
                </a:solidFill>
                <a:latin typeface="Open Sans"/>
                <a:ea typeface="Open Sans"/>
                <a:cs typeface="Open Sans"/>
                <a:sym typeface="Open Sans"/>
              </a:defRPr>
            </a:lvl8pPr>
            <a:lvl9pPr indent="0" lvl="8" marL="0" marR="0" algn="ctr">
              <a:spcBef>
                <a:spcPts val="0"/>
              </a:spcBef>
              <a:buNone/>
              <a:defRPr b="1" i="0" sz="1800" u="none" cap="none" strike="noStrik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immagine">
  <p:cSld name="Titolo e immagine">
    <p:bg>
      <p:bgPr>
        <a:gradFill>
          <a:gsLst>
            <a:gs pos="0">
              <a:schemeClr val="accent2"/>
            </a:gs>
            <a:gs pos="100000">
              <a:schemeClr val="accent4"/>
            </a:gs>
          </a:gsLst>
          <a:lin ang="8100000" scaled="0"/>
        </a:gradFill>
      </p:bgPr>
    </p:bg>
    <p:spTree>
      <p:nvGrpSpPr>
        <p:cNvPr id="26" name="Shape 26"/>
        <p:cNvGrpSpPr/>
        <p:nvPr/>
      </p:nvGrpSpPr>
      <p:grpSpPr>
        <a:xfrm>
          <a:off x="0" y="0"/>
          <a:ext cx="0" cy="0"/>
          <a:chOff x="0" y="0"/>
          <a:chExt cx="0" cy="0"/>
        </a:xfrm>
      </p:grpSpPr>
      <p:sp>
        <p:nvSpPr>
          <p:cNvPr id="27" name="Google Shape;27;p4"/>
          <p:cNvSpPr txBox="1"/>
          <p:nvPr>
            <p:ph type="title"/>
          </p:nvPr>
        </p:nvSpPr>
        <p:spPr>
          <a:xfrm>
            <a:off x="5116544" y="614202"/>
            <a:ext cx="5918072" cy="2276856"/>
          </a:xfrm>
          <a:prstGeom prst="rect">
            <a:avLst/>
          </a:prstGeom>
          <a:noFill/>
          <a:ln>
            <a:noFill/>
          </a:ln>
        </p:spPr>
        <p:txBody>
          <a:bodyPr anchorCtr="0" anchor="b" bIns="0" lIns="0" spcFirstLastPara="1" rIns="0" wrap="square" tIns="0">
            <a:noAutofit/>
          </a:bodyPr>
          <a:lstStyle>
            <a:lvl1pPr lvl="0" algn="r">
              <a:lnSpc>
                <a:spcPct val="100000"/>
              </a:lnSpc>
              <a:spcBef>
                <a:spcPts val="0"/>
              </a:spcBef>
              <a:spcAft>
                <a:spcPts val="0"/>
              </a:spcAft>
              <a:buClr>
                <a:schemeClr val="lt1"/>
              </a:buClr>
              <a:buSzPts val="4000"/>
              <a:buFont typeface="Open Sans"/>
              <a:buNone/>
              <a:defRPr b="1" sz="40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 name="Google Shape;28;p4"/>
          <p:cNvSpPr txBox="1"/>
          <p:nvPr>
            <p:ph idx="12" type="sldNum"/>
          </p:nvPr>
        </p:nvSpPr>
        <p:spPr>
          <a:xfrm>
            <a:off x="486121" y="726630"/>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cap="none">
                <a:solidFill>
                  <a:schemeClr val="lt1"/>
                </a:solidFill>
                <a:latin typeface="Open Sans"/>
                <a:ea typeface="Open Sans"/>
                <a:cs typeface="Open Sans"/>
                <a:sym typeface="Open Sans"/>
              </a:defRPr>
            </a:lvl1pPr>
            <a:lvl2pPr indent="0" lvl="1" marL="0" marR="0" algn="ctr">
              <a:spcBef>
                <a:spcPts val="0"/>
              </a:spcBef>
              <a:buNone/>
              <a:defRPr b="1" i="0" sz="1800" cap="none">
                <a:solidFill>
                  <a:schemeClr val="lt1"/>
                </a:solidFill>
                <a:latin typeface="Open Sans"/>
                <a:ea typeface="Open Sans"/>
                <a:cs typeface="Open Sans"/>
                <a:sym typeface="Open Sans"/>
              </a:defRPr>
            </a:lvl2pPr>
            <a:lvl3pPr indent="0" lvl="2" marL="0" marR="0" algn="ctr">
              <a:spcBef>
                <a:spcPts val="0"/>
              </a:spcBef>
              <a:buNone/>
              <a:defRPr b="1" i="0" sz="1800" cap="none">
                <a:solidFill>
                  <a:schemeClr val="lt1"/>
                </a:solidFill>
                <a:latin typeface="Open Sans"/>
                <a:ea typeface="Open Sans"/>
                <a:cs typeface="Open Sans"/>
                <a:sym typeface="Open Sans"/>
              </a:defRPr>
            </a:lvl3pPr>
            <a:lvl4pPr indent="0" lvl="3" marL="0" marR="0" algn="ctr">
              <a:spcBef>
                <a:spcPts val="0"/>
              </a:spcBef>
              <a:buNone/>
              <a:defRPr b="1" i="0" sz="1800" cap="none">
                <a:solidFill>
                  <a:schemeClr val="lt1"/>
                </a:solidFill>
                <a:latin typeface="Open Sans"/>
                <a:ea typeface="Open Sans"/>
                <a:cs typeface="Open Sans"/>
                <a:sym typeface="Open Sans"/>
              </a:defRPr>
            </a:lvl4pPr>
            <a:lvl5pPr indent="0" lvl="4" marL="0" marR="0" algn="ctr">
              <a:spcBef>
                <a:spcPts val="0"/>
              </a:spcBef>
              <a:buNone/>
              <a:defRPr b="1" i="0" sz="1800" cap="none">
                <a:solidFill>
                  <a:schemeClr val="lt1"/>
                </a:solidFill>
                <a:latin typeface="Open Sans"/>
                <a:ea typeface="Open Sans"/>
                <a:cs typeface="Open Sans"/>
                <a:sym typeface="Open Sans"/>
              </a:defRPr>
            </a:lvl5pPr>
            <a:lvl6pPr indent="0" lvl="5" marL="0" marR="0" algn="ctr">
              <a:spcBef>
                <a:spcPts val="0"/>
              </a:spcBef>
              <a:buNone/>
              <a:defRPr b="1" i="0" sz="1800" cap="none">
                <a:solidFill>
                  <a:schemeClr val="lt1"/>
                </a:solidFill>
                <a:latin typeface="Open Sans"/>
                <a:ea typeface="Open Sans"/>
                <a:cs typeface="Open Sans"/>
                <a:sym typeface="Open Sans"/>
              </a:defRPr>
            </a:lvl6pPr>
            <a:lvl7pPr indent="0" lvl="6" marL="0" marR="0" algn="ctr">
              <a:spcBef>
                <a:spcPts val="0"/>
              </a:spcBef>
              <a:buNone/>
              <a:defRPr b="1" i="0" sz="1800" cap="none">
                <a:solidFill>
                  <a:schemeClr val="lt1"/>
                </a:solidFill>
                <a:latin typeface="Open Sans"/>
                <a:ea typeface="Open Sans"/>
                <a:cs typeface="Open Sans"/>
                <a:sym typeface="Open Sans"/>
              </a:defRPr>
            </a:lvl7pPr>
            <a:lvl8pPr indent="0" lvl="7" marL="0" marR="0" algn="ctr">
              <a:spcBef>
                <a:spcPts val="0"/>
              </a:spcBef>
              <a:buNone/>
              <a:defRPr b="1" i="0" sz="1800" cap="none">
                <a:solidFill>
                  <a:schemeClr val="lt1"/>
                </a:solidFill>
                <a:latin typeface="Open Sans"/>
                <a:ea typeface="Open Sans"/>
                <a:cs typeface="Open Sans"/>
                <a:sym typeface="Open Sans"/>
              </a:defRPr>
            </a:lvl8pPr>
            <a:lvl9pPr indent="0" lvl="8" marL="0" marR="0" algn="ctr">
              <a:spcBef>
                <a:spcPts val="0"/>
              </a:spcBef>
              <a:buNone/>
              <a:defRPr b="1" i="0" sz="1800" cap="none">
                <a:solidFill>
                  <a:schemeClr val="lt1"/>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
        <p:nvSpPr>
          <p:cNvPr id="29" name="Google Shape;29;p4"/>
          <p:cNvSpPr/>
          <p:nvPr>
            <p:ph idx="2" type="pic"/>
          </p:nvPr>
        </p:nvSpPr>
        <p:spPr>
          <a:xfrm>
            <a:off x="1280160" y="2530058"/>
            <a:ext cx="3707972" cy="3707971"/>
          </a:xfrm>
          <a:prstGeom prst="rect">
            <a:avLst/>
          </a:prstGeom>
          <a:noFill/>
          <a:ln>
            <a:noFill/>
          </a:ln>
        </p:spPr>
      </p:sp>
      <p:sp>
        <p:nvSpPr>
          <p:cNvPr id="30" name="Google Shape;30;p4"/>
          <p:cNvSpPr txBox="1"/>
          <p:nvPr>
            <p:ph idx="1" type="body"/>
          </p:nvPr>
        </p:nvSpPr>
        <p:spPr>
          <a:xfrm>
            <a:off x="5116548" y="3161752"/>
            <a:ext cx="5918068" cy="3144965"/>
          </a:xfrm>
          <a:prstGeom prst="rect">
            <a:avLst/>
          </a:prstGeom>
          <a:noFill/>
          <a:ln>
            <a:noFill/>
          </a:ln>
        </p:spPr>
        <p:txBody>
          <a:bodyPr anchorCtr="0" anchor="t" bIns="0" lIns="0" spcFirstLastPara="1" rIns="0" wrap="square" tIns="0">
            <a:normAutofit/>
          </a:bodyPr>
          <a:lstStyle>
            <a:lvl1pPr indent="-228600" lvl="0" marL="457200" algn="r">
              <a:lnSpc>
                <a:spcPct val="90000"/>
              </a:lnSpc>
              <a:spcBef>
                <a:spcPts val="1200"/>
              </a:spcBef>
              <a:spcAft>
                <a:spcPts val="0"/>
              </a:spcAft>
              <a:buClr>
                <a:schemeClr val="lt1"/>
              </a:buClr>
              <a:buSzPts val="2400"/>
              <a:buNone/>
              <a:defRPr sz="2400">
                <a:solidFill>
                  <a:schemeClr val="lt1"/>
                </a:solidFill>
              </a:defRPr>
            </a:lvl1pPr>
            <a:lvl2pPr indent="-228600" lvl="1" marL="914400" algn="r">
              <a:lnSpc>
                <a:spcPct val="90000"/>
              </a:lnSpc>
              <a:spcBef>
                <a:spcPts val="1200"/>
              </a:spcBef>
              <a:spcAft>
                <a:spcPts val="0"/>
              </a:spcAft>
              <a:buClr>
                <a:schemeClr val="lt1"/>
              </a:buClr>
              <a:buSzPts val="2400"/>
              <a:buNone/>
              <a:defRPr sz="2400">
                <a:solidFill>
                  <a:schemeClr val="lt1"/>
                </a:solidFill>
              </a:defRPr>
            </a:lvl2pPr>
            <a:lvl3pPr indent="-228600" lvl="2" marL="1371600" algn="r">
              <a:lnSpc>
                <a:spcPct val="90000"/>
              </a:lnSpc>
              <a:spcBef>
                <a:spcPts val="1200"/>
              </a:spcBef>
              <a:spcAft>
                <a:spcPts val="0"/>
              </a:spcAft>
              <a:buClr>
                <a:schemeClr val="lt1"/>
              </a:buClr>
              <a:buSzPts val="2400"/>
              <a:buNone/>
              <a:defRPr sz="2400">
                <a:solidFill>
                  <a:schemeClr val="lt1"/>
                </a:solidFill>
              </a:defRPr>
            </a:lvl3pPr>
            <a:lvl4pPr indent="-228600" lvl="3" marL="1828800" algn="r">
              <a:lnSpc>
                <a:spcPct val="90000"/>
              </a:lnSpc>
              <a:spcBef>
                <a:spcPts val="1200"/>
              </a:spcBef>
              <a:spcAft>
                <a:spcPts val="0"/>
              </a:spcAft>
              <a:buClr>
                <a:schemeClr val="lt1"/>
              </a:buClr>
              <a:buSzPts val="2400"/>
              <a:buNone/>
              <a:defRPr sz="2400">
                <a:solidFill>
                  <a:schemeClr val="lt1"/>
                </a:solidFill>
              </a:defRPr>
            </a:lvl4pPr>
            <a:lvl5pPr indent="-228600" lvl="4" marL="2286000" algn="r">
              <a:lnSpc>
                <a:spcPct val="90000"/>
              </a:lnSpc>
              <a:spcBef>
                <a:spcPts val="500"/>
              </a:spcBef>
              <a:spcAft>
                <a:spcPts val="0"/>
              </a:spcAft>
              <a:buClr>
                <a:schemeClr val="lt1"/>
              </a:buClr>
              <a:buSzPts val="1800"/>
              <a:buNone/>
              <a:defRPr sz="1800">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cxnSp>
        <p:nvCxnSpPr>
          <p:cNvPr id="31" name="Google Shape;31;p4"/>
          <p:cNvCxnSpPr/>
          <p:nvPr/>
        </p:nvCxnSpPr>
        <p:spPr>
          <a:xfrm>
            <a:off x="740664" y="1371600"/>
            <a:ext cx="0" cy="5486400"/>
          </a:xfrm>
          <a:prstGeom prst="straightConnector1">
            <a:avLst/>
          </a:prstGeom>
          <a:noFill/>
          <a:ln cap="sq" cmpd="sng" w="25400">
            <a:solidFill>
              <a:schemeClr val="lt1"/>
            </a:solidFill>
            <a:prstDash val="solid"/>
            <a:bevel/>
            <a:headEnd len="sm" w="sm" type="none"/>
            <a:tailEnd len="sm" w="sm" type="none"/>
          </a:ln>
        </p:spPr>
      </p:cxnSp>
      <p:sp>
        <p:nvSpPr>
          <p:cNvPr id="32" name="Google Shape;32;p4"/>
          <p:cNvSpPr/>
          <p:nvPr/>
        </p:nvSpPr>
        <p:spPr>
          <a:xfrm>
            <a:off x="4745394" y="2760277"/>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33" name="Google Shape;33;p4"/>
          <p:cNvSpPr/>
          <p:nvPr/>
        </p:nvSpPr>
        <p:spPr>
          <a:xfrm>
            <a:off x="4386614" y="2530982"/>
            <a:ext cx="139039" cy="139039"/>
          </a:xfrm>
          <a:custGeom>
            <a:rect b="b" l="l" r="r" t="t"/>
            <a:pathLst>
              <a:path extrusionOk="0" h="139039" w="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34" name="Google Shape;34;p4"/>
          <p:cNvSpPr/>
          <p:nvPr/>
        </p:nvSpPr>
        <p:spPr>
          <a:xfrm>
            <a:off x="1652402" y="6031572"/>
            <a:ext cx="127714" cy="127714"/>
          </a:xfrm>
          <a:custGeom>
            <a:rect b="b" l="l" r="r" t="t"/>
            <a:pathLst>
              <a:path extrusionOk="0" h="127714" w="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35" name="Google Shape;35;p4"/>
          <p:cNvSpPr txBox="1"/>
          <p:nvPr>
            <p:ph idx="11" type="ftr"/>
          </p:nvPr>
        </p:nvSpPr>
        <p:spPr>
          <a:xfrm>
            <a:off x="7238999" y="6356350"/>
            <a:ext cx="3795615" cy="365125"/>
          </a:xfrm>
          <a:prstGeom prst="rect">
            <a:avLst/>
          </a:prstGeom>
          <a:noFill/>
          <a:ln>
            <a:noFill/>
          </a:ln>
        </p:spPr>
        <p:txBody>
          <a:bodyPr anchorCtr="0" anchor="ctr" bIns="45700" lIns="91425" spcFirstLastPara="1" rIns="0" wrap="square" tIns="45700">
            <a:noAutofit/>
          </a:bodyPr>
          <a:lstStyle>
            <a:lvl1pPr lvl="0" algn="r">
              <a:spcBef>
                <a:spcPts val="0"/>
              </a:spcBef>
              <a:spcAft>
                <a:spcPts val="0"/>
              </a:spcAft>
              <a:buSzPts val="1400"/>
              <a:buNone/>
              <a:defRPr>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 immagine">
  <p:cSld name="Titolo + immagine">
    <p:bg>
      <p:bgPr>
        <a:gradFill>
          <a:gsLst>
            <a:gs pos="0">
              <a:schemeClr val="accent2"/>
            </a:gs>
            <a:gs pos="100000">
              <a:schemeClr val="accent4"/>
            </a:gs>
          </a:gsLst>
          <a:lin ang="18900000" scaled="0"/>
        </a:gradFill>
      </p:bgPr>
    </p:bg>
    <p:spTree>
      <p:nvGrpSpPr>
        <p:cNvPr id="36" name="Shape 36"/>
        <p:cNvGrpSpPr/>
        <p:nvPr/>
      </p:nvGrpSpPr>
      <p:grpSpPr>
        <a:xfrm>
          <a:off x="0" y="0"/>
          <a:ext cx="0" cy="0"/>
          <a:chOff x="0" y="0"/>
          <a:chExt cx="0" cy="0"/>
        </a:xfrm>
      </p:grpSpPr>
      <p:sp>
        <p:nvSpPr>
          <p:cNvPr id="37" name="Google Shape;37;p5"/>
          <p:cNvSpPr txBox="1"/>
          <p:nvPr>
            <p:ph type="ctrTitle"/>
          </p:nvPr>
        </p:nvSpPr>
        <p:spPr>
          <a:xfrm>
            <a:off x="1280159" y="3386775"/>
            <a:ext cx="8311102" cy="3080335"/>
          </a:xfrm>
          <a:prstGeom prst="rect">
            <a:avLst/>
          </a:prstGeom>
          <a:noFill/>
          <a:ln>
            <a:noFill/>
          </a:ln>
        </p:spPr>
        <p:txBody>
          <a:bodyPr anchorCtr="0" anchor="t" bIns="0" lIns="0" spcFirstLastPara="1" rIns="0" wrap="square" tIns="274300">
            <a:noAutofit/>
          </a:bodyPr>
          <a:lstStyle>
            <a:lvl1pPr lvl="0" algn="l">
              <a:lnSpc>
                <a:spcPct val="100000"/>
              </a:lnSpc>
              <a:spcBef>
                <a:spcPts val="0"/>
              </a:spcBef>
              <a:spcAft>
                <a:spcPts val="0"/>
              </a:spcAft>
              <a:buClr>
                <a:schemeClr val="lt1"/>
              </a:buClr>
              <a:buSzPts val="5400"/>
              <a:buFont typeface="Open Sans"/>
              <a:buNone/>
              <a:defRPr b="1" i="0" sz="54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cxnSp>
        <p:nvCxnSpPr>
          <p:cNvPr id="38" name="Google Shape;38;p5"/>
          <p:cNvCxnSpPr/>
          <p:nvPr/>
        </p:nvCxnSpPr>
        <p:spPr>
          <a:xfrm>
            <a:off x="1280160" y="0"/>
            <a:ext cx="0" cy="3352800"/>
          </a:xfrm>
          <a:prstGeom prst="straightConnector1">
            <a:avLst/>
          </a:prstGeom>
          <a:noFill/>
          <a:ln cap="sq" cmpd="sng" w="25400">
            <a:solidFill>
              <a:schemeClr val="lt1"/>
            </a:solidFill>
            <a:prstDash val="solid"/>
            <a:bevel/>
            <a:headEnd len="sm" w="sm" type="none"/>
            <a:tailEnd len="sm" w="sm" type="none"/>
          </a:ln>
        </p:spPr>
      </p:cxnSp>
      <p:grpSp>
        <p:nvGrpSpPr>
          <p:cNvPr id="39" name="Google Shape;39;p5"/>
          <p:cNvGrpSpPr/>
          <p:nvPr/>
        </p:nvGrpSpPr>
        <p:grpSpPr>
          <a:xfrm rot="-1929565">
            <a:off x="7632743" y="794953"/>
            <a:ext cx="465456" cy="581432"/>
            <a:chOff x="7843462" y="2744546"/>
            <a:chExt cx="465456" cy="581432"/>
          </a:xfrm>
        </p:grpSpPr>
        <p:sp>
          <p:nvSpPr>
            <p:cNvPr id="40" name="Google Shape;40;p5"/>
            <p:cNvSpPr/>
            <p:nvPr/>
          </p:nvSpPr>
          <p:spPr>
            <a:xfrm>
              <a:off x="8217780" y="2973840"/>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41" name="Google Shape;41;p5"/>
            <p:cNvSpPr/>
            <p:nvPr/>
          </p:nvSpPr>
          <p:spPr>
            <a:xfrm>
              <a:off x="7859002" y="2744546"/>
              <a:ext cx="139038" cy="139038"/>
            </a:xfrm>
            <a:custGeom>
              <a:rect b="b" l="l" r="r" t="t"/>
              <a:pathLst>
                <a:path extrusionOk="0" h="139038" w="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42" name="Google Shape;42;p5"/>
            <p:cNvSpPr/>
            <p:nvPr/>
          </p:nvSpPr>
          <p:spPr>
            <a:xfrm>
              <a:off x="7843462" y="3198265"/>
              <a:ext cx="127713" cy="127713"/>
            </a:xfrm>
            <a:custGeom>
              <a:rect b="b" l="l" r="r" t="t"/>
              <a:pathLst>
                <a:path extrusionOk="0" h="127713" w="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grpSp>
      <p:sp>
        <p:nvSpPr>
          <p:cNvPr id="43" name="Google Shape;43;p5"/>
          <p:cNvSpPr/>
          <p:nvPr>
            <p:ph idx="2" type="pic"/>
          </p:nvPr>
        </p:nvSpPr>
        <p:spPr>
          <a:xfrm>
            <a:off x="8197587" y="411831"/>
            <a:ext cx="3521337" cy="3521344"/>
          </a:xfrm>
          <a:prstGeom prst="rect">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 sottotitolo + immagine">
  <p:cSld name="Titolo + sottotitolo + immagine">
    <p:bg>
      <p:bgPr>
        <a:gradFill>
          <a:gsLst>
            <a:gs pos="0">
              <a:schemeClr val="accent2"/>
            </a:gs>
            <a:gs pos="100000">
              <a:schemeClr val="accent4"/>
            </a:gs>
          </a:gsLst>
          <a:lin ang="2700000" scaled="0"/>
        </a:gradFill>
      </p:bgPr>
    </p:bg>
    <p:spTree>
      <p:nvGrpSpPr>
        <p:cNvPr id="44" name="Shape 44"/>
        <p:cNvGrpSpPr/>
        <p:nvPr/>
      </p:nvGrpSpPr>
      <p:grpSpPr>
        <a:xfrm>
          <a:off x="0" y="0"/>
          <a:ext cx="0" cy="0"/>
          <a:chOff x="0" y="0"/>
          <a:chExt cx="0" cy="0"/>
        </a:xfrm>
      </p:grpSpPr>
      <p:sp>
        <p:nvSpPr>
          <p:cNvPr id="45" name="Google Shape;45;p6"/>
          <p:cNvSpPr txBox="1"/>
          <p:nvPr>
            <p:ph type="ctrTitle"/>
          </p:nvPr>
        </p:nvSpPr>
        <p:spPr>
          <a:xfrm>
            <a:off x="1280159" y="640080"/>
            <a:ext cx="10302240" cy="1852046"/>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lt1"/>
              </a:buClr>
              <a:buSzPts val="5400"/>
              <a:buFont typeface="Open Sans"/>
              <a:buNone/>
              <a:defRPr b="1" i="0" sz="54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6" name="Google Shape;46;p6"/>
          <p:cNvSpPr txBox="1"/>
          <p:nvPr>
            <p:ph idx="1" type="subTitle"/>
          </p:nvPr>
        </p:nvSpPr>
        <p:spPr>
          <a:xfrm>
            <a:off x="1280158" y="2588447"/>
            <a:ext cx="7853678" cy="726645"/>
          </a:xfrm>
          <a:prstGeom prst="rect">
            <a:avLst/>
          </a:prstGeom>
          <a:noFill/>
          <a:ln>
            <a:noFill/>
          </a:ln>
        </p:spPr>
        <p:txBody>
          <a:bodyPr anchorCtr="0" anchor="t" bIns="0" lIns="0" spcFirstLastPara="1" rIns="0" wrap="square" tIns="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cxnSp>
        <p:nvCxnSpPr>
          <p:cNvPr id="47" name="Google Shape;47;p6"/>
          <p:cNvCxnSpPr/>
          <p:nvPr/>
        </p:nvCxnSpPr>
        <p:spPr>
          <a:xfrm>
            <a:off x="1280160" y="3496322"/>
            <a:ext cx="0" cy="3352800"/>
          </a:xfrm>
          <a:prstGeom prst="straightConnector1">
            <a:avLst/>
          </a:prstGeom>
          <a:noFill/>
          <a:ln cap="sq" cmpd="sng" w="25400">
            <a:solidFill>
              <a:schemeClr val="lt1"/>
            </a:solidFill>
            <a:prstDash val="solid"/>
            <a:bevel/>
            <a:headEnd len="sm" w="sm" type="none"/>
            <a:tailEnd len="sm" w="sm" type="none"/>
          </a:ln>
        </p:spPr>
      </p:cxnSp>
      <p:grpSp>
        <p:nvGrpSpPr>
          <p:cNvPr id="48" name="Google Shape;48;p6"/>
          <p:cNvGrpSpPr/>
          <p:nvPr/>
        </p:nvGrpSpPr>
        <p:grpSpPr>
          <a:xfrm flipH="1">
            <a:off x="7659974" y="4456458"/>
            <a:ext cx="465456" cy="581432"/>
            <a:chOff x="7843462" y="2744546"/>
            <a:chExt cx="465456" cy="581432"/>
          </a:xfrm>
        </p:grpSpPr>
        <p:sp>
          <p:nvSpPr>
            <p:cNvPr id="49" name="Google Shape;49;p6"/>
            <p:cNvSpPr/>
            <p:nvPr/>
          </p:nvSpPr>
          <p:spPr>
            <a:xfrm>
              <a:off x="8217780" y="2973840"/>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50" name="Google Shape;50;p6"/>
            <p:cNvSpPr/>
            <p:nvPr/>
          </p:nvSpPr>
          <p:spPr>
            <a:xfrm>
              <a:off x="7859002" y="2744546"/>
              <a:ext cx="139038" cy="139038"/>
            </a:xfrm>
            <a:custGeom>
              <a:rect b="b" l="l" r="r" t="t"/>
              <a:pathLst>
                <a:path extrusionOk="0" h="139038" w="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51" name="Google Shape;51;p6"/>
            <p:cNvSpPr/>
            <p:nvPr/>
          </p:nvSpPr>
          <p:spPr>
            <a:xfrm>
              <a:off x="7843462" y="3198265"/>
              <a:ext cx="127713" cy="127713"/>
            </a:xfrm>
            <a:custGeom>
              <a:rect b="b" l="l" r="r" t="t"/>
              <a:pathLst>
                <a:path extrusionOk="0" h="127713" w="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grpSp>
      <p:sp>
        <p:nvSpPr>
          <p:cNvPr id="52" name="Google Shape;52;p6"/>
          <p:cNvSpPr/>
          <p:nvPr>
            <p:ph idx="2" type="pic"/>
          </p:nvPr>
        </p:nvSpPr>
        <p:spPr>
          <a:xfrm>
            <a:off x="8536252" y="3205313"/>
            <a:ext cx="3043077" cy="3043083"/>
          </a:xfrm>
          <a:prstGeom prst="rect">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immagine e contenuto">
  <p:cSld name="Titolo, immagine e contenuto">
    <p:spTree>
      <p:nvGrpSpPr>
        <p:cNvPr id="53" name="Shape 53"/>
        <p:cNvGrpSpPr/>
        <p:nvPr/>
      </p:nvGrpSpPr>
      <p:grpSpPr>
        <a:xfrm>
          <a:off x="0" y="0"/>
          <a:ext cx="0" cy="0"/>
          <a:chOff x="0" y="0"/>
          <a:chExt cx="0" cy="0"/>
        </a:xfrm>
      </p:grpSpPr>
      <p:sp>
        <p:nvSpPr>
          <p:cNvPr id="54" name="Google Shape;54;p7"/>
          <p:cNvSpPr txBox="1"/>
          <p:nvPr>
            <p:ph type="title"/>
          </p:nvPr>
        </p:nvSpPr>
        <p:spPr>
          <a:xfrm>
            <a:off x="4114800" y="640080"/>
            <a:ext cx="7498080" cy="128016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dk1"/>
              </a:buClr>
              <a:buSzPts val="4000"/>
              <a:buFont typeface="Open Sans"/>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7"/>
          <p:cNvSpPr txBox="1"/>
          <p:nvPr>
            <p:ph idx="12" type="sldNum"/>
          </p:nvPr>
        </p:nvSpPr>
        <p:spPr>
          <a:xfrm>
            <a:off x="484632" y="722376"/>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cap="none">
                <a:solidFill>
                  <a:schemeClr val="accent2"/>
                </a:solidFill>
                <a:latin typeface="Open Sans"/>
                <a:ea typeface="Open Sans"/>
                <a:cs typeface="Open Sans"/>
                <a:sym typeface="Open Sans"/>
              </a:defRPr>
            </a:lvl1pPr>
            <a:lvl2pPr indent="0" lvl="1" marL="0" marR="0" algn="ctr">
              <a:spcBef>
                <a:spcPts val="0"/>
              </a:spcBef>
              <a:buNone/>
              <a:defRPr b="1" i="0" sz="1800" cap="none">
                <a:solidFill>
                  <a:schemeClr val="accent2"/>
                </a:solidFill>
                <a:latin typeface="Open Sans"/>
                <a:ea typeface="Open Sans"/>
                <a:cs typeface="Open Sans"/>
                <a:sym typeface="Open Sans"/>
              </a:defRPr>
            </a:lvl2pPr>
            <a:lvl3pPr indent="0" lvl="2" marL="0" marR="0" algn="ctr">
              <a:spcBef>
                <a:spcPts val="0"/>
              </a:spcBef>
              <a:buNone/>
              <a:defRPr b="1" i="0" sz="1800" cap="none">
                <a:solidFill>
                  <a:schemeClr val="accent2"/>
                </a:solidFill>
                <a:latin typeface="Open Sans"/>
                <a:ea typeface="Open Sans"/>
                <a:cs typeface="Open Sans"/>
                <a:sym typeface="Open Sans"/>
              </a:defRPr>
            </a:lvl3pPr>
            <a:lvl4pPr indent="0" lvl="3" marL="0" marR="0" algn="ctr">
              <a:spcBef>
                <a:spcPts val="0"/>
              </a:spcBef>
              <a:buNone/>
              <a:defRPr b="1" i="0" sz="1800" cap="none">
                <a:solidFill>
                  <a:schemeClr val="accent2"/>
                </a:solidFill>
                <a:latin typeface="Open Sans"/>
                <a:ea typeface="Open Sans"/>
                <a:cs typeface="Open Sans"/>
                <a:sym typeface="Open Sans"/>
              </a:defRPr>
            </a:lvl4pPr>
            <a:lvl5pPr indent="0" lvl="4" marL="0" marR="0" algn="ctr">
              <a:spcBef>
                <a:spcPts val="0"/>
              </a:spcBef>
              <a:buNone/>
              <a:defRPr b="1" i="0" sz="1800" cap="none">
                <a:solidFill>
                  <a:schemeClr val="accent2"/>
                </a:solidFill>
                <a:latin typeface="Open Sans"/>
                <a:ea typeface="Open Sans"/>
                <a:cs typeface="Open Sans"/>
                <a:sym typeface="Open Sans"/>
              </a:defRPr>
            </a:lvl5pPr>
            <a:lvl6pPr indent="0" lvl="5" marL="0" marR="0" algn="ctr">
              <a:spcBef>
                <a:spcPts val="0"/>
              </a:spcBef>
              <a:buNone/>
              <a:defRPr b="1" i="0" sz="1800" cap="none">
                <a:solidFill>
                  <a:schemeClr val="accent2"/>
                </a:solidFill>
                <a:latin typeface="Open Sans"/>
                <a:ea typeface="Open Sans"/>
                <a:cs typeface="Open Sans"/>
                <a:sym typeface="Open Sans"/>
              </a:defRPr>
            </a:lvl6pPr>
            <a:lvl7pPr indent="0" lvl="6" marL="0" marR="0" algn="ctr">
              <a:spcBef>
                <a:spcPts val="0"/>
              </a:spcBef>
              <a:buNone/>
              <a:defRPr b="1" i="0" sz="1800" cap="none">
                <a:solidFill>
                  <a:schemeClr val="accent2"/>
                </a:solidFill>
                <a:latin typeface="Open Sans"/>
                <a:ea typeface="Open Sans"/>
                <a:cs typeface="Open Sans"/>
                <a:sym typeface="Open Sans"/>
              </a:defRPr>
            </a:lvl7pPr>
            <a:lvl8pPr indent="0" lvl="7" marL="0" marR="0" algn="ctr">
              <a:spcBef>
                <a:spcPts val="0"/>
              </a:spcBef>
              <a:buNone/>
              <a:defRPr b="1" i="0" sz="1800" cap="none">
                <a:solidFill>
                  <a:schemeClr val="accent2"/>
                </a:solidFill>
                <a:latin typeface="Open Sans"/>
                <a:ea typeface="Open Sans"/>
                <a:cs typeface="Open Sans"/>
                <a:sym typeface="Open Sans"/>
              </a:defRPr>
            </a:lvl8pPr>
            <a:lvl9pPr indent="0" lvl="8" marL="0" marR="0" algn="ctr">
              <a:spcBef>
                <a:spcPts val="0"/>
              </a:spcBef>
              <a:buNone/>
              <a:defRPr b="1" i="0" sz="1800" cap="non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
        <p:nvSpPr>
          <p:cNvPr id="56" name="Google Shape;56;p7"/>
          <p:cNvSpPr/>
          <p:nvPr>
            <p:ph idx="2" type="pic"/>
          </p:nvPr>
        </p:nvSpPr>
        <p:spPr>
          <a:xfrm>
            <a:off x="1317615" y="895646"/>
            <a:ext cx="1956925" cy="1956928"/>
          </a:xfrm>
          <a:prstGeom prst="rect">
            <a:avLst/>
          </a:prstGeom>
          <a:noFill/>
          <a:ln>
            <a:noFill/>
          </a:ln>
        </p:spPr>
      </p:sp>
      <p:sp>
        <p:nvSpPr>
          <p:cNvPr id="57" name="Google Shape;57;p7"/>
          <p:cNvSpPr txBox="1"/>
          <p:nvPr>
            <p:ph idx="1" type="body"/>
          </p:nvPr>
        </p:nvSpPr>
        <p:spPr>
          <a:xfrm>
            <a:off x="4114800" y="2194560"/>
            <a:ext cx="7498080" cy="4023360"/>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1000"/>
              </a:spcBef>
              <a:spcAft>
                <a:spcPts val="0"/>
              </a:spcAft>
              <a:buClr>
                <a:schemeClr val="dk1"/>
              </a:buClr>
              <a:buSzPts val="1800"/>
              <a:buNone/>
              <a:defRPr sz="1800"/>
            </a:lvl1pPr>
            <a:lvl2pPr indent="-330200" lvl="1" marL="914400" algn="l">
              <a:lnSpc>
                <a:spcPct val="90000"/>
              </a:lnSpc>
              <a:spcBef>
                <a:spcPts val="500"/>
              </a:spcBef>
              <a:spcAft>
                <a:spcPts val="0"/>
              </a:spcAft>
              <a:buClr>
                <a:schemeClr val="dk1"/>
              </a:buClr>
              <a:buSzPts val="1600"/>
              <a:buChar char="•"/>
              <a:defRPr sz="1600"/>
            </a:lvl2pPr>
            <a:lvl3pPr indent="-317500" lvl="2" marL="1371600" algn="l">
              <a:lnSpc>
                <a:spcPct val="90000"/>
              </a:lnSpc>
              <a:spcBef>
                <a:spcPts val="500"/>
              </a:spcBef>
              <a:spcAft>
                <a:spcPts val="0"/>
              </a:spcAft>
              <a:buClr>
                <a:schemeClr val="dk1"/>
              </a:buClr>
              <a:buSzPts val="1400"/>
              <a:buChar char="•"/>
              <a:defRPr sz="1400"/>
            </a:lvl3pPr>
            <a:lvl4pPr indent="-304800" lvl="3" marL="1828800" algn="l">
              <a:lnSpc>
                <a:spcPct val="90000"/>
              </a:lnSpc>
              <a:spcBef>
                <a:spcPts val="500"/>
              </a:spcBef>
              <a:spcAft>
                <a:spcPts val="0"/>
              </a:spcAft>
              <a:buClr>
                <a:schemeClr val="dk1"/>
              </a:buClr>
              <a:buSzPts val="1200"/>
              <a:buChar char="•"/>
              <a:defRPr sz="12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grpSp>
        <p:nvGrpSpPr>
          <p:cNvPr id="58" name="Google Shape;58;p7"/>
          <p:cNvGrpSpPr/>
          <p:nvPr/>
        </p:nvGrpSpPr>
        <p:grpSpPr>
          <a:xfrm>
            <a:off x="2970685" y="620661"/>
            <a:ext cx="403448" cy="381782"/>
            <a:chOff x="10969280" y="1780012"/>
            <a:chExt cx="403448" cy="381782"/>
          </a:xfrm>
        </p:grpSpPr>
        <p:sp>
          <p:nvSpPr>
            <p:cNvPr id="59" name="Google Shape;59;p7"/>
            <p:cNvSpPr/>
            <p:nvPr/>
          </p:nvSpPr>
          <p:spPr>
            <a:xfrm>
              <a:off x="11281590" y="2070656"/>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60" name="Google Shape;60;p7"/>
            <p:cNvSpPr/>
            <p:nvPr/>
          </p:nvSpPr>
          <p:spPr>
            <a:xfrm>
              <a:off x="10969280" y="1780012"/>
              <a:ext cx="139039" cy="139039"/>
            </a:xfrm>
            <a:custGeom>
              <a:rect b="b" l="l" r="r" t="t"/>
              <a:pathLst>
                <a:path extrusionOk="0" h="139039" w="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grpSp>
      <p:sp>
        <p:nvSpPr>
          <p:cNvPr id="61" name="Google Shape;61;p7"/>
          <p:cNvSpPr txBox="1"/>
          <p:nvPr>
            <p:ph idx="11" type="ftr"/>
          </p:nvPr>
        </p:nvSpPr>
        <p:spPr>
          <a:xfrm>
            <a:off x="1280160" y="6356350"/>
            <a:ext cx="4114800" cy="365125"/>
          </a:xfrm>
          <a:prstGeom prst="rect">
            <a:avLst/>
          </a:prstGeom>
          <a:noFill/>
          <a:ln>
            <a:noFill/>
          </a:ln>
        </p:spPr>
        <p:txBody>
          <a:bodyPr anchorCtr="0" anchor="ctr" bIns="45700" lIns="0"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cxnSp>
        <p:nvCxnSpPr>
          <p:cNvPr id="62" name="Google Shape;62;p7"/>
          <p:cNvCxnSpPr/>
          <p:nvPr/>
        </p:nvCxnSpPr>
        <p:spPr>
          <a:xfrm>
            <a:off x="740664" y="1371600"/>
            <a:ext cx="0" cy="5486400"/>
          </a:xfrm>
          <a:prstGeom prst="straightConnector1">
            <a:avLst/>
          </a:prstGeom>
          <a:noFill/>
          <a:ln cap="sq" cmpd="sng" w="25400">
            <a:solidFill>
              <a:schemeClr val="accent2"/>
            </a:solidFill>
            <a:prstDash val="solid"/>
            <a:bevel/>
            <a:headEnd len="sm" w="sm" type="none"/>
            <a:tailEnd len="sm" w="sm" type="none"/>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titolo + sottotitolo" type="title">
  <p:cSld name="TITLE">
    <p:bg>
      <p:bgPr>
        <a:gradFill>
          <a:gsLst>
            <a:gs pos="0">
              <a:schemeClr val="accent2"/>
            </a:gs>
            <a:gs pos="100000">
              <a:schemeClr val="accent4"/>
            </a:gs>
          </a:gsLst>
          <a:lin ang="18000000" scaled="0"/>
        </a:gradFill>
      </p:bgPr>
    </p:bg>
    <p:spTree>
      <p:nvGrpSpPr>
        <p:cNvPr id="63" name="Shape 63"/>
        <p:cNvGrpSpPr/>
        <p:nvPr/>
      </p:nvGrpSpPr>
      <p:grpSpPr>
        <a:xfrm>
          <a:off x="0" y="0"/>
          <a:ext cx="0" cy="0"/>
          <a:chOff x="0" y="0"/>
          <a:chExt cx="0" cy="0"/>
        </a:xfrm>
      </p:grpSpPr>
      <p:sp>
        <p:nvSpPr>
          <p:cNvPr id="64" name="Google Shape;64;p8"/>
          <p:cNvSpPr txBox="1"/>
          <p:nvPr>
            <p:ph type="ctrTitle"/>
          </p:nvPr>
        </p:nvSpPr>
        <p:spPr>
          <a:xfrm>
            <a:off x="1280159" y="3383280"/>
            <a:ext cx="10302240" cy="1852046"/>
          </a:xfrm>
          <a:prstGeom prst="rect">
            <a:avLst/>
          </a:prstGeom>
          <a:noFill/>
          <a:ln>
            <a:noFill/>
          </a:ln>
        </p:spPr>
        <p:txBody>
          <a:bodyPr anchorCtr="0" anchor="t" bIns="0" lIns="0" spcFirstLastPara="1" rIns="0" wrap="square" tIns="274300">
            <a:noAutofit/>
          </a:bodyPr>
          <a:lstStyle>
            <a:lvl1pPr lvl="0" algn="l">
              <a:lnSpc>
                <a:spcPct val="100000"/>
              </a:lnSpc>
              <a:spcBef>
                <a:spcPts val="0"/>
              </a:spcBef>
              <a:spcAft>
                <a:spcPts val="0"/>
              </a:spcAft>
              <a:buClr>
                <a:schemeClr val="lt1"/>
              </a:buClr>
              <a:buSzPts val="5400"/>
              <a:buFont typeface="Open Sans"/>
              <a:buNone/>
              <a:defRPr b="1" i="0" sz="54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8"/>
          <p:cNvSpPr txBox="1"/>
          <p:nvPr>
            <p:ph idx="1" type="subTitle"/>
          </p:nvPr>
        </p:nvSpPr>
        <p:spPr>
          <a:xfrm>
            <a:off x="1280158" y="2966886"/>
            <a:ext cx="10302237" cy="397191"/>
          </a:xfrm>
          <a:prstGeom prst="rect">
            <a:avLst/>
          </a:prstGeom>
          <a:noFill/>
          <a:ln>
            <a:noFill/>
          </a:ln>
        </p:spPr>
        <p:txBody>
          <a:bodyPr anchorCtr="0" anchor="b" bIns="0" lIns="0" spcFirstLastPara="1" rIns="0" wrap="square" tIns="0">
            <a:normAutofit/>
          </a:bodyPr>
          <a:lstStyle>
            <a:lvl1pPr lvl="0" algn="l">
              <a:lnSpc>
                <a:spcPct val="90000"/>
              </a:lnSpc>
              <a:spcBef>
                <a:spcPts val="1000"/>
              </a:spcBef>
              <a:spcAft>
                <a:spcPts val="0"/>
              </a:spcAft>
              <a:buClr>
                <a:schemeClr val="lt1"/>
              </a:buClr>
              <a:buSzPts val="2400"/>
              <a:buNone/>
              <a:defRPr sz="24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grpSp>
        <p:nvGrpSpPr>
          <p:cNvPr id="66" name="Google Shape;66;p8"/>
          <p:cNvGrpSpPr/>
          <p:nvPr/>
        </p:nvGrpSpPr>
        <p:grpSpPr>
          <a:xfrm>
            <a:off x="10897692" y="620298"/>
            <a:ext cx="465456" cy="581432"/>
            <a:chOff x="7843462" y="2744546"/>
            <a:chExt cx="465456" cy="581432"/>
          </a:xfrm>
        </p:grpSpPr>
        <p:sp>
          <p:nvSpPr>
            <p:cNvPr id="67" name="Google Shape;67;p8"/>
            <p:cNvSpPr/>
            <p:nvPr/>
          </p:nvSpPr>
          <p:spPr>
            <a:xfrm>
              <a:off x="8217780" y="2973840"/>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68" name="Google Shape;68;p8"/>
            <p:cNvSpPr/>
            <p:nvPr/>
          </p:nvSpPr>
          <p:spPr>
            <a:xfrm>
              <a:off x="7859002" y="2744546"/>
              <a:ext cx="139038" cy="139038"/>
            </a:xfrm>
            <a:custGeom>
              <a:rect b="b" l="l" r="r" t="t"/>
              <a:pathLst>
                <a:path extrusionOk="0" h="139038" w="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69" name="Google Shape;69;p8"/>
            <p:cNvSpPr/>
            <p:nvPr/>
          </p:nvSpPr>
          <p:spPr>
            <a:xfrm>
              <a:off x="7843462" y="3198265"/>
              <a:ext cx="127713" cy="127713"/>
            </a:xfrm>
            <a:custGeom>
              <a:rect b="b" l="l" r="r" t="t"/>
              <a:pathLst>
                <a:path extrusionOk="0" h="127713" w="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grpSp>
      <p:cxnSp>
        <p:nvCxnSpPr>
          <p:cNvPr id="70" name="Google Shape;70;p8"/>
          <p:cNvCxnSpPr/>
          <p:nvPr/>
        </p:nvCxnSpPr>
        <p:spPr>
          <a:xfrm>
            <a:off x="1280160" y="0"/>
            <a:ext cx="0" cy="2775857"/>
          </a:xfrm>
          <a:prstGeom prst="straightConnector1">
            <a:avLst/>
          </a:prstGeom>
          <a:noFill/>
          <a:ln cap="sq" cmpd="sng" w="25400">
            <a:solidFill>
              <a:schemeClr val="lt1"/>
            </a:solidFill>
            <a:prstDash val="solid"/>
            <a:bevel/>
            <a:headEnd len="sm" w="sm" type="none"/>
            <a:tailEnd len="sm" w="sm" type="none"/>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fronto">
  <p:cSld name="Confronto">
    <p:spTree>
      <p:nvGrpSpPr>
        <p:cNvPr id="71" name="Shape 71"/>
        <p:cNvGrpSpPr/>
        <p:nvPr/>
      </p:nvGrpSpPr>
      <p:grpSpPr>
        <a:xfrm>
          <a:off x="0" y="0"/>
          <a:ext cx="0" cy="0"/>
          <a:chOff x="0" y="0"/>
          <a:chExt cx="0" cy="0"/>
        </a:xfrm>
      </p:grpSpPr>
      <p:sp>
        <p:nvSpPr>
          <p:cNvPr id="72" name="Google Shape;72;p9"/>
          <p:cNvSpPr txBox="1"/>
          <p:nvPr>
            <p:ph type="title"/>
          </p:nvPr>
        </p:nvSpPr>
        <p:spPr>
          <a:xfrm>
            <a:off x="1280160" y="685800"/>
            <a:ext cx="9137012" cy="128016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dk1"/>
              </a:buClr>
              <a:buSzPts val="4000"/>
              <a:buFont typeface="Open Sans"/>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9"/>
          <p:cNvSpPr txBox="1"/>
          <p:nvPr>
            <p:ph idx="12" type="sldNum"/>
          </p:nvPr>
        </p:nvSpPr>
        <p:spPr>
          <a:xfrm>
            <a:off x="486121" y="726630"/>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cap="none">
                <a:solidFill>
                  <a:schemeClr val="accent2"/>
                </a:solidFill>
                <a:latin typeface="Open Sans"/>
                <a:ea typeface="Open Sans"/>
                <a:cs typeface="Open Sans"/>
                <a:sym typeface="Open Sans"/>
              </a:defRPr>
            </a:lvl1pPr>
            <a:lvl2pPr indent="0" lvl="1" marL="0" marR="0" algn="ctr">
              <a:spcBef>
                <a:spcPts val="0"/>
              </a:spcBef>
              <a:buNone/>
              <a:defRPr b="1" i="0" sz="1800" cap="none">
                <a:solidFill>
                  <a:schemeClr val="accent2"/>
                </a:solidFill>
                <a:latin typeface="Open Sans"/>
                <a:ea typeface="Open Sans"/>
                <a:cs typeface="Open Sans"/>
                <a:sym typeface="Open Sans"/>
              </a:defRPr>
            </a:lvl2pPr>
            <a:lvl3pPr indent="0" lvl="2" marL="0" marR="0" algn="ctr">
              <a:spcBef>
                <a:spcPts val="0"/>
              </a:spcBef>
              <a:buNone/>
              <a:defRPr b="1" i="0" sz="1800" cap="none">
                <a:solidFill>
                  <a:schemeClr val="accent2"/>
                </a:solidFill>
                <a:latin typeface="Open Sans"/>
                <a:ea typeface="Open Sans"/>
                <a:cs typeface="Open Sans"/>
                <a:sym typeface="Open Sans"/>
              </a:defRPr>
            </a:lvl3pPr>
            <a:lvl4pPr indent="0" lvl="3" marL="0" marR="0" algn="ctr">
              <a:spcBef>
                <a:spcPts val="0"/>
              </a:spcBef>
              <a:buNone/>
              <a:defRPr b="1" i="0" sz="1800" cap="none">
                <a:solidFill>
                  <a:schemeClr val="accent2"/>
                </a:solidFill>
                <a:latin typeface="Open Sans"/>
                <a:ea typeface="Open Sans"/>
                <a:cs typeface="Open Sans"/>
                <a:sym typeface="Open Sans"/>
              </a:defRPr>
            </a:lvl4pPr>
            <a:lvl5pPr indent="0" lvl="4" marL="0" marR="0" algn="ctr">
              <a:spcBef>
                <a:spcPts val="0"/>
              </a:spcBef>
              <a:buNone/>
              <a:defRPr b="1" i="0" sz="1800" cap="none">
                <a:solidFill>
                  <a:schemeClr val="accent2"/>
                </a:solidFill>
                <a:latin typeface="Open Sans"/>
                <a:ea typeface="Open Sans"/>
                <a:cs typeface="Open Sans"/>
                <a:sym typeface="Open Sans"/>
              </a:defRPr>
            </a:lvl5pPr>
            <a:lvl6pPr indent="0" lvl="5" marL="0" marR="0" algn="ctr">
              <a:spcBef>
                <a:spcPts val="0"/>
              </a:spcBef>
              <a:buNone/>
              <a:defRPr b="1" i="0" sz="1800" cap="none">
                <a:solidFill>
                  <a:schemeClr val="accent2"/>
                </a:solidFill>
                <a:latin typeface="Open Sans"/>
                <a:ea typeface="Open Sans"/>
                <a:cs typeface="Open Sans"/>
                <a:sym typeface="Open Sans"/>
              </a:defRPr>
            </a:lvl6pPr>
            <a:lvl7pPr indent="0" lvl="6" marL="0" marR="0" algn="ctr">
              <a:spcBef>
                <a:spcPts val="0"/>
              </a:spcBef>
              <a:buNone/>
              <a:defRPr b="1" i="0" sz="1800" cap="none">
                <a:solidFill>
                  <a:schemeClr val="accent2"/>
                </a:solidFill>
                <a:latin typeface="Open Sans"/>
                <a:ea typeface="Open Sans"/>
                <a:cs typeface="Open Sans"/>
                <a:sym typeface="Open Sans"/>
              </a:defRPr>
            </a:lvl7pPr>
            <a:lvl8pPr indent="0" lvl="7" marL="0" marR="0" algn="ctr">
              <a:spcBef>
                <a:spcPts val="0"/>
              </a:spcBef>
              <a:buNone/>
              <a:defRPr b="1" i="0" sz="1800" cap="none">
                <a:solidFill>
                  <a:schemeClr val="accent2"/>
                </a:solidFill>
                <a:latin typeface="Open Sans"/>
                <a:ea typeface="Open Sans"/>
                <a:cs typeface="Open Sans"/>
                <a:sym typeface="Open Sans"/>
              </a:defRPr>
            </a:lvl8pPr>
            <a:lvl9pPr indent="0" lvl="8" marL="0" marR="0" algn="ctr">
              <a:spcBef>
                <a:spcPts val="0"/>
              </a:spcBef>
              <a:buNone/>
              <a:defRPr b="1" i="0" sz="1800" cap="non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
        <p:nvSpPr>
          <p:cNvPr id="74" name="Google Shape;74;p9"/>
          <p:cNvSpPr txBox="1"/>
          <p:nvPr>
            <p:ph idx="1" type="body"/>
          </p:nvPr>
        </p:nvSpPr>
        <p:spPr>
          <a:xfrm>
            <a:off x="1280160" y="2327440"/>
            <a:ext cx="4846320" cy="4040574"/>
          </a:xfrm>
          <a:prstGeom prst="rect">
            <a:avLst/>
          </a:prstGeom>
          <a:noFill/>
          <a:ln>
            <a:noFill/>
          </a:ln>
        </p:spPr>
        <p:txBody>
          <a:bodyPr anchorCtr="0" anchor="t" bIns="0" lIns="0" spcFirstLastPara="1" rIns="0" wrap="square" tIns="0">
            <a:normAutofit/>
          </a:bodyPr>
          <a:lstStyle>
            <a:lvl1pPr indent="-228600" lvl="0" marL="457200" algn="l">
              <a:lnSpc>
                <a:spcPct val="90000"/>
              </a:lnSpc>
              <a:spcBef>
                <a:spcPts val="1000"/>
              </a:spcBef>
              <a:spcAft>
                <a:spcPts val="0"/>
              </a:spcAft>
              <a:buClr>
                <a:schemeClr val="dk1"/>
              </a:buClr>
              <a:buSzPts val="1800"/>
              <a:buNone/>
              <a:defRPr sz="1800"/>
            </a:lvl1pPr>
            <a:lvl2pPr indent="-342900" lvl="1" marL="914400" algn="l">
              <a:lnSpc>
                <a:spcPct val="90000"/>
              </a:lnSpc>
              <a:spcBef>
                <a:spcPts val="1200"/>
              </a:spcBef>
              <a:spcAft>
                <a:spcPts val="0"/>
              </a:spcAft>
              <a:buClr>
                <a:schemeClr val="dk1"/>
              </a:buClr>
              <a:buSzPts val="1800"/>
              <a:buChar char="•"/>
              <a:defRPr sz="1800"/>
            </a:lvl2pPr>
            <a:lvl3pPr indent="-342900" lvl="2" marL="1371600" algn="l">
              <a:lnSpc>
                <a:spcPct val="90000"/>
              </a:lnSpc>
              <a:spcBef>
                <a:spcPts val="1200"/>
              </a:spcBef>
              <a:spcAft>
                <a:spcPts val="0"/>
              </a:spcAft>
              <a:buClr>
                <a:schemeClr val="dk1"/>
              </a:buClr>
              <a:buSzPts val="1800"/>
              <a:buChar char="•"/>
              <a:defRPr sz="1800"/>
            </a:lvl3pPr>
            <a:lvl4pPr indent="-342900" lvl="3" marL="1828800" algn="l">
              <a:lnSpc>
                <a:spcPct val="90000"/>
              </a:lnSpc>
              <a:spcBef>
                <a:spcPts val="1200"/>
              </a:spcBef>
              <a:spcAft>
                <a:spcPts val="0"/>
              </a:spcAft>
              <a:buClr>
                <a:schemeClr val="dk1"/>
              </a:buClr>
              <a:buSzPts val="1800"/>
              <a:buChar char="•"/>
              <a:defRPr sz="1800"/>
            </a:lvl4pPr>
            <a:lvl5pPr indent="-342900" lvl="4" marL="2286000" algn="l">
              <a:lnSpc>
                <a:spcPct val="90000"/>
              </a:lnSpc>
              <a:spcBef>
                <a:spcPts val="1200"/>
              </a:spcBef>
              <a:spcAft>
                <a:spcPts val="0"/>
              </a:spcAft>
              <a:buClr>
                <a:schemeClr val="dk1"/>
              </a:buClr>
              <a:buSzPts val="1800"/>
              <a:buChar char="•"/>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5" name="Google Shape;75;p9"/>
          <p:cNvSpPr txBox="1"/>
          <p:nvPr>
            <p:ph idx="2" type="body"/>
          </p:nvPr>
        </p:nvSpPr>
        <p:spPr>
          <a:xfrm>
            <a:off x="6723402" y="2327441"/>
            <a:ext cx="4846320" cy="4040574"/>
          </a:xfrm>
          <a:prstGeom prst="rect">
            <a:avLst/>
          </a:prstGeom>
          <a:noFill/>
          <a:ln>
            <a:noFill/>
          </a:ln>
        </p:spPr>
        <p:txBody>
          <a:bodyPr anchorCtr="0" anchor="t" bIns="0" lIns="0" spcFirstLastPara="1" rIns="0" wrap="square" tIns="0">
            <a:normAutofit/>
          </a:bodyPr>
          <a:lstStyle>
            <a:lvl1pPr indent="-228600" lvl="0" marL="457200" algn="l">
              <a:lnSpc>
                <a:spcPct val="90000"/>
              </a:lnSpc>
              <a:spcBef>
                <a:spcPts val="1000"/>
              </a:spcBef>
              <a:spcAft>
                <a:spcPts val="0"/>
              </a:spcAft>
              <a:buClr>
                <a:schemeClr val="dk1"/>
              </a:buClr>
              <a:buSzPts val="1800"/>
              <a:buNone/>
              <a:defRPr sz="1800"/>
            </a:lvl1pPr>
            <a:lvl2pPr indent="-342900" lvl="1" marL="914400" algn="l">
              <a:lnSpc>
                <a:spcPct val="90000"/>
              </a:lnSpc>
              <a:spcBef>
                <a:spcPts val="1200"/>
              </a:spcBef>
              <a:spcAft>
                <a:spcPts val="0"/>
              </a:spcAft>
              <a:buClr>
                <a:schemeClr val="dk1"/>
              </a:buClr>
              <a:buSzPts val="1800"/>
              <a:buChar char="•"/>
              <a:defRPr sz="1800"/>
            </a:lvl2pPr>
            <a:lvl3pPr indent="-342900" lvl="2" marL="1371600" algn="l">
              <a:lnSpc>
                <a:spcPct val="90000"/>
              </a:lnSpc>
              <a:spcBef>
                <a:spcPts val="1200"/>
              </a:spcBef>
              <a:spcAft>
                <a:spcPts val="0"/>
              </a:spcAft>
              <a:buClr>
                <a:schemeClr val="dk1"/>
              </a:buClr>
              <a:buSzPts val="1800"/>
              <a:buChar char="•"/>
              <a:defRPr sz="1800"/>
            </a:lvl3pPr>
            <a:lvl4pPr indent="-342900" lvl="3" marL="1828800" algn="l">
              <a:lnSpc>
                <a:spcPct val="90000"/>
              </a:lnSpc>
              <a:spcBef>
                <a:spcPts val="1200"/>
              </a:spcBef>
              <a:spcAft>
                <a:spcPts val="0"/>
              </a:spcAft>
              <a:buClr>
                <a:schemeClr val="dk1"/>
              </a:buClr>
              <a:buSzPts val="1800"/>
              <a:buChar char="•"/>
              <a:defRPr sz="1800"/>
            </a:lvl4pPr>
            <a:lvl5pPr indent="-342900" lvl="4" marL="2286000" algn="l">
              <a:lnSpc>
                <a:spcPct val="90000"/>
              </a:lnSpc>
              <a:spcBef>
                <a:spcPts val="1200"/>
              </a:spcBef>
              <a:spcAft>
                <a:spcPts val="0"/>
              </a:spcAft>
              <a:buClr>
                <a:schemeClr val="dk1"/>
              </a:buClr>
              <a:buSzPts val="1800"/>
              <a:buChar char="•"/>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cxnSp>
        <p:nvCxnSpPr>
          <p:cNvPr id="76" name="Google Shape;76;p9"/>
          <p:cNvCxnSpPr/>
          <p:nvPr/>
        </p:nvCxnSpPr>
        <p:spPr>
          <a:xfrm>
            <a:off x="740664" y="1371600"/>
            <a:ext cx="0" cy="5486400"/>
          </a:xfrm>
          <a:prstGeom prst="straightConnector1">
            <a:avLst/>
          </a:prstGeom>
          <a:noFill/>
          <a:ln cap="sq" cmpd="sng" w="25400">
            <a:solidFill>
              <a:schemeClr val="accent2"/>
            </a:solidFill>
            <a:prstDash val="solid"/>
            <a:bevel/>
            <a:headEnd len="sm" w="sm" type="none"/>
            <a:tailEnd len="sm" w="sm" type="none"/>
          </a:ln>
        </p:spPr>
      </p:cxnSp>
      <p:sp>
        <p:nvSpPr>
          <p:cNvPr id="77" name="Google Shape;77;p9"/>
          <p:cNvSpPr/>
          <p:nvPr/>
        </p:nvSpPr>
        <p:spPr>
          <a:xfrm>
            <a:off x="10508317" y="492206"/>
            <a:ext cx="139039" cy="139039"/>
          </a:xfrm>
          <a:custGeom>
            <a:rect b="b" l="l" r="r" t="t"/>
            <a:pathLst>
              <a:path extrusionOk="0" h="139039" w="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78" name="Google Shape;78;p9"/>
          <p:cNvSpPr/>
          <p:nvPr/>
        </p:nvSpPr>
        <p:spPr>
          <a:xfrm>
            <a:off x="11477944" y="1055581"/>
            <a:ext cx="127714" cy="127714"/>
          </a:xfrm>
          <a:custGeom>
            <a:rect b="b" l="l" r="r" t="t"/>
            <a:pathLst>
              <a:path extrusionOk="0" h="127714" w="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79" name="Google Shape;79;p9"/>
          <p:cNvSpPr/>
          <p:nvPr/>
        </p:nvSpPr>
        <p:spPr>
          <a:xfrm>
            <a:off x="11241555" y="446637"/>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80" name="Google Shape;80;p9"/>
          <p:cNvSpPr txBox="1"/>
          <p:nvPr>
            <p:ph idx="11" type="ftr"/>
          </p:nvPr>
        </p:nvSpPr>
        <p:spPr>
          <a:xfrm>
            <a:off x="1280160" y="6356350"/>
            <a:ext cx="4114800" cy="365125"/>
          </a:xfrm>
          <a:prstGeom prst="rect">
            <a:avLst/>
          </a:prstGeom>
          <a:noFill/>
          <a:ln>
            <a:noFill/>
          </a:ln>
        </p:spPr>
        <p:txBody>
          <a:bodyPr anchorCtr="0" anchor="ctr" bIns="45700" lIns="91425" spcFirstLastPara="1" rIns="0"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fronto 2">
  <p:cSld name="Confronto 2">
    <p:spTree>
      <p:nvGrpSpPr>
        <p:cNvPr id="81" name="Shape 81"/>
        <p:cNvGrpSpPr/>
        <p:nvPr/>
      </p:nvGrpSpPr>
      <p:grpSpPr>
        <a:xfrm>
          <a:off x="0" y="0"/>
          <a:ext cx="0" cy="0"/>
          <a:chOff x="0" y="0"/>
          <a:chExt cx="0" cy="0"/>
        </a:xfrm>
      </p:grpSpPr>
      <p:sp>
        <p:nvSpPr>
          <p:cNvPr id="82" name="Google Shape;82;p10"/>
          <p:cNvSpPr/>
          <p:nvPr/>
        </p:nvSpPr>
        <p:spPr>
          <a:xfrm>
            <a:off x="6412992" y="0"/>
            <a:ext cx="5779008" cy="6858000"/>
          </a:xfrm>
          <a:prstGeom prst="rect">
            <a:avLst/>
          </a:prstGeom>
          <a:gradFill>
            <a:gsLst>
              <a:gs pos="0">
                <a:schemeClr val="accent2"/>
              </a:gs>
              <a:gs pos="100000">
                <a:schemeClr val="accent4"/>
              </a:gs>
            </a:gsLst>
            <a:lin ang="42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83" name="Google Shape;83;p10"/>
          <p:cNvSpPr txBox="1"/>
          <p:nvPr>
            <p:ph type="title"/>
          </p:nvPr>
        </p:nvSpPr>
        <p:spPr>
          <a:xfrm>
            <a:off x="6915572" y="685800"/>
            <a:ext cx="4754880" cy="567055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1"/>
              </a:buClr>
              <a:buSzPts val="4000"/>
              <a:buFont typeface="Open Sans"/>
              <a:buNone/>
              <a:defRPr b="1" sz="40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0"/>
          <p:cNvSpPr txBox="1"/>
          <p:nvPr>
            <p:ph idx="12" type="sldNum"/>
          </p:nvPr>
        </p:nvSpPr>
        <p:spPr>
          <a:xfrm>
            <a:off x="486121" y="726630"/>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cap="none">
                <a:solidFill>
                  <a:schemeClr val="accent2"/>
                </a:solidFill>
                <a:latin typeface="Open Sans"/>
                <a:ea typeface="Open Sans"/>
                <a:cs typeface="Open Sans"/>
                <a:sym typeface="Open Sans"/>
              </a:defRPr>
            </a:lvl1pPr>
            <a:lvl2pPr indent="0" lvl="1" marL="0" marR="0" algn="ctr">
              <a:spcBef>
                <a:spcPts val="0"/>
              </a:spcBef>
              <a:buNone/>
              <a:defRPr b="1" i="0" sz="1800" cap="none">
                <a:solidFill>
                  <a:schemeClr val="accent2"/>
                </a:solidFill>
                <a:latin typeface="Open Sans"/>
                <a:ea typeface="Open Sans"/>
                <a:cs typeface="Open Sans"/>
                <a:sym typeface="Open Sans"/>
              </a:defRPr>
            </a:lvl2pPr>
            <a:lvl3pPr indent="0" lvl="2" marL="0" marR="0" algn="ctr">
              <a:spcBef>
                <a:spcPts val="0"/>
              </a:spcBef>
              <a:buNone/>
              <a:defRPr b="1" i="0" sz="1800" cap="none">
                <a:solidFill>
                  <a:schemeClr val="accent2"/>
                </a:solidFill>
                <a:latin typeface="Open Sans"/>
                <a:ea typeface="Open Sans"/>
                <a:cs typeface="Open Sans"/>
                <a:sym typeface="Open Sans"/>
              </a:defRPr>
            </a:lvl3pPr>
            <a:lvl4pPr indent="0" lvl="3" marL="0" marR="0" algn="ctr">
              <a:spcBef>
                <a:spcPts val="0"/>
              </a:spcBef>
              <a:buNone/>
              <a:defRPr b="1" i="0" sz="1800" cap="none">
                <a:solidFill>
                  <a:schemeClr val="accent2"/>
                </a:solidFill>
                <a:latin typeface="Open Sans"/>
                <a:ea typeface="Open Sans"/>
                <a:cs typeface="Open Sans"/>
                <a:sym typeface="Open Sans"/>
              </a:defRPr>
            </a:lvl4pPr>
            <a:lvl5pPr indent="0" lvl="4" marL="0" marR="0" algn="ctr">
              <a:spcBef>
                <a:spcPts val="0"/>
              </a:spcBef>
              <a:buNone/>
              <a:defRPr b="1" i="0" sz="1800" cap="none">
                <a:solidFill>
                  <a:schemeClr val="accent2"/>
                </a:solidFill>
                <a:latin typeface="Open Sans"/>
                <a:ea typeface="Open Sans"/>
                <a:cs typeface="Open Sans"/>
                <a:sym typeface="Open Sans"/>
              </a:defRPr>
            </a:lvl5pPr>
            <a:lvl6pPr indent="0" lvl="5" marL="0" marR="0" algn="ctr">
              <a:spcBef>
                <a:spcPts val="0"/>
              </a:spcBef>
              <a:buNone/>
              <a:defRPr b="1" i="0" sz="1800" cap="none">
                <a:solidFill>
                  <a:schemeClr val="accent2"/>
                </a:solidFill>
                <a:latin typeface="Open Sans"/>
                <a:ea typeface="Open Sans"/>
                <a:cs typeface="Open Sans"/>
                <a:sym typeface="Open Sans"/>
              </a:defRPr>
            </a:lvl6pPr>
            <a:lvl7pPr indent="0" lvl="6" marL="0" marR="0" algn="ctr">
              <a:spcBef>
                <a:spcPts val="0"/>
              </a:spcBef>
              <a:buNone/>
              <a:defRPr b="1" i="0" sz="1800" cap="none">
                <a:solidFill>
                  <a:schemeClr val="accent2"/>
                </a:solidFill>
                <a:latin typeface="Open Sans"/>
                <a:ea typeface="Open Sans"/>
                <a:cs typeface="Open Sans"/>
                <a:sym typeface="Open Sans"/>
              </a:defRPr>
            </a:lvl7pPr>
            <a:lvl8pPr indent="0" lvl="7" marL="0" marR="0" algn="ctr">
              <a:spcBef>
                <a:spcPts val="0"/>
              </a:spcBef>
              <a:buNone/>
              <a:defRPr b="1" i="0" sz="1800" cap="none">
                <a:solidFill>
                  <a:schemeClr val="accent2"/>
                </a:solidFill>
                <a:latin typeface="Open Sans"/>
                <a:ea typeface="Open Sans"/>
                <a:cs typeface="Open Sans"/>
                <a:sym typeface="Open Sans"/>
              </a:defRPr>
            </a:lvl8pPr>
            <a:lvl9pPr indent="0" lvl="8" marL="0" marR="0" algn="ctr">
              <a:spcBef>
                <a:spcPts val="0"/>
              </a:spcBef>
              <a:buNone/>
              <a:defRPr b="1" i="0" sz="1800" cap="non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
        <p:nvSpPr>
          <p:cNvPr id="85" name="Google Shape;85;p10"/>
          <p:cNvSpPr txBox="1"/>
          <p:nvPr>
            <p:ph idx="1" type="body"/>
          </p:nvPr>
        </p:nvSpPr>
        <p:spPr>
          <a:xfrm>
            <a:off x="1279526" y="1533524"/>
            <a:ext cx="4663440" cy="1895475"/>
          </a:xfrm>
          <a:prstGeom prst="rect">
            <a:avLst/>
          </a:prstGeom>
          <a:noFill/>
          <a:ln>
            <a:noFill/>
          </a:ln>
        </p:spPr>
        <p:txBody>
          <a:bodyPr anchorCtr="0" anchor="t" bIns="0" lIns="0" spcFirstLastPara="1" rIns="0" wrap="square" tIns="0">
            <a:noAutofit/>
          </a:bodyPr>
          <a:lstStyle>
            <a:lvl1pPr indent="-342900" lvl="0" marL="457200" algn="l">
              <a:lnSpc>
                <a:spcPct val="90000"/>
              </a:lnSpc>
              <a:spcBef>
                <a:spcPts val="1000"/>
              </a:spcBef>
              <a:spcAft>
                <a:spcPts val="0"/>
              </a:spcAft>
              <a:buClr>
                <a:schemeClr val="dk1"/>
              </a:buClr>
              <a:buSzPts val="1800"/>
              <a:buFont typeface="Open Sans"/>
              <a:buAutoNum type="arabicPeriod"/>
              <a:defRPr sz="1800"/>
            </a:lvl1pPr>
            <a:lvl2pPr indent="-342900" lvl="1" marL="914400" algn="l">
              <a:lnSpc>
                <a:spcPct val="90000"/>
              </a:lnSpc>
              <a:spcBef>
                <a:spcPts val="1200"/>
              </a:spcBef>
              <a:spcAft>
                <a:spcPts val="0"/>
              </a:spcAft>
              <a:buClr>
                <a:schemeClr val="dk1"/>
              </a:buClr>
              <a:buSzPts val="1800"/>
              <a:buFont typeface="Open Sans"/>
              <a:buAutoNum type="alphaLcPeriod"/>
              <a:defRPr sz="1800"/>
            </a:lvl2pPr>
            <a:lvl3pPr indent="-342900" lvl="2" marL="1371600" algn="l">
              <a:lnSpc>
                <a:spcPct val="90000"/>
              </a:lnSpc>
              <a:spcBef>
                <a:spcPts val="1200"/>
              </a:spcBef>
              <a:spcAft>
                <a:spcPts val="0"/>
              </a:spcAft>
              <a:buClr>
                <a:schemeClr val="dk1"/>
              </a:buClr>
              <a:buSzPts val="1800"/>
              <a:buFont typeface="Open Sans"/>
              <a:buAutoNum type="arabicParenR"/>
              <a:defRPr sz="1800"/>
            </a:lvl3pPr>
            <a:lvl4pPr indent="-342900" lvl="3" marL="1828800" algn="l">
              <a:lnSpc>
                <a:spcPct val="90000"/>
              </a:lnSpc>
              <a:spcBef>
                <a:spcPts val="1200"/>
              </a:spcBef>
              <a:spcAft>
                <a:spcPts val="0"/>
              </a:spcAft>
              <a:buClr>
                <a:schemeClr val="dk1"/>
              </a:buClr>
              <a:buSzPts val="1800"/>
              <a:buFont typeface="Open Sans"/>
              <a:buAutoNum type="alphaLcParenR"/>
              <a:defRPr sz="1800"/>
            </a:lvl4pPr>
            <a:lvl5pPr indent="-342900" lvl="4" marL="2286000" algn="l">
              <a:lnSpc>
                <a:spcPct val="90000"/>
              </a:lnSpc>
              <a:spcBef>
                <a:spcPts val="1200"/>
              </a:spcBef>
              <a:spcAft>
                <a:spcPts val="0"/>
              </a:spcAft>
              <a:buClr>
                <a:schemeClr val="dk1"/>
              </a:buClr>
              <a:buSzPts val="1800"/>
              <a:buFont typeface="Open Sans"/>
              <a:buAutoNum type="romanLcPeriod"/>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6" name="Google Shape;86;p10"/>
          <p:cNvSpPr txBox="1"/>
          <p:nvPr>
            <p:ph idx="2" type="body"/>
          </p:nvPr>
        </p:nvSpPr>
        <p:spPr>
          <a:xfrm>
            <a:off x="1280160" y="3482974"/>
            <a:ext cx="4663440" cy="1190033"/>
          </a:xfrm>
          <a:prstGeom prst="rect">
            <a:avLst/>
          </a:prstGeom>
          <a:noFill/>
          <a:ln>
            <a:noFill/>
          </a:ln>
        </p:spPr>
        <p:txBody>
          <a:bodyPr anchorCtr="0" anchor="t" bIns="0" lIns="0" spcFirstLastPara="1" rIns="0" wrap="square" tIns="0">
            <a:noAutofit/>
          </a:bodyPr>
          <a:lstStyle>
            <a:lvl1pPr indent="-228600" lvl="0" marL="457200" algn="l">
              <a:lnSpc>
                <a:spcPct val="90000"/>
              </a:lnSpc>
              <a:spcBef>
                <a:spcPts val="1200"/>
              </a:spcBef>
              <a:spcAft>
                <a:spcPts val="0"/>
              </a:spcAft>
              <a:buClr>
                <a:schemeClr val="dk1"/>
              </a:buClr>
              <a:buSzPts val="1800"/>
              <a:buNone/>
              <a:defRPr sz="1800"/>
            </a:lvl1pPr>
            <a:lvl2pPr indent="-228600" lvl="1" marL="914400" algn="l">
              <a:lnSpc>
                <a:spcPct val="90000"/>
              </a:lnSpc>
              <a:spcBef>
                <a:spcPts val="1200"/>
              </a:spcBef>
              <a:spcAft>
                <a:spcPts val="0"/>
              </a:spcAft>
              <a:buClr>
                <a:schemeClr val="dk1"/>
              </a:buClr>
              <a:buSzPts val="1600"/>
              <a:buNone/>
              <a:defRPr sz="1600"/>
            </a:lvl2pPr>
            <a:lvl3pPr indent="-228600" lvl="2" marL="1371600" algn="l">
              <a:lnSpc>
                <a:spcPct val="90000"/>
              </a:lnSpc>
              <a:spcBef>
                <a:spcPts val="1200"/>
              </a:spcBef>
              <a:spcAft>
                <a:spcPts val="0"/>
              </a:spcAft>
              <a:buClr>
                <a:schemeClr val="dk1"/>
              </a:buClr>
              <a:buSzPts val="1400"/>
              <a:buNone/>
              <a:defRPr sz="1400"/>
            </a:lvl3pPr>
            <a:lvl4pPr indent="-228600" lvl="3" marL="1828800" algn="l">
              <a:lnSpc>
                <a:spcPct val="90000"/>
              </a:lnSpc>
              <a:spcBef>
                <a:spcPts val="1200"/>
              </a:spcBef>
              <a:spcAft>
                <a:spcPts val="0"/>
              </a:spcAft>
              <a:buClr>
                <a:schemeClr val="dk1"/>
              </a:buClr>
              <a:buSzPts val="1200"/>
              <a:buNone/>
              <a:defRPr sz="1200"/>
            </a:lvl4pPr>
            <a:lvl5pPr indent="-228600" lvl="4" marL="2286000" algn="l">
              <a:lnSpc>
                <a:spcPct val="90000"/>
              </a:lnSpc>
              <a:spcBef>
                <a:spcPts val="1200"/>
              </a:spcBef>
              <a:spcAft>
                <a:spcPts val="0"/>
              </a:spcAft>
              <a:buClr>
                <a:schemeClr val="dk1"/>
              </a:buClr>
              <a:buSzPts val="1200"/>
              <a:buNone/>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7" name="Google Shape;87;p10"/>
          <p:cNvSpPr txBox="1"/>
          <p:nvPr>
            <p:ph idx="3" type="body"/>
          </p:nvPr>
        </p:nvSpPr>
        <p:spPr>
          <a:xfrm>
            <a:off x="1280160" y="4692058"/>
            <a:ext cx="4663440" cy="1584918"/>
          </a:xfrm>
          <a:prstGeom prst="rect">
            <a:avLst/>
          </a:prstGeom>
          <a:noFill/>
          <a:ln>
            <a:noFill/>
          </a:ln>
        </p:spPr>
        <p:txBody>
          <a:bodyPr anchorCtr="0" anchor="t" bIns="0" lIns="0" spcFirstLastPara="1" rIns="0" wrap="square" tIns="0">
            <a:noAutofit/>
          </a:bodyPr>
          <a:lstStyle>
            <a:lvl1pPr indent="-342900" lvl="0" marL="457200" algn="l">
              <a:lnSpc>
                <a:spcPct val="90000"/>
              </a:lnSpc>
              <a:spcBef>
                <a:spcPts val="1200"/>
              </a:spcBef>
              <a:spcAft>
                <a:spcPts val="0"/>
              </a:spcAft>
              <a:buClr>
                <a:schemeClr val="dk1"/>
              </a:buClr>
              <a:buSzPts val="1800"/>
              <a:buChar char="•"/>
              <a:defRPr sz="1800"/>
            </a:lvl1pPr>
            <a:lvl2pPr indent="-330200" lvl="1" marL="914400" algn="l">
              <a:lnSpc>
                <a:spcPct val="90000"/>
              </a:lnSpc>
              <a:spcBef>
                <a:spcPts val="1200"/>
              </a:spcBef>
              <a:spcAft>
                <a:spcPts val="0"/>
              </a:spcAft>
              <a:buClr>
                <a:schemeClr val="dk1"/>
              </a:buClr>
              <a:buSzPts val="1600"/>
              <a:buChar char="•"/>
              <a:defRPr sz="1600"/>
            </a:lvl2pPr>
            <a:lvl3pPr indent="-317500" lvl="2" marL="1371600" algn="l">
              <a:lnSpc>
                <a:spcPct val="90000"/>
              </a:lnSpc>
              <a:spcBef>
                <a:spcPts val="1200"/>
              </a:spcBef>
              <a:spcAft>
                <a:spcPts val="0"/>
              </a:spcAft>
              <a:buClr>
                <a:schemeClr val="dk1"/>
              </a:buClr>
              <a:buSzPts val="1400"/>
              <a:buChar char="•"/>
              <a:defRPr sz="1400"/>
            </a:lvl3pPr>
            <a:lvl4pPr indent="-304800" lvl="3" marL="1828800" algn="l">
              <a:lnSpc>
                <a:spcPct val="90000"/>
              </a:lnSpc>
              <a:spcBef>
                <a:spcPts val="1200"/>
              </a:spcBef>
              <a:spcAft>
                <a:spcPts val="0"/>
              </a:spcAft>
              <a:buClr>
                <a:schemeClr val="dk1"/>
              </a:buClr>
              <a:buSzPts val="1200"/>
              <a:buChar char="•"/>
              <a:defRPr sz="1200"/>
            </a:lvl4pPr>
            <a:lvl5pPr indent="-304800" lvl="4" marL="2286000" algn="l">
              <a:lnSpc>
                <a:spcPct val="90000"/>
              </a:lnSpc>
              <a:spcBef>
                <a:spcPts val="1200"/>
              </a:spcBef>
              <a:spcAft>
                <a:spcPts val="0"/>
              </a:spcAft>
              <a:buClr>
                <a:schemeClr val="dk1"/>
              </a:buClr>
              <a:buSzPts val="120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8" name="Google Shape;88;p10"/>
          <p:cNvSpPr txBox="1"/>
          <p:nvPr>
            <p:ph idx="11" type="ftr"/>
          </p:nvPr>
        </p:nvSpPr>
        <p:spPr>
          <a:xfrm>
            <a:off x="1280160" y="6356350"/>
            <a:ext cx="4114800" cy="365125"/>
          </a:xfrm>
          <a:prstGeom prst="rect">
            <a:avLst/>
          </a:prstGeom>
          <a:noFill/>
          <a:ln>
            <a:noFill/>
          </a:ln>
        </p:spPr>
        <p:txBody>
          <a:bodyPr anchorCtr="0" anchor="ctr" bIns="45700" lIns="0"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cxnSp>
        <p:nvCxnSpPr>
          <p:cNvPr id="89" name="Google Shape;89;p10"/>
          <p:cNvCxnSpPr/>
          <p:nvPr/>
        </p:nvCxnSpPr>
        <p:spPr>
          <a:xfrm>
            <a:off x="740664" y="1371600"/>
            <a:ext cx="0" cy="5486400"/>
          </a:xfrm>
          <a:prstGeom prst="straightConnector1">
            <a:avLst/>
          </a:prstGeom>
          <a:noFill/>
          <a:ln cap="sq" cmpd="sng" w="25400">
            <a:solidFill>
              <a:schemeClr val="accent2"/>
            </a:solidFill>
            <a:prstDash val="solid"/>
            <a:bevel/>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contenuto 3">
  <p:cSld name="Titolo e contenuto 3">
    <p:spTree>
      <p:nvGrpSpPr>
        <p:cNvPr id="90" name="Shape 90"/>
        <p:cNvGrpSpPr/>
        <p:nvPr/>
      </p:nvGrpSpPr>
      <p:grpSpPr>
        <a:xfrm>
          <a:off x="0" y="0"/>
          <a:ext cx="0" cy="0"/>
          <a:chOff x="0" y="0"/>
          <a:chExt cx="0" cy="0"/>
        </a:xfrm>
      </p:grpSpPr>
      <p:sp>
        <p:nvSpPr>
          <p:cNvPr id="91" name="Google Shape;91;p11"/>
          <p:cNvSpPr txBox="1"/>
          <p:nvPr>
            <p:ph type="ctrTitle"/>
          </p:nvPr>
        </p:nvSpPr>
        <p:spPr>
          <a:xfrm>
            <a:off x="1280160" y="301752"/>
            <a:ext cx="4663438" cy="2441448"/>
          </a:xfrm>
          <a:prstGeom prst="rect">
            <a:avLst/>
          </a:prstGeom>
          <a:noFill/>
          <a:ln>
            <a:noFill/>
          </a:ln>
        </p:spPr>
        <p:txBody>
          <a:bodyPr anchorCtr="0" anchor="ctr" bIns="0" lIns="0" spcFirstLastPara="1" rIns="0" wrap="square" tIns="0">
            <a:noAutofit/>
          </a:bodyPr>
          <a:lstStyle>
            <a:lvl1pPr lvl="0" algn="l">
              <a:lnSpc>
                <a:spcPct val="100000"/>
              </a:lnSpc>
              <a:spcBef>
                <a:spcPts val="1000"/>
              </a:spcBef>
              <a:spcAft>
                <a:spcPts val="0"/>
              </a:spcAft>
              <a:buClr>
                <a:schemeClr val="dk1"/>
              </a:buClr>
              <a:buSzPts val="4000"/>
              <a:buFont typeface="Open Sans"/>
              <a:buNone/>
              <a:defRPr b="1" i="0"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1"/>
          <p:cNvSpPr txBox="1"/>
          <p:nvPr>
            <p:ph idx="12" type="sldNum"/>
          </p:nvPr>
        </p:nvSpPr>
        <p:spPr>
          <a:xfrm>
            <a:off x="484632" y="726630"/>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cap="none">
                <a:solidFill>
                  <a:schemeClr val="accent2"/>
                </a:solidFill>
                <a:latin typeface="Open Sans"/>
                <a:ea typeface="Open Sans"/>
                <a:cs typeface="Open Sans"/>
                <a:sym typeface="Open Sans"/>
              </a:defRPr>
            </a:lvl1pPr>
            <a:lvl2pPr indent="0" lvl="1" marL="0" marR="0" algn="ctr">
              <a:spcBef>
                <a:spcPts val="0"/>
              </a:spcBef>
              <a:buNone/>
              <a:defRPr b="1" i="0" sz="1800" cap="none">
                <a:solidFill>
                  <a:schemeClr val="accent2"/>
                </a:solidFill>
                <a:latin typeface="Open Sans"/>
                <a:ea typeface="Open Sans"/>
                <a:cs typeface="Open Sans"/>
                <a:sym typeface="Open Sans"/>
              </a:defRPr>
            </a:lvl2pPr>
            <a:lvl3pPr indent="0" lvl="2" marL="0" marR="0" algn="ctr">
              <a:spcBef>
                <a:spcPts val="0"/>
              </a:spcBef>
              <a:buNone/>
              <a:defRPr b="1" i="0" sz="1800" cap="none">
                <a:solidFill>
                  <a:schemeClr val="accent2"/>
                </a:solidFill>
                <a:latin typeface="Open Sans"/>
                <a:ea typeface="Open Sans"/>
                <a:cs typeface="Open Sans"/>
                <a:sym typeface="Open Sans"/>
              </a:defRPr>
            </a:lvl3pPr>
            <a:lvl4pPr indent="0" lvl="3" marL="0" marR="0" algn="ctr">
              <a:spcBef>
                <a:spcPts val="0"/>
              </a:spcBef>
              <a:buNone/>
              <a:defRPr b="1" i="0" sz="1800" cap="none">
                <a:solidFill>
                  <a:schemeClr val="accent2"/>
                </a:solidFill>
                <a:latin typeface="Open Sans"/>
                <a:ea typeface="Open Sans"/>
                <a:cs typeface="Open Sans"/>
                <a:sym typeface="Open Sans"/>
              </a:defRPr>
            </a:lvl4pPr>
            <a:lvl5pPr indent="0" lvl="4" marL="0" marR="0" algn="ctr">
              <a:spcBef>
                <a:spcPts val="0"/>
              </a:spcBef>
              <a:buNone/>
              <a:defRPr b="1" i="0" sz="1800" cap="none">
                <a:solidFill>
                  <a:schemeClr val="accent2"/>
                </a:solidFill>
                <a:latin typeface="Open Sans"/>
                <a:ea typeface="Open Sans"/>
                <a:cs typeface="Open Sans"/>
                <a:sym typeface="Open Sans"/>
              </a:defRPr>
            </a:lvl5pPr>
            <a:lvl6pPr indent="0" lvl="5" marL="0" marR="0" algn="ctr">
              <a:spcBef>
                <a:spcPts val="0"/>
              </a:spcBef>
              <a:buNone/>
              <a:defRPr b="1" i="0" sz="1800" cap="none">
                <a:solidFill>
                  <a:schemeClr val="accent2"/>
                </a:solidFill>
                <a:latin typeface="Open Sans"/>
                <a:ea typeface="Open Sans"/>
                <a:cs typeface="Open Sans"/>
                <a:sym typeface="Open Sans"/>
              </a:defRPr>
            </a:lvl6pPr>
            <a:lvl7pPr indent="0" lvl="6" marL="0" marR="0" algn="ctr">
              <a:spcBef>
                <a:spcPts val="0"/>
              </a:spcBef>
              <a:buNone/>
              <a:defRPr b="1" i="0" sz="1800" cap="none">
                <a:solidFill>
                  <a:schemeClr val="accent2"/>
                </a:solidFill>
                <a:latin typeface="Open Sans"/>
                <a:ea typeface="Open Sans"/>
                <a:cs typeface="Open Sans"/>
                <a:sym typeface="Open Sans"/>
              </a:defRPr>
            </a:lvl7pPr>
            <a:lvl8pPr indent="0" lvl="7" marL="0" marR="0" algn="ctr">
              <a:spcBef>
                <a:spcPts val="0"/>
              </a:spcBef>
              <a:buNone/>
              <a:defRPr b="1" i="0" sz="1800" cap="none">
                <a:solidFill>
                  <a:schemeClr val="accent2"/>
                </a:solidFill>
                <a:latin typeface="Open Sans"/>
                <a:ea typeface="Open Sans"/>
                <a:cs typeface="Open Sans"/>
                <a:sym typeface="Open Sans"/>
              </a:defRPr>
            </a:lvl8pPr>
            <a:lvl9pPr indent="0" lvl="8" marL="0" marR="0" algn="ctr">
              <a:spcBef>
                <a:spcPts val="0"/>
              </a:spcBef>
              <a:buNone/>
              <a:defRPr b="1" i="0" sz="1800" cap="non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
        <p:nvSpPr>
          <p:cNvPr id="93" name="Google Shape;93;p11"/>
          <p:cNvSpPr txBox="1"/>
          <p:nvPr>
            <p:ph idx="1" type="body"/>
          </p:nvPr>
        </p:nvSpPr>
        <p:spPr>
          <a:xfrm>
            <a:off x="1280161" y="2777067"/>
            <a:ext cx="4663440" cy="3550581"/>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1000"/>
              </a:spcBef>
              <a:spcAft>
                <a:spcPts val="0"/>
              </a:spcAft>
              <a:buClr>
                <a:schemeClr val="dk1"/>
              </a:buClr>
              <a:buSzPts val="1800"/>
              <a:buNone/>
              <a:defRPr sz="1800"/>
            </a:lvl1pPr>
            <a:lvl2pPr indent="-330200" lvl="1" marL="914400" algn="l">
              <a:lnSpc>
                <a:spcPct val="110000"/>
              </a:lnSpc>
              <a:spcBef>
                <a:spcPts val="500"/>
              </a:spcBef>
              <a:spcAft>
                <a:spcPts val="0"/>
              </a:spcAft>
              <a:buClr>
                <a:schemeClr val="dk1"/>
              </a:buClr>
              <a:buSzPts val="1600"/>
              <a:buChar char="•"/>
              <a:defRPr sz="1600"/>
            </a:lvl2pPr>
            <a:lvl3pPr indent="-317500" lvl="2" marL="1371600" algn="l">
              <a:lnSpc>
                <a:spcPct val="110000"/>
              </a:lnSpc>
              <a:spcBef>
                <a:spcPts val="500"/>
              </a:spcBef>
              <a:spcAft>
                <a:spcPts val="0"/>
              </a:spcAft>
              <a:buClr>
                <a:schemeClr val="dk1"/>
              </a:buClr>
              <a:buSzPts val="1400"/>
              <a:buChar char="•"/>
              <a:defRPr sz="1400"/>
            </a:lvl3pPr>
            <a:lvl4pPr indent="-304800" lvl="3" marL="1828800" algn="l">
              <a:lnSpc>
                <a:spcPct val="110000"/>
              </a:lnSpc>
              <a:spcBef>
                <a:spcPts val="500"/>
              </a:spcBef>
              <a:spcAft>
                <a:spcPts val="0"/>
              </a:spcAft>
              <a:buClr>
                <a:schemeClr val="dk1"/>
              </a:buClr>
              <a:buSzPts val="1200"/>
              <a:buChar char="•"/>
              <a:defRPr sz="1200"/>
            </a:lvl4pPr>
            <a:lvl5pPr indent="-304800" lvl="4" marL="2286000" algn="l">
              <a:lnSpc>
                <a:spcPct val="110000"/>
              </a:lnSpc>
              <a:spcBef>
                <a:spcPts val="500"/>
              </a:spcBef>
              <a:spcAft>
                <a:spcPts val="0"/>
              </a:spcAft>
              <a:buClr>
                <a:schemeClr val="dk1"/>
              </a:buClr>
              <a:buSzPts val="1200"/>
              <a:buChar char="•"/>
              <a:defRPr sz="12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94" name="Google Shape;94;p11"/>
          <p:cNvSpPr/>
          <p:nvPr/>
        </p:nvSpPr>
        <p:spPr>
          <a:xfrm>
            <a:off x="6412089" y="0"/>
            <a:ext cx="5779911" cy="6858000"/>
          </a:xfrm>
          <a:prstGeom prst="rect">
            <a:avLst/>
          </a:prstGeom>
          <a:gradFill>
            <a:gsLst>
              <a:gs pos="0">
                <a:schemeClr val="accent2"/>
              </a:gs>
              <a:gs pos="100000">
                <a:schemeClr val="accent4"/>
              </a:gs>
            </a:gsLst>
            <a:lin ang="2700000" scaled="0"/>
          </a:gra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95" name="Google Shape;95;p11"/>
          <p:cNvSpPr/>
          <p:nvPr>
            <p:ph idx="2" type="pic"/>
          </p:nvPr>
        </p:nvSpPr>
        <p:spPr>
          <a:xfrm>
            <a:off x="6695553" y="301752"/>
            <a:ext cx="5221224" cy="6263640"/>
          </a:xfrm>
          <a:prstGeom prst="rect">
            <a:avLst/>
          </a:prstGeom>
          <a:noFill/>
          <a:ln>
            <a:noFill/>
          </a:ln>
        </p:spPr>
      </p:sp>
      <p:sp>
        <p:nvSpPr>
          <p:cNvPr id="96" name="Google Shape;96;p11"/>
          <p:cNvSpPr txBox="1"/>
          <p:nvPr>
            <p:ph idx="11" type="ftr"/>
          </p:nvPr>
        </p:nvSpPr>
        <p:spPr>
          <a:xfrm>
            <a:off x="1280160" y="6356350"/>
            <a:ext cx="4434825" cy="365125"/>
          </a:xfrm>
          <a:prstGeom prst="rect">
            <a:avLst/>
          </a:prstGeom>
          <a:noFill/>
          <a:ln>
            <a:noFill/>
          </a:ln>
        </p:spPr>
        <p:txBody>
          <a:bodyPr anchorCtr="0" anchor="ctr" bIns="45700" lIns="91425" spcFirstLastPara="1" rIns="0"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cxnSp>
        <p:nvCxnSpPr>
          <p:cNvPr id="97" name="Google Shape;97;p11"/>
          <p:cNvCxnSpPr/>
          <p:nvPr/>
        </p:nvCxnSpPr>
        <p:spPr>
          <a:xfrm>
            <a:off x="745127" y="1371600"/>
            <a:ext cx="0" cy="5486400"/>
          </a:xfrm>
          <a:prstGeom prst="straightConnector1">
            <a:avLst/>
          </a:prstGeom>
          <a:noFill/>
          <a:ln cap="sq" cmpd="sng" w="25400">
            <a:solidFill>
              <a:schemeClr val="accent2"/>
            </a:solidFill>
            <a:prstDash val="solid"/>
            <a:bevel/>
            <a:headEnd len="sm" w="sm" type="none"/>
            <a:tailEnd len="sm" w="sm" type="none"/>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immagine 2">
  <p:cSld name="Titolo e immagine 2">
    <p:spTree>
      <p:nvGrpSpPr>
        <p:cNvPr id="98" name="Shape 98"/>
        <p:cNvGrpSpPr/>
        <p:nvPr/>
      </p:nvGrpSpPr>
      <p:grpSpPr>
        <a:xfrm>
          <a:off x="0" y="0"/>
          <a:ext cx="0" cy="0"/>
          <a:chOff x="0" y="0"/>
          <a:chExt cx="0" cy="0"/>
        </a:xfrm>
      </p:grpSpPr>
      <p:sp>
        <p:nvSpPr>
          <p:cNvPr id="99" name="Google Shape;99;p12"/>
          <p:cNvSpPr txBox="1"/>
          <p:nvPr>
            <p:ph type="title"/>
          </p:nvPr>
        </p:nvSpPr>
        <p:spPr>
          <a:xfrm>
            <a:off x="1280159" y="640080"/>
            <a:ext cx="4815836" cy="210312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dk1"/>
              </a:buClr>
              <a:buSzPts val="4000"/>
              <a:buFont typeface="Open Sans"/>
              <a:buNone/>
              <a:defRPr b="1" sz="4000" cap="none">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0" name="Google Shape;100;p12"/>
          <p:cNvSpPr txBox="1"/>
          <p:nvPr>
            <p:ph idx="12" type="sldNum"/>
          </p:nvPr>
        </p:nvSpPr>
        <p:spPr>
          <a:xfrm>
            <a:off x="486121" y="726630"/>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cap="none">
                <a:solidFill>
                  <a:schemeClr val="accent2"/>
                </a:solidFill>
                <a:latin typeface="Open Sans"/>
                <a:ea typeface="Open Sans"/>
                <a:cs typeface="Open Sans"/>
                <a:sym typeface="Open Sans"/>
              </a:defRPr>
            </a:lvl1pPr>
            <a:lvl2pPr indent="0" lvl="1" marL="0" marR="0" algn="ctr">
              <a:spcBef>
                <a:spcPts val="0"/>
              </a:spcBef>
              <a:buNone/>
              <a:defRPr b="1" i="0" sz="1800" cap="none">
                <a:solidFill>
                  <a:schemeClr val="accent2"/>
                </a:solidFill>
                <a:latin typeface="Open Sans"/>
                <a:ea typeface="Open Sans"/>
                <a:cs typeface="Open Sans"/>
                <a:sym typeface="Open Sans"/>
              </a:defRPr>
            </a:lvl2pPr>
            <a:lvl3pPr indent="0" lvl="2" marL="0" marR="0" algn="ctr">
              <a:spcBef>
                <a:spcPts val="0"/>
              </a:spcBef>
              <a:buNone/>
              <a:defRPr b="1" i="0" sz="1800" cap="none">
                <a:solidFill>
                  <a:schemeClr val="accent2"/>
                </a:solidFill>
                <a:latin typeface="Open Sans"/>
                <a:ea typeface="Open Sans"/>
                <a:cs typeface="Open Sans"/>
                <a:sym typeface="Open Sans"/>
              </a:defRPr>
            </a:lvl3pPr>
            <a:lvl4pPr indent="0" lvl="3" marL="0" marR="0" algn="ctr">
              <a:spcBef>
                <a:spcPts val="0"/>
              </a:spcBef>
              <a:buNone/>
              <a:defRPr b="1" i="0" sz="1800" cap="none">
                <a:solidFill>
                  <a:schemeClr val="accent2"/>
                </a:solidFill>
                <a:latin typeface="Open Sans"/>
                <a:ea typeface="Open Sans"/>
                <a:cs typeface="Open Sans"/>
                <a:sym typeface="Open Sans"/>
              </a:defRPr>
            </a:lvl4pPr>
            <a:lvl5pPr indent="0" lvl="4" marL="0" marR="0" algn="ctr">
              <a:spcBef>
                <a:spcPts val="0"/>
              </a:spcBef>
              <a:buNone/>
              <a:defRPr b="1" i="0" sz="1800" cap="none">
                <a:solidFill>
                  <a:schemeClr val="accent2"/>
                </a:solidFill>
                <a:latin typeface="Open Sans"/>
                <a:ea typeface="Open Sans"/>
                <a:cs typeface="Open Sans"/>
                <a:sym typeface="Open Sans"/>
              </a:defRPr>
            </a:lvl5pPr>
            <a:lvl6pPr indent="0" lvl="5" marL="0" marR="0" algn="ctr">
              <a:spcBef>
                <a:spcPts val="0"/>
              </a:spcBef>
              <a:buNone/>
              <a:defRPr b="1" i="0" sz="1800" cap="none">
                <a:solidFill>
                  <a:schemeClr val="accent2"/>
                </a:solidFill>
                <a:latin typeface="Open Sans"/>
                <a:ea typeface="Open Sans"/>
                <a:cs typeface="Open Sans"/>
                <a:sym typeface="Open Sans"/>
              </a:defRPr>
            </a:lvl6pPr>
            <a:lvl7pPr indent="0" lvl="6" marL="0" marR="0" algn="ctr">
              <a:spcBef>
                <a:spcPts val="0"/>
              </a:spcBef>
              <a:buNone/>
              <a:defRPr b="1" i="0" sz="1800" cap="none">
                <a:solidFill>
                  <a:schemeClr val="accent2"/>
                </a:solidFill>
                <a:latin typeface="Open Sans"/>
                <a:ea typeface="Open Sans"/>
                <a:cs typeface="Open Sans"/>
                <a:sym typeface="Open Sans"/>
              </a:defRPr>
            </a:lvl7pPr>
            <a:lvl8pPr indent="0" lvl="7" marL="0" marR="0" algn="ctr">
              <a:spcBef>
                <a:spcPts val="0"/>
              </a:spcBef>
              <a:buNone/>
              <a:defRPr b="1" i="0" sz="1800" cap="none">
                <a:solidFill>
                  <a:schemeClr val="accent2"/>
                </a:solidFill>
                <a:latin typeface="Open Sans"/>
                <a:ea typeface="Open Sans"/>
                <a:cs typeface="Open Sans"/>
                <a:sym typeface="Open Sans"/>
              </a:defRPr>
            </a:lvl8pPr>
            <a:lvl9pPr indent="0" lvl="8" marL="0" marR="0" algn="ctr">
              <a:spcBef>
                <a:spcPts val="0"/>
              </a:spcBef>
              <a:buNone/>
              <a:defRPr b="1" i="0" sz="1800" cap="non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
        <p:nvSpPr>
          <p:cNvPr id="101" name="Google Shape;101;p12"/>
          <p:cNvSpPr txBox="1"/>
          <p:nvPr>
            <p:ph idx="1" type="body"/>
          </p:nvPr>
        </p:nvSpPr>
        <p:spPr>
          <a:xfrm>
            <a:off x="6531427" y="640080"/>
            <a:ext cx="5122889" cy="2103120"/>
          </a:xfrm>
          <a:prstGeom prst="rect">
            <a:avLst/>
          </a:prstGeom>
          <a:noFill/>
          <a:ln>
            <a:noFill/>
          </a:ln>
        </p:spPr>
        <p:txBody>
          <a:bodyPr anchorCtr="0" anchor="ctr" bIns="0" lIns="0" spcFirstLastPara="1" rIns="0" wrap="square" tIns="0">
            <a:normAutofit/>
          </a:bodyPr>
          <a:lstStyle>
            <a:lvl1pPr indent="-228600" lvl="0" marL="457200" algn="l">
              <a:lnSpc>
                <a:spcPct val="110000"/>
              </a:lnSpc>
              <a:spcBef>
                <a:spcPts val="1000"/>
              </a:spcBef>
              <a:spcAft>
                <a:spcPts val="0"/>
              </a:spcAft>
              <a:buClr>
                <a:schemeClr val="dk1"/>
              </a:buClr>
              <a:buSzPts val="1800"/>
              <a:buNone/>
              <a:defRPr sz="1800">
                <a:solidFill>
                  <a:schemeClr val="dk1"/>
                </a:solidFill>
              </a:defRPr>
            </a:lvl1pPr>
            <a:lvl2pPr indent="-330200" lvl="1" marL="914400" algn="l">
              <a:lnSpc>
                <a:spcPct val="100000"/>
              </a:lnSpc>
              <a:spcBef>
                <a:spcPts val="500"/>
              </a:spcBef>
              <a:spcAft>
                <a:spcPts val="0"/>
              </a:spcAft>
              <a:buClr>
                <a:schemeClr val="dk1"/>
              </a:buClr>
              <a:buSzPts val="1600"/>
              <a:buChar char="•"/>
              <a:defRPr sz="1600">
                <a:solidFill>
                  <a:schemeClr val="dk1"/>
                </a:solidFill>
              </a:defRPr>
            </a:lvl2pPr>
            <a:lvl3pPr indent="-317500" lvl="2" marL="1371600" algn="l">
              <a:lnSpc>
                <a:spcPct val="100000"/>
              </a:lnSpc>
              <a:spcBef>
                <a:spcPts val="500"/>
              </a:spcBef>
              <a:spcAft>
                <a:spcPts val="0"/>
              </a:spcAft>
              <a:buClr>
                <a:schemeClr val="dk1"/>
              </a:buClr>
              <a:buSzPts val="1400"/>
              <a:buChar char="•"/>
              <a:defRPr sz="1400">
                <a:solidFill>
                  <a:schemeClr val="dk1"/>
                </a:solidFill>
              </a:defRPr>
            </a:lvl3pPr>
            <a:lvl4pPr indent="-304800" lvl="3" marL="1828800" algn="l">
              <a:lnSpc>
                <a:spcPct val="100000"/>
              </a:lnSpc>
              <a:spcBef>
                <a:spcPts val="500"/>
              </a:spcBef>
              <a:spcAft>
                <a:spcPts val="0"/>
              </a:spcAft>
              <a:buClr>
                <a:schemeClr val="dk1"/>
              </a:buClr>
              <a:buSzPts val="1200"/>
              <a:buChar char="•"/>
              <a:defRPr sz="1200">
                <a:solidFill>
                  <a:schemeClr val="dk1"/>
                </a:solidFill>
              </a:defRPr>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cxnSp>
        <p:nvCxnSpPr>
          <p:cNvPr id="102" name="Google Shape;102;p12"/>
          <p:cNvCxnSpPr/>
          <p:nvPr/>
        </p:nvCxnSpPr>
        <p:spPr>
          <a:xfrm>
            <a:off x="740664" y="1371600"/>
            <a:ext cx="0" cy="5486400"/>
          </a:xfrm>
          <a:prstGeom prst="straightConnector1">
            <a:avLst/>
          </a:prstGeom>
          <a:noFill/>
          <a:ln cap="sq" cmpd="sng" w="25400">
            <a:solidFill>
              <a:schemeClr val="accent2"/>
            </a:solidFill>
            <a:prstDash val="solid"/>
            <a:bevel/>
            <a:headEnd len="sm" w="sm" type="none"/>
            <a:tailEnd len="sm" w="sm" type="none"/>
          </a:ln>
        </p:spPr>
      </p:cxnSp>
      <p:sp>
        <p:nvSpPr>
          <p:cNvPr id="103" name="Google Shape;103;p12"/>
          <p:cNvSpPr txBox="1"/>
          <p:nvPr>
            <p:ph idx="2" type="body"/>
          </p:nvPr>
        </p:nvSpPr>
        <p:spPr>
          <a:xfrm>
            <a:off x="1280160" y="3017520"/>
            <a:ext cx="10374152" cy="3208866"/>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4" name="Google Shape;104;p12"/>
          <p:cNvSpPr txBox="1"/>
          <p:nvPr>
            <p:ph idx="11" type="ftr"/>
          </p:nvPr>
        </p:nvSpPr>
        <p:spPr>
          <a:xfrm>
            <a:off x="7539516" y="6356350"/>
            <a:ext cx="4114800" cy="365125"/>
          </a:xfrm>
          <a:prstGeom prst="rect">
            <a:avLst/>
          </a:prstGeom>
          <a:noFill/>
          <a:ln>
            <a:noFill/>
          </a:ln>
        </p:spPr>
        <p:txBody>
          <a:bodyPr anchorCtr="0" anchor="ctr" bIns="45700" lIns="91425" spcFirstLastPara="1" rIns="0"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onfronto">
  <p:cSld name="2_Confronto">
    <p:spTree>
      <p:nvGrpSpPr>
        <p:cNvPr id="105" name="Shape 105"/>
        <p:cNvGrpSpPr/>
        <p:nvPr/>
      </p:nvGrpSpPr>
      <p:grpSpPr>
        <a:xfrm>
          <a:off x="0" y="0"/>
          <a:ext cx="0" cy="0"/>
          <a:chOff x="0" y="0"/>
          <a:chExt cx="0" cy="0"/>
        </a:xfrm>
      </p:grpSpPr>
      <p:sp>
        <p:nvSpPr>
          <p:cNvPr id="106" name="Google Shape;106;p13"/>
          <p:cNvSpPr txBox="1"/>
          <p:nvPr>
            <p:ph type="title"/>
          </p:nvPr>
        </p:nvSpPr>
        <p:spPr>
          <a:xfrm>
            <a:off x="1280159" y="4970638"/>
            <a:ext cx="9144000" cy="128016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dk1"/>
              </a:buClr>
              <a:buSzPts val="4000"/>
              <a:buFont typeface="Open Sans"/>
              <a:buNone/>
              <a:defRPr b="1" sz="4000" cap="none">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7" name="Google Shape;107;p13"/>
          <p:cNvSpPr txBox="1"/>
          <p:nvPr>
            <p:ph idx="12" type="sldNum"/>
          </p:nvPr>
        </p:nvSpPr>
        <p:spPr>
          <a:xfrm>
            <a:off x="486121" y="726630"/>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cap="none">
                <a:solidFill>
                  <a:schemeClr val="accent2"/>
                </a:solidFill>
                <a:latin typeface="Open Sans"/>
                <a:ea typeface="Open Sans"/>
                <a:cs typeface="Open Sans"/>
                <a:sym typeface="Open Sans"/>
              </a:defRPr>
            </a:lvl1pPr>
            <a:lvl2pPr indent="0" lvl="1" marL="0" marR="0" algn="ctr">
              <a:spcBef>
                <a:spcPts val="0"/>
              </a:spcBef>
              <a:buNone/>
              <a:defRPr b="1" i="0" sz="1800" cap="none">
                <a:solidFill>
                  <a:schemeClr val="accent2"/>
                </a:solidFill>
                <a:latin typeface="Open Sans"/>
                <a:ea typeface="Open Sans"/>
                <a:cs typeface="Open Sans"/>
                <a:sym typeface="Open Sans"/>
              </a:defRPr>
            </a:lvl2pPr>
            <a:lvl3pPr indent="0" lvl="2" marL="0" marR="0" algn="ctr">
              <a:spcBef>
                <a:spcPts val="0"/>
              </a:spcBef>
              <a:buNone/>
              <a:defRPr b="1" i="0" sz="1800" cap="none">
                <a:solidFill>
                  <a:schemeClr val="accent2"/>
                </a:solidFill>
                <a:latin typeface="Open Sans"/>
                <a:ea typeface="Open Sans"/>
                <a:cs typeface="Open Sans"/>
                <a:sym typeface="Open Sans"/>
              </a:defRPr>
            </a:lvl3pPr>
            <a:lvl4pPr indent="0" lvl="3" marL="0" marR="0" algn="ctr">
              <a:spcBef>
                <a:spcPts val="0"/>
              </a:spcBef>
              <a:buNone/>
              <a:defRPr b="1" i="0" sz="1800" cap="none">
                <a:solidFill>
                  <a:schemeClr val="accent2"/>
                </a:solidFill>
                <a:latin typeface="Open Sans"/>
                <a:ea typeface="Open Sans"/>
                <a:cs typeface="Open Sans"/>
                <a:sym typeface="Open Sans"/>
              </a:defRPr>
            </a:lvl4pPr>
            <a:lvl5pPr indent="0" lvl="4" marL="0" marR="0" algn="ctr">
              <a:spcBef>
                <a:spcPts val="0"/>
              </a:spcBef>
              <a:buNone/>
              <a:defRPr b="1" i="0" sz="1800" cap="none">
                <a:solidFill>
                  <a:schemeClr val="accent2"/>
                </a:solidFill>
                <a:latin typeface="Open Sans"/>
                <a:ea typeface="Open Sans"/>
                <a:cs typeface="Open Sans"/>
                <a:sym typeface="Open Sans"/>
              </a:defRPr>
            </a:lvl5pPr>
            <a:lvl6pPr indent="0" lvl="5" marL="0" marR="0" algn="ctr">
              <a:spcBef>
                <a:spcPts val="0"/>
              </a:spcBef>
              <a:buNone/>
              <a:defRPr b="1" i="0" sz="1800" cap="none">
                <a:solidFill>
                  <a:schemeClr val="accent2"/>
                </a:solidFill>
                <a:latin typeface="Open Sans"/>
                <a:ea typeface="Open Sans"/>
                <a:cs typeface="Open Sans"/>
                <a:sym typeface="Open Sans"/>
              </a:defRPr>
            </a:lvl6pPr>
            <a:lvl7pPr indent="0" lvl="6" marL="0" marR="0" algn="ctr">
              <a:spcBef>
                <a:spcPts val="0"/>
              </a:spcBef>
              <a:buNone/>
              <a:defRPr b="1" i="0" sz="1800" cap="none">
                <a:solidFill>
                  <a:schemeClr val="accent2"/>
                </a:solidFill>
                <a:latin typeface="Open Sans"/>
                <a:ea typeface="Open Sans"/>
                <a:cs typeface="Open Sans"/>
                <a:sym typeface="Open Sans"/>
              </a:defRPr>
            </a:lvl7pPr>
            <a:lvl8pPr indent="0" lvl="7" marL="0" marR="0" algn="ctr">
              <a:spcBef>
                <a:spcPts val="0"/>
              </a:spcBef>
              <a:buNone/>
              <a:defRPr b="1" i="0" sz="1800" cap="none">
                <a:solidFill>
                  <a:schemeClr val="accent2"/>
                </a:solidFill>
                <a:latin typeface="Open Sans"/>
                <a:ea typeface="Open Sans"/>
                <a:cs typeface="Open Sans"/>
                <a:sym typeface="Open Sans"/>
              </a:defRPr>
            </a:lvl8pPr>
            <a:lvl9pPr indent="0" lvl="8" marL="0" marR="0" algn="ctr">
              <a:spcBef>
                <a:spcPts val="0"/>
              </a:spcBef>
              <a:buNone/>
              <a:defRPr b="1" i="0" sz="1800" cap="non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
        <p:nvSpPr>
          <p:cNvPr id="108" name="Google Shape;108;p13"/>
          <p:cNvSpPr txBox="1"/>
          <p:nvPr>
            <p:ph idx="1" type="body"/>
          </p:nvPr>
        </p:nvSpPr>
        <p:spPr>
          <a:xfrm>
            <a:off x="1280160" y="685800"/>
            <a:ext cx="4937760" cy="4023360"/>
          </a:xfrm>
          <a:prstGeom prst="rect">
            <a:avLst/>
          </a:prstGeom>
          <a:noFill/>
          <a:ln>
            <a:noFill/>
          </a:ln>
        </p:spPr>
        <p:txBody>
          <a:bodyPr anchorCtr="0" anchor="t" bIns="0" lIns="0" spcFirstLastPara="1" rIns="0" wrap="square" tIns="0">
            <a:noAutofit/>
          </a:bodyPr>
          <a:lstStyle>
            <a:lvl1pPr indent="-228600" lvl="0" marL="457200" algn="l">
              <a:lnSpc>
                <a:spcPct val="90000"/>
              </a:lnSpc>
              <a:spcBef>
                <a:spcPts val="1200"/>
              </a:spcBef>
              <a:spcAft>
                <a:spcPts val="0"/>
              </a:spcAft>
              <a:buClr>
                <a:schemeClr val="dk1"/>
              </a:buClr>
              <a:buSzPts val="1800"/>
              <a:buNone/>
              <a:defRPr sz="1800"/>
            </a:lvl1pPr>
            <a:lvl2pPr indent="-342900" lvl="1" marL="914400" algn="l">
              <a:lnSpc>
                <a:spcPct val="90000"/>
              </a:lnSpc>
              <a:spcBef>
                <a:spcPts val="1200"/>
              </a:spcBef>
              <a:spcAft>
                <a:spcPts val="0"/>
              </a:spcAft>
              <a:buClr>
                <a:schemeClr val="dk1"/>
              </a:buClr>
              <a:buSzPts val="1800"/>
              <a:buChar char="•"/>
              <a:defRPr sz="1800"/>
            </a:lvl2pPr>
            <a:lvl3pPr indent="-342900" lvl="2" marL="1371600" algn="l">
              <a:lnSpc>
                <a:spcPct val="90000"/>
              </a:lnSpc>
              <a:spcBef>
                <a:spcPts val="1200"/>
              </a:spcBef>
              <a:spcAft>
                <a:spcPts val="0"/>
              </a:spcAft>
              <a:buClr>
                <a:schemeClr val="dk1"/>
              </a:buClr>
              <a:buSzPts val="1800"/>
              <a:buChar char="•"/>
              <a:defRPr sz="1800"/>
            </a:lvl3pPr>
            <a:lvl4pPr indent="-342900" lvl="3" marL="1828800" algn="l">
              <a:lnSpc>
                <a:spcPct val="90000"/>
              </a:lnSpc>
              <a:spcBef>
                <a:spcPts val="1200"/>
              </a:spcBef>
              <a:spcAft>
                <a:spcPts val="0"/>
              </a:spcAft>
              <a:buClr>
                <a:schemeClr val="dk1"/>
              </a:buClr>
              <a:buSzPts val="1800"/>
              <a:buChar char="•"/>
              <a:defRPr sz="1800"/>
            </a:lvl4pPr>
            <a:lvl5pPr indent="-342900" lvl="4" marL="2286000" algn="l">
              <a:lnSpc>
                <a:spcPct val="90000"/>
              </a:lnSpc>
              <a:spcBef>
                <a:spcPts val="1200"/>
              </a:spcBef>
              <a:spcAft>
                <a:spcPts val="0"/>
              </a:spcAft>
              <a:buClr>
                <a:schemeClr val="dk1"/>
              </a:buClr>
              <a:buSzPts val="1800"/>
              <a:buChar char="•"/>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9" name="Google Shape;109;p13"/>
          <p:cNvSpPr txBox="1"/>
          <p:nvPr>
            <p:ph idx="2" type="body"/>
          </p:nvPr>
        </p:nvSpPr>
        <p:spPr>
          <a:xfrm>
            <a:off x="6704755" y="685800"/>
            <a:ext cx="4937760" cy="4023360"/>
          </a:xfrm>
          <a:prstGeom prst="rect">
            <a:avLst/>
          </a:prstGeom>
          <a:noFill/>
          <a:ln>
            <a:noFill/>
          </a:ln>
        </p:spPr>
        <p:txBody>
          <a:bodyPr anchorCtr="0" anchor="t" bIns="0" lIns="0" spcFirstLastPara="1" rIns="0" wrap="square" tIns="0">
            <a:noAutofit/>
          </a:bodyPr>
          <a:lstStyle>
            <a:lvl1pPr indent="-342900" lvl="0" marL="457200" algn="l">
              <a:lnSpc>
                <a:spcPct val="90000"/>
              </a:lnSpc>
              <a:spcBef>
                <a:spcPts val="1200"/>
              </a:spcBef>
              <a:spcAft>
                <a:spcPts val="0"/>
              </a:spcAft>
              <a:buClr>
                <a:schemeClr val="dk1"/>
              </a:buClr>
              <a:buSzPts val="1800"/>
              <a:buChar char="•"/>
              <a:defRPr sz="1800"/>
            </a:lvl1pPr>
            <a:lvl2pPr indent="-342900" lvl="1" marL="914400" algn="l">
              <a:lnSpc>
                <a:spcPct val="90000"/>
              </a:lnSpc>
              <a:spcBef>
                <a:spcPts val="1200"/>
              </a:spcBef>
              <a:spcAft>
                <a:spcPts val="0"/>
              </a:spcAft>
              <a:buClr>
                <a:schemeClr val="dk1"/>
              </a:buClr>
              <a:buSzPts val="1800"/>
              <a:buChar char="•"/>
              <a:defRPr sz="1800"/>
            </a:lvl2pPr>
            <a:lvl3pPr indent="-342900" lvl="2" marL="1371600" algn="l">
              <a:lnSpc>
                <a:spcPct val="90000"/>
              </a:lnSpc>
              <a:spcBef>
                <a:spcPts val="1200"/>
              </a:spcBef>
              <a:spcAft>
                <a:spcPts val="0"/>
              </a:spcAft>
              <a:buClr>
                <a:schemeClr val="dk1"/>
              </a:buClr>
              <a:buSzPts val="1800"/>
              <a:buChar char="•"/>
              <a:defRPr sz="1800"/>
            </a:lvl3pPr>
            <a:lvl4pPr indent="-342900" lvl="3" marL="1828800" algn="l">
              <a:lnSpc>
                <a:spcPct val="90000"/>
              </a:lnSpc>
              <a:spcBef>
                <a:spcPts val="1200"/>
              </a:spcBef>
              <a:spcAft>
                <a:spcPts val="0"/>
              </a:spcAft>
              <a:buClr>
                <a:schemeClr val="dk1"/>
              </a:buClr>
              <a:buSzPts val="1800"/>
              <a:buChar char="•"/>
              <a:defRPr sz="1800"/>
            </a:lvl4pPr>
            <a:lvl5pPr indent="-342900" lvl="4" marL="2286000" algn="l">
              <a:lnSpc>
                <a:spcPct val="90000"/>
              </a:lnSpc>
              <a:spcBef>
                <a:spcPts val="1200"/>
              </a:spcBef>
              <a:spcAft>
                <a:spcPts val="0"/>
              </a:spcAft>
              <a:buClr>
                <a:schemeClr val="dk1"/>
              </a:buClr>
              <a:buSzPts val="1800"/>
              <a:buChar char="•"/>
              <a:defRPr sz="18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grpSp>
        <p:nvGrpSpPr>
          <p:cNvPr id="110" name="Google Shape;110;p13"/>
          <p:cNvGrpSpPr/>
          <p:nvPr/>
        </p:nvGrpSpPr>
        <p:grpSpPr>
          <a:xfrm>
            <a:off x="5322570" y="5680647"/>
            <a:ext cx="465456" cy="581432"/>
            <a:chOff x="7843462" y="2744546"/>
            <a:chExt cx="465456" cy="581432"/>
          </a:xfrm>
        </p:grpSpPr>
        <p:sp>
          <p:nvSpPr>
            <p:cNvPr id="111" name="Google Shape;111;p13"/>
            <p:cNvSpPr/>
            <p:nvPr/>
          </p:nvSpPr>
          <p:spPr>
            <a:xfrm>
              <a:off x="8217780" y="2973840"/>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112" name="Google Shape;112;p13"/>
            <p:cNvSpPr/>
            <p:nvPr/>
          </p:nvSpPr>
          <p:spPr>
            <a:xfrm>
              <a:off x="7859002" y="2744546"/>
              <a:ext cx="139038" cy="139038"/>
            </a:xfrm>
            <a:custGeom>
              <a:rect b="b" l="l" r="r" t="t"/>
              <a:pathLst>
                <a:path extrusionOk="0" h="139038" w="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113" name="Google Shape;113;p13"/>
            <p:cNvSpPr/>
            <p:nvPr/>
          </p:nvSpPr>
          <p:spPr>
            <a:xfrm>
              <a:off x="7843462" y="3198265"/>
              <a:ext cx="127713" cy="127713"/>
            </a:xfrm>
            <a:custGeom>
              <a:rect b="b" l="l" r="r" t="t"/>
              <a:pathLst>
                <a:path extrusionOk="0" h="127713" w="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grpSp>
      <p:sp>
        <p:nvSpPr>
          <p:cNvPr id="114" name="Google Shape;114;p13"/>
          <p:cNvSpPr txBox="1"/>
          <p:nvPr>
            <p:ph idx="11" type="ftr"/>
          </p:nvPr>
        </p:nvSpPr>
        <p:spPr>
          <a:xfrm>
            <a:off x="1280160" y="6356350"/>
            <a:ext cx="4114800" cy="365125"/>
          </a:xfrm>
          <a:prstGeom prst="rect">
            <a:avLst/>
          </a:prstGeom>
          <a:noFill/>
          <a:ln>
            <a:noFill/>
          </a:ln>
        </p:spPr>
        <p:txBody>
          <a:bodyPr anchorCtr="0" anchor="ctr" bIns="45700" lIns="0"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cxnSp>
        <p:nvCxnSpPr>
          <p:cNvPr id="115" name="Google Shape;115;p13"/>
          <p:cNvCxnSpPr/>
          <p:nvPr/>
        </p:nvCxnSpPr>
        <p:spPr>
          <a:xfrm>
            <a:off x="740664" y="1371600"/>
            <a:ext cx="0" cy="5486400"/>
          </a:xfrm>
          <a:prstGeom prst="straightConnector1">
            <a:avLst/>
          </a:prstGeom>
          <a:noFill/>
          <a:ln cap="sq" cmpd="sng" w="25400">
            <a:solidFill>
              <a:schemeClr val="accent2"/>
            </a:solidFill>
            <a:prstDash val="solid"/>
            <a:bevel/>
            <a:headEnd len="sm" w="sm" type="none"/>
            <a:tailEnd len="sm" w="sm" type="none"/>
          </a:ln>
        </p:spPr>
      </p:cxnSp>
      <p:grpSp>
        <p:nvGrpSpPr>
          <p:cNvPr id="116" name="Google Shape;116;p13"/>
          <p:cNvGrpSpPr/>
          <p:nvPr/>
        </p:nvGrpSpPr>
        <p:grpSpPr>
          <a:xfrm rot="5400000">
            <a:off x="10711518" y="5393214"/>
            <a:ext cx="1097341" cy="736658"/>
            <a:chOff x="10508317" y="446637"/>
            <a:chExt cx="1097341" cy="736658"/>
          </a:xfrm>
        </p:grpSpPr>
        <p:sp>
          <p:nvSpPr>
            <p:cNvPr id="117" name="Google Shape;117;p13"/>
            <p:cNvSpPr/>
            <p:nvPr/>
          </p:nvSpPr>
          <p:spPr>
            <a:xfrm>
              <a:off x="10508317" y="492206"/>
              <a:ext cx="139039" cy="139039"/>
            </a:xfrm>
            <a:custGeom>
              <a:rect b="b" l="l" r="r" t="t"/>
              <a:pathLst>
                <a:path extrusionOk="0" h="139039" w="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118" name="Google Shape;118;p13"/>
            <p:cNvSpPr/>
            <p:nvPr/>
          </p:nvSpPr>
          <p:spPr>
            <a:xfrm>
              <a:off x="11477944" y="1055581"/>
              <a:ext cx="127714" cy="127714"/>
            </a:xfrm>
            <a:custGeom>
              <a:rect b="b" l="l" r="r" t="t"/>
              <a:pathLst>
                <a:path extrusionOk="0" h="127714" w="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119" name="Google Shape;119;p13"/>
            <p:cNvSpPr/>
            <p:nvPr/>
          </p:nvSpPr>
          <p:spPr>
            <a:xfrm>
              <a:off x="11241555" y="446637"/>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contenuto" type="obj">
  <p:cSld name="OBJECT">
    <p:spTree>
      <p:nvGrpSpPr>
        <p:cNvPr id="120" name="Shape 120"/>
        <p:cNvGrpSpPr/>
        <p:nvPr/>
      </p:nvGrpSpPr>
      <p:grpSpPr>
        <a:xfrm>
          <a:off x="0" y="0"/>
          <a:ext cx="0" cy="0"/>
          <a:chOff x="0" y="0"/>
          <a:chExt cx="0" cy="0"/>
        </a:xfrm>
      </p:grpSpPr>
      <p:sp>
        <p:nvSpPr>
          <p:cNvPr id="121" name="Google Shape;121;p14"/>
          <p:cNvSpPr txBox="1"/>
          <p:nvPr>
            <p:ph type="title"/>
          </p:nvPr>
        </p:nvSpPr>
        <p:spPr>
          <a:xfrm>
            <a:off x="1280160" y="640080"/>
            <a:ext cx="10087699" cy="128016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dk1"/>
              </a:buClr>
              <a:buSzPts val="4000"/>
              <a:buFont typeface="Open Sans"/>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2" name="Google Shape;122;p14"/>
          <p:cNvSpPr txBox="1"/>
          <p:nvPr>
            <p:ph idx="12" type="sldNum"/>
          </p:nvPr>
        </p:nvSpPr>
        <p:spPr>
          <a:xfrm>
            <a:off x="486121" y="726630"/>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cap="none">
                <a:solidFill>
                  <a:schemeClr val="accent2"/>
                </a:solidFill>
                <a:latin typeface="Open Sans"/>
                <a:ea typeface="Open Sans"/>
                <a:cs typeface="Open Sans"/>
                <a:sym typeface="Open Sans"/>
              </a:defRPr>
            </a:lvl1pPr>
            <a:lvl2pPr indent="0" lvl="1" marL="0" marR="0" algn="ctr">
              <a:spcBef>
                <a:spcPts val="0"/>
              </a:spcBef>
              <a:buNone/>
              <a:defRPr b="1" i="0" sz="1800" cap="none">
                <a:solidFill>
                  <a:schemeClr val="accent2"/>
                </a:solidFill>
                <a:latin typeface="Open Sans"/>
                <a:ea typeface="Open Sans"/>
                <a:cs typeface="Open Sans"/>
                <a:sym typeface="Open Sans"/>
              </a:defRPr>
            </a:lvl2pPr>
            <a:lvl3pPr indent="0" lvl="2" marL="0" marR="0" algn="ctr">
              <a:spcBef>
                <a:spcPts val="0"/>
              </a:spcBef>
              <a:buNone/>
              <a:defRPr b="1" i="0" sz="1800" cap="none">
                <a:solidFill>
                  <a:schemeClr val="accent2"/>
                </a:solidFill>
                <a:latin typeface="Open Sans"/>
                <a:ea typeface="Open Sans"/>
                <a:cs typeface="Open Sans"/>
                <a:sym typeface="Open Sans"/>
              </a:defRPr>
            </a:lvl3pPr>
            <a:lvl4pPr indent="0" lvl="3" marL="0" marR="0" algn="ctr">
              <a:spcBef>
                <a:spcPts val="0"/>
              </a:spcBef>
              <a:buNone/>
              <a:defRPr b="1" i="0" sz="1800" cap="none">
                <a:solidFill>
                  <a:schemeClr val="accent2"/>
                </a:solidFill>
                <a:latin typeface="Open Sans"/>
                <a:ea typeface="Open Sans"/>
                <a:cs typeface="Open Sans"/>
                <a:sym typeface="Open Sans"/>
              </a:defRPr>
            </a:lvl4pPr>
            <a:lvl5pPr indent="0" lvl="4" marL="0" marR="0" algn="ctr">
              <a:spcBef>
                <a:spcPts val="0"/>
              </a:spcBef>
              <a:buNone/>
              <a:defRPr b="1" i="0" sz="1800" cap="none">
                <a:solidFill>
                  <a:schemeClr val="accent2"/>
                </a:solidFill>
                <a:latin typeface="Open Sans"/>
                <a:ea typeface="Open Sans"/>
                <a:cs typeface="Open Sans"/>
                <a:sym typeface="Open Sans"/>
              </a:defRPr>
            </a:lvl5pPr>
            <a:lvl6pPr indent="0" lvl="5" marL="0" marR="0" algn="ctr">
              <a:spcBef>
                <a:spcPts val="0"/>
              </a:spcBef>
              <a:buNone/>
              <a:defRPr b="1" i="0" sz="1800" cap="none">
                <a:solidFill>
                  <a:schemeClr val="accent2"/>
                </a:solidFill>
                <a:latin typeface="Open Sans"/>
                <a:ea typeface="Open Sans"/>
                <a:cs typeface="Open Sans"/>
                <a:sym typeface="Open Sans"/>
              </a:defRPr>
            </a:lvl6pPr>
            <a:lvl7pPr indent="0" lvl="6" marL="0" marR="0" algn="ctr">
              <a:spcBef>
                <a:spcPts val="0"/>
              </a:spcBef>
              <a:buNone/>
              <a:defRPr b="1" i="0" sz="1800" cap="none">
                <a:solidFill>
                  <a:schemeClr val="accent2"/>
                </a:solidFill>
                <a:latin typeface="Open Sans"/>
                <a:ea typeface="Open Sans"/>
                <a:cs typeface="Open Sans"/>
                <a:sym typeface="Open Sans"/>
              </a:defRPr>
            </a:lvl7pPr>
            <a:lvl8pPr indent="0" lvl="7" marL="0" marR="0" algn="ctr">
              <a:spcBef>
                <a:spcPts val="0"/>
              </a:spcBef>
              <a:buNone/>
              <a:defRPr b="1" i="0" sz="1800" cap="none">
                <a:solidFill>
                  <a:schemeClr val="accent2"/>
                </a:solidFill>
                <a:latin typeface="Open Sans"/>
                <a:ea typeface="Open Sans"/>
                <a:cs typeface="Open Sans"/>
                <a:sym typeface="Open Sans"/>
              </a:defRPr>
            </a:lvl8pPr>
            <a:lvl9pPr indent="0" lvl="8" marL="0" marR="0" algn="ctr">
              <a:spcBef>
                <a:spcPts val="0"/>
              </a:spcBef>
              <a:buNone/>
              <a:defRPr b="1" i="0" sz="1800" cap="non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
        <p:nvSpPr>
          <p:cNvPr id="123" name="Google Shape;123;p14"/>
          <p:cNvSpPr txBox="1"/>
          <p:nvPr>
            <p:ph idx="1" type="body"/>
          </p:nvPr>
        </p:nvSpPr>
        <p:spPr>
          <a:xfrm>
            <a:off x="1280160" y="2103119"/>
            <a:ext cx="10087699" cy="4114800"/>
          </a:xfrm>
          <a:prstGeom prst="rect">
            <a:avLst/>
          </a:prstGeom>
          <a:noFill/>
          <a:ln>
            <a:noFill/>
          </a:ln>
        </p:spPr>
        <p:txBody>
          <a:bodyPr anchorCtr="0" anchor="t" bIns="0" lIns="0" spcFirstLastPara="1" rIns="0" wrap="square" tIns="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cxnSp>
        <p:nvCxnSpPr>
          <p:cNvPr id="124" name="Google Shape;124;p14"/>
          <p:cNvCxnSpPr/>
          <p:nvPr/>
        </p:nvCxnSpPr>
        <p:spPr>
          <a:xfrm>
            <a:off x="740664" y="1371600"/>
            <a:ext cx="0" cy="5486400"/>
          </a:xfrm>
          <a:prstGeom prst="straightConnector1">
            <a:avLst/>
          </a:prstGeom>
          <a:noFill/>
          <a:ln cap="sq" cmpd="sng" w="25400">
            <a:solidFill>
              <a:schemeClr val="accent2"/>
            </a:solidFill>
            <a:prstDash val="solid"/>
            <a:bevel/>
            <a:headEnd len="sm" w="sm" type="none"/>
            <a:tailEnd len="sm" w="sm" type="none"/>
          </a:ln>
        </p:spPr>
      </p:cxnSp>
      <p:sp>
        <p:nvSpPr>
          <p:cNvPr id="125" name="Google Shape;125;p14"/>
          <p:cNvSpPr txBox="1"/>
          <p:nvPr>
            <p:ph idx="11" type="ftr"/>
          </p:nvPr>
        </p:nvSpPr>
        <p:spPr>
          <a:xfrm>
            <a:off x="1280160" y="6356350"/>
            <a:ext cx="4114800" cy="365125"/>
          </a:xfrm>
          <a:prstGeom prst="rect">
            <a:avLst/>
          </a:prstGeom>
          <a:noFill/>
          <a:ln>
            <a:noFill/>
          </a:ln>
        </p:spPr>
        <p:txBody>
          <a:bodyPr anchorCtr="0" anchor="ctr" bIns="45700" lIns="0" spcFirstLastPara="1" rIns="0"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olle immagine e titolo 1">
  <p:cSld name="Bolle immagine e titolo 1">
    <p:bg>
      <p:bgPr>
        <a:gradFill>
          <a:gsLst>
            <a:gs pos="0">
              <a:schemeClr val="accent2"/>
            </a:gs>
            <a:gs pos="100000">
              <a:schemeClr val="accent4"/>
            </a:gs>
          </a:gsLst>
          <a:lin ang="8100000" scaled="0"/>
        </a:gradFill>
      </p:bgPr>
    </p:bg>
    <p:spTree>
      <p:nvGrpSpPr>
        <p:cNvPr id="126" name="Shape 126"/>
        <p:cNvGrpSpPr/>
        <p:nvPr/>
      </p:nvGrpSpPr>
      <p:grpSpPr>
        <a:xfrm>
          <a:off x="0" y="0"/>
          <a:ext cx="0" cy="0"/>
          <a:chOff x="0" y="0"/>
          <a:chExt cx="0" cy="0"/>
        </a:xfrm>
      </p:grpSpPr>
      <p:sp>
        <p:nvSpPr>
          <p:cNvPr id="127" name="Google Shape;127;p15"/>
          <p:cNvSpPr txBox="1"/>
          <p:nvPr>
            <p:ph type="title"/>
          </p:nvPr>
        </p:nvSpPr>
        <p:spPr>
          <a:xfrm>
            <a:off x="2792897" y="585216"/>
            <a:ext cx="8965094" cy="2276856"/>
          </a:xfrm>
          <a:prstGeom prst="rect">
            <a:avLst/>
          </a:prstGeom>
          <a:noFill/>
          <a:ln>
            <a:noFill/>
          </a:ln>
        </p:spPr>
        <p:txBody>
          <a:bodyPr anchorCtr="0" anchor="b" bIns="45700" lIns="0" spcFirstLastPara="1" rIns="0" wrap="square" tIns="0">
            <a:noAutofit/>
          </a:bodyPr>
          <a:lstStyle>
            <a:lvl1pPr lvl="0" algn="r">
              <a:lnSpc>
                <a:spcPct val="100000"/>
              </a:lnSpc>
              <a:spcBef>
                <a:spcPts val="0"/>
              </a:spcBef>
              <a:spcAft>
                <a:spcPts val="0"/>
              </a:spcAft>
              <a:buClr>
                <a:schemeClr val="lt1"/>
              </a:buClr>
              <a:buSzPts val="4800"/>
              <a:buFont typeface="Open Sans"/>
              <a:buNone/>
              <a:defRPr b="1"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 name="Google Shape;128;p15"/>
          <p:cNvSpPr/>
          <p:nvPr>
            <p:ph idx="2" type="pic"/>
          </p:nvPr>
        </p:nvSpPr>
        <p:spPr>
          <a:xfrm>
            <a:off x="1371606" y="3205313"/>
            <a:ext cx="3043077" cy="3043083"/>
          </a:xfrm>
          <a:prstGeom prst="rect">
            <a:avLst/>
          </a:prstGeom>
          <a:noFill/>
          <a:ln>
            <a:noFill/>
          </a:ln>
        </p:spPr>
      </p:sp>
      <p:sp>
        <p:nvSpPr>
          <p:cNvPr id="129" name="Google Shape;129;p15"/>
          <p:cNvSpPr txBox="1"/>
          <p:nvPr>
            <p:ph idx="1" type="body"/>
          </p:nvPr>
        </p:nvSpPr>
        <p:spPr>
          <a:xfrm>
            <a:off x="5640609" y="3127248"/>
            <a:ext cx="6117381" cy="3017520"/>
          </a:xfrm>
          <a:prstGeom prst="rect">
            <a:avLst/>
          </a:prstGeom>
          <a:noFill/>
          <a:ln>
            <a:noFill/>
          </a:ln>
        </p:spPr>
        <p:txBody>
          <a:bodyPr anchorCtr="0" anchor="t" bIns="0" lIns="0" spcFirstLastPara="1" rIns="0" wrap="square" tIns="0">
            <a:normAutofit/>
          </a:bodyPr>
          <a:lstStyle>
            <a:lvl1pPr indent="-228600" lvl="0" marL="457200" algn="r">
              <a:lnSpc>
                <a:spcPct val="90000"/>
              </a:lnSpc>
              <a:spcBef>
                <a:spcPts val="1200"/>
              </a:spcBef>
              <a:spcAft>
                <a:spcPts val="0"/>
              </a:spcAft>
              <a:buClr>
                <a:schemeClr val="lt1"/>
              </a:buClr>
              <a:buSzPts val="2400"/>
              <a:buNone/>
              <a:defRPr sz="2400">
                <a:solidFill>
                  <a:schemeClr val="lt1"/>
                </a:solidFill>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grpSp>
        <p:nvGrpSpPr>
          <p:cNvPr id="130" name="Google Shape;130;p15"/>
          <p:cNvGrpSpPr/>
          <p:nvPr/>
        </p:nvGrpSpPr>
        <p:grpSpPr>
          <a:xfrm rot="-2985760">
            <a:off x="3975343" y="2819532"/>
            <a:ext cx="465456" cy="581432"/>
            <a:chOff x="7843462" y="2744546"/>
            <a:chExt cx="465456" cy="581432"/>
          </a:xfrm>
        </p:grpSpPr>
        <p:sp>
          <p:nvSpPr>
            <p:cNvPr id="131" name="Google Shape;131;p15"/>
            <p:cNvSpPr/>
            <p:nvPr/>
          </p:nvSpPr>
          <p:spPr>
            <a:xfrm>
              <a:off x="8217780" y="2973840"/>
              <a:ext cx="91138" cy="91138"/>
            </a:xfrm>
            <a:custGeom>
              <a:rect b="b" l="l" r="r" t="t"/>
              <a:pathLst>
                <a:path extrusionOk="0" h="91138" w="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132" name="Google Shape;132;p15"/>
            <p:cNvSpPr/>
            <p:nvPr/>
          </p:nvSpPr>
          <p:spPr>
            <a:xfrm>
              <a:off x="7859002" y="2744546"/>
              <a:ext cx="139038" cy="139038"/>
            </a:xfrm>
            <a:custGeom>
              <a:rect b="b" l="l" r="r" t="t"/>
              <a:pathLst>
                <a:path extrusionOk="0" h="139038" w="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sp>
          <p:nvSpPr>
            <p:cNvPr id="133" name="Google Shape;133;p15"/>
            <p:cNvSpPr/>
            <p:nvPr/>
          </p:nvSpPr>
          <p:spPr>
            <a:xfrm>
              <a:off x="7843462" y="3198265"/>
              <a:ext cx="127713" cy="127713"/>
            </a:xfrm>
            <a:custGeom>
              <a:rect b="b" l="l" r="r" t="t"/>
              <a:pathLst>
                <a:path extrusionOk="0" h="127713" w="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Open Sans"/>
                <a:ea typeface="Open Sans"/>
                <a:cs typeface="Open Sans"/>
                <a:sym typeface="Open Sans"/>
              </a:endParaRPr>
            </a:p>
          </p:txBody>
        </p:sp>
      </p:grpSp>
      <p:cxnSp>
        <p:nvCxnSpPr>
          <p:cNvPr id="134" name="Google Shape;134;p15"/>
          <p:cNvCxnSpPr/>
          <p:nvPr/>
        </p:nvCxnSpPr>
        <p:spPr>
          <a:xfrm>
            <a:off x="740664" y="3503032"/>
            <a:ext cx="0" cy="3346090"/>
          </a:xfrm>
          <a:prstGeom prst="straightConnector1">
            <a:avLst/>
          </a:prstGeom>
          <a:noFill/>
          <a:ln cap="sq" cmpd="sng" w="25400">
            <a:solidFill>
              <a:schemeClr val="lt1"/>
            </a:solidFill>
            <a:prstDash val="solid"/>
            <a:bevel/>
            <a:headEnd len="sm" w="sm" type="none"/>
            <a:tailEnd len="sm" w="sm"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titolo" type="titleOnly">
  <p:cSld name="TITLE_ONLY">
    <p:spTree>
      <p:nvGrpSpPr>
        <p:cNvPr id="135" name="Shape 135"/>
        <p:cNvGrpSpPr/>
        <p:nvPr/>
      </p:nvGrpSpPr>
      <p:grpSpPr>
        <a:xfrm>
          <a:off x="0" y="0"/>
          <a:ext cx="0" cy="0"/>
          <a:chOff x="0" y="0"/>
          <a:chExt cx="0" cy="0"/>
        </a:xfrm>
      </p:grpSpPr>
      <p:sp>
        <p:nvSpPr>
          <p:cNvPr id="136" name="Google Shape;136;p16"/>
          <p:cNvSpPr txBox="1"/>
          <p:nvPr>
            <p:ph type="title"/>
          </p:nvPr>
        </p:nvSpPr>
        <p:spPr>
          <a:xfrm>
            <a:off x="838200" y="136525"/>
            <a:ext cx="10515600" cy="1509713"/>
          </a:xfrm>
          <a:prstGeom prst="rect">
            <a:avLst/>
          </a:prstGeom>
          <a:noFill/>
          <a:ln>
            <a:noFill/>
          </a:ln>
        </p:spPr>
        <p:txBody>
          <a:bodyPr anchorCtr="0" anchor="b" bIns="45700" lIns="91425" spcFirstLastPara="1" rIns="91425" wrap="square" tIns="45700">
            <a:noAutofit/>
          </a:bodyPr>
          <a:lstStyle>
            <a:lvl1pPr lvl="0" algn="l">
              <a:lnSpc>
                <a:spcPct val="222222"/>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7" name="Google Shape;137;p16"/>
          <p:cNvSpPr txBox="1"/>
          <p:nvPr>
            <p:ph idx="11" type="ftr"/>
          </p:nvPr>
        </p:nvSpPr>
        <p:spPr>
          <a:xfrm>
            <a:off x="7239000" y="6356350"/>
            <a:ext cx="4114800" cy="365125"/>
          </a:xfrm>
          <a:prstGeom prst="rect">
            <a:avLst/>
          </a:prstGeom>
          <a:noFill/>
          <a:ln>
            <a:noFill/>
          </a:ln>
        </p:spPr>
        <p:txBody>
          <a:bodyPr anchorCtr="0" anchor="ctr" bIns="45700" lIns="91425" spcFirstLastPara="1" rIns="0"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8" name="Google Shape;138;p16"/>
          <p:cNvSpPr txBox="1"/>
          <p:nvPr>
            <p:ph idx="12" type="sldNum"/>
          </p:nvPr>
        </p:nvSpPr>
        <p:spPr>
          <a:xfrm>
            <a:off x="484632" y="726630"/>
            <a:ext cx="520991" cy="517379"/>
          </a:xfrm>
          <a:prstGeom prst="rect">
            <a:avLst/>
          </a:prstGeom>
          <a:noFill/>
          <a:ln>
            <a:noFill/>
          </a:ln>
        </p:spPr>
        <p:txBody>
          <a:bodyPr anchorCtr="0" anchor="t" bIns="0" lIns="0" spcFirstLastPara="1" rIns="0" wrap="square" tIns="0">
            <a:noAutofit/>
          </a:bodyPr>
          <a:lstStyle>
            <a:lvl1pPr indent="0" lvl="0" marL="0" marR="0" algn="ctr">
              <a:spcBef>
                <a:spcPts val="0"/>
              </a:spcBef>
              <a:buNone/>
              <a:defRPr b="1" i="0" sz="1800" cap="none">
                <a:solidFill>
                  <a:schemeClr val="accent2"/>
                </a:solidFill>
                <a:latin typeface="Open Sans"/>
                <a:ea typeface="Open Sans"/>
                <a:cs typeface="Open Sans"/>
                <a:sym typeface="Open Sans"/>
              </a:defRPr>
            </a:lvl1pPr>
            <a:lvl2pPr indent="0" lvl="1" marL="0" marR="0" algn="ctr">
              <a:spcBef>
                <a:spcPts val="0"/>
              </a:spcBef>
              <a:buNone/>
              <a:defRPr b="1" i="0" sz="1800" cap="none">
                <a:solidFill>
                  <a:schemeClr val="accent2"/>
                </a:solidFill>
                <a:latin typeface="Open Sans"/>
                <a:ea typeface="Open Sans"/>
                <a:cs typeface="Open Sans"/>
                <a:sym typeface="Open Sans"/>
              </a:defRPr>
            </a:lvl2pPr>
            <a:lvl3pPr indent="0" lvl="2" marL="0" marR="0" algn="ctr">
              <a:spcBef>
                <a:spcPts val="0"/>
              </a:spcBef>
              <a:buNone/>
              <a:defRPr b="1" i="0" sz="1800" cap="none">
                <a:solidFill>
                  <a:schemeClr val="accent2"/>
                </a:solidFill>
                <a:latin typeface="Open Sans"/>
                <a:ea typeface="Open Sans"/>
                <a:cs typeface="Open Sans"/>
                <a:sym typeface="Open Sans"/>
              </a:defRPr>
            </a:lvl3pPr>
            <a:lvl4pPr indent="0" lvl="3" marL="0" marR="0" algn="ctr">
              <a:spcBef>
                <a:spcPts val="0"/>
              </a:spcBef>
              <a:buNone/>
              <a:defRPr b="1" i="0" sz="1800" cap="none">
                <a:solidFill>
                  <a:schemeClr val="accent2"/>
                </a:solidFill>
                <a:latin typeface="Open Sans"/>
                <a:ea typeface="Open Sans"/>
                <a:cs typeface="Open Sans"/>
                <a:sym typeface="Open Sans"/>
              </a:defRPr>
            </a:lvl4pPr>
            <a:lvl5pPr indent="0" lvl="4" marL="0" marR="0" algn="ctr">
              <a:spcBef>
                <a:spcPts val="0"/>
              </a:spcBef>
              <a:buNone/>
              <a:defRPr b="1" i="0" sz="1800" cap="none">
                <a:solidFill>
                  <a:schemeClr val="accent2"/>
                </a:solidFill>
                <a:latin typeface="Open Sans"/>
                <a:ea typeface="Open Sans"/>
                <a:cs typeface="Open Sans"/>
                <a:sym typeface="Open Sans"/>
              </a:defRPr>
            </a:lvl5pPr>
            <a:lvl6pPr indent="0" lvl="5" marL="0" marR="0" algn="ctr">
              <a:spcBef>
                <a:spcPts val="0"/>
              </a:spcBef>
              <a:buNone/>
              <a:defRPr b="1" i="0" sz="1800" cap="none">
                <a:solidFill>
                  <a:schemeClr val="accent2"/>
                </a:solidFill>
                <a:latin typeface="Open Sans"/>
                <a:ea typeface="Open Sans"/>
                <a:cs typeface="Open Sans"/>
                <a:sym typeface="Open Sans"/>
              </a:defRPr>
            </a:lvl6pPr>
            <a:lvl7pPr indent="0" lvl="6" marL="0" marR="0" algn="ctr">
              <a:spcBef>
                <a:spcPts val="0"/>
              </a:spcBef>
              <a:buNone/>
              <a:defRPr b="1" i="0" sz="1800" cap="none">
                <a:solidFill>
                  <a:schemeClr val="accent2"/>
                </a:solidFill>
                <a:latin typeface="Open Sans"/>
                <a:ea typeface="Open Sans"/>
                <a:cs typeface="Open Sans"/>
                <a:sym typeface="Open Sans"/>
              </a:defRPr>
            </a:lvl7pPr>
            <a:lvl8pPr indent="0" lvl="7" marL="0" marR="0" algn="ctr">
              <a:spcBef>
                <a:spcPts val="0"/>
              </a:spcBef>
              <a:buNone/>
              <a:defRPr b="1" i="0" sz="1800" cap="none">
                <a:solidFill>
                  <a:schemeClr val="accent2"/>
                </a:solidFill>
                <a:latin typeface="Open Sans"/>
                <a:ea typeface="Open Sans"/>
                <a:cs typeface="Open Sans"/>
                <a:sym typeface="Open Sans"/>
              </a:defRPr>
            </a:lvl8pPr>
            <a:lvl9pPr indent="0" lvl="8" marL="0" marR="0" algn="ctr">
              <a:spcBef>
                <a:spcPts val="0"/>
              </a:spcBef>
              <a:buNone/>
              <a:defRPr b="1" i="0" sz="1800" cap="non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cxnSp>
        <p:nvCxnSpPr>
          <p:cNvPr id="139" name="Google Shape;139;p16"/>
          <p:cNvCxnSpPr/>
          <p:nvPr/>
        </p:nvCxnSpPr>
        <p:spPr>
          <a:xfrm>
            <a:off x="715890" y="1371600"/>
            <a:ext cx="0" cy="5486400"/>
          </a:xfrm>
          <a:prstGeom prst="straightConnector1">
            <a:avLst/>
          </a:prstGeom>
          <a:noFill/>
          <a:ln cap="sq" cmpd="sng" w="25400">
            <a:solidFill>
              <a:schemeClr val="accent2"/>
            </a:solidFill>
            <a:prstDash val="solid"/>
            <a:bevel/>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435394" y="1"/>
            <a:ext cx="9918405" cy="164623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chemeClr val="dk1"/>
              </a:buClr>
              <a:buSzPts val="4000"/>
              <a:buFont typeface="Open Sans"/>
              <a:buNone/>
              <a:defRPr b="0" i="0" sz="4000" u="none" cap="none" strike="noStrike">
                <a:solidFill>
                  <a:schemeClr val="dk1"/>
                </a:solidFill>
                <a:latin typeface="Open Sans"/>
                <a:ea typeface="Open Sans"/>
                <a:cs typeface="Open Sans"/>
                <a:sym typeface="Open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435394" y="1825625"/>
            <a:ext cx="9918405"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Open Sans"/>
                <a:ea typeface="Open Sans"/>
                <a:cs typeface="Open Sans"/>
                <a:sym typeface="Open Sans"/>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Open Sans"/>
                <a:ea typeface="Open Sans"/>
                <a:cs typeface="Open Sans"/>
                <a:sym typeface="Open Sans"/>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Open Sans"/>
                <a:ea typeface="Open Sans"/>
                <a:cs typeface="Open Sans"/>
                <a:sym typeface="Open Sans"/>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9pPr>
          </a:lstStyle>
          <a:p/>
        </p:txBody>
      </p:sp>
      <p:sp>
        <p:nvSpPr>
          <p:cNvPr id="12" name="Google Shape;12;p1"/>
          <p:cNvSpPr txBox="1"/>
          <p:nvPr>
            <p:ph idx="12" type="sldNum"/>
          </p:nvPr>
        </p:nvSpPr>
        <p:spPr>
          <a:xfrm>
            <a:off x="486121" y="726630"/>
            <a:ext cx="520991" cy="517379"/>
          </a:xfrm>
          <a:prstGeom prst="rect">
            <a:avLst/>
          </a:prstGeom>
          <a:noFill/>
          <a:ln>
            <a:noFill/>
          </a:ln>
        </p:spPr>
        <p:txBody>
          <a:bodyPr anchorCtr="0" anchor="t" bIns="0" lIns="0" spcFirstLastPara="1" rIns="0" wrap="square" tIns="0">
            <a:noAutofit/>
          </a:bodyPr>
          <a:lstStyle>
            <a:lvl1pPr indent="0" lvl="0" marL="0" marR="0" rtl="0" algn="ctr">
              <a:spcBef>
                <a:spcPts val="0"/>
              </a:spcBef>
              <a:buNone/>
              <a:defRPr b="1" i="0" sz="1800" u="none" cap="none" strike="noStrike">
                <a:solidFill>
                  <a:schemeClr val="accent2"/>
                </a:solidFill>
                <a:latin typeface="Open Sans"/>
                <a:ea typeface="Open Sans"/>
                <a:cs typeface="Open Sans"/>
                <a:sym typeface="Open Sans"/>
              </a:defRPr>
            </a:lvl1pPr>
            <a:lvl2pPr indent="0" lvl="1" marL="0" marR="0" rtl="0" algn="ctr">
              <a:spcBef>
                <a:spcPts val="0"/>
              </a:spcBef>
              <a:buNone/>
              <a:defRPr b="1" i="0" sz="1800" u="none" cap="none" strike="noStrike">
                <a:solidFill>
                  <a:schemeClr val="accent2"/>
                </a:solidFill>
                <a:latin typeface="Open Sans"/>
                <a:ea typeface="Open Sans"/>
                <a:cs typeface="Open Sans"/>
                <a:sym typeface="Open Sans"/>
              </a:defRPr>
            </a:lvl2pPr>
            <a:lvl3pPr indent="0" lvl="2" marL="0" marR="0" rtl="0" algn="ctr">
              <a:spcBef>
                <a:spcPts val="0"/>
              </a:spcBef>
              <a:buNone/>
              <a:defRPr b="1" i="0" sz="1800" u="none" cap="none" strike="noStrike">
                <a:solidFill>
                  <a:schemeClr val="accent2"/>
                </a:solidFill>
                <a:latin typeface="Open Sans"/>
                <a:ea typeface="Open Sans"/>
                <a:cs typeface="Open Sans"/>
                <a:sym typeface="Open Sans"/>
              </a:defRPr>
            </a:lvl3pPr>
            <a:lvl4pPr indent="0" lvl="3" marL="0" marR="0" rtl="0" algn="ctr">
              <a:spcBef>
                <a:spcPts val="0"/>
              </a:spcBef>
              <a:buNone/>
              <a:defRPr b="1" i="0" sz="1800" u="none" cap="none" strike="noStrike">
                <a:solidFill>
                  <a:schemeClr val="accent2"/>
                </a:solidFill>
                <a:latin typeface="Open Sans"/>
                <a:ea typeface="Open Sans"/>
                <a:cs typeface="Open Sans"/>
                <a:sym typeface="Open Sans"/>
              </a:defRPr>
            </a:lvl4pPr>
            <a:lvl5pPr indent="0" lvl="4" marL="0" marR="0" rtl="0" algn="ctr">
              <a:spcBef>
                <a:spcPts val="0"/>
              </a:spcBef>
              <a:buNone/>
              <a:defRPr b="1" i="0" sz="1800" u="none" cap="none" strike="noStrike">
                <a:solidFill>
                  <a:schemeClr val="accent2"/>
                </a:solidFill>
                <a:latin typeface="Open Sans"/>
                <a:ea typeface="Open Sans"/>
                <a:cs typeface="Open Sans"/>
                <a:sym typeface="Open Sans"/>
              </a:defRPr>
            </a:lvl5pPr>
            <a:lvl6pPr indent="0" lvl="5" marL="0" marR="0" rtl="0" algn="ctr">
              <a:spcBef>
                <a:spcPts val="0"/>
              </a:spcBef>
              <a:buNone/>
              <a:defRPr b="1" i="0" sz="1800" u="none" cap="none" strike="noStrike">
                <a:solidFill>
                  <a:schemeClr val="accent2"/>
                </a:solidFill>
                <a:latin typeface="Open Sans"/>
                <a:ea typeface="Open Sans"/>
                <a:cs typeface="Open Sans"/>
                <a:sym typeface="Open Sans"/>
              </a:defRPr>
            </a:lvl6pPr>
            <a:lvl7pPr indent="0" lvl="6" marL="0" marR="0" rtl="0" algn="ctr">
              <a:spcBef>
                <a:spcPts val="0"/>
              </a:spcBef>
              <a:buNone/>
              <a:defRPr b="1" i="0" sz="1800" u="none" cap="none" strike="noStrike">
                <a:solidFill>
                  <a:schemeClr val="accent2"/>
                </a:solidFill>
                <a:latin typeface="Open Sans"/>
                <a:ea typeface="Open Sans"/>
                <a:cs typeface="Open Sans"/>
                <a:sym typeface="Open Sans"/>
              </a:defRPr>
            </a:lvl7pPr>
            <a:lvl8pPr indent="0" lvl="7" marL="0" marR="0" rtl="0" algn="ctr">
              <a:spcBef>
                <a:spcPts val="0"/>
              </a:spcBef>
              <a:buNone/>
              <a:defRPr b="1" i="0" sz="1800" u="none" cap="none" strike="noStrike">
                <a:solidFill>
                  <a:schemeClr val="accent2"/>
                </a:solidFill>
                <a:latin typeface="Open Sans"/>
                <a:ea typeface="Open Sans"/>
                <a:cs typeface="Open Sans"/>
                <a:sym typeface="Open Sans"/>
              </a:defRPr>
            </a:lvl8pPr>
            <a:lvl9pPr indent="0" lvl="8" marL="0" marR="0" rtl="0" algn="ctr">
              <a:spcBef>
                <a:spcPts val="0"/>
              </a:spcBef>
              <a:buNone/>
              <a:defRPr b="1" i="0" sz="1800" u="none" cap="none" strike="noStrike">
                <a:solidFill>
                  <a:schemeClr val="accent2"/>
                </a:solidFill>
                <a:latin typeface="Open Sans"/>
                <a:ea typeface="Open Sans"/>
                <a:cs typeface="Open Sans"/>
                <a:sym typeface="Open Sans"/>
              </a:defRPr>
            </a:lvl9pPr>
          </a:lstStyle>
          <a:p>
            <a:pPr indent="0" lvl="0" marL="0" rtl="0" algn="ctr">
              <a:spcBef>
                <a:spcPts val="0"/>
              </a:spcBef>
              <a:spcAft>
                <a:spcPts val="0"/>
              </a:spcAft>
              <a:buNone/>
            </a:pPr>
            <a:fld id="{00000000-1234-1234-1234-123412341234}" type="slidenum">
              <a:rPr lang="it-IT"/>
              <a:t>‹#›</a:t>
            </a:fld>
            <a:endParaRPr/>
          </a:p>
        </p:txBody>
      </p:sp>
      <p:sp>
        <p:nvSpPr>
          <p:cNvPr id="13" name="Google Shape;13;p1"/>
          <p:cNvSpPr txBox="1"/>
          <p:nvPr>
            <p:ph idx="10" type="dt"/>
          </p:nvPr>
        </p:nvSpPr>
        <p:spPr>
          <a:xfrm>
            <a:off x="1435394" y="6356350"/>
            <a:ext cx="2743200" cy="365125"/>
          </a:xfrm>
          <a:prstGeom prst="rect">
            <a:avLst/>
          </a:prstGeom>
          <a:noFill/>
          <a:ln>
            <a:noFill/>
          </a:ln>
        </p:spPr>
        <p:txBody>
          <a:bodyPr anchorCtr="0" anchor="ctr" bIns="45700" lIns="0"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Open Sans"/>
                <a:ea typeface="Open Sans"/>
                <a:cs typeface="Open Sans"/>
                <a:sym typeface="Open Sans"/>
              </a:defRPr>
            </a:lvl1pPr>
            <a:lvl2pPr lvl="1"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2pPr>
            <a:lvl3pPr lvl="2"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3pPr>
            <a:lvl4pPr lvl="3"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4pPr>
            <a:lvl5pPr lvl="4"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5pPr>
            <a:lvl6pPr lvl="5"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6pPr>
            <a:lvl7pPr lvl="6"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7pPr>
            <a:lvl8pPr lvl="7"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8pPr>
            <a:lvl9pPr lvl="8"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9pPr>
          </a:lstStyle>
          <a:p/>
        </p:txBody>
      </p:sp>
      <p:sp>
        <p:nvSpPr>
          <p:cNvPr id="14" name="Google Shape;14;p1"/>
          <p:cNvSpPr txBox="1"/>
          <p:nvPr>
            <p:ph idx="11" type="ftr"/>
          </p:nvPr>
        </p:nvSpPr>
        <p:spPr>
          <a:xfrm>
            <a:off x="7238999" y="6356350"/>
            <a:ext cx="4114800" cy="365125"/>
          </a:xfrm>
          <a:prstGeom prst="rect">
            <a:avLst/>
          </a:prstGeom>
          <a:noFill/>
          <a:ln>
            <a:noFill/>
          </a:ln>
        </p:spPr>
        <p:txBody>
          <a:bodyPr anchorCtr="0" anchor="ctr" bIns="45700" lIns="91425" spcFirstLastPara="1" rIns="0" wrap="square" tIns="45700">
            <a:noAutofit/>
          </a:bodyPr>
          <a:lstStyle>
            <a:lvl1pPr lvl="0" marR="0" rtl="0" algn="r">
              <a:spcBef>
                <a:spcPts val="0"/>
              </a:spcBef>
              <a:spcAft>
                <a:spcPts val="0"/>
              </a:spcAft>
              <a:buSzPts val="1400"/>
              <a:buNone/>
              <a:defRPr b="0" i="0" sz="1200" u="none" cap="none" strike="noStrike">
                <a:solidFill>
                  <a:srgbClr val="888888"/>
                </a:solidFill>
                <a:latin typeface="Open Sans"/>
                <a:ea typeface="Open Sans"/>
                <a:cs typeface="Open Sans"/>
                <a:sym typeface="Open Sans"/>
              </a:defRPr>
            </a:lvl1pPr>
            <a:lvl2pPr lvl="1"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2pPr>
            <a:lvl3pPr lvl="2"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3pPr>
            <a:lvl4pPr lvl="3"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4pPr>
            <a:lvl5pPr lvl="4"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5pPr>
            <a:lvl6pPr lvl="5"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6pPr>
            <a:lvl7pPr lvl="6"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7pPr>
            <a:lvl8pPr lvl="7"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8pPr>
            <a:lvl9pPr lvl="8" marR="0" rtl="0" algn="l">
              <a:spcBef>
                <a:spcPts val="0"/>
              </a:spcBef>
              <a:spcAft>
                <a:spcPts val="0"/>
              </a:spcAft>
              <a:buSzPts val="1400"/>
              <a:buNone/>
              <a:defRPr b="0" i="0" sz="1800" u="none" cap="none" strike="noStrike">
                <a:solidFill>
                  <a:schemeClr val="dk1"/>
                </a:solidFill>
                <a:latin typeface="Open Sans"/>
                <a:ea typeface="Open Sans"/>
                <a:cs typeface="Open Sans"/>
                <a:sym typeface="Open Sans"/>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4.png"/><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1.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1.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7.png"/><Relationship Id="rId4"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27.png"/><Relationship Id="rId5" Type="http://schemas.openxmlformats.org/officeDocument/2006/relationships/image" Target="../media/image2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32.png"/><Relationship Id="rId5"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4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2.png"/><Relationship Id="rId5"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43.png"/><Relationship Id="rId4" Type="http://schemas.openxmlformats.org/officeDocument/2006/relationships/image" Target="../media/image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7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51.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55.png"/><Relationship Id="rId4" Type="http://schemas.openxmlformats.org/officeDocument/2006/relationships/image" Target="../media/image48.png"/><Relationship Id="rId5" Type="http://schemas.openxmlformats.org/officeDocument/2006/relationships/image" Target="../media/image46.png"/><Relationship Id="rId6" Type="http://schemas.openxmlformats.org/officeDocument/2006/relationships/image" Target="../media/image5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5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52.png"/><Relationship Id="rId4" Type="http://schemas.openxmlformats.org/officeDocument/2006/relationships/image" Target="../media/image58.png"/><Relationship Id="rId5" Type="http://schemas.openxmlformats.org/officeDocument/2006/relationships/image" Target="../media/image6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65.png"/><Relationship Id="rId4" Type="http://schemas.openxmlformats.org/officeDocument/2006/relationships/image" Target="../media/image62.png"/><Relationship Id="rId5" Type="http://schemas.openxmlformats.org/officeDocument/2006/relationships/image" Target="../media/image5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4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59.png"/><Relationship Id="rId4" Type="http://schemas.openxmlformats.org/officeDocument/2006/relationships/image" Target="../media/image5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61.png"/><Relationship Id="rId4" Type="http://schemas.openxmlformats.org/officeDocument/2006/relationships/image" Target="../media/image6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9.png"/><Relationship Id="rId4" Type="http://schemas.openxmlformats.org/officeDocument/2006/relationships/image" Target="../media/image7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76.png"/><Relationship Id="rId4" Type="http://schemas.openxmlformats.org/officeDocument/2006/relationships/image" Target="../media/image66.png"/><Relationship Id="rId5" Type="http://schemas.openxmlformats.org/officeDocument/2006/relationships/image" Target="../media/image7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71.png"/><Relationship Id="rId4" Type="http://schemas.openxmlformats.org/officeDocument/2006/relationships/image" Target="../media/image77.png"/><Relationship Id="rId5" Type="http://schemas.openxmlformats.org/officeDocument/2006/relationships/image" Target="../media/image8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47.png"/><Relationship Id="rId4" Type="http://schemas.openxmlformats.org/officeDocument/2006/relationships/image" Target="../media/image1.png"/><Relationship Id="rId5" Type="http://schemas.openxmlformats.org/officeDocument/2006/relationships/image" Target="../media/image11.png"/><Relationship Id="rId6" Type="http://schemas.openxmlformats.org/officeDocument/2006/relationships/image" Target="../media/image81.png"/><Relationship Id="rId7" Type="http://schemas.openxmlformats.org/officeDocument/2006/relationships/image" Target="../media/image7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63.png"/><Relationship Id="rId4" Type="http://schemas.openxmlformats.org/officeDocument/2006/relationships/image" Target="../media/image7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8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90.png"/><Relationship Id="rId4" Type="http://schemas.openxmlformats.org/officeDocument/2006/relationships/image" Target="../media/image82.png"/><Relationship Id="rId5" Type="http://schemas.openxmlformats.org/officeDocument/2006/relationships/image" Target="../media/image6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89.png"/><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9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88.png"/><Relationship Id="rId4" Type="http://schemas.openxmlformats.org/officeDocument/2006/relationships/image" Target="../media/image7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9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89.png"/><Relationship Id="rId4" Type="http://schemas.openxmlformats.org/officeDocument/2006/relationships/image" Target="../media/image87.png"/><Relationship Id="rId5" Type="http://schemas.openxmlformats.org/officeDocument/2006/relationships/image" Target="../media/image9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02.png"/><Relationship Id="rId4" Type="http://schemas.openxmlformats.org/officeDocument/2006/relationships/image" Target="../media/image97.png"/><Relationship Id="rId5" Type="http://schemas.openxmlformats.org/officeDocument/2006/relationships/image" Target="../media/image80.png"/><Relationship Id="rId6" Type="http://schemas.openxmlformats.org/officeDocument/2006/relationships/image" Target="../media/image8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00.png"/><Relationship Id="rId4" Type="http://schemas.openxmlformats.org/officeDocument/2006/relationships/image" Target="../media/image108.png"/><Relationship Id="rId5" Type="http://schemas.openxmlformats.org/officeDocument/2006/relationships/image" Target="../media/image9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11.png"/><Relationship Id="rId4" Type="http://schemas.openxmlformats.org/officeDocument/2006/relationships/image" Target="../media/image9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95.png"/><Relationship Id="rId4" Type="http://schemas.openxmlformats.org/officeDocument/2006/relationships/image" Target="../media/image98.png"/><Relationship Id="rId5" Type="http://schemas.openxmlformats.org/officeDocument/2006/relationships/image" Target="../media/image94.png"/><Relationship Id="rId6" Type="http://schemas.openxmlformats.org/officeDocument/2006/relationships/image" Target="../media/image9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10.png"/><Relationship Id="rId4" Type="http://schemas.openxmlformats.org/officeDocument/2006/relationships/image" Target="../media/image105.png"/><Relationship Id="rId5" Type="http://schemas.openxmlformats.org/officeDocument/2006/relationships/image" Target="../media/image10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104.png"/><Relationship Id="rId4" Type="http://schemas.openxmlformats.org/officeDocument/2006/relationships/image" Target="../media/image107.png"/><Relationship Id="rId5" Type="http://schemas.openxmlformats.org/officeDocument/2006/relationships/image" Target="../media/image10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03.png"/><Relationship Id="rId4" Type="http://schemas.openxmlformats.org/officeDocument/2006/relationships/image" Target="../media/image106.png"/><Relationship Id="rId5" Type="http://schemas.openxmlformats.org/officeDocument/2006/relationships/image" Target="../media/image11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112.png"/><Relationship Id="rId4" Type="http://schemas.openxmlformats.org/officeDocument/2006/relationships/image" Target="../media/image11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10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17"/>
          <p:cNvSpPr txBox="1"/>
          <p:nvPr>
            <p:ph type="ctrTitle"/>
          </p:nvPr>
        </p:nvSpPr>
        <p:spPr>
          <a:xfrm>
            <a:off x="1280159" y="357809"/>
            <a:ext cx="7983110" cy="3080335"/>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chemeClr val="lt1"/>
              </a:buClr>
              <a:buSzPts val="5400"/>
              <a:buFont typeface="Open Sans"/>
              <a:buNone/>
            </a:pPr>
            <a:r>
              <a:rPr b="1" i="0" lang="it-IT" sz="5400" u="none" cap="none" strike="noStrike">
                <a:solidFill>
                  <a:schemeClr val="lt1"/>
                </a:solidFill>
                <a:latin typeface="Open Sans"/>
                <a:ea typeface="Open Sans"/>
                <a:cs typeface="Open Sans"/>
                <a:sym typeface="Open Sans"/>
              </a:rPr>
              <a:t>GALASSIA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18"/>
          <p:cNvSpPr txBox="1"/>
          <p:nvPr/>
        </p:nvSpPr>
        <p:spPr>
          <a:xfrm>
            <a:off x="1353475" y="1313025"/>
            <a:ext cx="10344900" cy="341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200">
                <a:latin typeface="Libre Franklin"/>
                <a:ea typeface="Libre Franklin"/>
                <a:cs typeface="Libre Franklin"/>
                <a:sym typeface="Libre Franklin"/>
              </a:rPr>
              <a:t>Un filtro passa-alto (High-Pass Filter, HP) è un circuito che attenua i segnali a bassa frequenza e lascia passare quelli a frequenza più elevata.</a:t>
            </a:r>
            <a:endParaRPr sz="1200">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Un filtro passa-alto nasce sempre dalla presenza di un elemento reattivo, cioè un componente la cui impedenza cambia con la frequenza.</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Esistono</a:t>
            </a:r>
            <a:r>
              <a:rPr lang="it-IT" sz="1200">
                <a:solidFill>
                  <a:schemeClr val="dk1"/>
                </a:solidFill>
                <a:latin typeface="Libre Franklin"/>
                <a:ea typeface="Libre Franklin"/>
                <a:cs typeface="Libre Franklin"/>
                <a:sym typeface="Libre Franklin"/>
              </a:rPr>
              <a:t> diverse configurazioni circuitali, tra cui le reti RC e RL</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Nel filtro RC, il comportamento passa-alto è legato al condensatore: alle basse frequenze la sua impedenza è alta e il segnale viene attenuato; alle alte frequenze l’impedenza diminuisce e il segnale passa più facilmente.</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Nel filtro RL, invece, il ruolo &lt;selettivo è svolto dall’induttore: la sua impedenza aumenta con la frequenza e modifica la distribuzione della tensione nel circuito, permettendo di ottenere una risposta passa-alto in modo analogo ma con un principio fisico diverso.</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Clr>
                <a:schemeClr val="dk1"/>
              </a:buClr>
              <a:buSzPts val="1100"/>
              <a:buFont typeface="Arial"/>
              <a:buNone/>
            </a:pPr>
            <a:r>
              <a:rPr lang="it-IT" sz="1200">
                <a:solidFill>
                  <a:schemeClr val="dk1"/>
                </a:solidFill>
                <a:latin typeface="Libre Franklin"/>
                <a:ea typeface="Libre Franklin"/>
                <a:cs typeface="Libre Franklin"/>
                <a:sym typeface="Libre Franklin"/>
              </a:rPr>
              <a:t>In entrambi i casi la resistenza non genera da sola l’effetto di filtro, ma serve a fissare i parametri principali del circuito, come la frequenza di taglio e la rapidità della risposta transitoria.</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200">
                <a:latin typeface="Libre Franklin"/>
                <a:ea typeface="Libre Franklin"/>
                <a:cs typeface="Libre Franklin"/>
                <a:sym typeface="Libre Franklin"/>
              </a:rPr>
              <a:t>La frequenza che separa la banda attenuata dalla banda passante è detta frequenza di taglio (ƒc​). Al di sotto di essa il segnale viene progressivamente attenuato, mentre al di sopra viene trasmesso con guadagno pressoché costante.</a:t>
            </a:r>
            <a:endParaRPr sz="1200">
              <a:latin typeface="Libre Franklin"/>
              <a:ea typeface="Libre Franklin"/>
              <a:cs typeface="Libre Franklin"/>
              <a:sym typeface="Libre Franklin"/>
            </a:endParaRPr>
          </a:p>
        </p:txBody>
      </p:sp>
      <p:sp>
        <p:nvSpPr>
          <p:cNvPr id="152" name="Google Shape;152;p18"/>
          <p:cNvSpPr txBox="1"/>
          <p:nvPr/>
        </p:nvSpPr>
        <p:spPr>
          <a:xfrm>
            <a:off x="1353475" y="579775"/>
            <a:ext cx="47844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Cos'è un Filtro Passa Alto?</a:t>
            </a:r>
            <a:endParaRPr sz="2500">
              <a:solidFill>
                <a:srgbClr val="073763"/>
              </a:solidFill>
              <a:latin typeface="Libre Franklin SemiBold"/>
              <a:ea typeface="Libre Franklin SemiBold"/>
              <a:cs typeface="Libre Franklin SemiBold"/>
              <a:sym typeface="Libre Franklin SemiBold"/>
            </a:endParaRPr>
          </a:p>
        </p:txBody>
      </p:sp>
      <p:sp>
        <p:nvSpPr>
          <p:cNvPr id="153" name="Google Shape;153;p18"/>
          <p:cNvSpPr txBox="1"/>
          <p:nvPr/>
        </p:nvSpPr>
        <p:spPr>
          <a:xfrm>
            <a:off x="1434900" y="5096625"/>
            <a:ext cx="7614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a:solidFill>
                  <a:schemeClr val="dk1"/>
                </a:solidFill>
                <a:latin typeface="Libre Franklin"/>
                <a:ea typeface="Libre Franklin"/>
                <a:cs typeface="Libre Franklin"/>
                <a:sym typeface="Libre Franklin"/>
              </a:rPr>
              <a:t>Le rispettive frequenze di taglio sono:</a:t>
            </a:r>
            <a:endParaRPr>
              <a:solidFill>
                <a:schemeClr val="dk1"/>
              </a:solidFill>
              <a:latin typeface="Libre Franklin"/>
              <a:ea typeface="Libre Franklin"/>
              <a:cs typeface="Libre Franklin"/>
              <a:sym typeface="Libre Franklin"/>
            </a:endParaRPr>
          </a:p>
        </p:txBody>
      </p:sp>
      <p:pic>
        <p:nvPicPr>
          <p:cNvPr id="154" name="Google Shape;154;p18"/>
          <p:cNvPicPr preferRelativeResize="0"/>
          <p:nvPr/>
        </p:nvPicPr>
        <p:blipFill>
          <a:blip r:embed="rId3">
            <a:alphaModFix/>
          </a:blip>
          <a:stretch>
            <a:fillRect/>
          </a:stretch>
        </p:blipFill>
        <p:spPr>
          <a:xfrm>
            <a:off x="2581175" y="5714350"/>
            <a:ext cx="1767021" cy="732975"/>
          </a:xfrm>
          <a:prstGeom prst="rect">
            <a:avLst/>
          </a:prstGeom>
          <a:noFill/>
          <a:ln>
            <a:noFill/>
          </a:ln>
        </p:spPr>
      </p:pic>
      <p:pic>
        <p:nvPicPr>
          <p:cNvPr id="155" name="Google Shape;155;p18"/>
          <p:cNvPicPr preferRelativeResize="0"/>
          <p:nvPr/>
        </p:nvPicPr>
        <p:blipFill>
          <a:blip r:embed="rId4">
            <a:alphaModFix/>
          </a:blip>
          <a:stretch>
            <a:fillRect/>
          </a:stretch>
        </p:blipFill>
        <p:spPr>
          <a:xfrm>
            <a:off x="6828725" y="5836675"/>
            <a:ext cx="1488175" cy="6503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pic>
        <p:nvPicPr>
          <p:cNvPr id="161" name="Google Shape;161;p19"/>
          <p:cNvPicPr preferRelativeResize="0"/>
          <p:nvPr/>
        </p:nvPicPr>
        <p:blipFill rotWithShape="1">
          <a:blip r:embed="rId3">
            <a:alphaModFix/>
          </a:blip>
          <a:srcRect b="0" l="0" r="0" t="17136"/>
          <a:stretch/>
        </p:blipFill>
        <p:spPr>
          <a:xfrm>
            <a:off x="1208275" y="888350"/>
            <a:ext cx="6184850" cy="1326300"/>
          </a:xfrm>
          <a:prstGeom prst="rect">
            <a:avLst/>
          </a:prstGeom>
          <a:noFill/>
          <a:ln>
            <a:noFill/>
          </a:ln>
        </p:spPr>
      </p:pic>
      <p:sp>
        <p:nvSpPr>
          <p:cNvPr id="162" name="Google Shape;162;p19"/>
          <p:cNvSpPr txBox="1"/>
          <p:nvPr/>
        </p:nvSpPr>
        <p:spPr>
          <a:xfrm>
            <a:off x="7737025" y="983413"/>
            <a:ext cx="42663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a:latin typeface="Libre Franklin"/>
                <a:ea typeface="Libre Franklin"/>
                <a:cs typeface="Libre Franklin"/>
                <a:sym typeface="Libre Franklin"/>
              </a:rPr>
              <a:t>Per confrontare le due configurazioni, sono stati scelti valori dei componenti tali da ottenere la stessa frequenza di taglio:      </a:t>
            </a:r>
            <a:r>
              <a:rPr b="1" lang="it-IT" sz="1600">
                <a:latin typeface="Libre Franklin"/>
                <a:ea typeface="Libre Franklin"/>
                <a:cs typeface="Libre Franklin"/>
                <a:sym typeface="Libre Franklin"/>
              </a:rPr>
              <a:t>159 Hz</a:t>
            </a:r>
            <a:endParaRPr b="1" sz="1600">
              <a:latin typeface="Libre Franklin"/>
              <a:ea typeface="Libre Franklin"/>
              <a:cs typeface="Libre Franklin"/>
              <a:sym typeface="Libre Franklin"/>
            </a:endParaRPr>
          </a:p>
        </p:txBody>
      </p:sp>
      <p:sp>
        <p:nvSpPr>
          <p:cNvPr id="163" name="Google Shape;163;p19"/>
          <p:cNvSpPr txBox="1"/>
          <p:nvPr/>
        </p:nvSpPr>
        <p:spPr>
          <a:xfrm>
            <a:off x="1156050" y="2513000"/>
            <a:ext cx="10508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latin typeface="Libre Franklin"/>
                <a:ea typeface="Libre Franklin"/>
                <a:cs typeface="Libre Franklin"/>
                <a:sym typeface="Libre Franklin"/>
              </a:rPr>
              <a:t>Entrambi i circuiti sono stati simulati con un segnale sinusoidale di ingresso a 1 kHz, frequenza ampiamente superiore alla frequenza di taglio.</a:t>
            </a:r>
            <a:endParaRPr sz="1200">
              <a:latin typeface="Libre Franklin"/>
              <a:ea typeface="Libre Franklin"/>
              <a:cs typeface="Libre Franklin"/>
              <a:sym typeface="Libre Franklin"/>
            </a:endParaRPr>
          </a:p>
        </p:txBody>
      </p:sp>
      <p:pic>
        <p:nvPicPr>
          <p:cNvPr id="164" name="Google Shape;164;p19"/>
          <p:cNvPicPr preferRelativeResize="0"/>
          <p:nvPr/>
        </p:nvPicPr>
        <p:blipFill rotWithShape="1">
          <a:blip r:embed="rId4">
            <a:alphaModFix/>
          </a:blip>
          <a:srcRect b="0" l="0" r="0" t="0"/>
          <a:stretch/>
        </p:blipFill>
        <p:spPr>
          <a:xfrm>
            <a:off x="2157500" y="3114175"/>
            <a:ext cx="3614275" cy="1771351"/>
          </a:xfrm>
          <a:prstGeom prst="rect">
            <a:avLst/>
          </a:prstGeom>
          <a:noFill/>
          <a:ln>
            <a:noFill/>
          </a:ln>
        </p:spPr>
      </p:pic>
      <p:pic>
        <p:nvPicPr>
          <p:cNvPr id="165" name="Google Shape;165;p19"/>
          <p:cNvPicPr preferRelativeResize="0"/>
          <p:nvPr/>
        </p:nvPicPr>
        <p:blipFill rotWithShape="1">
          <a:blip r:embed="rId5">
            <a:alphaModFix/>
          </a:blip>
          <a:srcRect b="0" l="0" r="0" t="0"/>
          <a:stretch/>
        </p:blipFill>
        <p:spPr>
          <a:xfrm>
            <a:off x="6912376" y="3114175"/>
            <a:ext cx="3614296" cy="1771351"/>
          </a:xfrm>
          <a:prstGeom prst="rect">
            <a:avLst/>
          </a:prstGeom>
          <a:noFill/>
          <a:ln>
            <a:noFill/>
          </a:ln>
        </p:spPr>
      </p:pic>
      <p:sp>
        <p:nvSpPr>
          <p:cNvPr id="166" name="Google Shape;166;p19"/>
          <p:cNvSpPr txBox="1"/>
          <p:nvPr/>
        </p:nvSpPr>
        <p:spPr>
          <a:xfrm>
            <a:off x="5805050" y="4485325"/>
            <a:ext cx="450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a:latin typeface="Libre Franklin"/>
                <a:ea typeface="Libre Franklin"/>
                <a:cs typeface="Libre Franklin"/>
                <a:sym typeface="Libre Franklin"/>
              </a:rPr>
              <a:t>RC</a:t>
            </a:r>
            <a:endParaRPr b="1">
              <a:latin typeface="Libre Franklin"/>
              <a:ea typeface="Libre Franklin"/>
              <a:cs typeface="Libre Franklin"/>
              <a:sym typeface="Libre Franklin"/>
            </a:endParaRPr>
          </a:p>
        </p:txBody>
      </p:sp>
      <p:sp>
        <p:nvSpPr>
          <p:cNvPr id="167" name="Google Shape;167;p19"/>
          <p:cNvSpPr txBox="1"/>
          <p:nvPr/>
        </p:nvSpPr>
        <p:spPr>
          <a:xfrm>
            <a:off x="10664200" y="4485325"/>
            <a:ext cx="450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a:latin typeface="Libre Franklin"/>
                <a:ea typeface="Libre Franklin"/>
                <a:cs typeface="Libre Franklin"/>
                <a:sym typeface="Libre Franklin"/>
              </a:rPr>
              <a:t>RL</a:t>
            </a:r>
            <a:endParaRPr b="1">
              <a:latin typeface="Libre Franklin"/>
              <a:ea typeface="Libre Franklin"/>
              <a:cs typeface="Libre Franklin"/>
              <a:sym typeface="Libre Franklin"/>
            </a:endParaRPr>
          </a:p>
        </p:txBody>
      </p:sp>
      <p:sp>
        <p:nvSpPr>
          <p:cNvPr id="168" name="Google Shape;168;p19"/>
          <p:cNvSpPr txBox="1"/>
          <p:nvPr/>
        </p:nvSpPr>
        <p:spPr>
          <a:xfrm>
            <a:off x="1117200" y="5262600"/>
            <a:ext cx="11037600" cy="1229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latin typeface="Libre Franklin"/>
                <a:ea typeface="Libre Franklin"/>
                <a:cs typeface="Libre Franklin"/>
                <a:sym typeface="Libre Franklin"/>
              </a:rPr>
              <a:t>Le forme d'onda ottenute mostrano che le configurazioni RC e RL producono una risposta sostanzialmente equivalente, come previsto dalla teoria dei filtri passa-alto del primo ordine.</a:t>
            </a:r>
            <a:endParaRPr sz="1300">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latin typeface="Libre Franklin"/>
                <a:ea typeface="Libre Franklin"/>
                <a:cs typeface="Libre Franklin"/>
                <a:sym typeface="Libre Franklin"/>
              </a:rPr>
              <a:t>Poiché entrambe presentano lo stesso comportamento in frequenza e nel dominio del tempo, nelle analisi successive verrà considerata esclusivamente la configurazione RC, che risulta più semplice da implementare e da studiare.</a:t>
            </a:r>
            <a:endParaRPr sz="1300">
              <a:latin typeface="Libre Franklin"/>
              <a:ea typeface="Libre Franklin"/>
              <a:cs typeface="Libre Franklin"/>
              <a:sym typeface="Libre Frankli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0"/>
          <p:cNvSpPr txBox="1"/>
          <p:nvPr/>
        </p:nvSpPr>
        <p:spPr>
          <a:xfrm>
            <a:off x="1357175" y="360950"/>
            <a:ext cx="47844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Analisi transitoria</a:t>
            </a:r>
            <a:endParaRPr sz="2500">
              <a:solidFill>
                <a:srgbClr val="073763"/>
              </a:solidFill>
              <a:latin typeface="Libre Franklin SemiBold"/>
              <a:ea typeface="Libre Franklin SemiBold"/>
              <a:cs typeface="Libre Franklin SemiBold"/>
              <a:sym typeface="Libre Franklin SemiBold"/>
            </a:endParaRPr>
          </a:p>
        </p:txBody>
      </p:sp>
      <p:sp>
        <p:nvSpPr>
          <p:cNvPr id="175" name="Google Shape;175;p20"/>
          <p:cNvSpPr txBox="1"/>
          <p:nvPr/>
        </p:nvSpPr>
        <p:spPr>
          <a:xfrm>
            <a:off x="975600" y="1313825"/>
            <a:ext cx="10970100" cy="2838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200">
                <a:latin typeface="Libre Franklin"/>
                <a:ea typeface="Libre Franklin"/>
                <a:cs typeface="Libre Franklin"/>
                <a:sym typeface="Libre Franklin"/>
              </a:rPr>
              <a:t>Scelta la configurazione RC con frequenza di taglio pari a 159 Hz, è possibile analizzare il comportamento del filtro al variare della frequenza del segnale di ingresso.</a:t>
            </a:r>
            <a:endParaRPr sz="1200">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latin typeface="Libre Franklin"/>
                <a:ea typeface="Libre Franklin"/>
                <a:cs typeface="Libre Franklin"/>
                <a:sym typeface="Libre Franklin"/>
              </a:rPr>
              <a:t>Sono state eseguite simulazioni con tre segnali sinusoidali a 10 Hz, 250 Hz e 3 kHz. I risultati mostrano come la risposta del filtro dipenda dalla posizione della frequenza di ingresso rispetto alla frequenza di taglio:</a:t>
            </a:r>
            <a:endParaRPr sz="1200">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latin typeface="Libre Franklin"/>
                <a:ea typeface="Libre Franklin"/>
                <a:cs typeface="Libre Franklin"/>
                <a:sym typeface="Libre Franklin"/>
              </a:rPr>
              <a:t>• Per frequenze molto inferiori a </a:t>
            </a:r>
            <a:r>
              <a:rPr b="1" lang="it-IT" sz="1200">
                <a:solidFill>
                  <a:schemeClr val="dk1"/>
                </a:solidFill>
                <a:latin typeface="Libre Franklin"/>
                <a:ea typeface="Libre Franklin"/>
                <a:cs typeface="Libre Franklin"/>
                <a:sym typeface="Libre Franklin"/>
              </a:rPr>
              <a:t>ƒc​</a:t>
            </a:r>
            <a:r>
              <a:rPr lang="it-IT" sz="1200">
                <a:latin typeface="Libre Franklin"/>
                <a:ea typeface="Libre Franklin"/>
                <a:cs typeface="Libre Franklin"/>
                <a:sym typeface="Libre Franklin"/>
              </a:rPr>
              <a:t> (10 Hz), il segnale risulta fortemente attenuato e presenta uno sfasamento significativo.</a:t>
            </a:r>
            <a:endParaRPr sz="1200">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latin typeface="Libre Franklin"/>
                <a:ea typeface="Libre Franklin"/>
                <a:cs typeface="Libre Franklin"/>
                <a:sym typeface="Libre Franklin"/>
              </a:rPr>
              <a:t>• In prossimità della frequenza di taglio (250 Hz), l'attenuazione diminuisce e il segnale in uscita assume un'ampiezza più vicina a quella del segnale di ingresso.</a:t>
            </a:r>
            <a:endParaRPr sz="1200">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latin typeface="Libre Franklin"/>
                <a:ea typeface="Libre Franklin"/>
                <a:cs typeface="Libre Franklin"/>
                <a:sym typeface="Libre Franklin"/>
              </a:rPr>
              <a:t>• Per frequenze molto superiori a </a:t>
            </a:r>
            <a:r>
              <a:rPr b="1" lang="it-IT" sz="1200">
                <a:solidFill>
                  <a:schemeClr val="dk1"/>
                </a:solidFill>
                <a:latin typeface="Libre Franklin"/>
                <a:ea typeface="Libre Franklin"/>
                <a:cs typeface="Libre Franklin"/>
                <a:sym typeface="Libre Franklin"/>
              </a:rPr>
              <a:t>ƒc​</a:t>
            </a:r>
            <a:r>
              <a:rPr lang="it-IT" sz="1200">
                <a:latin typeface="Libre Franklin"/>
                <a:ea typeface="Libre Franklin"/>
                <a:cs typeface="Libre Franklin"/>
                <a:sym typeface="Libre Franklin"/>
              </a:rPr>
              <a:t> (3 kHz), il filtro lascia passare quasi interamente il segnale, con ampiezza pressoché invariata e sfasamento ridotto.</a:t>
            </a:r>
            <a:endParaRPr sz="1200">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200">
                <a:latin typeface="Libre Franklin"/>
                <a:ea typeface="Libre Franklin"/>
                <a:cs typeface="Libre Franklin"/>
                <a:sym typeface="Libre Franklin"/>
              </a:rPr>
              <a:t>Si osserva quindi il comportamento tipico di un filtro passa-alto: </a:t>
            </a:r>
            <a:r>
              <a:rPr lang="it-IT" sz="1200" u="sng">
                <a:latin typeface="Libre Franklin"/>
                <a:ea typeface="Libre Franklin"/>
                <a:cs typeface="Libre Franklin"/>
                <a:sym typeface="Libre Franklin"/>
              </a:rPr>
              <a:t>l'attenuazione diminuisce all'aumentare della frequenza del segnale di ingresso.</a:t>
            </a:r>
            <a:endParaRPr sz="1200" u="sng">
              <a:latin typeface="Libre Franklin"/>
              <a:ea typeface="Libre Franklin"/>
              <a:cs typeface="Libre Franklin"/>
              <a:sym typeface="Libre Franklin"/>
            </a:endParaRPr>
          </a:p>
        </p:txBody>
      </p:sp>
      <p:pic>
        <p:nvPicPr>
          <p:cNvPr id="176" name="Google Shape;176;p20"/>
          <p:cNvPicPr preferRelativeResize="0"/>
          <p:nvPr/>
        </p:nvPicPr>
        <p:blipFill rotWithShape="1">
          <a:blip r:embed="rId3">
            <a:alphaModFix/>
          </a:blip>
          <a:srcRect b="0" l="0" r="0" t="0"/>
          <a:stretch/>
        </p:blipFill>
        <p:spPr>
          <a:xfrm>
            <a:off x="975600" y="4686600"/>
            <a:ext cx="2616501" cy="1282351"/>
          </a:xfrm>
          <a:prstGeom prst="rect">
            <a:avLst/>
          </a:prstGeom>
          <a:noFill/>
          <a:ln>
            <a:noFill/>
          </a:ln>
        </p:spPr>
      </p:pic>
      <p:pic>
        <p:nvPicPr>
          <p:cNvPr id="177" name="Google Shape;177;p20"/>
          <p:cNvPicPr preferRelativeResize="0"/>
          <p:nvPr/>
        </p:nvPicPr>
        <p:blipFill rotWithShape="1">
          <a:blip r:embed="rId4">
            <a:alphaModFix/>
          </a:blip>
          <a:srcRect b="0" l="0" r="0" t="0"/>
          <a:stretch/>
        </p:blipFill>
        <p:spPr>
          <a:xfrm>
            <a:off x="6472150" y="4686625"/>
            <a:ext cx="2616501" cy="1282313"/>
          </a:xfrm>
          <a:prstGeom prst="rect">
            <a:avLst/>
          </a:prstGeom>
          <a:noFill/>
          <a:ln>
            <a:noFill/>
          </a:ln>
        </p:spPr>
      </p:pic>
      <p:pic>
        <p:nvPicPr>
          <p:cNvPr id="178" name="Google Shape;178;p20"/>
          <p:cNvPicPr preferRelativeResize="0"/>
          <p:nvPr/>
        </p:nvPicPr>
        <p:blipFill rotWithShape="1">
          <a:blip r:embed="rId5">
            <a:alphaModFix/>
          </a:blip>
          <a:srcRect b="0" l="0" r="0" t="0"/>
          <a:stretch/>
        </p:blipFill>
        <p:spPr>
          <a:xfrm>
            <a:off x="9481875" y="4686625"/>
            <a:ext cx="2710126" cy="1328225"/>
          </a:xfrm>
          <a:prstGeom prst="rect">
            <a:avLst/>
          </a:prstGeom>
          <a:noFill/>
          <a:ln>
            <a:noFill/>
          </a:ln>
        </p:spPr>
      </p:pic>
      <p:sp>
        <p:nvSpPr>
          <p:cNvPr id="179" name="Google Shape;179;p20"/>
          <p:cNvSpPr txBox="1"/>
          <p:nvPr/>
        </p:nvSpPr>
        <p:spPr>
          <a:xfrm>
            <a:off x="2475275" y="4219275"/>
            <a:ext cx="684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a:latin typeface="Libre Franklin"/>
                <a:ea typeface="Libre Franklin"/>
                <a:cs typeface="Libre Franklin"/>
                <a:sym typeface="Libre Franklin"/>
              </a:rPr>
              <a:t>10Hz</a:t>
            </a:r>
            <a:endParaRPr b="1">
              <a:latin typeface="Libre Franklin"/>
              <a:ea typeface="Libre Franklin"/>
              <a:cs typeface="Libre Franklin"/>
              <a:sym typeface="Libre Franklin"/>
            </a:endParaRPr>
          </a:p>
        </p:txBody>
      </p:sp>
      <p:sp>
        <p:nvSpPr>
          <p:cNvPr id="180" name="Google Shape;180;p20"/>
          <p:cNvSpPr txBox="1"/>
          <p:nvPr/>
        </p:nvSpPr>
        <p:spPr>
          <a:xfrm>
            <a:off x="7273075" y="4219275"/>
            <a:ext cx="81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a:latin typeface="Libre Franklin"/>
                <a:ea typeface="Libre Franklin"/>
                <a:cs typeface="Libre Franklin"/>
                <a:sym typeface="Libre Franklin"/>
              </a:rPr>
              <a:t>250Hz</a:t>
            </a:r>
            <a:endParaRPr b="1">
              <a:latin typeface="Libre Franklin"/>
              <a:ea typeface="Libre Franklin"/>
              <a:cs typeface="Libre Franklin"/>
              <a:sym typeface="Libre Franklin"/>
            </a:endParaRPr>
          </a:p>
        </p:txBody>
      </p:sp>
      <p:sp>
        <p:nvSpPr>
          <p:cNvPr id="181" name="Google Shape;181;p20"/>
          <p:cNvSpPr txBox="1"/>
          <p:nvPr/>
        </p:nvSpPr>
        <p:spPr>
          <a:xfrm>
            <a:off x="9919625" y="4219263"/>
            <a:ext cx="684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a:latin typeface="Libre Franklin"/>
                <a:ea typeface="Libre Franklin"/>
                <a:cs typeface="Libre Franklin"/>
                <a:sym typeface="Libre Franklin"/>
              </a:rPr>
              <a:t>3 kHz</a:t>
            </a:r>
            <a:endParaRPr b="1">
              <a:latin typeface="Libre Franklin"/>
              <a:ea typeface="Libre Franklin"/>
              <a:cs typeface="Libre Franklin"/>
              <a:sym typeface="Libre Franklin"/>
            </a:endParaRPr>
          </a:p>
        </p:txBody>
      </p:sp>
      <p:sp>
        <p:nvSpPr>
          <p:cNvPr id="182" name="Google Shape;182;p20"/>
          <p:cNvSpPr txBox="1"/>
          <p:nvPr/>
        </p:nvSpPr>
        <p:spPr>
          <a:xfrm>
            <a:off x="4626525" y="4286425"/>
            <a:ext cx="81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a:latin typeface="Libre Franklin"/>
                <a:ea typeface="Libre Franklin"/>
                <a:cs typeface="Libre Franklin"/>
                <a:sym typeface="Libre Franklin"/>
              </a:rPr>
              <a:t>159 Hz</a:t>
            </a:r>
            <a:endParaRPr b="1">
              <a:latin typeface="Libre Franklin"/>
              <a:ea typeface="Libre Franklin"/>
              <a:cs typeface="Libre Franklin"/>
              <a:sym typeface="Libre Frankli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21"/>
          <p:cNvSpPr txBox="1"/>
          <p:nvPr/>
        </p:nvSpPr>
        <p:spPr>
          <a:xfrm>
            <a:off x="1811300" y="1176050"/>
            <a:ext cx="9291900" cy="1905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800">
                <a:solidFill>
                  <a:schemeClr val="dk1"/>
                </a:solidFill>
                <a:latin typeface="Open Sans"/>
                <a:ea typeface="Open Sans"/>
                <a:cs typeface="Open Sans"/>
                <a:sym typeface="Open Sans"/>
              </a:rPr>
              <a:t>intestazione con spiegazione misura punti picco / ventre</a:t>
            </a:r>
            <a:endParaRPr sz="2800">
              <a:solidFill>
                <a:schemeClr val="dk1"/>
              </a:solidFill>
              <a:latin typeface="Open Sans"/>
              <a:ea typeface="Open Sans"/>
              <a:cs typeface="Open Sans"/>
              <a:sym typeface="Open Sans"/>
            </a:endParaRPr>
          </a:p>
          <a:p>
            <a:pPr indent="0" lvl="0" marL="0" rtl="0" algn="l">
              <a:spcBef>
                <a:spcPts val="0"/>
              </a:spcBef>
              <a:spcAft>
                <a:spcPts val="0"/>
              </a:spcAft>
              <a:buNone/>
            </a:pPr>
            <a:r>
              <a:t/>
            </a:r>
            <a:endParaRPr sz="2800">
              <a:solidFill>
                <a:schemeClr val="dk1"/>
              </a:solidFill>
              <a:latin typeface="Open Sans"/>
              <a:ea typeface="Open Sans"/>
              <a:cs typeface="Open Sans"/>
              <a:sym typeface="Open Sans"/>
            </a:endParaRPr>
          </a:p>
          <a:p>
            <a:pPr indent="0" lvl="0" marL="0" rtl="0" algn="l">
              <a:spcBef>
                <a:spcPts val="0"/>
              </a:spcBef>
              <a:spcAft>
                <a:spcPts val="0"/>
              </a:spcAft>
              <a:buNone/>
            </a:pPr>
            <a:r>
              <a:rPr lang="it-IT" sz="2800">
                <a:solidFill>
                  <a:schemeClr val="dk1"/>
                </a:solidFill>
                <a:latin typeface="Open Sans"/>
                <a:ea typeface="Open Sans"/>
                <a:cs typeface="Open Sans"/>
                <a:sym typeface="Open Sans"/>
              </a:rPr>
              <a:t>foto zoomate dei delta T</a:t>
            </a:r>
            <a:endParaRPr sz="2800">
              <a:solidFill>
                <a:schemeClr val="dk1"/>
              </a:solidFill>
              <a:latin typeface="Open Sans"/>
              <a:ea typeface="Open Sans"/>
              <a:cs typeface="Open Sans"/>
              <a:sym typeface="Open Sans"/>
            </a:endParaRPr>
          </a:p>
          <a:p>
            <a:pPr indent="0" lvl="0" marL="0" rtl="0" algn="l">
              <a:spcBef>
                <a:spcPts val="0"/>
              </a:spcBef>
              <a:spcAft>
                <a:spcPts val="0"/>
              </a:spcAft>
              <a:buNone/>
            </a:pPr>
            <a:r>
              <a:t/>
            </a:r>
            <a:endParaRPr sz="2800">
              <a:solidFill>
                <a:schemeClr val="dk1"/>
              </a:solidFill>
              <a:latin typeface="Open Sans"/>
              <a:ea typeface="Open Sans"/>
              <a:cs typeface="Open Sans"/>
              <a:sym typeface="Open Sans"/>
            </a:endParaRPr>
          </a:p>
          <a:p>
            <a:pPr indent="0" lvl="0" marL="0" rtl="0" algn="l">
              <a:spcBef>
                <a:spcPts val="0"/>
              </a:spcBef>
              <a:spcAft>
                <a:spcPts val="0"/>
              </a:spcAft>
              <a:buNone/>
            </a:pPr>
            <a:r>
              <a:t/>
            </a:r>
            <a:endParaRPr sz="2800">
              <a:solidFill>
                <a:schemeClr val="dk1"/>
              </a:solidFill>
              <a:latin typeface="Open Sans"/>
              <a:ea typeface="Open Sans"/>
              <a:cs typeface="Open Sans"/>
              <a:sym typeface="Open Sans"/>
            </a:endParaRPr>
          </a:p>
          <a:p>
            <a:pPr indent="0" lvl="0" marL="0" rtl="0" algn="l">
              <a:spcBef>
                <a:spcPts val="0"/>
              </a:spcBef>
              <a:spcAft>
                <a:spcPts val="0"/>
              </a:spcAft>
              <a:buNone/>
            </a:pPr>
            <a:r>
              <a:t/>
            </a:r>
            <a:endParaRPr sz="2800">
              <a:solidFill>
                <a:schemeClr val="dk1"/>
              </a:solidFill>
              <a:latin typeface="Open Sans"/>
              <a:ea typeface="Open Sans"/>
              <a:cs typeface="Open Sans"/>
              <a:sym typeface="Open Sans"/>
            </a:endParaRPr>
          </a:p>
          <a:p>
            <a:pPr indent="0" lvl="0" marL="0" rtl="0" algn="l">
              <a:spcBef>
                <a:spcPts val="0"/>
              </a:spcBef>
              <a:spcAft>
                <a:spcPts val="0"/>
              </a:spcAft>
              <a:buNone/>
            </a:pPr>
            <a:r>
              <a:t/>
            </a:r>
            <a:endParaRPr sz="2800">
              <a:solidFill>
                <a:schemeClr val="dk1"/>
              </a:solidFill>
              <a:latin typeface="Open Sans"/>
              <a:ea typeface="Open Sans"/>
              <a:cs typeface="Open Sans"/>
              <a:sym typeface="Open Sans"/>
            </a:endParaRPr>
          </a:p>
          <a:p>
            <a:pPr indent="0" lvl="0" marL="0" rtl="0" algn="l">
              <a:spcBef>
                <a:spcPts val="0"/>
              </a:spcBef>
              <a:spcAft>
                <a:spcPts val="0"/>
              </a:spcAft>
              <a:buNone/>
            </a:pPr>
            <a:r>
              <a:t/>
            </a:r>
            <a:endParaRPr sz="2800">
              <a:solidFill>
                <a:schemeClr val="dk1"/>
              </a:solidFill>
              <a:latin typeface="Open Sans"/>
              <a:ea typeface="Open Sans"/>
              <a:cs typeface="Open Sans"/>
              <a:sym typeface="Open Sans"/>
            </a:endParaRPr>
          </a:p>
          <a:p>
            <a:pPr indent="0" lvl="0" marL="0" rtl="0" algn="l">
              <a:spcBef>
                <a:spcPts val="0"/>
              </a:spcBef>
              <a:spcAft>
                <a:spcPts val="0"/>
              </a:spcAft>
              <a:buNone/>
            </a:pPr>
            <a:r>
              <a:rPr lang="it-IT" sz="2800">
                <a:solidFill>
                  <a:schemeClr val="dk1"/>
                </a:solidFill>
                <a:latin typeface="Open Sans"/>
                <a:ea typeface="Open Sans"/>
                <a:cs typeface="Open Sans"/>
                <a:sym typeface="Open Sans"/>
              </a:rPr>
              <a:t>partitore tensione	</a:t>
            </a:r>
            <a:endParaRPr sz="2800">
              <a:solidFill>
                <a:schemeClr val="dk1"/>
              </a:solidFill>
              <a:latin typeface="Open Sans"/>
              <a:ea typeface="Open Sans"/>
              <a:cs typeface="Open Sans"/>
              <a:sym typeface="Open Sans"/>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22"/>
          <p:cNvSpPr txBox="1"/>
          <p:nvPr/>
        </p:nvSpPr>
        <p:spPr>
          <a:xfrm>
            <a:off x="838775" y="527938"/>
            <a:ext cx="11042400" cy="1383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latin typeface="Libre Franklin"/>
                <a:ea typeface="Libre Franklin"/>
                <a:cs typeface="Libre Franklin"/>
                <a:sym typeface="Libre Franklin"/>
              </a:rPr>
              <a:t>Oltre all'attenuazione del segnale, il filtro passa-alto introduce uno sfasamento tra ingresso e uscita.</a:t>
            </a:r>
            <a:endParaRPr sz="1300">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latin typeface="Libre Franklin"/>
                <a:ea typeface="Libre Franklin"/>
                <a:cs typeface="Libre Franklin"/>
                <a:sym typeface="Libre Franklin"/>
              </a:rPr>
              <a:t>Per il caso con frequenza di ingresso pari a 159 Hz, lo sfasamento può essere ricavato misurando il ritardo temporale (ΔT) tra i picchi dei segnali di ingresso e di uscita.</a:t>
            </a:r>
            <a:endParaRPr sz="1300">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latin typeface="Libre Franklin"/>
                <a:ea typeface="Libre Franklin"/>
                <a:cs typeface="Libre Franklin"/>
                <a:sym typeface="Libre Franklin"/>
              </a:rPr>
              <a:t>Lo sfasamento è calcolato mediante la relazione:</a:t>
            </a:r>
            <a:endParaRPr sz="1300">
              <a:latin typeface="Libre Franklin"/>
              <a:ea typeface="Libre Franklin"/>
              <a:cs typeface="Libre Franklin"/>
              <a:sym typeface="Libre Franklin"/>
            </a:endParaRPr>
          </a:p>
        </p:txBody>
      </p:sp>
      <p:pic>
        <p:nvPicPr>
          <p:cNvPr id="195" name="Google Shape;195;p22"/>
          <p:cNvPicPr preferRelativeResize="0"/>
          <p:nvPr/>
        </p:nvPicPr>
        <p:blipFill>
          <a:blip r:embed="rId3">
            <a:alphaModFix/>
          </a:blip>
          <a:stretch>
            <a:fillRect/>
          </a:stretch>
        </p:blipFill>
        <p:spPr>
          <a:xfrm>
            <a:off x="5151825" y="1402937"/>
            <a:ext cx="1419575" cy="597700"/>
          </a:xfrm>
          <a:prstGeom prst="rect">
            <a:avLst/>
          </a:prstGeom>
          <a:noFill/>
          <a:ln>
            <a:noFill/>
          </a:ln>
        </p:spPr>
      </p:pic>
      <p:sp>
        <p:nvSpPr>
          <p:cNvPr id="196" name="Google Shape;196;p22"/>
          <p:cNvSpPr txBox="1"/>
          <p:nvPr/>
        </p:nvSpPr>
        <p:spPr>
          <a:xfrm>
            <a:off x="7150650" y="1509338"/>
            <a:ext cx="30000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latin typeface="Libre Franklin"/>
                <a:ea typeface="Libre Franklin"/>
                <a:cs typeface="Libre Franklin"/>
                <a:sym typeface="Libre Franklin"/>
              </a:rPr>
              <a:t>dove “T” è il periodo del segnale.</a:t>
            </a:r>
            <a:endParaRPr sz="1300">
              <a:latin typeface="Libre Franklin"/>
              <a:ea typeface="Libre Franklin"/>
              <a:cs typeface="Libre Franklin"/>
              <a:sym typeface="Libre Franklin"/>
            </a:endParaRPr>
          </a:p>
        </p:txBody>
      </p:sp>
      <p:sp>
        <p:nvSpPr>
          <p:cNvPr id="197" name="Google Shape;197;p22"/>
          <p:cNvSpPr txBox="1"/>
          <p:nvPr/>
        </p:nvSpPr>
        <p:spPr>
          <a:xfrm>
            <a:off x="1256075" y="2336788"/>
            <a:ext cx="56088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latin typeface="Libre Franklin"/>
                <a:ea typeface="Libre Franklin"/>
                <a:cs typeface="Libre Franklin"/>
                <a:sym typeface="Libre Franklin"/>
              </a:rPr>
              <a:t>Applicando la formula ai valori misurati dalla simulazione si ottiene:</a:t>
            </a:r>
            <a:endParaRPr sz="1300">
              <a:latin typeface="Libre Franklin"/>
              <a:ea typeface="Libre Franklin"/>
              <a:cs typeface="Libre Franklin"/>
              <a:sym typeface="Libre Franklin"/>
            </a:endParaRPr>
          </a:p>
        </p:txBody>
      </p:sp>
      <p:pic>
        <p:nvPicPr>
          <p:cNvPr id="198" name="Google Shape;198;p22"/>
          <p:cNvPicPr preferRelativeResize="0"/>
          <p:nvPr/>
        </p:nvPicPr>
        <p:blipFill>
          <a:blip r:embed="rId4">
            <a:alphaModFix/>
          </a:blip>
          <a:stretch>
            <a:fillRect/>
          </a:stretch>
        </p:blipFill>
        <p:spPr>
          <a:xfrm>
            <a:off x="1054250" y="3341563"/>
            <a:ext cx="4162425" cy="838200"/>
          </a:xfrm>
          <a:prstGeom prst="rect">
            <a:avLst/>
          </a:prstGeom>
          <a:noFill/>
          <a:ln>
            <a:noFill/>
          </a:ln>
        </p:spPr>
      </p:pic>
      <p:pic>
        <p:nvPicPr>
          <p:cNvPr id="199" name="Google Shape;199;p22"/>
          <p:cNvPicPr preferRelativeResize="0"/>
          <p:nvPr/>
        </p:nvPicPr>
        <p:blipFill>
          <a:blip r:embed="rId5">
            <a:alphaModFix/>
          </a:blip>
          <a:stretch>
            <a:fillRect/>
          </a:stretch>
        </p:blipFill>
        <p:spPr>
          <a:xfrm>
            <a:off x="5995200" y="3503488"/>
            <a:ext cx="2838450" cy="676275"/>
          </a:xfrm>
          <a:prstGeom prst="rect">
            <a:avLst/>
          </a:prstGeom>
          <a:noFill/>
          <a:ln>
            <a:noFill/>
          </a:ln>
        </p:spPr>
      </p:pic>
      <p:pic>
        <p:nvPicPr>
          <p:cNvPr id="200" name="Google Shape;200;p22"/>
          <p:cNvPicPr preferRelativeResize="0"/>
          <p:nvPr/>
        </p:nvPicPr>
        <p:blipFill>
          <a:blip r:embed="rId6">
            <a:alphaModFix/>
          </a:blip>
          <a:stretch>
            <a:fillRect/>
          </a:stretch>
        </p:blipFill>
        <p:spPr>
          <a:xfrm>
            <a:off x="9555800" y="3217738"/>
            <a:ext cx="1905000" cy="1247775"/>
          </a:xfrm>
          <a:prstGeom prst="rect">
            <a:avLst/>
          </a:prstGeom>
          <a:noFill/>
          <a:ln>
            <a:noFill/>
          </a:ln>
        </p:spPr>
      </p:pic>
      <p:sp>
        <p:nvSpPr>
          <p:cNvPr id="201" name="Google Shape;201;p22"/>
          <p:cNvSpPr txBox="1"/>
          <p:nvPr/>
        </p:nvSpPr>
        <p:spPr>
          <a:xfrm>
            <a:off x="1324775" y="5029200"/>
            <a:ext cx="105564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a:latin typeface="Libre Franklin"/>
                <a:ea typeface="Libre Franklin"/>
                <a:cs typeface="Libre Franklin"/>
                <a:sym typeface="Libre Franklin"/>
              </a:rPr>
              <a:t>Osservazione:</a:t>
            </a:r>
            <a:endParaRPr b="1">
              <a:latin typeface="Libre Franklin"/>
              <a:ea typeface="Libre Franklin"/>
              <a:cs typeface="Libre Franklin"/>
              <a:sym typeface="Libre Franklin"/>
            </a:endParaRPr>
          </a:p>
          <a:p>
            <a:pPr indent="0" lvl="0" marL="0" rtl="0" algn="l">
              <a:spcBef>
                <a:spcPts val="0"/>
              </a:spcBef>
              <a:spcAft>
                <a:spcPts val="0"/>
              </a:spcAft>
              <a:buNone/>
            </a:pPr>
            <a:r>
              <a:rPr lang="it-IT">
                <a:latin typeface="Libre Franklin"/>
                <a:ea typeface="Libre Franklin"/>
                <a:cs typeface="Libre Franklin"/>
                <a:sym typeface="Libre Franklin"/>
              </a:rPr>
              <a:t>Alla frequenza di taglio f=ƒc=159 Hz, il filtro passa-alto RC mostra un comportamento intermedio tra attenuazione e trasparenza del segnale. Lo sfasamento di circa 45° è coerente con la teoria, secondo cui alla frequenza di taglio l’uscita risulta attenuata di circa −3 dB e presenta uno sfasamento intermedio tra il regime a bassa e alta frequenza.</a:t>
            </a:r>
            <a:endParaRPr>
              <a:latin typeface="Libre Franklin"/>
              <a:ea typeface="Libre Franklin"/>
              <a:cs typeface="Libre Franklin"/>
              <a:sym typeface="Libre Frankli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23"/>
          <p:cNvPicPr preferRelativeResize="0"/>
          <p:nvPr/>
        </p:nvPicPr>
        <p:blipFill>
          <a:blip r:embed="rId3">
            <a:alphaModFix/>
          </a:blip>
          <a:stretch>
            <a:fillRect/>
          </a:stretch>
        </p:blipFill>
        <p:spPr>
          <a:xfrm>
            <a:off x="1730349" y="661300"/>
            <a:ext cx="9236348" cy="3970224"/>
          </a:xfrm>
          <a:prstGeom prst="rect">
            <a:avLst/>
          </a:prstGeom>
          <a:noFill/>
          <a:ln>
            <a:noFill/>
          </a:ln>
        </p:spPr>
      </p:pic>
      <p:sp>
        <p:nvSpPr>
          <p:cNvPr id="208" name="Google Shape;208;p23"/>
          <p:cNvSpPr txBox="1"/>
          <p:nvPr/>
        </p:nvSpPr>
        <p:spPr>
          <a:xfrm>
            <a:off x="2682875" y="1510450"/>
            <a:ext cx="5856900" cy="2847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7200">
                <a:solidFill>
                  <a:schemeClr val="dk1"/>
                </a:solidFill>
                <a:latin typeface="Open Sans"/>
                <a:ea typeface="Open Sans"/>
                <a:cs typeface="Open Sans"/>
                <a:sym typeface="Open Sans"/>
              </a:rPr>
              <a:t>Foto</a:t>
            </a:r>
            <a:endParaRPr sz="7200">
              <a:solidFill>
                <a:schemeClr val="dk1"/>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4"/>
          <p:cNvSpPr txBox="1"/>
          <p:nvPr/>
        </p:nvSpPr>
        <p:spPr>
          <a:xfrm>
            <a:off x="1053275" y="814525"/>
            <a:ext cx="9894600" cy="1049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a:latin typeface="Libre Franklin"/>
                <a:ea typeface="Libre Franklin"/>
                <a:cs typeface="Libre Franklin"/>
                <a:sym typeface="Libre Franklin"/>
              </a:rPr>
              <a:t>Ripetendo il calcolo per un segnale a 10 Hz si ottiene uno sfasamento pari a circa 86,9°, valore prossimo a 90°, tipico delle frequenze molto inferiori alla frequenza di taglio.</a:t>
            </a:r>
            <a:endParaRPr>
              <a:latin typeface="Libre Franklin"/>
              <a:ea typeface="Libre Franklin"/>
              <a:cs typeface="Libre Franklin"/>
              <a:sym typeface="Libre Franklin"/>
            </a:endParaRPr>
          </a:p>
          <a:p>
            <a:pPr indent="0" lvl="0" marL="0" rtl="0" algn="l">
              <a:lnSpc>
                <a:spcPct val="115000"/>
              </a:lnSpc>
              <a:spcBef>
                <a:spcPts val="1200"/>
              </a:spcBef>
              <a:spcAft>
                <a:spcPts val="1200"/>
              </a:spcAft>
              <a:buNone/>
            </a:pPr>
            <a:r>
              <a:t/>
            </a:r>
            <a:endParaRPr>
              <a:latin typeface="Libre Franklin"/>
              <a:ea typeface="Libre Franklin"/>
              <a:cs typeface="Libre Franklin"/>
              <a:sym typeface="Libre Franklin"/>
            </a:endParaRPr>
          </a:p>
        </p:txBody>
      </p:sp>
      <p:pic>
        <p:nvPicPr>
          <p:cNvPr id="215" name="Google Shape;215;p24"/>
          <p:cNvPicPr preferRelativeResize="0"/>
          <p:nvPr/>
        </p:nvPicPr>
        <p:blipFill>
          <a:blip r:embed="rId3">
            <a:alphaModFix/>
          </a:blip>
          <a:stretch>
            <a:fillRect/>
          </a:stretch>
        </p:blipFill>
        <p:spPr>
          <a:xfrm>
            <a:off x="1222875" y="1864225"/>
            <a:ext cx="3448050" cy="914400"/>
          </a:xfrm>
          <a:prstGeom prst="rect">
            <a:avLst/>
          </a:prstGeom>
          <a:noFill/>
          <a:ln>
            <a:noFill/>
          </a:ln>
        </p:spPr>
      </p:pic>
      <p:sp>
        <p:nvSpPr>
          <p:cNvPr id="216" name="Google Shape;216;p24"/>
          <p:cNvSpPr txBox="1"/>
          <p:nvPr/>
        </p:nvSpPr>
        <p:spPr>
          <a:xfrm>
            <a:off x="1131675" y="3214363"/>
            <a:ext cx="107043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Clr>
                <a:schemeClr val="dk1"/>
              </a:buClr>
              <a:buSzPts val="1100"/>
              <a:buFont typeface="Arial"/>
              <a:buNone/>
            </a:pPr>
            <a:r>
              <a:rPr lang="it-IT">
                <a:solidFill>
                  <a:schemeClr val="dk1"/>
                </a:solidFill>
                <a:latin typeface="Libre Franklin"/>
                <a:ea typeface="Libre Franklin"/>
                <a:cs typeface="Libre Franklin"/>
                <a:sym typeface="Libre Franklin"/>
              </a:rPr>
              <a:t>Ripetendo il calcolo per un segnale a 250 Hz si ottiene uno sfasamento pari a circa 32,3°, tipico delle frequenze vicine alla frequenza di taglio.</a:t>
            </a:r>
            <a:endParaRPr/>
          </a:p>
        </p:txBody>
      </p:sp>
      <p:pic>
        <p:nvPicPr>
          <p:cNvPr id="217" name="Google Shape;217;p24"/>
          <p:cNvPicPr preferRelativeResize="0"/>
          <p:nvPr/>
        </p:nvPicPr>
        <p:blipFill>
          <a:blip r:embed="rId4">
            <a:alphaModFix/>
          </a:blip>
          <a:stretch>
            <a:fillRect/>
          </a:stretch>
        </p:blipFill>
        <p:spPr>
          <a:xfrm>
            <a:off x="5096825" y="1964225"/>
            <a:ext cx="3581400" cy="714375"/>
          </a:xfrm>
          <a:prstGeom prst="rect">
            <a:avLst/>
          </a:prstGeom>
          <a:noFill/>
          <a:ln>
            <a:noFill/>
          </a:ln>
        </p:spPr>
      </p:pic>
      <p:pic>
        <p:nvPicPr>
          <p:cNvPr id="218" name="Google Shape;218;p24"/>
          <p:cNvPicPr preferRelativeResize="0"/>
          <p:nvPr/>
        </p:nvPicPr>
        <p:blipFill>
          <a:blip r:embed="rId5">
            <a:alphaModFix/>
          </a:blip>
          <a:stretch>
            <a:fillRect/>
          </a:stretch>
        </p:blipFill>
        <p:spPr>
          <a:xfrm>
            <a:off x="9469250" y="1716900"/>
            <a:ext cx="1971675" cy="1314450"/>
          </a:xfrm>
          <a:prstGeom prst="rect">
            <a:avLst/>
          </a:prstGeom>
          <a:noFill/>
          <a:ln>
            <a:noFill/>
          </a:ln>
        </p:spPr>
      </p:pic>
      <p:cxnSp>
        <p:nvCxnSpPr>
          <p:cNvPr id="219" name="Google Shape;219;p24"/>
          <p:cNvCxnSpPr/>
          <p:nvPr/>
        </p:nvCxnSpPr>
        <p:spPr>
          <a:xfrm flipH="1">
            <a:off x="4769850" y="1914975"/>
            <a:ext cx="9000" cy="879900"/>
          </a:xfrm>
          <a:prstGeom prst="straightConnector1">
            <a:avLst/>
          </a:prstGeom>
          <a:noFill/>
          <a:ln cap="flat" cmpd="sng" w="9525">
            <a:solidFill>
              <a:schemeClr val="dk2"/>
            </a:solidFill>
            <a:prstDash val="solid"/>
            <a:round/>
            <a:headEnd len="med" w="med" type="none"/>
            <a:tailEnd len="med" w="med" type="none"/>
          </a:ln>
        </p:spPr>
      </p:cxnSp>
      <p:pic>
        <p:nvPicPr>
          <p:cNvPr id="220" name="Google Shape;220;p24"/>
          <p:cNvPicPr preferRelativeResize="0"/>
          <p:nvPr/>
        </p:nvPicPr>
        <p:blipFill>
          <a:blip r:embed="rId6">
            <a:alphaModFix/>
          </a:blip>
          <a:stretch>
            <a:fillRect/>
          </a:stretch>
        </p:blipFill>
        <p:spPr>
          <a:xfrm>
            <a:off x="5605700" y="4481112"/>
            <a:ext cx="2981325" cy="714375"/>
          </a:xfrm>
          <a:prstGeom prst="rect">
            <a:avLst/>
          </a:prstGeom>
          <a:noFill/>
          <a:ln>
            <a:noFill/>
          </a:ln>
        </p:spPr>
      </p:pic>
      <p:pic>
        <p:nvPicPr>
          <p:cNvPr id="221" name="Google Shape;221;p24"/>
          <p:cNvPicPr preferRelativeResize="0"/>
          <p:nvPr/>
        </p:nvPicPr>
        <p:blipFill>
          <a:blip r:embed="rId7">
            <a:alphaModFix/>
          </a:blip>
          <a:stretch>
            <a:fillRect/>
          </a:stretch>
        </p:blipFill>
        <p:spPr>
          <a:xfrm>
            <a:off x="9580100" y="4266463"/>
            <a:ext cx="1971675" cy="1266825"/>
          </a:xfrm>
          <a:prstGeom prst="rect">
            <a:avLst/>
          </a:prstGeom>
          <a:noFill/>
          <a:ln>
            <a:noFill/>
          </a:ln>
        </p:spPr>
      </p:pic>
      <p:pic>
        <p:nvPicPr>
          <p:cNvPr id="222" name="Google Shape;222;p24"/>
          <p:cNvPicPr preferRelativeResize="0"/>
          <p:nvPr/>
        </p:nvPicPr>
        <p:blipFill>
          <a:blip r:embed="rId8">
            <a:alphaModFix/>
          </a:blip>
          <a:stretch>
            <a:fillRect/>
          </a:stretch>
        </p:blipFill>
        <p:spPr>
          <a:xfrm>
            <a:off x="1225325" y="4419188"/>
            <a:ext cx="3486150" cy="838200"/>
          </a:xfrm>
          <a:prstGeom prst="rect">
            <a:avLst/>
          </a:prstGeom>
          <a:noFill/>
          <a:ln>
            <a:noFill/>
          </a:ln>
        </p:spPr>
      </p:pic>
      <p:sp>
        <p:nvSpPr>
          <p:cNvPr id="223" name="Google Shape;223;p24"/>
          <p:cNvSpPr txBox="1"/>
          <p:nvPr/>
        </p:nvSpPr>
        <p:spPr>
          <a:xfrm>
            <a:off x="1225325" y="5648238"/>
            <a:ext cx="107043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a:solidFill>
                  <a:schemeClr val="dk1"/>
                </a:solidFill>
                <a:latin typeface="Libre Franklin"/>
                <a:ea typeface="Libre Franklin"/>
                <a:cs typeface="Libre Franklin"/>
                <a:sym typeface="Libre Franklin"/>
              </a:rPr>
              <a:t>P</a:t>
            </a:r>
            <a:r>
              <a:rPr lang="it-IT">
                <a:solidFill>
                  <a:schemeClr val="dk1"/>
                </a:solidFill>
                <a:latin typeface="Libre Franklin"/>
                <a:ea typeface="Libre Franklin"/>
                <a:cs typeface="Libre Franklin"/>
                <a:sym typeface="Libre Franklin"/>
              </a:rPr>
              <a:t>er frequenze </a:t>
            </a:r>
            <a:r>
              <a:rPr lang="it-IT" u="sng">
                <a:solidFill>
                  <a:schemeClr val="dk1"/>
                </a:solidFill>
                <a:latin typeface="Libre Franklin"/>
                <a:ea typeface="Libre Franklin"/>
                <a:cs typeface="Libre Franklin"/>
                <a:sym typeface="Libre Franklin"/>
              </a:rPr>
              <a:t>molto</a:t>
            </a:r>
            <a:r>
              <a:rPr lang="it-IT">
                <a:solidFill>
                  <a:schemeClr val="dk1"/>
                </a:solidFill>
                <a:latin typeface="Libre Franklin"/>
                <a:ea typeface="Libre Franklin"/>
                <a:cs typeface="Libre Franklin"/>
                <a:sym typeface="Libre Franklin"/>
              </a:rPr>
              <a:t> superiori a ƒc, come nel caso del segnale a 3 kHz, lo sfasamento tende a 0°, indicando che il segnale viene trasferito quasi integralmente in uscita.</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25"/>
          <p:cNvSpPr txBox="1"/>
          <p:nvPr/>
        </p:nvSpPr>
        <p:spPr>
          <a:xfrm>
            <a:off x="1355275" y="1651675"/>
            <a:ext cx="10659900" cy="194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a:latin typeface="Libre Franklin"/>
                <a:ea typeface="Libre Franklin"/>
                <a:cs typeface="Libre Franklin"/>
                <a:sym typeface="Libre Franklin"/>
              </a:rPr>
              <a:t>Dopo aver analizzato il comportamento del filtro nel dominio del tempo, è possibile studiarne la risposta nel dominio della frequenza mediante il diagramma di Bode.</a:t>
            </a:r>
            <a:endParaRPr>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a:latin typeface="Libre Franklin"/>
                <a:ea typeface="Libre Franklin"/>
                <a:cs typeface="Libre Franklin"/>
                <a:sym typeface="Libre Franklin"/>
              </a:rPr>
              <a:t>La figura confronta le risposte in frequenza delle configurazioni RC e RL, entrambe progettate con una frequenza di taglio pari a 159 Hz.</a:t>
            </a:r>
            <a:endParaRPr>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a:latin typeface="Libre Franklin"/>
                <a:ea typeface="Libre Franklin"/>
                <a:cs typeface="Libre Franklin"/>
                <a:sym typeface="Libre Franklin"/>
              </a:rPr>
              <a:t>Come già osservato nell'analisi transitoria, le due configurazioni presentano una risposta praticamente coincidente, confermando che entrambe realizzano lo stesso comportamento di filtro passa-alto del primo ordine.</a:t>
            </a:r>
            <a:endParaRPr>
              <a:latin typeface="Libre Franklin"/>
              <a:ea typeface="Libre Franklin"/>
              <a:cs typeface="Libre Franklin"/>
              <a:sym typeface="Libre Franklin"/>
            </a:endParaRPr>
          </a:p>
        </p:txBody>
      </p:sp>
      <p:pic>
        <p:nvPicPr>
          <p:cNvPr id="230" name="Google Shape;230;p25"/>
          <p:cNvPicPr preferRelativeResize="0"/>
          <p:nvPr/>
        </p:nvPicPr>
        <p:blipFill rotWithShape="1">
          <a:blip r:embed="rId3">
            <a:alphaModFix/>
          </a:blip>
          <a:srcRect b="0" l="0" r="0" t="0"/>
          <a:stretch/>
        </p:blipFill>
        <p:spPr>
          <a:xfrm>
            <a:off x="1932875" y="3732800"/>
            <a:ext cx="5846723" cy="2865451"/>
          </a:xfrm>
          <a:prstGeom prst="rect">
            <a:avLst/>
          </a:prstGeom>
          <a:noFill/>
          <a:ln>
            <a:noFill/>
          </a:ln>
        </p:spPr>
      </p:pic>
      <p:sp>
        <p:nvSpPr>
          <p:cNvPr id="231" name="Google Shape;231;p25"/>
          <p:cNvSpPr txBox="1"/>
          <p:nvPr/>
        </p:nvSpPr>
        <p:spPr>
          <a:xfrm>
            <a:off x="4729550" y="4357875"/>
            <a:ext cx="5309700" cy="150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800">
                <a:solidFill>
                  <a:schemeClr val="dk1"/>
                </a:solidFill>
                <a:latin typeface="Open Sans"/>
                <a:ea typeface="Open Sans"/>
                <a:cs typeface="Open Sans"/>
                <a:sym typeface="Open Sans"/>
              </a:rPr>
              <a:t>Foto</a:t>
            </a:r>
            <a:endParaRPr sz="2800">
              <a:solidFill>
                <a:schemeClr val="dk1"/>
              </a:solidFill>
              <a:latin typeface="Open Sans"/>
              <a:ea typeface="Open Sans"/>
              <a:cs typeface="Open Sans"/>
              <a:sym typeface="Open Sans"/>
            </a:endParaRPr>
          </a:p>
        </p:txBody>
      </p:sp>
      <p:sp>
        <p:nvSpPr>
          <p:cNvPr id="232" name="Google Shape;232;p25"/>
          <p:cNvSpPr txBox="1"/>
          <p:nvPr/>
        </p:nvSpPr>
        <p:spPr>
          <a:xfrm>
            <a:off x="1355275" y="756125"/>
            <a:ext cx="47844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Diagramma di Bode (RC vs RL)</a:t>
            </a:r>
            <a:endParaRPr sz="2500">
              <a:solidFill>
                <a:srgbClr val="073763"/>
              </a:solidFill>
              <a:latin typeface="Libre Franklin SemiBold"/>
              <a:ea typeface="Libre Franklin SemiBold"/>
              <a:cs typeface="Libre Franklin SemiBold"/>
              <a:sym typeface="Libre Franklin SemiBo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26"/>
          <p:cNvSpPr txBox="1"/>
          <p:nvPr/>
        </p:nvSpPr>
        <p:spPr>
          <a:xfrm>
            <a:off x="911975" y="597850"/>
            <a:ext cx="10920900" cy="194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a:latin typeface="Libre Franklin"/>
                <a:ea typeface="Libre Franklin"/>
                <a:cs typeface="Libre Franklin"/>
                <a:sym typeface="Libre Franklin"/>
              </a:rPr>
              <a:t>Considerando la sola configurazione RC, il diagramma di Bode mostra l'andamento del guadagno del filtro al variare della frequenza.</a:t>
            </a:r>
            <a:endParaRPr>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a:latin typeface="Libre Franklin"/>
                <a:ea typeface="Libre Franklin"/>
                <a:cs typeface="Libre Franklin"/>
                <a:sym typeface="Libre Franklin"/>
              </a:rPr>
              <a:t>Per frequenze inferiori alla frequenza di taglio il segnale risulta attenuato. Superata la frequenza di taglio (</a:t>
            </a:r>
            <a:r>
              <a:rPr b="1" lang="it-IT" sz="1200">
                <a:solidFill>
                  <a:schemeClr val="dk1"/>
                </a:solidFill>
                <a:latin typeface="Libre Franklin"/>
                <a:ea typeface="Libre Franklin"/>
                <a:cs typeface="Libre Franklin"/>
                <a:sym typeface="Libre Franklin"/>
              </a:rPr>
              <a:t>ƒc​</a:t>
            </a:r>
            <a:r>
              <a:rPr lang="it-IT">
                <a:latin typeface="Libre Franklin"/>
                <a:ea typeface="Libre Franklin"/>
                <a:cs typeface="Libre Franklin"/>
                <a:sym typeface="Libre Franklin"/>
              </a:rPr>
              <a:t> = 159 Hz), il guadagno tende a 0 dB: il segnale di uscita assume quindi un'ampiezza praticamente uguale a quella del segnale di ingresso.</a:t>
            </a:r>
            <a:endParaRPr>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a:latin typeface="Libre Franklin"/>
                <a:ea typeface="Libre Franklin"/>
                <a:cs typeface="Libre Franklin"/>
                <a:sym typeface="Libre Franklin"/>
              </a:rPr>
              <a:t>Come evidenziato dal grafico, per frequenze elevate le curve di (Vout) e (Vin) risultano pressoché sovrapposte, indicando che il filtro lascia passare quasi interamente il segnale.</a:t>
            </a:r>
            <a:endParaRPr>
              <a:latin typeface="Libre Franklin"/>
              <a:ea typeface="Libre Franklin"/>
              <a:cs typeface="Libre Franklin"/>
              <a:sym typeface="Libre Franklin"/>
            </a:endParaRPr>
          </a:p>
        </p:txBody>
      </p:sp>
      <p:pic>
        <p:nvPicPr>
          <p:cNvPr id="239" name="Google Shape;239;p26"/>
          <p:cNvPicPr preferRelativeResize="0"/>
          <p:nvPr/>
        </p:nvPicPr>
        <p:blipFill rotWithShape="1">
          <a:blip r:embed="rId3">
            <a:alphaModFix/>
          </a:blip>
          <a:srcRect b="0" l="0" r="0" t="0"/>
          <a:stretch/>
        </p:blipFill>
        <p:spPr>
          <a:xfrm>
            <a:off x="2565199" y="2964100"/>
            <a:ext cx="6622874" cy="3245826"/>
          </a:xfrm>
          <a:prstGeom prst="rect">
            <a:avLst/>
          </a:prstGeom>
          <a:noFill/>
          <a:ln>
            <a:noFill/>
          </a:ln>
        </p:spPr>
      </p:pic>
      <p:sp>
        <p:nvSpPr>
          <p:cNvPr id="240" name="Google Shape;240;p26"/>
          <p:cNvSpPr txBox="1"/>
          <p:nvPr/>
        </p:nvSpPr>
        <p:spPr>
          <a:xfrm>
            <a:off x="4729550" y="4357875"/>
            <a:ext cx="5309700" cy="1509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800">
                <a:solidFill>
                  <a:schemeClr val="dk1"/>
                </a:solidFill>
                <a:latin typeface="Open Sans"/>
                <a:ea typeface="Open Sans"/>
                <a:cs typeface="Open Sans"/>
                <a:sym typeface="Open Sans"/>
              </a:rPr>
              <a:t>Foto</a:t>
            </a:r>
            <a:endParaRPr sz="2800">
              <a:solidFill>
                <a:schemeClr val="dk1"/>
              </a:solidFill>
              <a:latin typeface="Open Sans"/>
              <a:ea typeface="Open Sans"/>
              <a:cs typeface="Open Sans"/>
              <a:sym typeface="Open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27"/>
          <p:cNvSpPr txBox="1"/>
          <p:nvPr/>
        </p:nvSpPr>
        <p:spPr>
          <a:xfrm>
            <a:off x="1023425" y="1601025"/>
            <a:ext cx="10865100" cy="1459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Dopo aver analizzato il filtro passa-alto passivo nel dominio del tempo e tramite il diagramma di Bode, si studia ora l’effetto della variazione della resistenza R sulla risposta in frequenza del circuito.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Nella simulazione la capacità viene mantenuta costante a C = 100 nF, mentre la resistenza viene variata su tre valori: 1 kΩ, 10 kΩ e 100 kΩ. Nel grafico di Bode sono rappresentate le tre risposte: la curva rossa corrisponde al circuito con R = 1 kΩ; l</a:t>
            </a:r>
            <a:r>
              <a:rPr lang="it-IT" sz="1300">
                <a:solidFill>
                  <a:schemeClr val="dk1"/>
                </a:solidFill>
                <a:latin typeface="Libre Franklin"/>
                <a:ea typeface="Libre Franklin"/>
                <a:cs typeface="Libre Franklin"/>
                <a:sym typeface="Libre Franklin"/>
              </a:rPr>
              <a:t>a curva blu corrisponde al circuito</a:t>
            </a:r>
            <a:r>
              <a:rPr lang="it-IT" sz="1300">
                <a:solidFill>
                  <a:schemeClr val="dk1"/>
                </a:solidFill>
                <a:latin typeface="Libre Franklin"/>
                <a:ea typeface="Libre Franklin"/>
                <a:cs typeface="Libre Franklin"/>
                <a:sym typeface="Libre Franklin"/>
              </a:rPr>
              <a:t> con R = 10 kΩ; la curva verde corrisponde a quello con R = 100 kΩ.</a:t>
            </a:r>
            <a:endParaRPr sz="1300">
              <a:solidFill>
                <a:schemeClr val="dk1"/>
              </a:solidFill>
              <a:latin typeface="Libre Franklin"/>
              <a:ea typeface="Libre Franklin"/>
              <a:cs typeface="Libre Franklin"/>
              <a:sym typeface="Libre Franklin"/>
            </a:endParaRPr>
          </a:p>
        </p:txBody>
      </p:sp>
      <p:sp>
        <p:nvSpPr>
          <p:cNvPr id="246" name="Google Shape;246;p27"/>
          <p:cNvSpPr txBox="1"/>
          <p:nvPr/>
        </p:nvSpPr>
        <p:spPr>
          <a:xfrm>
            <a:off x="1355275" y="756125"/>
            <a:ext cx="47844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Variazione del parametro R </a:t>
            </a:r>
            <a:endParaRPr sz="2500">
              <a:solidFill>
                <a:srgbClr val="073763"/>
              </a:solidFill>
              <a:latin typeface="Libre Franklin SemiBold"/>
              <a:ea typeface="Libre Franklin SemiBold"/>
              <a:cs typeface="Libre Franklin SemiBold"/>
              <a:sym typeface="Libre Franklin SemiBold"/>
            </a:endParaRPr>
          </a:p>
        </p:txBody>
      </p:sp>
      <p:pic>
        <p:nvPicPr>
          <p:cNvPr id="247" name="Google Shape;247;p27"/>
          <p:cNvPicPr preferRelativeResize="0"/>
          <p:nvPr/>
        </p:nvPicPr>
        <p:blipFill rotWithShape="1">
          <a:blip r:embed="rId3">
            <a:alphaModFix/>
          </a:blip>
          <a:srcRect b="0" l="0" r="0" t="0"/>
          <a:stretch/>
        </p:blipFill>
        <p:spPr>
          <a:xfrm>
            <a:off x="1469274" y="3422700"/>
            <a:ext cx="5422851" cy="2657699"/>
          </a:xfrm>
          <a:prstGeom prst="rect">
            <a:avLst/>
          </a:prstGeom>
          <a:noFill/>
          <a:ln>
            <a:noFill/>
          </a:ln>
        </p:spPr>
      </p:pic>
      <p:sp>
        <p:nvSpPr>
          <p:cNvPr id="248" name="Google Shape;248;p27"/>
          <p:cNvSpPr txBox="1"/>
          <p:nvPr/>
        </p:nvSpPr>
        <p:spPr>
          <a:xfrm>
            <a:off x="7498400" y="3800100"/>
            <a:ext cx="42585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taglio del filtro è definita dalla relazione:</a:t>
            </a:r>
            <a:endParaRPr/>
          </a:p>
        </p:txBody>
      </p:sp>
      <p:pic>
        <p:nvPicPr>
          <p:cNvPr id="249" name="Google Shape;249;p27"/>
          <p:cNvPicPr preferRelativeResize="0"/>
          <p:nvPr/>
        </p:nvPicPr>
        <p:blipFill>
          <a:blip r:embed="rId4">
            <a:alphaModFix/>
          </a:blip>
          <a:stretch>
            <a:fillRect/>
          </a:stretch>
        </p:blipFill>
        <p:spPr>
          <a:xfrm>
            <a:off x="8761050" y="4506725"/>
            <a:ext cx="1881100" cy="9807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pic>
        <p:nvPicPr>
          <p:cNvPr id="255" name="Google Shape;255;p28"/>
          <p:cNvPicPr preferRelativeResize="0"/>
          <p:nvPr/>
        </p:nvPicPr>
        <p:blipFill rotWithShape="1">
          <a:blip r:embed="rId3">
            <a:alphaModFix/>
          </a:blip>
          <a:srcRect b="0" l="0" r="0" t="0"/>
          <a:stretch/>
        </p:blipFill>
        <p:spPr>
          <a:xfrm>
            <a:off x="6022775" y="2736525"/>
            <a:ext cx="5954523" cy="2918301"/>
          </a:xfrm>
          <a:prstGeom prst="rect">
            <a:avLst/>
          </a:prstGeom>
          <a:noFill/>
          <a:ln>
            <a:noFill/>
          </a:ln>
        </p:spPr>
      </p:pic>
      <p:pic>
        <p:nvPicPr>
          <p:cNvPr id="256" name="Google Shape;256;p28"/>
          <p:cNvPicPr preferRelativeResize="0"/>
          <p:nvPr/>
        </p:nvPicPr>
        <p:blipFill rotWithShape="1">
          <a:blip r:embed="rId4">
            <a:alphaModFix/>
          </a:blip>
          <a:srcRect b="0" l="0" r="0" t="0"/>
          <a:stretch/>
        </p:blipFill>
        <p:spPr>
          <a:xfrm>
            <a:off x="1248900" y="2075325"/>
            <a:ext cx="4590225" cy="4303575"/>
          </a:xfrm>
          <a:prstGeom prst="rect">
            <a:avLst/>
          </a:prstGeom>
          <a:noFill/>
          <a:ln>
            <a:noFill/>
          </a:ln>
        </p:spPr>
      </p:pic>
      <p:sp>
        <p:nvSpPr>
          <p:cNvPr id="257" name="Google Shape;257;p28"/>
          <p:cNvSpPr txBox="1"/>
          <p:nvPr/>
        </p:nvSpPr>
        <p:spPr>
          <a:xfrm>
            <a:off x="1056375" y="374900"/>
            <a:ext cx="10984200" cy="1459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a:t>
            </a:r>
            <a:r>
              <a:rPr lang="it-IT" sz="1300">
                <a:solidFill>
                  <a:schemeClr val="dk1"/>
                </a:solidFill>
                <a:latin typeface="Libre Franklin"/>
                <a:ea typeface="Libre Franklin"/>
                <a:cs typeface="Libre Franklin"/>
                <a:sym typeface="Libre Franklin"/>
              </a:rPr>
              <a:t>uindi, aumentando il valore di R, aumenta il prodotto RC e la frequenza di taglio diminuisce. Per questo motivo la curva relativa a R = 100 kΩ risulta spostata verso frequenze più basse, mentre quella relativa a R = 1 kΩ è spostata verso frequenze più alte.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confronto tra le tre curve mostra quindi che la resistenza R determina direttamente la posizione della frequenza di taglio: valori più alti di R anticipano il passaggio del segnale a frequenze inferiori, mentre valori più bassi richiedono frequenze più elevate prima che il filtro lasci passare il segnale con attenuazione ridotta.</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pic>
        <p:nvPicPr>
          <p:cNvPr id="262" name="Google Shape;262;p29"/>
          <p:cNvPicPr preferRelativeResize="0"/>
          <p:nvPr/>
        </p:nvPicPr>
        <p:blipFill rotWithShape="1">
          <a:blip r:embed="rId3">
            <a:alphaModFix/>
          </a:blip>
          <a:srcRect b="0" l="0" r="0" t="0"/>
          <a:stretch/>
        </p:blipFill>
        <p:spPr>
          <a:xfrm>
            <a:off x="1088301" y="3586300"/>
            <a:ext cx="5605950" cy="2747450"/>
          </a:xfrm>
          <a:prstGeom prst="rect">
            <a:avLst/>
          </a:prstGeom>
          <a:noFill/>
          <a:ln>
            <a:noFill/>
          </a:ln>
        </p:spPr>
      </p:pic>
      <p:sp>
        <p:nvSpPr>
          <p:cNvPr id="263" name="Google Shape;263;p29"/>
          <p:cNvSpPr txBox="1"/>
          <p:nvPr/>
        </p:nvSpPr>
        <p:spPr>
          <a:xfrm>
            <a:off x="1355275" y="756125"/>
            <a:ext cx="47844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Variazione del parametro C </a:t>
            </a:r>
            <a:endParaRPr sz="2500">
              <a:solidFill>
                <a:srgbClr val="073763"/>
              </a:solidFill>
              <a:latin typeface="Libre Franklin SemiBold"/>
              <a:ea typeface="Libre Franklin SemiBold"/>
              <a:cs typeface="Libre Franklin SemiBold"/>
              <a:sym typeface="Libre Franklin SemiBold"/>
            </a:endParaRPr>
          </a:p>
        </p:txBody>
      </p:sp>
      <p:sp>
        <p:nvSpPr>
          <p:cNvPr id="264" name="Google Shape;264;p29"/>
          <p:cNvSpPr txBox="1"/>
          <p:nvPr/>
        </p:nvSpPr>
        <p:spPr>
          <a:xfrm>
            <a:off x="985425" y="1777500"/>
            <a:ext cx="11034600" cy="1459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Dopo aver analizzato l’effetto della variazione della resistenza R, si passa ora allo studio della variazione della capacità C nel filtro passa-alto passivo.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questa simulazione la resistenza viene mantenuta costante a R = 10 kΩ, mentre il condensatore assume tre valori diversi: 1 nF, 100 nF e 1 µF. Nel grafico di Bode sono rappresentate le tre risposte: la curva rossa corrisponde al circuito con C = 1 nF; la curva blu corrisponde al circuito con C = 100 nF; la curva verde corrisponde a quello con C = 1 µF.</a:t>
            </a:r>
            <a:endParaRPr sz="1300">
              <a:solidFill>
                <a:schemeClr val="dk1"/>
              </a:solidFill>
              <a:latin typeface="Libre Franklin"/>
              <a:ea typeface="Libre Franklin"/>
              <a:cs typeface="Libre Franklin"/>
              <a:sym typeface="Libre Franklin"/>
            </a:endParaRPr>
          </a:p>
        </p:txBody>
      </p:sp>
      <p:sp>
        <p:nvSpPr>
          <p:cNvPr id="265" name="Google Shape;265;p29"/>
          <p:cNvSpPr txBox="1"/>
          <p:nvPr/>
        </p:nvSpPr>
        <p:spPr>
          <a:xfrm>
            <a:off x="7498400" y="3800100"/>
            <a:ext cx="42585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taglio del filtro è sempre definita dalla relazione:</a:t>
            </a:r>
            <a:endParaRPr/>
          </a:p>
        </p:txBody>
      </p:sp>
      <p:pic>
        <p:nvPicPr>
          <p:cNvPr id="266" name="Google Shape;266;p29"/>
          <p:cNvPicPr preferRelativeResize="0"/>
          <p:nvPr/>
        </p:nvPicPr>
        <p:blipFill>
          <a:blip r:embed="rId4">
            <a:alphaModFix/>
          </a:blip>
          <a:stretch>
            <a:fillRect/>
          </a:stretch>
        </p:blipFill>
        <p:spPr>
          <a:xfrm>
            <a:off x="8761050" y="4506725"/>
            <a:ext cx="1881100" cy="9807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pic>
        <p:nvPicPr>
          <p:cNvPr id="272" name="Google Shape;272;p30"/>
          <p:cNvPicPr preferRelativeResize="0"/>
          <p:nvPr/>
        </p:nvPicPr>
        <p:blipFill rotWithShape="1">
          <a:blip r:embed="rId3">
            <a:alphaModFix/>
          </a:blip>
          <a:srcRect b="0" l="0" r="0" t="0"/>
          <a:stretch/>
        </p:blipFill>
        <p:spPr>
          <a:xfrm>
            <a:off x="1210224" y="1808852"/>
            <a:ext cx="5970500" cy="2926077"/>
          </a:xfrm>
          <a:prstGeom prst="rect">
            <a:avLst/>
          </a:prstGeom>
          <a:noFill/>
          <a:ln>
            <a:noFill/>
          </a:ln>
        </p:spPr>
      </p:pic>
      <p:pic>
        <p:nvPicPr>
          <p:cNvPr id="273" name="Google Shape;273;p30"/>
          <p:cNvPicPr preferRelativeResize="0"/>
          <p:nvPr/>
        </p:nvPicPr>
        <p:blipFill rotWithShape="1">
          <a:blip r:embed="rId4">
            <a:alphaModFix/>
          </a:blip>
          <a:srcRect b="0" l="0" r="0" t="0"/>
          <a:stretch/>
        </p:blipFill>
        <p:spPr>
          <a:xfrm>
            <a:off x="8011170" y="2071098"/>
            <a:ext cx="3395065" cy="2604247"/>
          </a:xfrm>
          <a:prstGeom prst="rect">
            <a:avLst/>
          </a:prstGeom>
          <a:noFill/>
          <a:ln>
            <a:noFill/>
          </a:ln>
        </p:spPr>
      </p:pic>
      <p:sp>
        <p:nvSpPr>
          <p:cNvPr id="274" name="Google Shape;274;p30"/>
          <p:cNvSpPr txBox="1"/>
          <p:nvPr/>
        </p:nvSpPr>
        <p:spPr>
          <a:xfrm>
            <a:off x="1210225" y="1074100"/>
            <a:ext cx="105975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a:t>
            </a:r>
            <a:r>
              <a:rPr lang="it-IT" sz="1300">
                <a:solidFill>
                  <a:schemeClr val="dk1"/>
                </a:solidFill>
                <a:latin typeface="Libre Franklin"/>
                <a:ea typeface="Libre Franklin"/>
                <a:cs typeface="Libre Franklin"/>
                <a:sym typeface="Libre Franklin"/>
              </a:rPr>
              <a:t>uindi aumentando il valore di C aumenta il prodotto RC e la frequenza di taglio diminuisce. Il comportamento è quindi analogo a quello osservato variando R: aumentando uno dei due parametri del prodotto RC, la curva di Bode si sposta verso frequenze più basse.</a:t>
            </a:r>
            <a:endParaRPr sz="1300">
              <a:solidFill>
                <a:schemeClr val="dk1"/>
              </a:solidFill>
              <a:latin typeface="Libre Franklin"/>
              <a:ea typeface="Libre Franklin"/>
              <a:cs typeface="Libre Franklin"/>
              <a:sym typeface="Libre Franklin"/>
            </a:endParaRPr>
          </a:p>
        </p:txBody>
      </p:sp>
      <p:sp>
        <p:nvSpPr>
          <p:cNvPr id="275" name="Google Shape;275;p30"/>
          <p:cNvSpPr txBox="1"/>
          <p:nvPr/>
        </p:nvSpPr>
        <p:spPr>
          <a:xfrm>
            <a:off x="1388125" y="5383850"/>
            <a:ext cx="10419600" cy="11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sz="1300">
                <a:solidFill>
                  <a:schemeClr val="dk1"/>
                </a:solidFill>
                <a:latin typeface="Libre Franklin"/>
                <a:ea typeface="Libre Franklin"/>
                <a:cs typeface="Libre Franklin"/>
                <a:sym typeface="Libre Franklin"/>
              </a:rPr>
              <a:t>Osservazione:</a:t>
            </a:r>
            <a:endParaRPr b="1" sz="1300">
              <a:solidFill>
                <a:schemeClr val="dk1"/>
              </a:solidFill>
              <a:latin typeface="Libre Franklin"/>
              <a:ea typeface="Libre Franklin"/>
              <a:cs typeface="Libre Franklin"/>
              <a:sym typeface="Libre Franklin"/>
            </a:endParaRPr>
          </a:p>
          <a:p>
            <a:pPr indent="0" lvl="0" marL="0" rtl="0" algn="l">
              <a:spcBef>
                <a:spcPts val="0"/>
              </a:spcBef>
              <a:spcAft>
                <a:spcPts val="0"/>
              </a:spcAft>
              <a:buNone/>
            </a:pPr>
            <a:r>
              <a:t/>
            </a:r>
            <a:endParaRPr sz="1300">
              <a:solidFill>
                <a:schemeClr val="dk1"/>
              </a:solidFill>
              <a:latin typeface="Libre Franklin"/>
              <a:ea typeface="Libre Franklin"/>
              <a:cs typeface="Libre Franklin"/>
              <a:sym typeface="Libre Franklin"/>
            </a:endParaRPr>
          </a:p>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Dal punto di vista pratico, però, è più conveniente rendere variabile la resistenza, ad esempio tramite un trimmer, piuttosto che utilizzare un condensatore variabile. Nelle applicazioni reali, infatti, regolare una resistenza è generalmente più semplice, economico e preciso rispetto alla variazione della capacità del condensatore.</a:t>
            </a:r>
            <a:endParaRPr sz="1300">
              <a:latin typeface="Libre Franklin"/>
              <a:ea typeface="Libre Franklin"/>
              <a:cs typeface="Libre Franklin"/>
              <a:sym typeface="Libre Frankli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pic>
        <p:nvPicPr>
          <p:cNvPr id="281" name="Google Shape;281;p31"/>
          <p:cNvPicPr preferRelativeResize="0"/>
          <p:nvPr/>
        </p:nvPicPr>
        <p:blipFill>
          <a:blip r:embed="rId3">
            <a:alphaModFix/>
          </a:blip>
          <a:stretch>
            <a:fillRect/>
          </a:stretch>
        </p:blipFill>
        <p:spPr>
          <a:xfrm>
            <a:off x="1951612" y="508950"/>
            <a:ext cx="8288777" cy="4664899"/>
          </a:xfrm>
          <a:prstGeom prst="rect">
            <a:avLst/>
          </a:prstGeom>
          <a:noFill/>
          <a:ln>
            <a:noFill/>
          </a:ln>
        </p:spPr>
      </p:pic>
      <p:sp>
        <p:nvSpPr>
          <p:cNvPr id="282" name="Google Shape;282;p31"/>
          <p:cNvSpPr txBox="1"/>
          <p:nvPr/>
        </p:nvSpPr>
        <p:spPr>
          <a:xfrm>
            <a:off x="891675" y="5542750"/>
            <a:ext cx="111894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latin typeface="Libre Franklin"/>
                <a:ea typeface="Libre Franklin"/>
                <a:cs typeface="Libre Franklin"/>
                <a:sym typeface="Libre Franklin"/>
              </a:rPr>
              <a:t>Il grafico mostra la relazione tra la frequenza di taglio fc​ e il valore 1/R, mantenendo costante la capacità a C=100nF. Si osserva un andamento lineare: quando la resistenza diminuisce, 1/R aumenta e di conseguenza aumenta anche la frequenza di taglio. Questo conferma che, a capacità costante, il filtro passa-alto può essere regolato agendo direttamente sul valore della resistenza.</a:t>
            </a:r>
            <a:endParaRPr sz="1300">
              <a:latin typeface="Libre Franklin"/>
              <a:ea typeface="Libre Franklin"/>
              <a:cs typeface="Libre Franklin"/>
              <a:sym typeface="Libre Frankli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pic>
        <p:nvPicPr>
          <p:cNvPr id="288" name="Google Shape;288;p32"/>
          <p:cNvPicPr preferRelativeResize="0"/>
          <p:nvPr/>
        </p:nvPicPr>
        <p:blipFill rotWithShape="1">
          <a:blip r:embed="rId3">
            <a:alphaModFix/>
          </a:blip>
          <a:srcRect b="0" l="0" r="0" t="0"/>
          <a:stretch/>
        </p:blipFill>
        <p:spPr>
          <a:xfrm>
            <a:off x="5937130" y="2809000"/>
            <a:ext cx="5749220" cy="1327925"/>
          </a:xfrm>
          <a:prstGeom prst="rect">
            <a:avLst/>
          </a:prstGeom>
          <a:noFill/>
          <a:ln>
            <a:noFill/>
          </a:ln>
        </p:spPr>
      </p:pic>
      <p:pic>
        <p:nvPicPr>
          <p:cNvPr id="289" name="Google Shape;289;p32"/>
          <p:cNvPicPr preferRelativeResize="0"/>
          <p:nvPr/>
        </p:nvPicPr>
        <p:blipFill rotWithShape="1">
          <a:blip r:embed="rId4">
            <a:alphaModFix/>
          </a:blip>
          <a:srcRect b="0" l="0" r="0" t="0"/>
          <a:stretch/>
        </p:blipFill>
        <p:spPr>
          <a:xfrm>
            <a:off x="1119608" y="2530408"/>
            <a:ext cx="4445228" cy="1778091"/>
          </a:xfrm>
          <a:prstGeom prst="rect">
            <a:avLst/>
          </a:prstGeom>
          <a:noFill/>
          <a:ln>
            <a:noFill/>
          </a:ln>
        </p:spPr>
      </p:pic>
      <p:sp>
        <p:nvSpPr>
          <p:cNvPr id="290" name="Google Shape;290;p32"/>
          <p:cNvSpPr txBox="1"/>
          <p:nvPr/>
        </p:nvSpPr>
        <p:spPr>
          <a:xfrm>
            <a:off x="968075" y="1609975"/>
            <a:ext cx="110538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questa prova il circuito RC viene alimentato con un segnale impulsivo Vin che commuta tra -1 V e +1 V. Nel grafico, la curva rossa rappresenta Vin, mentre la curva blu mostra l’andamento della tensione legata alla carica e scarica del condensatore.</a:t>
            </a:r>
            <a:endParaRPr/>
          </a:p>
        </p:txBody>
      </p:sp>
      <p:sp>
        <p:nvSpPr>
          <p:cNvPr id="291" name="Google Shape;291;p32"/>
          <p:cNvSpPr txBox="1"/>
          <p:nvPr/>
        </p:nvSpPr>
        <p:spPr>
          <a:xfrm>
            <a:off x="1359400" y="4720950"/>
            <a:ext cx="104730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 Il condensatore si oppone alle variazioni brusche di tensione: per questo non segue istantaneamente i salti della curva rossa, ma passa gradualmente da un livello all’altro. La velocità di carica e scarica dipende dalla costante di tempo:</a:t>
            </a:r>
            <a:endParaRPr/>
          </a:p>
        </p:txBody>
      </p:sp>
      <p:pic>
        <p:nvPicPr>
          <p:cNvPr id="292" name="Google Shape;292;p32"/>
          <p:cNvPicPr preferRelativeResize="0"/>
          <p:nvPr/>
        </p:nvPicPr>
        <p:blipFill>
          <a:blip r:embed="rId5">
            <a:alphaModFix/>
          </a:blip>
          <a:stretch>
            <a:fillRect/>
          </a:stretch>
        </p:blipFill>
        <p:spPr>
          <a:xfrm>
            <a:off x="4925875" y="5485775"/>
            <a:ext cx="800100" cy="342900"/>
          </a:xfrm>
          <a:prstGeom prst="rect">
            <a:avLst/>
          </a:prstGeom>
          <a:noFill/>
          <a:ln>
            <a:noFill/>
          </a:ln>
        </p:spPr>
      </p:pic>
      <p:sp>
        <p:nvSpPr>
          <p:cNvPr id="293" name="Google Shape;293;p32"/>
          <p:cNvSpPr txBox="1"/>
          <p:nvPr/>
        </p:nvSpPr>
        <p:spPr>
          <a:xfrm>
            <a:off x="2034475" y="5978500"/>
            <a:ext cx="63024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latin typeface="Libre Franklin"/>
                <a:ea typeface="Libre Franklin"/>
                <a:cs typeface="Libre Franklin"/>
                <a:sym typeface="Libre Franklin"/>
              </a:rPr>
              <a:t>maggiore è </a:t>
            </a:r>
            <a:r>
              <a:rPr b="1" lang="it-IT" sz="1500">
                <a:latin typeface="Libre Franklin"/>
                <a:ea typeface="Libre Franklin"/>
                <a:cs typeface="Libre Franklin"/>
                <a:sym typeface="Libre Franklin"/>
              </a:rPr>
              <a:t>τ</a:t>
            </a:r>
            <a:r>
              <a:rPr lang="it-IT" sz="1300">
                <a:latin typeface="Libre Franklin"/>
                <a:ea typeface="Libre Franklin"/>
                <a:cs typeface="Libre Franklin"/>
                <a:sym typeface="Libre Franklin"/>
              </a:rPr>
              <a:t>, più lenta sarà la risposta del condensatore.</a:t>
            </a:r>
            <a:endParaRPr sz="1300">
              <a:latin typeface="Libre Franklin"/>
              <a:ea typeface="Libre Franklin"/>
              <a:cs typeface="Libre Franklin"/>
              <a:sym typeface="Libre Franklin"/>
            </a:endParaRPr>
          </a:p>
        </p:txBody>
      </p:sp>
      <p:sp>
        <p:nvSpPr>
          <p:cNvPr id="294" name="Google Shape;294;p32"/>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Risposta al gradino (circuito RC)</a:t>
            </a:r>
            <a:endParaRPr sz="2500">
              <a:solidFill>
                <a:srgbClr val="073763"/>
              </a:solidFill>
              <a:latin typeface="Libre Franklin SemiBold"/>
              <a:ea typeface="Libre Franklin SemiBold"/>
              <a:cs typeface="Libre Franklin SemiBold"/>
              <a:sym typeface="Libre Franklin SemiBo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33"/>
          <p:cNvSpPr txBox="1"/>
          <p:nvPr/>
        </p:nvSpPr>
        <p:spPr>
          <a:xfrm>
            <a:off x="1271650" y="1325525"/>
            <a:ext cx="11134200" cy="1229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Carica del condensatore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br>
              <a:rPr lang="it-IT" sz="1300">
                <a:solidFill>
                  <a:schemeClr val="dk1"/>
                </a:solidFill>
                <a:latin typeface="Libre Franklin"/>
                <a:ea typeface="Libre Franklin"/>
                <a:cs typeface="Libre Franklin"/>
                <a:sym typeface="Libre Franklin"/>
              </a:rPr>
            </a:br>
            <a:r>
              <a:rPr lang="it-IT" sz="1300">
                <a:solidFill>
                  <a:schemeClr val="dk1"/>
                </a:solidFill>
                <a:latin typeface="Libre Franklin"/>
                <a:ea typeface="Libre Franklin"/>
                <a:cs typeface="Libre Franklin"/>
                <a:sym typeface="Libre Franklin"/>
              </a:rPr>
              <a:t> Quando Vin passa da -1 V a +1 V, il condensatore inizia a caricarsi. La tensione non cambia istantaneamente, ma cresce con andamento esponenziale:</a:t>
            </a:r>
            <a:endParaRPr sz="1300">
              <a:solidFill>
                <a:schemeClr val="dk1"/>
              </a:solidFill>
              <a:latin typeface="Libre Franklin"/>
              <a:ea typeface="Libre Franklin"/>
              <a:cs typeface="Libre Franklin"/>
              <a:sym typeface="Libre Franklin"/>
            </a:endParaRPr>
          </a:p>
        </p:txBody>
      </p:sp>
      <p:pic>
        <p:nvPicPr>
          <p:cNvPr id="301" name="Google Shape;301;p33"/>
          <p:cNvPicPr preferRelativeResize="0"/>
          <p:nvPr/>
        </p:nvPicPr>
        <p:blipFill>
          <a:blip r:embed="rId3">
            <a:alphaModFix/>
          </a:blip>
          <a:stretch>
            <a:fillRect/>
          </a:stretch>
        </p:blipFill>
        <p:spPr>
          <a:xfrm>
            <a:off x="4128850" y="2835400"/>
            <a:ext cx="2486025" cy="381000"/>
          </a:xfrm>
          <a:prstGeom prst="rect">
            <a:avLst/>
          </a:prstGeom>
          <a:noFill/>
          <a:ln>
            <a:noFill/>
          </a:ln>
        </p:spPr>
      </p:pic>
      <p:sp>
        <p:nvSpPr>
          <p:cNvPr id="302" name="Google Shape;302;p33"/>
          <p:cNvSpPr txBox="1"/>
          <p:nvPr/>
        </p:nvSpPr>
        <p:spPr>
          <a:xfrm>
            <a:off x="1054225" y="3270513"/>
            <a:ext cx="10917000" cy="1843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dove ViV_iVi​ è il valore iniziale, VfV_fVf​ il valore finale e RCRCRC è la costante di tempo del circuito. Nel grafico la curva blu sale rapidamente all’inizio e poi rallenta avvicinandosi al nuovo valore positivo.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Scarica del condensatore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br>
              <a:rPr lang="it-IT" sz="1300">
                <a:solidFill>
                  <a:schemeClr val="dk1"/>
                </a:solidFill>
                <a:latin typeface="Libre Franklin"/>
                <a:ea typeface="Libre Franklin"/>
                <a:cs typeface="Libre Franklin"/>
                <a:sym typeface="Libre Franklin"/>
              </a:rPr>
            </a:br>
            <a:r>
              <a:rPr lang="it-IT" sz="1300">
                <a:solidFill>
                  <a:schemeClr val="dk1"/>
                </a:solidFill>
                <a:latin typeface="Libre Franklin"/>
                <a:ea typeface="Libre Franklin"/>
                <a:cs typeface="Libre Franklin"/>
                <a:sym typeface="Libre Franklin"/>
              </a:rPr>
              <a:t> Quando Vin passa da +1 V a -1 V, il condensatore si scarica e poi si porta verso il nuovo livello negativo. Anche in questo caso l’andamento è esponenziale:</a:t>
            </a:r>
            <a:endParaRPr sz="1300">
              <a:solidFill>
                <a:schemeClr val="dk1"/>
              </a:solidFill>
              <a:latin typeface="Libre Franklin"/>
              <a:ea typeface="Libre Franklin"/>
              <a:cs typeface="Libre Franklin"/>
              <a:sym typeface="Libre Franklin"/>
            </a:endParaRPr>
          </a:p>
        </p:txBody>
      </p:sp>
      <p:pic>
        <p:nvPicPr>
          <p:cNvPr id="303" name="Google Shape;303;p33"/>
          <p:cNvPicPr preferRelativeResize="0"/>
          <p:nvPr/>
        </p:nvPicPr>
        <p:blipFill>
          <a:blip r:embed="rId3">
            <a:alphaModFix/>
          </a:blip>
          <a:stretch>
            <a:fillRect/>
          </a:stretch>
        </p:blipFill>
        <p:spPr>
          <a:xfrm>
            <a:off x="4446000" y="4937950"/>
            <a:ext cx="2486025" cy="381000"/>
          </a:xfrm>
          <a:prstGeom prst="rect">
            <a:avLst/>
          </a:prstGeom>
          <a:noFill/>
          <a:ln>
            <a:noFill/>
          </a:ln>
        </p:spPr>
      </p:pic>
      <p:sp>
        <p:nvSpPr>
          <p:cNvPr id="304" name="Google Shape;304;p33"/>
          <p:cNvSpPr txBox="1"/>
          <p:nvPr/>
        </p:nvSpPr>
        <p:spPr>
          <a:xfrm>
            <a:off x="1114450" y="5662375"/>
            <a:ext cx="10625400" cy="768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la curva blu scende velocemente subito dopo il fronte di discesa di Vin e poi rallenta progressivamente.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34"/>
          <p:cNvSpPr txBox="1"/>
          <p:nvPr/>
        </p:nvSpPr>
        <p:spPr>
          <a:xfrm>
            <a:off x="6730225" y="703475"/>
            <a:ext cx="46215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ll circuito RC passa-alto è alimentato con un segnale Vin a gradino, rappresentato in rosso, che commuta tra -1 V e +1 V. La variazione applicata è quindi:</a:t>
            </a:r>
            <a:endParaRPr sz="1300">
              <a:latin typeface="Libre Franklin"/>
              <a:ea typeface="Libre Franklin"/>
              <a:cs typeface="Libre Franklin"/>
              <a:sym typeface="Libre Franklin"/>
            </a:endParaRPr>
          </a:p>
        </p:txBody>
      </p:sp>
      <p:pic>
        <p:nvPicPr>
          <p:cNvPr id="311" name="Google Shape;311;p34"/>
          <p:cNvPicPr preferRelativeResize="0"/>
          <p:nvPr/>
        </p:nvPicPr>
        <p:blipFill>
          <a:blip r:embed="rId3">
            <a:alphaModFix/>
          </a:blip>
          <a:stretch>
            <a:fillRect/>
          </a:stretch>
        </p:blipFill>
        <p:spPr>
          <a:xfrm>
            <a:off x="7835450" y="1983138"/>
            <a:ext cx="2028825" cy="447675"/>
          </a:xfrm>
          <a:prstGeom prst="rect">
            <a:avLst/>
          </a:prstGeom>
          <a:noFill/>
          <a:ln>
            <a:noFill/>
          </a:ln>
        </p:spPr>
      </p:pic>
      <p:sp>
        <p:nvSpPr>
          <p:cNvPr id="312" name="Google Shape;312;p34"/>
          <p:cNvSpPr txBox="1"/>
          <p:nvPr/>
        </p:nvSpPr>
        <p:spPr>
          <a:xfrm>
            <a:off x="1234725" y="2925400"/>
            <a:ext cx="10469700" cy="1383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condensatore non può variare istantaneamente la tensione ai suoi capi; per questo, a ogni fronte del segnale, entra in una fase di carica o scarica.</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Quando Vin passa da -1 V a +1 V, il condensatore si carica: la curva blu cresce progressivamente con andamento esponenziale. </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Quando invece Vin passa da +1 V a -1 V, il condensatore si scarica: la curva blu decresce gradualmente verso il nuovo valore.</a:t>
            </a:r>
            <a:endParaRPr sz="1300">
              <a:solidFill>
                <a:schemeClr val="dk1"/>
              </a:solidFill>
              <a:latin typeface="Libre Franklin"/>
              <a:ea typeface="Libre Franklin"/>
              <a:cs typeface="Libre Franklin"/>
              <a:sym typeface="Libre Franklin"/>
            </a:endParaRPr>
          </a:p>
        </p:txBody>
      </p:sp>
      <p:sp>
        <p:nvSpPr>
          <p:cNvPr id="313" name="Google Shape;313;p34"/>
          <p:cNvSpPr txBox="1"/>
          <p:nvPr/>
        </p:nvSpPr>
        <p:spPr>
          <a:xfrm>
            <a:off x="1317050" y="4374425"/>
            <a:ext cx="91998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La curva verde evidenzia invece i picchi generati nei fronti del segnale: il condensatore trasferisce inizialmente la variazione rapida, poi il valore decade verso 0 V attraverso la resistenza.</a:t>
            </a:r>
            <a:endParaRPr sz="1300">
              <a:latin typeface="Libre Franklin"/>
              <a:ea typeface="Libre Franklin"/>
              <a:cs typeface="Libre Franklin"/>
              <a:sym typeface="Libre Franklin"/>
            </a:endParaRPr>
          </a:p>
        </p:txBody>
      </p:sp>
      <p:sp>
        <p:nvSpPr>
          <p:cNvPr id="314" name="Google Shape;314;p34"/>
          <p:cNvSpPr txBox="1"/>
          <p:nvPr/>
        </p:nvSpPr>
        <p:spPr>
          <a:xfrm>
            <a:off x="1317050" y="5179350"/>
            <a:ext cx="65184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Con R = 10 kΩ e C = 100 nF si ottiene: </a:t>
            </a:r>
            <a:endParaRPr sz="1300">
              <a:latin typeface="Libre Franklin"/>
              <a:ea typeface="Libre Franklin"/>
              <a:cs typeface="Libre Franklin"/>
              <a:sym typeface="Libre Franklin"/>
            </a:endParaRPr>
          </a:p>
        </p:txBody>
      </p:sp>
      <p:pic>
        <p:nvPicPr>
          <p:cNvPr id="315" name="Google Shape;315;p34"/>
          <p:cNvPicPr preferRelativeResize="0"/>
          <p:nvPr/>
        </p:nvPicPr>
        <p:blipFill>
          <a:blip r:embed="rId4">
            <a:alphaModFix/>
          </a:blip>
          <a:stretch>
            <a:fillRect/>
          </a:stretch>
        </p:blipFill>
        <p:spPr>
          <a:xfrm>
            <a:off x="5349975" y="5214625"/>
            <a:ext cx="857250" cy="314325"/>
          </a:xfrm>
          <a:prstGeom prst="rect">
            <a:avLst/>
          </a:prstGeom>
          <a:noFill/>
          <a:ln>
            <a:noFill/>
          </a:ln>
        </p:spPr>
      </p:pic>
      <p:sp>
        <p:nvSpPr>
          <p:cNvPr id="316" name="Google Shape;316;p34"/>
          <p:cNvSpPr txBox="1"/>
          <p:nvPr/>
        </p:nvSpPr>
        <p:spPr>
          <a:xfrm>
            <a:off x="1234725" y="5867875"/>
            <a:ext cx="98580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Quindi il grafico mostra che il condensatore reagisce ai salti di Vin caricandosi e scaricandosi in modo esponenziale, con una rapidità determinata dal prodotto RC.</a:t>
            </a:r>
            <a:endParaRPr sz="1300">
              <a:latin typeface="Libre Franklin"/>
              <a:ea typeface="Libre Franklin"/>
              <a:cs typeface="Libre Franklin"/>
              <a:sym typeface="Libre Franklin"/>
            </a:endParaRPr>
          </a:p>
        </p:txBody>
      </p:sp>
      <p:pic>
        <p:nvPicPr>
          <p:cNvPr id="317" name="Google Shape;317;p34"/>
          <p:cNvPicPr preferRelativeResize="0"/>
          <p:nvPr/>
        </p:nvPicPr>
        <p:blipFill rotWithShape="1">
          <a:blip r:embed="rId5">
            <a:alphaModFix/>
          </a:blip>
          <a:srcRect b="0" l="0" r="0" t="0"/>
          <a:stretch/>
        </p:blipFill>
        <p:spPr>
          <a:xfrm>
            <a:off x="1477500" y="362450"/>
            <a:ext cx="4780769" cy="2343026"/>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35"/>
          <p:cNvSpPr txBox="1"/>
          <p:nvPr/>
        </p:nvSpPr>
        <p:spPr>
          <a:xfrm>
            <a:off x="1378800" y="650275"/>
            <a:ext cx="95496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Effetto d</a:t>
            </a:r>
            <a:r>
              <a:rPr lang="it-IT" sz="2500">
                <a:solidFill>
                  <a:srgbClr val="073763"/>
                </a:solidFill>
                <a:latin typeface="Libre Franklin SemiBold"/>
                <a:ea typeface="Libre Franklin SemiBold"/>
                <a:cs typeface="Libre Franklin SemiBold"/>
                <a:sym typeface="Libre Franklin SemiBold"/>
              </a:rPr>
              <a:t>ella resistenza </a:t>
            </a:r>
            <a:r>
              <a:rPr lang="it-IT" sz="2500">
                <a:solidFill>
                  <a:srgbClr val="073763"/>
                </a:solidFill>
                <a:latin typeface="Libre Franklin SemiBold"/>
                <a:ea typeface="Libre Franklin SemiBold"/>
                <a:cs typeface="Libre Franklin SemiBold"/>
                <a:sym typeface="Libre Franklin SemiBold"/>
              </a:rPr>
              <a:t>sulla carica e scarica del condensatore</a:t>
            </a:r>
            <a:endParaRPr sz="2500">
              <a:solidFill>
                <a:srgbClr val="073763"/>
              </a:solidFill>
              <a:latin typeface="Libre Franklin SemiBold"/>
              <a:ea typeface="Libre Franklin SemiBold"/>
              <a:cs typeface="Libre Franklin SemiBold"/>
              <a:sym typeface="Libre Franklin SemiBold"/>
            </a:endParaRPr>
          </a:p>
        </p:txBody>
      </p:sp>
      <p:sp>
        <p:nvSpPr>
          <p:cNvPr id="324" name="Google Shape;324;p35"/>
          <p:cNvSpPr txBox="1"/>
          <p:nvPr/>
        </p:nvSpPr>
        <p:spPr>
          <a:xfrm>
            <a:off x="1378800" y="1480200"/>
            <a:ext cx="9811200" cy="1459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viene confrontata la risposta del condensatore quando il segnale Vin commuta tra -1 V e +1 V. La curva rossa rappresenta il segnale di ingresso, mentre le curve blu e verde mostrano la risposta del condensatore con due valori diversi di resistenza.</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circuito principale è presente una resistenza R = 10 kΩ, mentre nel circuito modificato viene usata una resistenza più bassa, pari a R = 1 kΩ. La capacità rimane costante a C = 100 nF.</a:t>
            </a:r>
            <a:endParaRPr sz="1300">
              <a:solidFill>
                <a:schemeClr val="dk1"/>
              </a:solidFill>
              <a:latin typeface="Libre Franklin"/>
              <a:ea typeface="Libre Franklin"/>
              <a:cs typeface="Libre Franklin"/>
              <a:sym typeface="Libre Franklin"/>
            </a:endParaRPr>
          </a:p>
        </p:txBody>
      </p:sp>
      <p:pic>
        <p:nvPicPr>
          <p:cNvPr id="325" name="Google Shape;325;p35"/>
          <p:cNvPicPr preferRelativeResize="0"/>
          <p:nvPr/>
        </p:nvPicPr>
        <p:blipFill rotWithShape="1">
          <a:blip r:embed="rId3">
            <a:alphaModFix/>
          </a:blip>
          <a:srcRect b="0" l="0" r="0" t="0"/>
          <a:stretch/>
        </p:blipFill>
        <p:spPr>
          <a:xfrm>
            <a:off x="1378800" y="3199925"/>
            <a:ext cx="4156691" cy="1829275"/>
          </a:xfrm>
          <a:prstGeom prst="rect">
            <a:avLst/>
          </a:prstGeom>
          <a:noFill/>
          <a:ln>
            <a:noFill/>
          </a:ln>
        </p:spPr>
      </p:pic>
      <p:pic>
        <p:nvPicPr>
          <p:cNvPr id="326" name="Google Shape;326;p35"/>
          <p:cNvPicPr preferRelativeResize="0"/>
          <p:nvPr/>
        </p:nvPicPr>
        <p:blipFill rotWithShape="1">
          <a:blip r:embed="rId4">
            <a:alphaModFix/>
          </a:blip>
          <a:srcRect b="14727" l="0" r="52272" t="0"/>
          <a:stretch/>
        </p:blipFill>
        <p:spPr>
          <a:xfrm>
            <a:off x="5464950" y="3199937"/>
            <a:ext cx="3223515" cy="1829275"/>
          </a:xfrm>
          <a:prstGeom prst="rect">
            <a:avLst/>
          </a:prstGeom>
          <a:noFill/>
          <a:ln>
            <a:noFill/>
          </a:ln>
        </p:spPr>
      </p:pic>
      <p:pic>
        <p:nvPicPr>
          <p:cNvPr id="327" name="Google Shape;327;p35"/>
          <p:cNvPicPr preferRelativeResize="0"/>
          <p:nvPr/>
        </p:nvPicPr>
        <p:blipFill rotWithShape="1">
          <a:blip r:embed="rId5">
            <a:alphaModFix/>
          </a:blip>
          <a:srcRect b="0" l="0" r="0" t="0"/>
          <a:stretch/>
        </p:blipFill>
        <p:spPr>
          <a:xfrm>
            <a:off x="1378792" y="5195684"/>
            <a:ext cx="6909461" cy="1595886"/>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pic>
        <p:nvPicPr>
          <p:cNvPr id="333" name="Google Shape;333;p36"/>
          <p:cNvPicPr preferRelativeResize="0"/>
          <p:nvPr/>
        </p:nvPicPr>
        <p:blipFill rotWithShape="1">
          <a:blip r:embed="rId3">
            <a:alphaModFix/>
          </a:blip>
          <a:srcRect b="0" l="0" r="0" t="0"/>
          <a:stretch/>
        </p:blipFill>
        <p:spPr>
          <a:xfrm>
            <a:off x="1435425" y="2642231"/>
            <a:ext cx="4255387" cy="1872717"/>
          </a:xfrm>
          <a:prstGeom prst="rect">
            <a:avLst/>
          </a:prstGeom>
          <a:noFill/>
          <a:ln>
            <a:noFill/>
          </a:ln>
        </p:spPr>
      </p:pic>
      <p:pic>
        <p:nvPicPr>
          <p:cNvPr id="334" name="Google Shape;334;p36"/>
          <p:cNvPicPr preferRelativeResize="0"/>
          <p:nvPr/>
        </p:nvPicPr>
        <p:blipFill rotWithShape="1">
          <a:blip r:embed="rId4">
            <a:alphaModFix/>
          </a:blip>
          <a:srcRect b="17136" l="50345" r="0" t="0"/>
          <a:stretch/>
        </p:blipFill>
        <p:spPr>
          <a:xfrm>
            <a:off x="5690804" y="2642225"/>
            <a:ext cx="3533397" cy="1872725"/>
          </a:xfrm>
          <a:prstGeom prst="rect">
            <a:avLst/>
          </a:prstGeom>
          <a:noFill/>
          <a:ln>
            <a:noFill/>
          </a:ln>
        </p:spPr>
      </p:pic>
      <p:pic>
        <p:nvPicPr>
          <p:cNvPr id="335" name="Google Shape;335;p36"/>
          <p:cNvPicPr preferRelativeResize="0"/>
          <p:nvPr/>
        </p:nvPicPr>
        <p:blipFill rotWithShape="1">
          <a:blip r:embed="rId5">
            <a:alphaModFix/>
          </a:blip>
          <a:srcRect b="0" l="0" r="0" t="0"/>
          <a:stretch/>
        </p:blipFill>
        <p:spPr>
          <a:xfrm>
            <a:off x="1435426" y="5044174"/>
            <a:ext cx="7853074" cy="1813825"/>
          </a:xfrm>
          <a:prstGeom prst="rect">
            <a:avLst/>
          </a:prstGeom>
          <a:noFill/>
          <a:ln>
            <a:noFill/>
          </a:ln>
        </p:spPr>
      </p:pic>
      <p:sp>
        <p:nvSpPr>
          <p:cNvPr id="336" name="Google Shape;336;p36"/>
          <p:cNvSpPr txBox="1"/>
          <p:nvPr/>
        </p:nvSpPr>
        <p:spPr>
          <a:xfrm>
            <a:off x="1164175" y="752575"/>
            <a:ext cx="10605600" cy="99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viene confrontata la risposta del condensatore quando il segnale Vin, rappresentato in rosso, commuta tra -1 V e +1 V. La capacità rimane costante a C = 100 nF, mentre viene variato il valore della resistenza.</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curva blu rappresenta il circuito di riferimento con R = 10 kΩ, mentre la curva verde rappresenta il circuito modificato con R = 30 kΩ.</a:t>
            </a:r>
            <a:endParaRPr sz="1300">
              <a:solidFill>
                <a:schemeClr val="dk1"/>
              </a:solidFill>
              <a:latin typeface="Libre Franklin"/>
              <a:ea typeface="Libre Franklin"/>
              <a:cs typeface="Libre Franklin"/>
              <a:sym typeface="Libre Franklin"/>
            </a:endParaRPr>
          </a:p>
        </p:txBody>
      </p:sp>
      <p:sp>
        <p:nvSpPr>
          <p:cNvPr id="337" name="Google Shape;337;p36"/>
          <p:cNvSpPr txBox="1"/>
          <p:nvPr/>
        </p:nvSpPr>
        <p:spPr>
          <a:xfrm>
            <a:off x="1164175" y="1855800"/>
            <a:ext cx="106761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Aumentando la resistenza da 10 kΩ a 30 kΩ, aumenta anche la costante di tempo. Per questo motivo la curva verde mostra una carica e una scarica più lente rispetto alla curva blu.</a:t>
            </a:r>
            <a:endParaRPr sz="1300">
              <a:latin typeface="Libre Franklin"/>
              <a:ea typeface="Libre Franklin"/>
              <a:cs typeface="Libre Franklin"/>
              <a:sym typeface="Libre Franklin"/>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37"/>
          <p:cNvSpPr txBox="1"/>
          <p:nvPr/>
        </p:nvSpPr>
        <p:spPr>
          <a:xfrm>
            <a:off x="1221850" y="1430100"/>
            <a:ext cx="11042100" cy="176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it-IT" sz="1300">
                <a:solidFill>
                  <a:schemeClr val="dk1"/>
                </a:solidFill>
                <a:latin typeface="Libre Franklin"/>
                <a:ea typeface="Libre Franklin"/>
                <a:cs typeface="Libre Franklin"/>
                <a:sym typeface="Libre Franklin"/>
              </a:rPr>
              <a:t>Conclusione:</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 R = 10 kΩ si ha una costante di tempo maggiore, quindi la curva blu mostra una carica e una scarica più lente. </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 R = 1 kΩ, invece, la costante di tempo è più piccola e la curva verde raggiunge molto più rapidamente il valore finale.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Quindi, diminuendo R, il condensatore si carica e si scarica più velocemente. Questo dimostra che R controlla direttamente la rapidità della risposta transitoria del circuito RC.</a:t>
            </a:r>
            <a:endParaRPr sz="1300">
              <a:solidFill>
                <a:schemeClr val="dk1"/>
              </a:solidFill>
              <a:latin typeface="Libre Franklin"/>
              <a:ea typeface="Libre Franklin"/>
              <a:cs typeface="Libre Franklin"/>
              <a:sym typeface="Libre Franklin"/>
            </a:endParaRPr>
          </a:p>
        </p:txBody>
      </p:sp>
      <p:sp>
        <p:nvSpPr>
          <p:cNvPr id="344" name="Google Shape;344;p37"/>
          <p:cNvSpPr txBox="1"/>
          <p:nvPr/>
        </p:nvSpPr>
        <p:spPr>
          <a:xfrm>
            <a:off x="1221850" y="3382150"/>
            <a:ext cx="10418400" cy="1229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 R = 30 kΩ, il condensatore non riesce a raggiungere completamente il valore finale prima che Vin cambi nuovamente stato. La sua tensione cresce e decresce più lentamente, rimanendo più “smussata” rispetto alla risposta con R = 10 kΩ.</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Quindi, aumentando R, il condensatore impiega più tempo a caricarsi e scaricarsi. Questo dimostra che una resistenza maggiore rende la risposta transitoria del circuito RC più lenta.</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sp>
        <p:nvSpPr>
          <p:cNvPr id="350" name="Google Shape;350;p38"/>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Risposta al gradino (circuito RL)</a:t>
            </a:r>
            <a:endParaRPr sz="2500">
              <a:solidFill>
                <a:srgbClr val="073763"/>
              </a:solidFill>
              <a:latin typeface="Libre Franklin SemiBold"/>
              <a:ea typeface="Libre Franklin SemiBold"/>
              <a:cs typeface="Libre Franklin SemiBold"/>
              <a:sym typeface="Libre Franklin SemiBold"/>
            </a:endParaRPr>
          </a:p>
        </p:txBody>
      </p:sp>
      <p:sp>
        <p:nvSpPr>
          <p:cNvPr id="351" name="Google Shape;351;p38"/>
          <p:cNvSpPr txBox="1"/>
          <p:nvPr/>
        </p:nvSpPr>
        <p:spPr>
          <a:xfrm>
            <a:off x="1355275" y="1493425"/>
            <a:ext cx="10098300" cy="99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In questa prova il circuito RL viene alimentato con un segnale impulsivo Vin che commuta tra -1 V e +1 V.</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grafico, la curva rossa rappresenta Vin, mentre la curva blu mostra l’andamento della corrente nell’induttore I(L1) durante le fasi di energizzazione e de-energizzazione.</a:t>
            </a:r>
            <a:endParaRPr sz="1300">
              <a:solidFill>
                <a:schemeClr val="dk1"/>
              </a:solidFill>
              <a:latin typeface="Libre Franklin"/>
              <a:ea typeface="Libre Franklin"/>
              <a:cs typeface="Libre Franklin"/>
              <a:sym typeface="Libre Franklin"/>
            </a:endParaRPr>
          </a:p>
        </p:txBody>
      </p:sp>
      <p:sp>
        <p:nvSpPr>
          <p:cNvPr id="352" name="Google Shape;352;p38"/>
          <p:cNvSpPr txBox="1"/>
          <p:nvPr/>
        </p:nvSpPr>
        <p:spPr>
          <a:xfrm>
            <a:off x="1330375" y="4777000"/>
            <a:ext cx="10148100" cy="99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L’induttore si oppone alle variazioni brusche di corrente: per questo I(L1) non segue immediatamente i salti di Vin, ma passa gradualmente da un valore positivo a uno negativo.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velocità di energizzazione e de-energizzazione dipende dalla costante di tempo:</a:t>
            </a:r>
            <a:endParaRPr sz="1300">
              <a:solidFill>
                <a:schemeClr val="dk1"/>
              </a:solidFill>
              <a:latin typeface="Libre Franklin"/>
              <a:ea typeface="Libre Franklin"/>
              <a:cs typeface="Libre Franklin"/>
              <a:sym typeface="Libre Franklin"/>
            </a:endParaRPr>
          </a:p>
        </p:txBody>
      </p:sp>
      <p:pic>
        <p:nvPicPr>
          <p:cNvPr id="353" name="Google Shape;353;p38"/>
          <p:cNvPicPr preferRelativeResize="0"/>
          <p:nvPr/>
        </p:nvPicPr>
        <p:blipFill>
          <a:blip r:embed="rId3">
            <a:alphaModFix/>
          </a:blip>
          <a:stretch>
            <a:fillRect/>
          </a:stretch>
        </p:blipFill>
        <p:spPr>
          <a:xfrm>
            <a:off x="5575000" y="5943900"/>
            <a:ext cx="733425" cy="428625"/>
          </a:xfrm>
          <a:prstGeom prst="rect">
            <a:avLst/>
          </a:prstGeom>
          <a:noFill/>
          <a:ln>
            <a:noFill/>
          </a:ln>
        </p:spPr>
      </p:pic>
      <p:grpSp>
        <p:nvGrpSpPr>
          <p:cNvPr id="354" name="Google Shape;354;p38"/>
          <p:cNvGrpSpPr/>
          <p:nvPr/>
        </p:nvGrpSpPr>
        <p:grpSpPr>
          <a:xfrm>
            <a:off x="1088027" y="2519079"/>
            <a:ext cx="4650609" cy="1906132"/>
            <a:chOff x="1702130" y="3530930"/>
            <a:chExt cx="5099352" cy="2090057"/>
          </a:xfrm>
        </p:grpSpPr>
        <p:pic>
          <p:nvPicPr>
            <p:cNvPr id="355" name="Google Shape;355;p38"/>
            <p:cNvPicPr preferRelativeResize="0"/>
            <p:nvPr/>
          </p:nvPicPr>
          <p:blipFill rotWithShape="1">
            <a:blip r:embed="rId4">
              <a:alphaModFix/>
            </a:blip>
            <a:srcRect b="0" l="0" r="64503" t="0"/>
            <a:stretch/>
          </p:blipFill>
          <p:spPr>
            <a:xfrm>
              <a:off x="1702130" y="3530930"/>
              <a:ext cx="2770909" cy="2090057"/>
            </a:xfrm>
            <a:prstGeom prst="rect">
              <a:avLst/>
            </a:prstGeom>
            <a:noFill/>
            <a:ln>
              <a:noFill/>
            </a:ln>
          </p:spPr>
        </p:pic>
        <p:pic>
          <p:nvPicPr>
            <p:cNvPr id="356" name="Google Shape;356;p38"/>
            <p:cNvPicPr preferRelativeResize="0"/>
            <p:nvPr/>
          </p:nvPicPr>
          <p:blipFill rotWithShape="1">
            <a:blip r:embed="rId4">
              <a:alphaModFix/>
            </a:blip>
            <a:srcRect b="0" l="69168" r="1002" t="0"/>
            <a:stretch/>
          </p:blipFill>
          <p:spPr>
            <a:xfrm>
              <a:off x="4473040" y="3530930"/>
              <a:ext cx="2328442" cy="2090057"/>
            </a:xfrm>
            <a:prstGeom prst="rect">
              <a:avLst/>
            </a:prstGeom>
            <a:noFill/>
            <a:ln>
              <a:noFill/>
            </a:ln>
          </p:spPr>
        </p:pic>
      </p:grpSp>
      <p:pic>
        <p:nvPicPr>
          <p:cNvPr id="357" name="Google Shape;357;p38"/>
          <p:cNvPicPr preferRelativeResize="0"/>
          <p:nvPr/>
        </p:nvPicPr>
        <p:blipFill rotWithShape="1">
          <a:blip r:embed="rId5">
            <a:alphaModFix/>
          </a:blip>
          <a:srcRect b="0" l="0" r="0" t="0"/>
          <a:stretch/>
        </p:blipFill>
        <p:spPr>
          <a:xfrm>
            <a:off x="6103048" y="2838787"/>
            <a:ext cx="5484251" cy="12667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39"/>
          <p:cNvSpPr txBox="1"/>
          <p:nvPr/>
        </p:nvSpPr>
        <p:spPr>
          <a:xfrm>
            <a:off x="1599250" y="1317050"/>
            <a:ext cx="102660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400"/>
              </a:spcAft>
              <a:buNone/>
            </a:pPr>
            <a:r>
              <a:rPr lang="it-IT" sz="1300">
                <a:solidFill>
                  <a:schemeClr val="dk1"/>
                </a:solidFill>
                <a:latin typeface="Libre Franklin"/>
                <a:ea typeface="Libre Franklin"/>
                <a:cs typeface="Libre Franklin"/>
                <a:sym typeface="Libre Franklin"/>
              </a:rPr>
              <a:t>Energizzazione dell’induttore</a:t>
            </a:r>
            <a:endParaRPr sz="1300">
              <a:solidFill>
                <a:schemeClr val="dk1"/>
              </a:solidFill>
              <a:latin typeface="Libre Franklin"/>
              <a:ea typeface="Libre Franklin"/>
              <a:cs typeface="Libre Franklin"/>
              <a:sym typeface="Libre Franklin"/>
            </a:endParaRPr>
          </a:p>
        </p:txBody>
      </p:sp>
      <p:sp>
        <p:nvSpPr>
          <p:cNvPr id="364" name="Google Shape;364;p39"/>
          <p:cNvSpPr txBox="1"/>
          <p:nvPr/>
        </p:nvSpPr>
        <p:spPr>
          <a:xfrm>
            <a:off x="1810925" y="1822675"/>
            <a:ext cx="83961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L’induttore si oppone alle variazioni improvvise di corrente, quindi I(L1) non cambia istantaneamente. La corrente aumenta gradualmente con andamento esponenziale:</a:t>
            </a:r>
            <a:endParaRPr sz="1300">
              <a:latin typeface="Libre Franklin"/>
              <a:ea typeface="Libre Franklin"/>
              <a:cs typeface="Libre Franklin"/>
              <a:sym typeface="Libre Franklin"/>
            </a:endParaRPr>
          </a:p>
        </p:txBody>
      </p:sp>
      <p:pic>
        <p:nvPicPr>
          <p:cNvPr id="365" name="Google Shape;365;p39"/>
          <p:cNvPicPr preferRelativeResize="0"/>
          <p:nvPr/>
        </p:nvPicPr>
        <p:blipFill>
          <a:blip r:embed="rId3">
            <a:alphaModFix/>
          </a:blip>
          <a:stretch>
            <a:fillRect/>
          </a:stretch>
        </p:blipFill>
        <p:spPr>
          <a:xfrm>
            <a:off x="4913600" y="2607125"/>
            <a:ext cx="2190750" cy="400050"/>
          </a:xfrm>
          <a:prstGeom prst="rect">
            <a:avLst/>
          </a:prstGeom>
          <a:noFill/>
          <a:ln>
            <a:noFill/>
          </a:ln>
        </p:spPr>
      </p:pic>
      <p:sp>
        <p:nvSpPr>
          <p:cNvPr id="366" name="Google Shape;366;p39"/>
          <p:cNvSpPr txBox="1"/>
          <p:nvPr/>
        </p:nvSpPr>
        <p:spPr>
          <a:xfrm>
            <a:off x="1552200" y="3007175"/>
            <a:ext cx="10266000" cy="2176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dove </a:t>
            </a:r>
            <a:r>
              <a:rPr lang="it-IT" sz="1300">
                <a:solidFill>
                  <a:schemeClr val="dk1"/>
                </a:solidFill>
                <a:latin typeface="Libre Franklin"/>
                <a:ea typeface="Libre Franklin"/>
                <a:cs typeface="Libre Franklin"/>
                <a:sym typeface="Libre Franklin"/>
              </a:rPr>
              <a:t>Ii</a:t>
            </a:r>
            <a:r>
              <a:rPr lang="it-IT" sz="1300">
                <a:solidFill>
                  <a:schemeClr val="dk1"/>
                </a:solidFill>
                <a:latin typeface="Libre Franklin"/>
                <a:ea typeface="Libre Franklin"/>
                <a:cs typeface="Libre Franklin"/>
                <a:sym typeface="Libre Franklin"/>
              </a:rPr>
              <a:t> è il valore iniziale, If  il valore finale e τ è la costante di tempo del circuito.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la curva blu sale rapidamente all’inizio e poi rallenta, avvicinandosi al nuovo valore positivo.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400"/>
              </a:spcBef>
              <a:spcAft>
                <a:spcPts val="0"/>
              </a:spcAft>
              <a:buNone/>
            </a:pPr>
            <a:r>
              <a:rPr lang="it-IT" sz="1300">
                <a:solidFill>
                  <a:schemeClr val="dk1"/>
                </a:solidFill>
                <a:latin typeface="Libre Franklin"/>
                <a:ea typeface="Libre Franklin"/>
                <a:cs typeface="Libre Franklin"/>
                <a:sym typeface="Libre Franklin"/>
              </a:rPr>
              <a:t>De-energizzazione dell’induttore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Quando Vin passa da +1 V a -1 V, l’induttore entra nella fase opposta. La corrente I(L1) non si inverte istantaneamente, ma diminuisce gradualmente e si porta verso il nuovo valore negativo.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Anche in questo caso l’andamento è esponenziale:</a:t>
            </a:r>
            <a:endParaRPr sz="1300">
              <a:solidFill>
                <a:schemeClr val="dk1"/>
              </a:solidFill>
              <a:latin typeface="Libre Franklin"/>
              <a:ea typeface="Libre Franklin"/>
              <a:cs typeface="Libre Franklin"/>
              <a:sym typeface="Libre Franklin"/>
            </a:endParaRPr>
          </a:p>
        </p:txBody>
      </p:sp>
      <p:pic>
        <p:nvPicPr>
          <p:cNvPr id="367" name="Google Shape;367;p39"/>
          <p:cNvPicPr preferRelativeResize="0"/>
          <p:nvPr/>
        </p:nvPicPr>
        <p:blipFill>
          <a:blip r:embed="rId3">
            <a:alphaModFix/>
          </a:blip>
          <a:stretch>
            <a:fillRect/>
          </a:stretch>
        </p:blipFill>
        <p:spPr>
          <a:xfrm>
            <a:off x="5054225" y="5240725"/>
            <a:ext cx="2190750" cy="400050"/>
          </a:xfrm>
          <a:prstGeom prst="rect">
            <a:avLst/>
          </a:prstGeom>
          <a:noFill/>
          <a:ln>
            <a:noFill/>
          </a:ln>
        </p:spPr>
      </p:pic>
      <p:sp>
        <p:nvSpPr>
          <p:cNvPr id="368" name="Google Shape;368;p39"/>
          <p:cNvSpPr txBox="1"/>
          <p:nvPr/>
        </p:nvSpPr>
        <p:spPr>
          <a:xfrm>
            <a:off x="1646300" y="5783475"/>
            <a:ext cx="100776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Nel grafico la curva blu scende subito dopo il fronte di discesa della curva rossa, ma lo fa in modo progressivo, non istantaneo.</a:t>
            </a:r>
            <a:endParaRPr sz="1300">
              <a:latin typeface="Libre Franklin"/>
              <a:ea typeface="Libre Franklin"/>
              <a:cs typeface="Libre Franklin"/>
              <a:sym typeface="Libre Franklin"/>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3" name="Shape 373"/>
        <p:cNvGrpSpPr/>
        <p:nvPr/>
      </p:nvGrpSpPr>
      <p:grpSpPr>
        <a:xfrm>
          <a:off x="0" y="0"/>
          <a:ext cx="0" cy="0"/>
          <a:chOff x="0" y="0"/>
          <a:chExt cx="0" cy="0"/>
        </a:xfrm>
      </p:grpSpPr>
      <p:sp>
        <p:nvSpPr>
          <p:cNvPr id="374" name="Google Shape;374;p40"/>
          <p:cNvSpPr txBox="1"/>
          <p:nvPr/>
        </p:nvSpPr>
        <p:spPr>
          <a:xfrm>
            <a:off x="820800" y="1458150"/>
            <a:ext cx="10903200" cy="2227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latin typeface="Libre Franklin"/>
                <a:ea typeface="Libre Franklin"/>
                <a:cs typeface="Libre Franklin"/>
                <a:sym typeface="Libre Franklin"/>
              </a:rPr>
              <a:t>Conclusione</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comportamento dell’induttore è analogo a quello del condensatore per quanto riguarda l’accumulo e il rilascio di energia.</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condensatore si carica accumulando energia nel campo elettrico e si scarica rilasciandola nel circuito. Allo stesso modo, l’induttore si energizza accumulando energia nel campo magnetico e si de-energizza rilasciandola gradualmente.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entrambi i casi, la variazione non è istantanea ma avviene con andamento esponenziale: il condensatore si oppone alle variazioni brusche di tensione, mentre l’induttore si oppone alle variazioni brusche di corrente. Quindi entrambi mostrano una risposta transitoria governata dalla propria costante di tempo.</a:t>
            </a:r>
            <a:endParaRPr sz="1300">
              <a:solidFill>
                <a:schemeClr val="dk1"/>
              </a:solidFill>
              <a:latin typeface="Libre Franklin"/>
              <a:ea typeface="Libre Franklin"/>
              <a:cs typeface="Libre Franklin"/>
              <a:sym typeface="Libre Franklin"/>
            </a:endParaRPr>
          </a:p>
        </p:txBody>
      </p:sp>
      <p:pic>
        <p:nvPicPr>
          <p:cNvPr id="375" name="Google Shape;375;p40"/>
          <p:cNvPicPr preferRelativeResize="0"/>
          <p:nvPr/>
        </p:nvPicPr>
        <p:blipFill rotWithShape="1">
          <a:blip r:embed="rId3">
            <a:alphaModFix/>
          </a:blip>
          <a:srcRect b="0" l="0" r="0" t="0"/>
          <a:stretch/>
        </p:blipFill>
        <p:spPr>
          <a:xfrm>
            <a:off x="1868430" y="3685350"/>
            <a:ext cx="5749220" cy="1327925"/>
          </a:xfrm>
          <a:prstGeom prst="rect">
            <a:avLst/>
          </a:prstGeom>
          <a:noFill/>
          <a:ln>
            <a:noFill/>
          </a:ln>
        </p:spPr>
      </p:pic>
      <p:pic>
        <p:nvPicPr>
          <p:cNvPr id="376" name="Google Shape;376;p40"/>
          <p:cNvPicPr preferRelativeResize="0"/>
          <p:nvPr/>
        </p:nvPicPr>
        <p:blipFill rotWithShape="1">
          <a:blip r:embed="rId4">
            <a:alphaModFix/>
          </a:blip>
          <a:srcRect b="0" l="0" r="0" t="0"/>
          <a:stretch/>
        </p:blipFill>
        <p:spPr>
          <a:xfrm>
            <a:off x="1952023" y="5249437"/>
            <a:ext cx="5484251" cy="1266700"/>
          </a:xfrm>
          <a:prstGeom prst="rect">
            <a:avLst/>
          </a:prstGeom>
          <a:noFill/>
          <a:ln>
            <a:noFill/>
          </a:ln>
        </p:spPr>
      </p:pic>
      <p:sp>
        <p:nvSpPr>
          <p:cNvPr id="377" name="Google Shape;377;p40"/>
          <p:cNvSpPr txBox="1"/>
          <p:nvPr/>
        </p:nvSpPr>
        <p:spPr>
          <a:xfrm>
            <a:off x="8019825" y="4265225"/>
            <a:ext cx="1693200" cy="67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800">
                <a:solidFill>
                  <a:schemeClr val="dk1"/>
                </a:solidFill>
                <a:latin typeface="Open Sans"/>
                <a:ea typeface="Open Sans"/>
                <a:cs typeface="Open Sans"/>
                <a:sym typeface="Open Sans"/>
              </a:rPr>
              <a:t>RC</a:t>
            </a:r>
            <a:endParaRPr sz="2800">
              <a:solidFill>
                <a:schemeClr val="dk1"/>
              </a:solidFill>
              <a:latin typeface="Open Sans"/>
              <a:ea typeface="Open Sans"/>
              <a:cs typeface="Open Sans"/>
              <a:sym typeface="Open Sans"/>
            </a:endParaRPr>
          </a:p>
        </p:txBody>
      </p:sp>
      <p:sp>
        <p:nvSpPr>
          <p:cNvPr id="378" name="Google Shape;378;p40"/>
          <p:cNvSpPr txBox="1"/>
          <p:nvPr/>
        </p:nvSpPr>
        <p:spPr>
          <a:xfrm>
            <a:off x="7866475" y="5452425"/>
            <a:ext cx="1693200" cy="67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800">
                <a:solidFill>
                  <a:schemeClr val="dk1"/>
                </a:solidFill>
                <a:latin typeface="Open Sans"/>
                <a:ea typeface="Open Sans"/>
                <a:cs typeface="Open Sans"/>
                <a:sym typeface="Open Sans"/>
              </a:rPr>
              <a:t>RL</a:t>
            </a:r>
            <a:endParaRPr sz="2800">
              <a:solidFill>
                <a:schemeClr val="dk1"/>
              </a:solidFill>
              <a:latin typeface="Open Sans"/>
              <a:ea typeface="Open Sans"/>
              <a:cs typeface="Open Sans"/>
              <a:sym typeface="Open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41"/>
          <p:cNvSpPr txBox="1"/>
          <p:nvPr/>
        </p:nvSpPr>
        <p:spPr>
          <a:xfrm>
            <a:off x="999500" y="1588500"/>
            <a:ext cx="10936200" cy="245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In questa slide si confronta la risposta del filtro passa-alto quando al nodo outRC vengono collegati due carichi resistivi da 10 kΩ: uno in serie e uno in parallelo verso massa.</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grafico di Bode la curva verde rappresenta V(outRC), cioè l’uscita originale del filtro. La curva rossa rappresenta V(outSerie), ottenuta con il carico in serie, mentre la curva blu rappresenta V(outParallelo), ottenuta con il carico in parallelo.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Tutte le curve mantengono il comportamento da filtro passa-alto: alle basse frequenze il segnale è attenuato, mentre alle alte frequenze il guadagno tende a 0 dB.</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carico in parallelo modifica maggiormente la risposta perché cambia la resistenza equivalente vista dal condensatore, influenzando quindi la frequenza di taglio</a:t>
            </a:r>
            <a:endParaRPr sz="1300">
              <a:solidFill>
                <a:schemeClr val="dk1"/>
              </a:solidFill>
              <a:latin typeface="Libre Franklin"/>
              <a:ea typeface="Libre Franklin"/>
              <a:cs typeface="Libre Franklin"/>
              <a:sym typeface="Libre Franklin"/>
            </a:endParaRPr>
          </a:p>
        </p:txBody>
      </p:sp>
      <p:sp>
        <p:nvSpPr>
          <p:cNvPr id="385" name="Google Shape;385;p41"/>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Confronto tra carico in serie e in parallelo</a:t>
            </a:r>
            <a:endParaRPr sz="2500">
              <a:solidFill>
                <a:srgbClr val="073763"/>
              </a:solidFill>
              <a:latin typeface="Libre Franklin SemiBold"/>
              <a:ea typeface="Libre Franklin SemiBold"/>
              <a:cs typeface="Libre Franklin SemiBold"/>
              <a:sym typeface="Libre Franklin SemiBold"/>
            </a:endParaRPr>
          </a:p>
        </p:txBody>
      </p:sp>
      <p:sp>
        <p:nvSpPr>
          <p:cNvPr id="386" name="Google Shape;386;p41"/>
          <p:cNvSpPr txBox="1"/>
          <p:nvPr/>
        </p:nvSpPr>
        <p:spPr>
          <a:xfrm>
            <a:off x="1070100" y="4221550"/>
            <a:ext cx="10254000" cy="99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Il carico in serie, invece, non scarica direttamente il nodo verso massa e quindi ha un effetto meno evidente sulla frequenza di taglio.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conclusione, il collegamento del carico è importante: un carico in parallelo altera direttamente il comportamento del filtro, mentre un carico in serie incide soprattutto sul trasferimento del segnale.</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pic>
        <p:nvPicPr>
          <p:cNvPr id="391" name="Google Shape;391;p42"/>
          <p:cNvPicPr preferRelativeResize="0"/>
          <p:nvPr/>
        </p:nvPicPr>
        <p:blipFill rotWithShape="1">
          <a:blip r:embed="rId3">
            <a:alphaModFix/>
          </a:blip>
          <a:srcRect b="0" l="0" r="0" t="0"/>
          <a:stretch/>
        </p:blipFill>
        <p:spPr>
          <a:xfrm>
            <a:off x="1046578" y="1702221"/>
            <a:ext cx="3281551" cy="3055975"/>
          </a:xfrm>
          <a:prstGeom prst="rect">
            <a:avLst/>
          </a:prstGeom>
          <a:noFill/>
          <a:ln>
            <a:noFill/>
          </a:ln>
        </p:spPr>
      </p:pic>
      <p:pic>
        <p:nvPicPr>
          <p:cNvPr id="392" name="Google Shape;392;p42"/>
          <p:cNvPicPr preferRelativeResize="0"/>
          <p:nvPr/>
        </p:nvPicPr>
        <p:blipFill rotWithShape="1">
          <a:blip r:embed="rId4">
            <a:alphaModFix/>
          </a:blip>
          <a:srcRect b="0" l="0" r="0" t="0"/>
          <a:stretch/>
        </p:blipFill>
        <p:spPr>
          <a:xfrm>
            <a:off x="4685642" y="1702225"/>
            <a:ext cx="7385254" cy="361946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43"/>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Condensatore reale con parassiti</a:t>
            </a:r>
            <a:endParaRPr sz="2500">
              <a:solidFill>
                <a:srgbClr val="073763"/>
              </a:solidFill>
              <a:latin typeface="Libre Franklin SemiBold"/>
              <a:ea typeface="Libre Franklin SemiBold"/>
              <a:cs typeface="Libre Franklin SemiBold"/>
              <a:sym typeface="Libre Franklin SemiBold"/>
            </a:endParaRPr>
          </a:p>
        </p:txBody>
      </p:sp>
      <p:sp>
        <p:nvSpPr>
          <p:cNvPr id="399" name="Google Shape;399;p43"/>
          <p:cNvSpPr txBox="1"/>
          <p:nvPr/>
        </p:nvSpPr>
        <p:spPr>
          <a:xfrm>
            <a:off x="764350" y="1693325"/>
            <a:ext cx="8349300" cy="1459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Nella realtà un condensatore non si comporta come un componente ideale. Oltre alla capacità nominale C = 100 nF, sono sempre presenti elementi parassiti interni, principalmente una resistenza serie equivalente e una induttanza serie equivalente.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Nell’immagine dei parametri del condensatore si vede infatti che, oltre alla capacità, vengono inseriti valori realistici come:</a:t>
            </a:r>
            <a:endParaRPr sz="1300">
              <a:latin typeface="Libre Franklin"/>
              <a:ea typeface="Libre Franklin"/>
              <a:cs typeface="Libre Franklin"/>
              <a:sym typeface="Libre Franklin"/>
            </a:endParaRPr>
          </a:p>
        </p:txBody>
      </p:sp>
      <p:pic>
        <p:nvPicPr>
          <p:cNvPr id="400" name="Google Shape;400;p43"/>
          <p:cNvPicPr preferRelativeResize="0"/>
          <p:nvPr/>
        </p:nvPicPr>
        <p:blipFill>
          <a:blip r:embed="rId3">
            <a:alphaModFix/>
          </a:blip>
          <a:stretch>
            <a:fillRect/>
          </a:stretch>
        </p:blipFill>
        <p:spPr>
          <a:xfrm>
            <a:off x="3997700" y="3152525"/>
            <a:ext cx="1171575" cy="666750"/>
          </a:xfrm>
          <a:prstGeom prst="rect">
            <a:avLst/>
          </a:prstGeom>
          <a:noFill/>
          <a:ln>
            <a:noFill/>
          </a:ln>
        </p:spPr>
      </p:pic>
      <p:sp>
        <p:nvSpPr>
          <p:cNvPr id="401" name="Google Shape;401;p43"/>
          <p:cNvSpPr txBox="1"/>
          <p:nvPr/>
        </p:nvSpPr>
        <p:spPr>
          <a:xfrm>
            <a:off x="964375" y="4112925"/>
            <a:ext cx="8149200" cy="845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Questi valori rappresentano il comportamento reale di un condensatore MLCC ceramico SMD, molto usato nei filtri. Per un condensatore tipico da 100 nF X7R in package 0603 / 0805, valori realistici sono circa:</a:t>
            </a:r>
            <a:endParaRPr/>
          </a:p>
        </p:txBody>
      </p:sp>
      <p:pic>
        <p:nvPicPr>
          <p:cNvPr id="402" name="Google Shape;402;p43"/>
          <p:cNvPicPr preferRelativeResize="0"/>
          <p:nvPr/>
        </p:nvPicPr>
        <p:blipFill>
          <a:blip r:embed="rId4">
            <a:alphaModFix/>
          </a:blip>
          <a:stretch>
            <a:fillRect/>
          </a:stretch>
        </p:blipFill>
        <p:spPr>
          <a:xfrm>
            <a:off x="3759575" y="5327150"/>
            <a:ext cx="1647825" cy="695325"/>
          </a:xfrm>
          <a:prstGeom prst="rect">
            <a:avLst/>
          </a:prstGeom>
          <a:noFill/>
          <a:ln>
            <a:noFill/>
          </a:ln>
        </p:spPr>
      </p:pic>
      <p:pic>
        <p:nvPicPr>
          <p:cNvPr id="403" name="Google Shape;403;p43"/>
          <p:cNvPicPr preferRelativeResize="0"/>
          <p:nvPr/>
        </p:nvPicPr>
        <p:blipFill rotWithShape="1">
          <a:blip r:embed="rId5">
            <a:alphaModFix/>
          </a:blip>
          <a:srcRect b="0" l="0" r="0" t="0"/>
          <a:stretch/>
        </p:blipFill>
        <p:spPr>
          <a:xfrm>
            <a:off x="9161525" y="2082050"/>
            <a:ext cx="2640900" cy="30294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sp>
        <p:nvSpPr>
          <p:cNvPr id="409" name="Google Shape;409;p44"/>
          <p:cNvSpPr txBox="1"/>
          <p:nvPr/>
        </p:nvSpPr>
        <p:spPr>
          <a:xfrm>
            <a:off x="1164175" y="611475"/>
            <a:ext cx="10606800" cy="2646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500">
                <a:solidFill>
                  <a:schemeClr val="dk1"/>
                </a:solidFill>
                <a:latin typeface="Libre Franklin"/>
                <a:ea typeface="Libre Franklin"/>
                <a:cs typeface="Libre Franklin"/>
                <a:sym typeface="Libre Franklin"/>
              </a:rPr>
              <a:t>Modello equivalente</a:t>
            </a:r>
            <a:endParaRPr b="1" sz="15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Nello schema vengono confrontati due modi di rappresentare il condensatore reale.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circuito a sinistra, i parassiti sono disegnati esplicitamente in serie al condensatore: la resistenza R11 = 0.2 Ω rappresenta l’ESR, mentre l’induttanza L2 = 3 nH rappresenta l’ESL.</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circuito a destra, invece, gli stessi parassiti sono inseriti direttamente nel modello interno del condensatore C6, come mostrato nella finestra dei parametri di LTspice.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 entrambi i casi il significato fisico è lo stesso: il condensatore reale è composto da una capacità ideale più piccole componenti resistive e induttive inevitabili.</a:t>
            </a:r>
            <a:endParaRPr sz="1300">
              <a:solidFill>
                <a:schemeClr val="dk1"/>
              </a:solidFill>
              <a:latin typeface="Libre Franklin"/>
              <a:ea typeface="Libre Franklin"/>
              <a:cs typeface="Libre Franklin"/>
              <a:sym typeface="Libre Franklin"/>
            </a:endParaRPr>
          </a:p>
        </p:txBody>
      </p:sp>
      <p:pic>
        <p:nvPicPr>
          <p:cNvPr id="410" name="Google Shape;410;p44"/>
          <p:cNvPicPr preferRelativeResize="0"/>
          <p:nvPr/>
        </p:nvPicPr>
        <p:blipFill rotWithShape="1">
          <a:blip r:embed="rId3">
            <a:alphaModFix/>
          </a:blip>
          <a:srcRect b="0" l="0" r="0" t="0"/>
          <a:stretch/>
        </p:blipFill>
        <p:spPr>
          <a:xfrm>
            <a:off x="2681097" y="3453179"/>
            <a:ext cx="8455475" cy="2568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5" name="Shape 415"/>
        <p:cNvGrpSpPr/>
        <p:nvPr/>
      </p:nvGrpSpPr>
      <p:grpSpPr>
        <a:xfrm>
          <a:off x="0" y="0"/>
          <a:ext cx="0" cy="0"/>
          <a:chOff x="0" y="0"/>
          <a:chExt cx="0" cy="0"/>
        </a:xfrm>
      </p:grpSpPr>
      <p:sp>
        <p:nvSpPr>
          <p:cNvPr id="416" name="Google Shape;416;p45"/>
          <p:cNvSpPr txBox="1"/>
          <p:nvPr/>
        </p:nvSpPr>
        <p:spPr>
          <a:xfrm>
            <a:off x="1046575" y="740850"/>
            <a:ext cx="10794900" cy="2032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500">
                <a:solidFill>
                  <a:schemeClr val="dk1"/>
                </a:solidFill>
              </a:rPr>
              <a:t>Effetto risonante</a:t>
            </a:r>
            <a:endParaRPr b="1" sz="1500">
              <a:solidFill>
                <a:schemeClr val="dk1"/>
              </a:solidFill>
            </a:endParaRPr>
          </a:p>
          <a:p>
            <a:pPr indent="0" lvl="0" marL="0" rtl="0" algn="l">
              <a:lnSpc>
                <a:spcPct val="115000"/>
              </a:lnSpc>
              <a:spcBef>
                <a:spcPts val="1200"/>
              </a:spcBef>
              <a:spcAft>
                <a:spcPts val="0"/>
              </a:spcAft>
              <a:buNone/>
            </a:pPr>
            <a:r>
              <a:rPr lang="it-IT" sz="1300">
                <a:solidFill>
                  <a:schemeClr val="dk1"/>
                </a:solidFill>
              </a:rPr>
              <a:t>La presenza dell’</a:t>
            </a:r>
            <a:r>
              <a:rPr b="1" lang="it-IT" sz="1300">
                <a:solidFill>
                  <a:schemeClr val="dk1"/>
                </a:solidFill>
              </a:rPr>
              <a:t>ESL</a:t>
            </a:r>
            <a:r>
              <a:rPr lang="it-IT" sz="1300">
                <a:solidFill>
                  <a:schemeClr val="dk1"/>
                </a:solidFill>
              </a:rPr>
              <a:t> introduce un comportamento risonante. A basse frequenze il componente si comporta principalmente come un condensatore, quindi la sua impedenza diminuisce all’aumentare della frequenza.</a:t>
            </a:r>
            <a:endParaRPr sz="1300">
              <a:solidFill>
                <a:schemeClr val="dk1"/>
              </a:solidFill>
            </a:endParaRPr>
          </a:p>
          <a:p>
            <a:pPr indent="0" lvl="0" marL="0" rtl="0" algn="l">
              <a:lnSpc>
                <a:spcPct val="115000"/>
              </a:lnSpc>
              <a:spcBef>
                <a:spcPts val="1200"/>
              </a:spcBef>
              <a:spcAft>
                <a:spcPts val="0"/>
              </a:spcAft>
              <a:buNone/>
            </a:pPr>
            <a:r>
              <a:rPr lang="it-IT" sz="1300">
                <a:solidFill>
                  <a:schemeClr val="dk1"/>
                </a:solidFill>
              </a:rPr>
              <a:t>Tuttavia, arrivati alla frequenza di autorisonanza, la capacità e l’induttanza parassita si compensano. Oltre questa frequenza, il componente non si comporta più come un condensatore ideale, ma tende ad assumere un comportamento induttivo.</a:t>
            </a:r>
            <a:endParaRPr sz="1300">
              <a:solidFill>
                <a:schemeClr val="dk1"/>
              </a:solidFill>
            </a:endParaRPr>
          </a:p>
          <a:p>
            <a:pPr indent="0" lvl="0" marL="0" rtl="0" algn="l">
              <a:lnSpc>
                <a:spcPct val="115000"/>
              </a:lnSpc>
              <a:spcBef>
                <a:spcPts val="1200"/>
              </a:spcBef>
              <a:spcAft>
                <a:spcPts val="1200"/>
              </a:spcAft>
              <a:buNone/>
            </a:pPr>
            <a:r>
              <a:rPr lang="it-IT" sz="1300">
                <a:solidFill>
                  <a:schemeClr val="dk1"/>
                </a:solidFill>
              </a:rPr>
              <a:t>La frequenza di autorisonanza può essere stimata con:</a:t>
            </a:r>
            <a:endParaRPr sz="1300">
              <a:solidFill>
                <a:schemeClr val="dk1"/>
              </a:solidFill>
            </a:endParaRPr>
          </a:p>
        </p:txBody>
      </p:sp>
      <p:pic>
        <p:nvPicPr>
          <p:cNvPr id="417" name="Google Shape;417;p45"/>
          <p:cNvPicPr preferRelativeResize="0"/>
          <p:nvPr/>
        </p:nvPicPr>
        <p:blipFill>
          <a:blip r:embed="rId3">
            <a:alphaModFix/>
          </a:blip>
          <a:stretch>
            <a:fillRect/>
          </a:stretch>
        </p:blipFill>
        <p:spPr>
          <a:xfrm>
            <a:off x="5420550" y="2655300"/>
            <a:ext cx="1543050" cy="657225"/>
          </a:xfrm>
          <a:prstGeom prst="rect">
            <a:avLst/>
          </a:prstGeom>
          <a:noFill/>
          <a:ln>
            <a:noFill/>
          </a:ln>
        </p:spPr>
      </p:pic>
      <p:pic>
        <p:nvPicPr>
          <p:cNvPr id="418" name="Google Shape;418;p45"/>
          <p:cNvPicPr preferRelativeResize="0"/>
          <p:nvPr/>
        </p:nvPicPr>
        <p:blipFill rotWithShape="1">
          <a:blip r:embed="rId4">
            <a:alphaModFix/>
          </a:blip>
          <a:srcRect b="0" l="0" r="0" t="0"/>
          <a:stretch/>
        </p:blipFill>
        <p:spPr>
          <a:xfrm>
            <a:off x="2375375" y="4219475"/>
            <a:ext cx="4821299" cy="2362900"/>
          </a:xfrm>
          <a:prstGeom prst="rect">
            <a:avLst/>
          </a:prstGeom>
          <a:noFill/>
          <a:ln>
            <a:noFill/>
          </a:ln>
        </p:spPr>
      </p:pic>
      <p:sp>
        <p:nvSpPr>
          <p:cNvPr id="419" name="Google Shape;419;p45"/>
          <p:cNvSpPr txBox="1"/>
          <p:nvPr/>
        </p:nvSpPr>
        <p:spPr>
          <a:xfrm>
            <a:off x="1294425" y="3458200"/>
            <a:ext cx="106284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latin typeface="Libre Franklin"/>
                <a:ea typeface="Libre Franklin"/>
                <a:cs typeface="Libre Franklin"/>
                <a:sym typeface="Libre Franklin"/>
              </a:rPr>
              <a:t>si ottiene una risonanza nell’ordine di alcuni MHz. Questo significa che, ad alte frequenze, i parassiti diventano importanti e possono modificare la risposta del filtro.</a:t>
            </a:r>
            <a:endParaRPr sz="1300">
              <a:latin typeface="Libre Franklin"/>
              <a:ea typeface="Libre Franklin"/>
              <a:cs typeface="Libre Franklin"/>
              <a:sym typeface="Libre Frankli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sp>
        <p:nvSpPr>
          <p:cNvPr id="425" name="Google Shape;425;p46"/>
          <p:cNvSpPr txBox="1"/>
          <p:nvPr/>
        </p:nvSpPr>
        <p:spPr>
          <a:xfrm>
            <a:off x="928075" y="765275"/>
            <a:ext cx="10769700" cy="99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latin typeface="Libre Franklin"/>
                <a:ea typeface="Libre Franklin"/>
                <a:cs typeface="Libre Franklin"/>
                <a:sym typeface="Libre Franklin"/>
              </a:rPr>
              <a:t>Comportamento da filtro passa-basso dovuto ai parassiti</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modello reale, il condensatore non è più solo una capacità ideale: la presenza dell’ESL introduce un comportamento risonante. La frequenza di risonanza è:</a:t>
            </a:r>
            <a:endParaRPr sz="1300">
              <a:solidFill>
                <a:schemeClr val="dk1"/>
              </a:solidFill>
              <a:latin typeface="Libre Franklin"/>
              <a:ea typeface="Libre Franklin"/>
              <a:cs typeface="Libre Franklin"/>
              <a:sym typeface="Libre Franklin"/>
            </a:endParaRPr>
          </a:p>
        </p:txBody>
      </p:sp>
      <p:pic>
        <p:nvPicPr>
          <p:cNvPr id="426" name="Google Shape;426;p46"/>
          <p:cNvPicPr preferRelativeResize="0"/>
          <p:nvPr/>
        </p:nvPicPr>
        <p:blipFill>
          <a:blip r:embed="rId3">
            <a:alphaModFix/>
          </a:blip>
          <a:stretch>
            <a:fillRect/>
          </a:stretch>
        </p:blipFill>
        <p:spPr>
          <a:xfrm>
            <a:off x="10719450" y="1550325"/>
            <a:ext cx="1390650" cy="2590800"/>
          </a:xfrm>
          <a:prstGeom prst="rect">
            <a:avLst/>
          </a:prstGeom>
          <a:noFill/>
          <a:ln>
            <a:noFill/>
          </a:ln>
        </p:spPr>
      </p:pic>
      <p:sp>
        <p:nvSpPr>
          <p:cNvPr id="427" name="Google Shape;427;p46"/>
          <p:cNvSpPr txBox="1"/>
          <p:nvPr/>
        </p:nvSpPr>
        <p:spPr>
          <a:xfrm>
            <a:off x="968800" y="2334488"/>
            <a:ext cx="9605700" cy="99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Sotto la frequenza di risonanza, il componente si comporta prevalentemente da condensatore. In questa zona la risposta cresce e il circuito lascia passare sempre meglio il segnale.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Intorno a:</a:t>
            </a:r>
            <a:endParaRPr sz="1300">
              <a:solidFill>
                <a:schemeClr val="dk1"/>
              </a:solidFill>
              <a:latin typeface="Libre Franklin"/>
              <a:ea typeface="Libre Franklin"/>
              <a:cs typeface="Libre Franklin"/>
              <a:sym typeface="Libre Franklin"/>
            </a:endParaRPr>
          </a:p>
        </p:txBody>
      </p:sp>
      <p:pic>
        <p:nvPicPr>
          <p:cNvPr id="428" name="Google Shape;428;p46"/>
          <p:cNvPicPr preferRelativeResize="0"/>
          <p:nvPr/>
        </p:nvPicPr>
        <p:blipFill>
          <a:blip r:embed="rId4">
            <a:alphaModFix/>
          </a:blip>
          <a:stretch>
            <a:fillRect/>
          </a:stretch>
        </p:blipFill>
        <p:spPr>
          <a:xfrm>
            <a:off x="2651700" y="3009163"/>
            <a:ext cx="1409700" cy="381000"/>
          </a:xfrm>
          <a:prstGeom prst="rect">
            <a:avLst/>
          </a:prstGeom>
          <a:noFill/>
          <a:ln>
            <a:noFill/>
          </a:ln>
        </p:spPr>
      </p:pic>
      <p:sp>
        <p:nvSpPr>
          <p:cNvPr id="429" name="Google Shape;429;p46"/>
          <p:cNvSpPr txBox="1"/>
          <p:nvPr/>
        </p:nvSpPr>
        <p:spPr>
          <a:xfrm>
            <a:off x="1115325" y="3571938"/>
            <a:ext cx="88077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latin typeface="Libre Franklin"/>
                <a:ea typeface="Libre Franklin"/>
                <a:cs typeface="Libre Franklin"/>
                <a:sym typeface="Libre Franklin"/>
              </a:rPr>
              <a:t>si ha il punto di risonanza: la reattanza capacitiva e quella induttiva si compensano:</a:t>
            </a:r>
            <a:endParaRPr sz="1300">
              <a:latin typeface="Libre Franklin"/>
              <a:ea typeface="Libre Franklin"/>
              <a:cs typeface="Libre Franklin"/>
              <a:sym typeface="Libre Franklin"/>
            </a:endParaRPr>
          </a:p>
        </p:txBody>
      </p:sp>
      <p:pic>
        <p:nvPicPr>
          <p:cNvPr id="430" name="Google Shape;430;p46"/>
          <p:cNvPicPr preferRelativeResize="0"/>
          <p:nvPr/>
        </p:nvPicPr>
        <p:blipFill>
          <a:blip r:embed="rId5">
            <a:alphaModFix/>
          </a:blip>
          <a:stretch>
            <a:fillRect/>
          </a:stretch>
        </p:blipFill>
        <p:spPr>
          <a:xfrm>
            <a:off x="7918975" y="3597700"/>
            <a:ext cx="962025" cy="333375"/>
          </a:xfrm>
          <a:prstGeom prst="rect">
            <a:avLst/>
          </a:prstGeom>
          <a:noFill/>
          <a:ln>
            <a:noFill/>
          </a:ln>
        </p:spPr>
      </p:pic>
      <p:sp>
        <p:nvSpPr>
          <p:cNvPr id="431" name="Google Shape;431;p46"/>
          <p:cNvSpPr txBox="1"/>
          <p:nvPr/>
        </p:nvSpPr>
        <p:spPr>
          <a:xfrm>
            <a:off x="1856550" y="4138613"/>
            <a:ext cx="69594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latin typeface="Libre Franklin"/>
                <a:ea typeface="Libre Franklin"/>
                <a:cs typeface="Libre Franklin"/>
                <a:sym typeface="Libre Franklin"/>
              </a:rPr>
              <a:t>In questa zona la risposta raggiunge il valore massimo.</a:t>
            </a:r>
            <a:endParaRPr sz="1300">
              <a:latin typeface="Libre Franklin"/>
              <a:ea typeface="Libre Franklin"/>
              <a:cs typeface="Libre Franklin"/>
              <a:sym typeface="Libre Franklin"/>
            </a:endParaRPr>
          </a:p>
        </p:txBody>
      </p:sp>
      <p:pic>
        <p:nvPicPr>
          <p:cNvPr id="432" name="Google Shape;432;p46"/>
          <p:cNvPicPr preferRelativeResize="0"/>
          <p:nvPr/>
        </p:nvPicPr>
        <p:blipFill rotWithShape="1">
          <a:blip r:embed="rId6">
            <a:alphaModFix/>
          </a:blip>
          <a:srcRect b="0" l="0" r="0" t="0"/>
          <a:stretch/>
        </p:blipFill>
        <p:spPr>
          <a:xfrm>
            <a:off x="7297149" y="4228826"/>
            <a:ext cx="3609398" cy="1776026"/>
          </a:xfrm>
          <a:prstGeom prst="rect">
            <a:avLst/>
          </a:prstGeom>
          <a:noFill/>
          <a:ln>
            <a:noFill/>
          </a:ln>
        </p:spPr>
      </p:pic>
      <p:sp>
        <p:nvSpPr>
          <p:cNvPr id="433" name="Google Shape;433;p46"/>
          <p:cNvSpPr txBox="1"/>
          <p:nvPr/>
        </p:nvSpPr>
        <p:spPr>
          <a:xfrm>
            <a:off x="8066900" y="4612750"/>
            <a:ext cx="2556300" cy="153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800">
                <a:solidFill>
                  <a:schemeClr val="dk1"/>
                </a:solidFill>
                <a:latin typeface="Open Sans"/>
                <a:ea typeface="Open Sans"/>
                <a:cs typeface="Open Sans"/>
                <a:sym typeface="Open Sans"/>
              </a:rPr>
              <a:t>fotoooo</a:t>
            </a:r>
            <a:endParaRPr sz="2800">
              <a:solidFill>
                <a:schemeClr val="dk1"/>
              </a:solidFill>
              <a:latin typeface="Open Sans"/>
              <a:ea typeface="Open Sans"/>
              <a:cs typeface="Open Sans"/>
              <a:sym typeface="Open San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p47"/>
          <p:cNvSpPr txBox="1"/>
          <p:nvPr/>
        </p:nvSpPr>
        <p:spPr>
          <a:xfrm>
            <a:off x="1074625" y="944350"/>
            <a:ext cx="10574400" cy="161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latin typeface="Libre Franklin"/>
                <a:ea typeface="Libre Franklin"/>
                <a:cs typeface="Libre Franklin"/>
                <a:sym typeface="Libre Franklin"/>
              </a:rPr>
              <a:t>Dopo la risonanza: effetto passa-basso</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Superata la frequenza di risonanza, domina l’induttanza parassita ESL. Il condensatore reale non si comporta più come un condensatore ideale, ma tende a comportarsi come una piccola induttanza.</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Di conseguenza, alle frequenze più alte il guadagno inizia a diminuire. Questo genera un comportamento simile a un filtro passa-basso: dopo la risonanza, le alte frequenze vengono progressivamente attenuate.</a:t>
            </a:r>
            <a:endParaRPr sz="1300">
              <a:solidFill>
                <a:schemeClr val="dk1"/>
              </a:solidFill>
              <a:latin typeface="Libre Franklin"/>
              <a:ea typeface="Libre Franklin"/>
              <a:cs typeface="Libre Franklin"/>
              <a:sym typeface="Libre Franklin"/>
            </a:endParaRPr>
          </a:p>
        </p:txBody>
      </p:sp>
      <p:pic>
        <p:nvPicPr>
          <p:cNvPr id="440" name="Google Shape;440;p47"/>
          <p:cNvPicPr preferRelativeResize="0"/>
          <p:nvPr/>
        </p:nvPicPr>
        <p:blipFill rotWithShape="1">
          <a:blip r:embed="rId3">
            <a:alphaModFix/>
          </a:blip>
          <a:srcRect b="0" l="0" r="0" t="0"/>
          <a:stretch/>
        </p:blipFill>
        <p:spPr>
          <a:xfrm>
            <a:off x="3059225" y="2916925"/>
            <a:ext cx="4821299" cy="236290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sp>
        <p:nvSpPr>
          <p:cNvPr id="446" name="Google Shape;446;p48"/>
          <p:cNvSpPr txBox="1"/>
          <p:nvPr/>
        </p:nvSpPr>
        <p:spPr>
          <a:xfrm>
            <a:off x="1278125" y="521025"/>
            <a:ext cx="10370700" cy="1383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latin typeface="Libre Franklin"/>
                <a:ea typeface="Libre Franklin"/>
                <a:cs typeface="Libre Franklin"/>
                <a:sym typeface="Libre Franklin"/>
              </a:rPr>
              <a:t>Effetto di R: cambia Fc, ma non cambia Fr</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 circuito reale il condensatore non è ideale: oltre alla capacità C = 100 nF, sono presenti i parassiti ESR = 0,2 Ω ed ESL = 3 nH. Questi parassiti introducono una frequenza di risonanza propria del componente.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taglio del filtro passa-alto dipende dalla resistenza del circuito:</a:t>
            </a:r>
            <a:endParaRPr sz="1300">
              <a:solidFill>
                <a:schemeClr val="dk1"/>
              </a:solidFill>
              <a:latin typeface="Libre Franklin"/>
              <a:ea typeface="Libre Franklin"/>
              <a:cs typeface="Libre Franklin"/>
              <a:sym typeface="Libre Franklin"/>
            </a:endParaRPr>
          </a:p>
        </p:txBody>
      </p:sp>
      <p:pic>
        <p:nvPicPr>
          <p:cNvPr id="447" name="Google Shape;447;p48"/>
          <p:cNvPicPr preferRelativeResize="0"/>
          <p:nvPr/>
        </p:nvPicPr>
        <p:blipFill>
          <a:blip r:embed="rId3">
            <a:alphaModFix/>
          </a:blip>
          <a:stretch>
            <a:fillRect/>
          </a:stretch>
        </p:blipFill>
        <p:spPr>
          <a:xfrm>
            <a:off x="7959650" y="1405125"/>
            <a:ext cx="1181100" cy="600075"/>
          </a:xfrm>
          <a:prstGeom prst="rect">
            <a:avLst/>
          </a:prstGeom>
          <a:noFill/>
          <a:ln>
            <a:noFill/>
          </a:ln>
        </p:spPr>
      </p:pic>
      <p:sp>
        <p:nvSpPr>
          <p:cNvPr id="448" name="Google Shape;448;p48"/>
          <p:cNvSpPr txBox="1"/>
          <p:nvPr/>
        </p:nvSpPr>
        <p:spPr>
          <a:xfrm>
            <a:off x="1628200" y="2344625"/>
            <a:ext cx="10094100" cy="1152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Quindi, cambiando R, cambia il prodotto RC e di conseguenza si sposta la frequenza di taglio. Se R aumenta, Fc diminuisce; </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se R diminuisce, Fc  aumenta. Questo spiega lo spostamento laterale della parte iniziale della curva di Bode.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frequenza di risonanza, invece, dipende principalmente dalla capacità C e dall’induttanza parassita ESL:</a:t>
            </a:r>
            <a:endParaRPr sz="1300">
              <a:solidFill>
                <a:schemeClr val="dk1"/>
              </a:solidFill>
              <a:latin typeface="Libre Franklin"/>
              <a:ea typeface="Libre Franklin"/>
              <a:cs typeface="Libre Franklin"/>
              <a:sym typeface="Libre Franklin"/>
            </a:endParaRPr>
          </a:p>
        </p:txBody>
      </p:sp>
      <p:pic>
        <p:nvPicPr>
          <p:cNvPr id="449" name="Google Shape;449;p48"/>
          <p:cNvPicPr preferRelativeResize="0"/>
          <p:nvPr/>
        </p:nvPicPr>
        <p:blipFill>
          <a:blip r:embed="rId4">
            <a:alphaModFix/>
          </a:blip>
          <a:stretch>
            <a:fillRect/>
          </a:stretch>
        </p:blipFill>
        <p:spPr>
          <a:xfrm>
            <a:off x="10174025" y="3071925"/>
            <a:ext cx="1200150" cy="476250"/>
          </a:xfrm>
          <a:prstGeom prst="rect">
            <a:avLst/>
          </a:prstGeom>
          <a:noFill/>
          <a:ln>
            <a:noFill/>
          </a:ln>
        </p:spPr>
      </p:pic>
      <p:pic>
        <p:nvPicPr>
          <p:cNvPr id="450" name="Google Shape;450;p48"/>
          <p:cNvPicPr preferRelativeResize="0"/>
          <p:nvPr/>
        </p:nvPicPr>
        <p:blipFill rotWithShape="1">
          <a:blip r:embed="rId5">
            <a:alphaModFix/>
          </a:blip>
          <a:srcRect b="0" l="0" r="0" t="0"/>
          <a:stretch/>
        </p:blipFill>
        <p:spPr>
          <a:xfrm>
            <a:off x="3457499" y="3619525"/>
            <a:ext cx="5528573" cy="270952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5" name="Shape 455"/>
        <p:cNvGrpSpPr/>
        <p:nvPr/>
      </p:nvGrpSpPr>
      <p:grpSpPr>
        <a:xfrm>
          <a:off x="0" y="0"/>
          <a:ext cx="0" cy="0"/>
          <a:chOff x="0" y="0"/>
          <a:chExt cx="0" cy="0"/>
        </a:xfrm>
      </p:grpSpPr>
      <p:sp>
        <p:nvSpPr>
          <p:cNvPr id="456" name="Google Shape;456;p49"/>
          <p:cNvSpPr txBox="1"/>
          <p:nvPr/>
        </p:nvSpPr>
        <p:spPr>
          <a:xfrm>
            <a:off x="2161450" y="1994550"/>
            <a:ext cx="8734500" cy="245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it-IT" sz="1300">
                <a:solidFill>
                  <a:schemeClr val="dk1"/>
                </a:solidFill>
                <a:latin typeface="Libre Franklin"/>
                <a:ea typeface="Libre Franklin"/>
                <a:cs typeface="Libre Franklin"/>
                <a:sym typeface="Libre Franklin"/>
              </a:rPr>
              <a:t>Conclusioni:</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Poiché cambiando R non vengono modificati né C né ESL, la frequenza di risonanza rimane praticamente nella stessa posizione. Cambia la forma della curva e cambia la frequenza di taglio, ma il punto in cui il condensatore entra in risonanza resta fissato dal componente reale.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grafico si vede quindi che la parte passa-alto si sposta con R, mentre la caduta ad alta frequenza dovuta alla risonanza/parassiti resta centrata circa nella stessa zona. In sintesi: R regola fcf_cfc​, mentre C ed ESL fissano frf_rfr​.</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1" name="Shape 461"/>
        <p:cNvGrpSpPr/>
        <p:nvPr/>
      </p:nvGrpSpPr>
      <p:grpSpPr>
        <a:xfrm>
          <a:off x="0" y="0"/>
          <a:ext cx="0" cy="0"/>
          <a:chOff x="0" y="0"/>
          <a:chExt cx="0" cy="0"/>
        </a:xfrm>
      </p:grpSpPr>
      <p:sp>
        <p:nvSpPr>
          <p:cNvPr id="462" name="Google Shape;462;p50"/>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Dal filtro HP passivo al filtro HP attivo ideale</a:t>
            </a:r>
            <a:endParaRPr sz="2500">
              <a:solidFill>
                <a:srgbClr val="073763"/>
              </a:solidFill>
              <a:latin typeface="Libre Franklin SemiBold"/>
              <a:ea typeface="Libre Franklin SemiBold"/>
              <a:cs typeface="Libre Franklin SemiBold"/>
              <a:sym typeface="Libre Franklin SemiBold"/>
            </a:endParaRPr>
          </a:p>
        </p:txBody>
      </p:sp>
      <p:sp>
        <p:nvSpPr>
          <p:cNvPr id="463" name="Google Shape;463;p50"/>
          <p:cNvSpPr txBox="1"/>
          <p:nvPr/>
        </p:nvSpPr>
        <p:spPr>
          <a:xfrm>
            <a:off x="1424675" y="1514225"/>
            <a:ext cx="10549800" cy="99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Dopo aver concluso l’analisi del filtro passa-alto passivo, passiamo ora allo studio del filtro passa-alto attivo con operazionale ideale.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Nel filtro passivo abbiamo visto che il comportamento principale dipende dalla rete RC: il condensatore blocca le basse frequenze e lascia passare progressivamente le alte frequenze. La frequenza di taglio è determinata dalla relazione:</a:t>
            </a:r>
            <a:endParaRPr sz="1300">
              <a:solidFill>
                <a:schemeClr val="dk1"/>
              </a:solidFill>
              <a:latin typeface="Libre Franklin"/>
              <a:ea typeface="Libre Franklin"/>
              <a:cs typeface="Libre Franklin"/>
              <a:sym typeface="Libre Franklin"/>
            </a:endParaRPr>
          </a:p>
        </p:txBody>
      </p:sp>
      <p:pic>
        <p:nvPicPr>
          <p:cNvPr id="464" name="Google Shape;464;p50"/>
          <p:cNvPicPr preferRelativeResize="0"/>
          <p:nvPr/>
        </p:nvPicPr>
        <p:blipFill>
          <a:blip r:embed="rId3">
            <a:alphaModFix/>
          </a:blip>
          <a:stretch>
            <a:fillRect/>
          </a:stretch>
        </p:blipFill>
        <p:spPr>
          <a:xfrm>
            <a:off x="5883675" y="2618150"/>
            <a:ext cx="1181100" cy="600075"/>
          </a:xfrm>
          <a:prstGeom prst="rect">
            <a:avLst/>
          </a:prstGeom>
          <a:noFill/>
          <a:ln>
            <a:noFill/>
          </a:ln>
        </p:spPr>
      </p:pic>
      <p:sp>
        <p:nvSpPr>
          <p:cNvPr id="465" name="Google Shape;465;p50"/>
          <p:cNvSpPr txBox="1"/>
          <p:nvPr/>
        </p:nvSpPr>
        <p:spPr>
          <a:xfrm>
            <a:off x="1660750" y="3393900"/>
            <a:ext cx="9801000" cy="2303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Questo concetto rimane valido anche nel filtro attivo, perché la parte selettiva del circuito è ancora basata sul prodotto RC.</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La differenza principale è che nel filtro attivo viene introdotto un amplificatore operazionale, che permette non solo di filtrare il segnale, ma anche di controllarne il guadagno. Quindi, mentre il filtro passivo può solo attenuare o al massimo arrivare a un guadagno unitario, il filtro attivo può fornire anche amplificazione.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Ritroveremo quindi gli stessi concetti già osservati nel passivo: frequenza di taglio, andamento del Bode, effetto della variazione di R e C, risposta transitoria e influenza dei componenti reali. La differenza è che ora il comportamento del filtro sarà combinato con l’azione dell’operazionale, che migliora il controllo del segnale e permette una risposta più adatta alle applicazioni pratiche.</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9" name="Shape 469"/>
        <p:cNvGrpSpPr/>
        <p:nvPr/>
      </p:nvGrpSpPr>
      <p:grpSpPr>
        <a:xfrm>
          <a:off x="0" y="0"/>
          <a:ext cx="0" cy="0"/>
          <a:chOff x="0" y="0"/>
          <a:chExt cx="0" cy="0"/>
        </a:xfrm>
      </p:grpSpPr>
      <p:sp>
        <p:nvSpPr>
          <p:cNvPr id="470" name="Google Shape;470;p51"/>
          <p:cNvSpPr txBox="1"/>
          <p:nvPr/>
        </p:nvSpPr>
        <p:spPr>
          <a:xfrm>
            <a:off x="1147050" y="411999"/>
            <a:ext cx="6946200" cy="1569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9600">
                <a:solidFill>
                  <a:schemeClr val="dk1"/>
                </a:solidFill>
                <a:latin typeface="Open Sans"/>
                <a:ea typeface="Open Sans"/>
                <a:cs typeface="Open Sans"/>
                <a:sym typeface="Open Sans"/>
              </a:rPr>
              <a:t>IDEALE</a:t>
            </a:r>
            <a:endParaRPr sz="9600"/>
          </a:p>
        </p:txBody>
      </p:sp>
      <p:sp>
        <p:nvSpPr>
          <p:cNvPr id="471" name="Google Shape;471;p51"/>
          <p:cNvSpPr txBox="1"/>
          <p:nvPr/>
        </p:nvSpPr>
        <p:spPr>
          <a:xfrm>
            <a:off x="1408400" y="2149225"/>
            <a:ext cx="10151100" cy="1229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Prima di analizzare il filtro passa-alto attivo, è utile richiamare il comportamento generale dell’amplificatore operazionale ideale. L’opamp confronta la tensione presente all’ingresso non invertente (+) con quella presente all’ingresso invertente (−) e genera una tensione di uscita Vout. </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t/>
            </a:r>
            <a:endParaRPr sz="1300">
              <a:solidFill>
                <a:schemeClr val="dk1"/>
              </a:solidFill>
              <a:latin typeface="Libre Franklin"/>
              <a:ea typeface="Libre Franklin"/>
              <a:cs typeface="Libre Franklin"/>
              <a:sym typeface="Libre Franklin"/>
            </a:endParaRPr>
          </a:p>
        </p:txBody>
      </p:sp>
      <p:pic>
        <p:nvPicPr>
          <p:cNvPr id="472" name="Google Shape;472;p51"/>
          <p:cNvPicPr preferRelativeResize="0"/>
          <p:nvPr/>
        </p:nvPicPr>
        <p:blipFill rotWithShape="1">
          <a:blip r:embed="rId3">
            <a:alphaModFix/>
          </a:blip>
          <a:srcRect b="0" l="0" r="0" t="0"/>
          <a:stretch/>
        </p:blipFill>
        <p:spPr>
          <a:xfrm>
            <a:off x="1481025" y="3152050"/>
            <a:ext cx="1937350" cy="2975225"/>
          </a:xfrm>
          <a:prstGeom prst="rect">
            <a:avLst/>
          </a:prstGeom>
          <a:noFill/>
          <a:ln>
            <a:noFill/>
          </a:ln>
        </p:spPr>
      </p:pic>
      <p:pic>
        <p:nvPicPr>
          <p:cNvPr id="473" name="Google Shape;473;p51"/>
          <p:cNvPicPr preferRelativeResize="0"/>
          <p:nvPr/>
        </p:nvPicPr>
        <p:blipFill rotWithShape="1">
          <a:blip r:embed="rId4">
            <a:alphaModFix/>
          </a:blip>
          <a:srcRect b="30512" l="0" r="67542" t="0"/>
          <a:stretch/>
        </p:blipFill>
        <p:spPr>
          <a:xfrm>
            <a:off x="3719850" y="3152050"/>
            <a:ext cx="1800611" cy="2748950"/>
          </a:xfrm>
          <a:prstGeom prst="rect">
            <a:avLst/>
          </a:prstGeom>
          <a:noFill/>
          <a:ln>
            <a:noFill/>
          </a:ln>
        </p:spPr>
      </p:pic>
      <p:sp>
        <p:nvSpPr>
          <p:cNvPr id="474" name="Google Shape;474;p51"/>
          <p:cNvSpPr txBox="1"/>
          <p:nvPr/>
        </p:nvSpPr>
        <p:spPr>
          <a:xfrm>
            <a:off x="5788275" y="3036600"/>
            <a:ext cx="6251400" cy="1286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L’operazionale utilizzato è impostato come </a:t>
            </a:r>
            <a:r>
              <a:rPr b="1" lang="it-IT" sz="1100">
                <a:solidFill>
                  <a:schemeClr val="dk1"/>
                </a:solidFill>
              </a:rPr>
              <a:t>opamp ideale</a:t>
            </a:r>
            <a:r>
              <a:rPr lang="it-IT" sz="1100">
                <a:solidFill>
                  <a:schemeClr val="dk1"/>
                </a:solidFill>
              </a:rPr>
              <a:t>, cioè un componente che si avvicina al comportamento teorico: amplifica la differenza tra ingresso non invertente (+) e ingresso invertente (−), senza introdurre limiti significativi nella simulazione.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Nella finestra dei parametri sono stati usati valori molto elevati, come </a:t>
            </a:r>
            <a:r>
              <a:rPr b="1" lang="it-IT" sz="1100">
                <a:solidFill>
                  <a:schemeClr val="dk1"/>
                </a:solidFill>
              </a:rPr>
              <a:t>Avol = 1T</a:t>
            </a:r>
            <a:r>
              <a:rPr lang="it-IT" sz="1100">
                <a:solidFill>
                  <a:schemeClr val="dk1"/>
                </a:solidFill>
              </a:rPr>
              <a:t>, </a:t>
            </a:r>
            <a:r>
              <a:rPr b="1" lang="it-IT" sz="1100">
                <a:solidFill>
                  <a:schemeClr val="dk1"/>
                </a:solidFill>
              </a:rPr>
              <a:t>GBW = 1T</a:t>
            </a:r>
            <a:r>
              <a:rPr lang="it-IT" sz="1100">
                <a:solidFill>
                  <a:schemeClr val="dk1"/>
                </a:solidFill>
              </a:rPr>
              <a:t>, </a:t>
            </a:r>
            <a:r>
              <a:rPr b="1" lang="it-IT" sz="1100">
                <a:solidFill>
                  <a:schemeClr val="dk1"/>
                </a:solidFill>
              </a:rPr>
              <a:t>Slew = 1T</a:t>
            </a:r>
            <a:r>
              <a:rPr lang="it-IT" sz="1100">
                <a:solidFill>
                  <a:schemeClr val="dk1"/>
                </a:solidFill>
              </a:rPr>
              <a:t> e </a:t>
            </a:r>
            <a:r>
              <a:rPr b="1" lang="it-IT" sz="1100">
                <a:solidFill>
                  <a:schemeClr val="dk1"/>
                </a:solidFill>
              </a:rPr>
              <a:t>Rin = 1T</a:t>
            </a:r>
            <a:r>
              <a:rPr lang="it-IT" sz="1100">
                <a:solidFill>
                  <a:schemeClr val="dk1"/>
                </a:solidFill>
              </a:rPr>
              <a:t>. Questi valori servono a rendere quasi ideali le caratteristiche principali dell’opamp:</a:t>
            </a:r>
            <a:endParaRPr sz="1100">
              <a:solidFill>
                <a:schemeClr val="dk1"/>
              </a:solidFill>
            </a:endParaRPr>
          </a:p>
        </p:txBody>
      </p:sp>
      <p:pic>
        <p:nvPicPr>
          <p:cNvPr id="475" name="Google Shape;475;p51"/>
          <p:cNvPicPr preferRelativeResize="0"/>
          <p:nvPr/>
        </p:nvPicPr>
        <p:blipFill>
          <a:blip r:embed="rId5">
            <a:alphaModFix/>
          </a:blip>
          <a:stretch>
            <a:fillRect/>
          </a:stretch>
        </p:blipFill>
        <p:spPr>
          <a:xfrm>
            <a:off x="5925236" y="4605950"/>
            <a:ext cx="1009650" cy="1066800"/>
          </a:xfrm>
          <a:prstGeom prst="rect">
            <a:avLst/>
          </a:prstGeom>
          <a:noFill/>
          <a:ln>
            <a:noFill/>
          </a:ln>
        </p:spPr>
      </p:pic>
      <p:sp>
        <p:nvSpPr>
          <p:cNvPr id="476" name="Google Shape;476;p51"/>
          <p:cNvSpPr txBox="1"/>
          <p:nvPr/>
        </p:nvSpPr>
        <p:spPr>
          <a:xfrm>
            <a:off x="7388500" y="4524550"/>
            <a:ext cx="4333800" cy="1870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In questo modo l’operazionale non limita il guadagno, non carica il circuito in ingresso e non introduce ritardi o attenuazioni dovute alla banda passante.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L’obiettivo è isolare il comportamento del </a:t>
            </a:r>
            <a:r>
              <a:rPr b="1" lang="it-IT" sz="1100">
                <a:solidFill>
                  <a:schemeClr val="dk1"/>
                </a:solidFill>
              </a:rPr>
              <a:t>filtro attivo</a:t>
            </a:r>
            <a:r>
              <a:rPr lang="it-IT" sz="1100">
                <a:solidFill>
                  <a:schemeClr val="dk1"/>
                </a:solidFill>
              </a:rPr>
              <a:t> senza far intervenire gli effetti non ideali dell’opamp reale. Così la risposta osservata dipende principalmente dalla rete esterna di resistori e condensatori, cioè dalla configurazione scelta e dalla frequenza di taglio del filtro.</a:t>
            </a:r>
            <a:endParaRPr sz="1100">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1" name="Shape 481"/>
        <p:cNvGrpSpPr/>
        <p:nvPr/>
      </p:nvGrpSpPr>
      <p:grpSpPr>
        <a:xfrm>
          <a:off x="0" y="0"/>
          <a:ext cx="0" cy="0"/>
          <a:chOff x="0" y="0"/>
          <a:chExt cx="0" cy="0"/>
        </a:xfrm>
      </p:grpSpPr>
      <p:sp>
        <p:nvSpPr>
          <p:cNvPr id="482" name="Google Shape;482;p52"/>
          <p:cNvSpPr txBox="1"/>
          <p:nvPr/>
        </p:nvSpPr>
        <p:spPr>
          <a:xfrm>
            <a:off x="968800" y="1709600"/>
            <a:ext cx="11152500" cy="1292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Prima di analizzare il filtro passa-alto attivo, è utile richiamare il comportamento generale dell’amplificatore operazionale ideale. L’opamp confronta la tensione presente all’ingresso non invertente (+) con quella presente all’ingresso invertente (−) e genera una tensione di uscita Vout</a:t>
            </a:r>
            <a:endParaRPr sz="11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In condizioni ideali, con retroazione negativa, l’opamp tende a mantenere i due ingressi alla stessa tensione:</a:t>
            </a:r>
            <a:endParaRPr sz="1100">
              <a:solidFill>
                <a:schemeClr val="dk1"/>
              </a:solidFill>
              <a:latin typeface="Libre Franklin"/>
              <a:ea typeface="Libre Franklin"/>
              <a:cs typeface="Libre Franklin"/>
              <a:sym typeface="Libre Franklin"/>
            </a:endParaRPr>
          </a:p>
          <a:p>
            <a:pPr indent="0" lvl="0" marL="0" rtl="0" algn="l">
              <a:spcBef>
                <a:spcPts val="1200"/>
              </a:spcBef>
              <a:spcAft>
                <a:spcPts val="0"/>
              </a:spcAft>
              <a:buNone/>
            </a:pPr>
            <a:r>
              <a:t/>
            </a:r>
            <a:endParaRPr>
              <a:latin typeface="Libre Franklin"/>
              <a:ea typeface="Libre Franklin"/>
              <a:cs typeface="Libre Franklin"/>
              <a:sym typeface="Libre Franklin"/>
            </a:endParaRPr>
          </a:p>
        </p:txBody>
      </p:sp>
      <p:pic>
        <p:nvPicPr>
          <p:cNvPr id="483" name="Google Shape;483;p52"/>
          <p:cNvPicPr preferRelativeResize="0"/>
          <p:nvPr/>
        </p:nvPicPr>
        <p:blipFill>
          <a:blip r:embed="rId3">
            <a:alphaModFix/>
          </a:blip>
          <a:stretch>
            <a:fillRect/>
          </a:stretch>
        </p:blipFill>
        <p:spPr>
          <a:xfrm>
            <a:off x="8228300" y="2291150"/>
            <a:ext cx="847725" cy="352425"/>
          </a:xfrm>
          <a:prstGeom prst="rect">
            <a:avLst/>
          </a:prstGeom>
          <a:noFill/>
          <a:ln>
            <a:noFill/>
          </a:ln>
        </p:spPr>
      </p:pic>
      <p:sp>
        <p:nvSpPr>
          <p:cNvPr id="484" name="Google Shape;484;p52"/>
          <p:cNvSpPr txBox="1"/>
          <p:nvPr/>
        </p:nvSpPr>
        <p:spPr>
          <a:xfrm>
            <a:off x="1042050" y="2686525"/>
            <a:ext cx="10143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latin typeface="Libre Franklin"/>
                <a:ea typeface="Libre Franklin"/>
                <a:cs typeface="Libre Franklin"/>
                <a:sym typeface="Libre Franklin"/>
              </a:rPr>
              <a:t>Questo principio permette di costruire circuiti con guadagno controllato tramite resistenze esterne.</a:t>
            </a:r>
            <a:endParaRPr sz="1200">
              <a:latin typeface="Libre Franklin"/>
              <a:ea typeface="Libre Franklin"/>
              <a:cs typeface="Libre Franklin"/>
              <a:sym typeface="Libre Franklin"/>
            </a:endParaRPr>
          </a:p>
        </p:txBody>
      </p:sp>
      <p:sp>
        <p:nvSpPr>
          <p:cNvPr id="485" name="Google Shape;485;p52"/>
          <p:cNvSpPr txBox="1"/>
          <p:nvPr/>
        </p:nvSpPr>
        <p:spPr>
          <a:xfrm>
            <a:off x="1139750" y="3183150"/>
            <a:ext cx="109245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300">
                <a:latin typeface="Libre Franklin"/>
                <a:ea typeface="Libre Franklin"/>
                <a:cs typeface="Libre Franklin"/>
                <a:sym typeface="Libre Franklin"/>
              </a:rPr>
              <a:t>Un filtro attivo con operazionale può essere realizzato in due configurazioni principali: non invertente e invertente. </a:t>
            </a:r>
            <a:endParaRPr sz="1300">
              <a:latin typeface="Libre Franklin"/>
              <a:ea typeface="Libre Franklin"/>
              <a:cs typeface="Libre Franklin"/>
              <a:sym typeface="Libre Franklin"/>
            </a:endParaRPr>
          </a:p>
          <a:p>
            <a:pPr indent="0" lvl="0" marL="0" rtl="0" algn="l">
              <a:spcBef>
                <a:spcPts val="0"/>
              </a:spcBef>
              <a:spcAft>
                <a:spcPts val="0"/>
              </a:spcAft>
              <a:buNone/>
            </a:pPr>
            <a:r>
              <a:rPr lang="it-IT" sz="1300">
                <a:latin typeface="Libre Franklin"/>
                <a:ea typeface="Libre Franklin"/>
                <a:cs typeface="Libre Franklin"/>
                <a:sym typeface="Libre Franklin"/>
              </a:rPr>
              <a:t>In entrambi i casi la rete RC determina la frequenza di taglio, mentre l’operazionale definisce il guadagno e la fase del segnale in uscita.</a:t>
            </a:r>
            <a:endParaRPr sz="1300">
              <a:latin typeface="Libre Franklin"/>
              <a:ea typeface="Libre Franklin"/>
              <a:cs typeface="Libre Franklin"/>
              <a:sym typeface="Libre Frankli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53"/>
          <p:cNvSpPr txBox="1"/>
          <p:nvPr/>
        </p:nvSpPr>
        <p:spPr>
          <a:xfrm>
            <a:off x="1196750" y="944375"/>
            <a:ext cx="9898500" cy="1383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latin typeface="Libre Franklin"/>
                <a:ea typeface="Libre Franklin"/>
                <a:cs typeface="Libre Franklin"/>
                <a:sym typeface="Libre Franklin"/>
              </a:rPr>
              <a:t>Configurazione non invertente</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Nella configurazione non invertente, il segnale viene applicato all’ingresso (+)(+)(+). In questo caso l’uscita mantiene la stessa fase del segnale di ingresso: se VinV_{in}Vin​ aumenta, anche VoutV_{out}Vout​ aumenta.</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guadagno è:</a:t>
            </a:r>
            <a:endParaRPr sz="1300">
              <a:solidFill>
                <a:schemeClr val="dk1"/>
              </a:solidFill>
              <a:latin typeface="Libre Franklin"/>
              <a:ea typeface="Libre Franklin"/>
              <a:cs typeface="Libre Franklin"/>
              <a:sym typeface="Libre Franklin"/>
            </a:endParaRPr>
          </a:p>
        </p:txBody>
      </p:sp>
      <p:pic>
        <p:nvPicPr>
          <p:cNvPr id="492" name="Google Shape;492;p53"/>
          <p:cNvPicPr preferRelativeResize="0"/>
          <p:nvPr/>
        </p:nvPicPr>
        <p:blipFill>
          <a:blip r:embed="rId3">
            <a:alphaModFix/>
          </a:blip>
          <a:stretch>
            <a:fillRect/>
          </a:stretch>
        </p:blipFill>
        <p:spPr>
          <a:xfrm>
            <a:off x="3693750" y="2243700"/>
            <a:ext cx="1943100" cy="1685925"/>
          </a:xfrm>
          <a:prstGeom prst="rect">
            <a:avLst/>
          </a:prstGeom>
          <a:noFill/>
          <a:ln>
            <a:noFill/>
          </a:ln>
        </p:spPr>
      </p:pic>
      <p:sp>
        <p:nvSpPr>
          <p:cNvPr id="493" name="Google Shape;493;p53"/>
          <p:cNvSpPr txBox="1"/>
          <p:nvPr/>
        </p:nvSpPr>
        <p:spPr>
          <a:xfrm>
            <a:off x="2083250" y="2829825"/>
            <a:ext cx="1734000" cy="350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Quindi</a:t>
            </a:r>
            <a:endParaRPr sz="1300">
              <a:solidFill>
                <a:schemeClr val="dk1"/>
              </a:solidFill>
              <a:latin typeface="Libre Franklin"/>
              <a:ea typeface="Libre Franklin"/>
              <a:cs typeface="Libre Franklin"/>
              <a:sym typeface="Libre Franklin"/>
            </a:endParaRPr>
          </a:p>
        </p:txBody>
      </p:sp>
      <p:sp>
        <p:nvSpPr>
          <p:cNvPr id="494" name="Google Shape;494;p53"/>
          <p:cNvSpPr txBox="1"/>
          <p:nvPr/>
        </p:nvSpPr>
        <p:spPr>
          <a:xfrm>
            <a:off x="2170525" y="4081250"/>
            <a:ext cx="5131200" cy="47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Questa configurazione amplifica il segnale senza invertirlo.</a:t>
            </a:r>
            <a:endParaRPr sz="1300">
              <a:solidFill>
                <a:schemeClr val="dk1"/>
              </a:solidFill>
              <a:latin typeface="Libre Franklin"/>
              <a:ea typeface="Libre Franklin"/>
              <a:cs typeface="Libre Franklin"/>
              <a:sym typeface="Libre Franklin"/>
            </a:endParaRPr>
          </a:p>
        </p:txBody>
      </p:sp>
      <p:pic>
        <p:nvPicPr>
          <p:cNvPr id="495" name="Google Shape;495;p53"/>
          <p:cNvPicPr preferRelativeResize="0"/>
          <p:nvPr/>
        </p:nvPicPr>
        <p:blipFill>
          <a:blip r:embed="rId4">
            <a:alphaModFix/>
          </a:blip>
          <a:stretch>
            <a:fillRect/>
          </a:stretch>
        </p:blipFill>
        <p:spPr>
          <a:xfrm>
            <a:off x="7023425" y="2209800"/>
            <a:ext cx="4476900" cy="265752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0" name="Shape 500"/>
        <p:cNvGrpSpPr/>
        <p:nvPr/>
      </p:nvGrpSpPr>
      <p:grpSpPr>
        <a:xfrm>
          <a:off x="0" y="0"/>
          <a:ext cx="0" cy="0"/>
          <a:chOff x="0" y="0"/>
          <a:chExt cx="0" cy="0"/>
        </a:xfrm>
      </p:grpSpPr>
      <p:pic>
        <p:nvPicPr>
          <p:cNvPr id="501" name="Google Shape;501;p54"/>
          <p:cNvPicPr preferRelativeResize="0"/>
          <p:nvPr/>
        </p:nvPicPr>
        <p:blipFill>
          <a:blip r:embed="rId3">
            <a:alphaModFix/>
          </a:blip>
          <a:stretch>
            <a:fillRect/>
          </a:stretch>
        </p:blipFill>
        <p:spPr>
          <a:xfrm>
            <a:off x="7049275" y="2657550"/>
            <a:ext cx="4941476" cy="1992024"/>
          </a:xfrm>
          <a:prstGeom prst="rect">
            <a:avLst/>
          </a:prstGeom>
          <a:noFill/>
          <a:ln>
            <a:noFill/>
          </a:ln>
        </p:spPr>
      </p:pic>
      <p:sp>
        <p:nvSpPr>
          <p:cNvPr id="502" name="Google Shape;502;p54"/>
          <p:cNvSpPr txBox="1"/>
          <p:nvPr/>
        </p:nvSpPr>
        <p:spPr>
          <a:xfrm>
            <a:off x="1359575" y="1139750"/>
            <a:ext cx="10492800" cy="176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latin typeface="Libre Franklin"/>
                <a:ea typeface="Libre Franklin"/>
                <a:cs typeface="Libre Franklin"/>
                <a:sym typeface="Libre Franklin"/>
              </a:rPr>
              <a:t>Configurazione invertente</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Nella configurazione invertente, il segnale viene applicato all’ingresso (−)(-)(−), mentre l’ingresso (+)(+)(+) è collegato a massa o a un riferimento.</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In questo caso l’uscita è invertita di fase rispetto all’ingresso: se VinV_{in}Vin​ aumenta, VoutV_{out}Vout​ diminuisce.</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Il guadagno è:</a:t>
            </a:r>
            <a:endParaRPr sz="1300">
              <a:solidFill>
                <a:schemeClr val="dk1"/>
              </a:solidFill>
              <a:latin typeface="Libre Franklin"/>
              <a:ea typeface="Libre Franklin"/>
              <a:cs typeface="Libre Franklin"/>
              <a:sym typeface="Libre Franklin"/>
            </a:endParaRPr>
          </a:p>
        </p:txBody>
      </p:sp>
      <p:pic>
        <p:nvPicPr>
          <p:cNvPr id="503" name="Google Shape;503;p54"/>
          <p:cNvPicPr preferRelativeResize="0"/>
          <p:nvPr/>
        </p:nvPicPr>
        <p:blipFill>
          <a:blip r:embed="rId4">
            <a:alphaModFix/>
          </a:blip>
          <a:stretch>
            <a:fillRect/>
          </a:stretch>
        </p:blipFill>
        <p:spPr>
          <a:xfrm>
            <a:off x="3335550" y="3059150"/>
            <a:ext cx="1543050" cy="1552575"/>
          </a:xfrm>
          <a:prstGeom prst="rect">
            <a:avLst/>
          </a:prstGeom>
          <a:noFill/>
          <a:ln>
            <a:noFill/>
          </a:ln>
        </p:spPr>
      </p:pic>
      <p:sp>
        <p:nvSpPr>
          <p:cNvPr id="504" name="Google Shape;504;p54"/>
          <p:cNvSpPr txBox="1"/>
          <p:nvPr/>
        </p:nvSpPr>
        <p:spPr>
          <a:xfrm>
            <a:off x="1755325" y="4764125"/>
            <a:ext cx="5131200" cy="47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1300">
                <a:solidFill>
                  <a:schemeClr val="dk1"/>
                </a:solidFill>
                <a:latin typeface="Libre Franklin"/>
                <a:ea typeface="Libre Franklin"/>
                <a:cs typeface="Libre Franklin"/>
                <a:sym typeface="Libre Franklin"/>
              </a:rPr>
              <a:t>Il segno meno indica l’inversione di fase di 180°.</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sp>
        <p:nvSpPr>
          <p:cNvPr id="510" name="Google Shape;510;p55"/>
          <p:cNvSpPr txBox="1"/>
          <p:nvPr/>
        </p:nvSpPr>
        <p:spPr>
          <a:xfrm>
            <a:off x="968800" y="618700"/>
            <a:ext cx="11103600" cy="1383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latin typeface="Libre Franklin"/>
                <a:ea typeface="Libre Franklin"/>
                <a:cs typeface="Libre Franklin"/>
                <a:sym typeface="Libre Franklin"/>
              </a:rPr>
              <a:t>Configurazione attiva invertente con guadagno 2</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300">
                <a:solidFill>
                  <a:schemeClr val="dk1"/>
                </a:solidFill>
                <a:latin typeface="Libre Franklin"/>
                <a:ea typeface="Libre Franklin"/>
                <a:cs typeface="Libre Franklin"/>
                <a:sym typeface="Libre Franklin"/>
              </a:rPr>
              <a:t>Considerando l’ultima configurazione spiegata, cioè quella invertente, si realizza un filtro passa-alto attivo in cui il segnale entra sul morsetto (−) dell’operazionale, mentre il morsetto (+) è collegato a massa.</a:t>
            </a:r>
            <a:endParaRPr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300">
                <a:solidFill>
                  <a:schemeClr val="dk1"/>
                </a:solidFill>
                <a:latin typeface="Libre Franklin"/>
                <a:ea typeface="Libre Franklin"/>
                <a:cs typeface="Libre Franklin"/>
                <a:sym typeface="Libre Franklin"/>
              </a:rPr>
              <a:t>La rete C1–R1 mantiene il ruolo già visto nel filtro passivo: determina la frequenza di taglio del circuito.</a:t>
            </a:r>
            <a:endParaRPr sz="1300">
              <a:solidFill>
                <a:schemeClr val="dk1"/>
              </a:solidFill>
              <a:latin typeface="Libre Franklin"/>
              <a:ea typeface="Libre Franklin"/>
              <a:cs typeface="Libre Franklin"/>
              <a:sym typeface="Libre Franklin"/>
            </a:endParaRPr>
          </a:p>
        </p:txBody>
      </p:sp>
      <p:pic>
        <p:nvPicPr>
          <p:cNvPr id="511" name="Google Shape;511;p55"/>
          <p:cNvPicPr preferRelativeResize="0"/>
          <p:nvPr/>
        </p:nvPicPr>
        <p:blipFill>
          <a:blip r:embed="rId3">
            <a:alphaModFix/>
          </a:blip>
          <a:stretch>
            <a:fillRect/>
          </a:stretch>
        </p:blipFill>
        <p:spPr>
          <a:xfrm>
            <a:off x="9050550" y="2641275"/>
            <a:ext cx="2381250" cy="2085975"/>
          </a:xfrm>
          <a:prstGeom prst="rect">
            <a:avLst/>
          </a:prstGeom>
          <a:noFill/>
          <a:ln>
            <a:noFill/>
          </a:ln>
        </p:spPr>
      </p:pic>
      <p:pic>
        <p:nvPicPr>
          <p:cNvPr id="512" name="Google Shape;512;p55"/>
          <p:cNvPicPr preferRelativeResize="0"/>
          <p:nvPr/>
        </p:nvPicPr>
        <p:blipFill rotWithShape="1">
          <a:blip r:embed="rId4">
            <a:alphaModFix/>
          </a:blip>
          <a:srcRect b="0" l="0" r="0" t="0"/>
          <a:stretch/>
        </p:blipFill>
        <p:spPr>
          <a:xfrm>
            <a:off x="1081224" y="2209806"/>
            <a:ext cx="7487598" cy="3676501"/>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pic>
        <p:nvPicPr>
          <p:cNvPr id="518" name="Google Shape;518;p56"/>
          <p:cNvPicPr preferRelativeResize="0"/>
          <p:nvPr/>
        </p:nvPicPr>
        <p:blipFill rotWithShape="1">
          <a:blip r:embed="rId3">
            <a:alphaModFix/>
          </a:blip>
          <a:srcRect b="3334" l="5817" r="-875" t="18037"/>
          <a:stretch/>
        </p:blipFill>
        <p:spPr>
          <a:xfrm>
            <a:off x="870250" y="3700900"/>
            <a:ext cx="6122050" cy="2499301"/>
          </a:xfrm>
          <a:prstGeom prst="rect">
            <a:avLst/>
          </a:prstGeom>
          <a:noFill/>
          <a:ln>
            <a:noFill/>
          </a:ln>
        </p:spPr>
      </p:pic>
      <p:pic>
        <p:nvPicPr>
          <p:cNvPr id="519" name="Google Shape;519;p56"/>
          <p:cNvPicPr preferRelativeResize="0"/>
          <p:nvPr/>
        </p:nvPicPr>
        <p:blipFill rotWithShape="1">
          <a:blip r:embed="rId4">
            <a:alphaModFix/>
          </a:blip>
          <a:srcRect b="0" l="0" r="0" t="0"/>
          <a:stretch/>
        </p:blipFill>
        <p:spPr>
          <a:xfrm>
            <a:off x="7212125" y="3551925"/>
            <a:ext cx="4556550" cy="2233149"/>
          </a:xfrm>
          <a:prstGeom prst="rect">
            <a:avLst/>
          </a:prstGeom>
          <a:noFill/>
          <a:ln>
            <a:noFill/>
          </a:ln>
        </p:spPr>
      </p:pic>
      <p:sp>
        <p:nvSpPr>
          <p:cNvPr id="520" name="Google Shape;520;p56"/>
          <p:cNvSpPr txBox="1"/>
          <p:nvPr/>
        </p:nvSpPr>
        <p:spPr>
          <a:xfrm>
            <a:off x="976900" y="390775"/>
            <a:ext cx="106641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latin typeface="Libre Franklin"/>
                <a:ea typeface="Libre Franklin"/>
                <a:cs typeface="Libre Franklin"/>
                <a:sym typeface="Libre Franklin"/>
              </a:rPr>
              <a:t>La differenza rispetto al passivo è che ora il guadagno può essere impostato tramite la retroazione dell’operazionale. In banda passante, il guadagno vale:</a:t>
            </a:r>
            <a:endParaRPr sz="1300">
              <a:latin typeface="Libre Franklin"/>
              <a:ea typeface="Libre Franklin"/>
              <a:cs typeface="Libre Franklin"/>
              <a:sym typeface="Libre Franklin"/>
            </a:endParaRPr>
          </a:p>
        </p:txBody>
      </p:sp>
      <p:pic>
        <p:nvPicPr>
          <p:cNvPr id="521" name="Google Shape;521;p56"/>
          <p:cNvPicPr preferRelativeResize="0"/>
          <p:nvPr/>
        </p:nvPicPr>
        <p:blipFill>
          <a:blip r:embed="rId5">
            <a:alphaModFix/>
          </a:blip>
          <a:stretch>
            <a:fillRect/>
          </a:stretch>
        </p:blipFill>
        <p:spPr>
          <a:xfrm>
            <a:off x="1324700" y="1215175"/>
            <a:ext cx="2152650" cy="2209800"/>
          </a:xfrm>
          <a:prstGeom prst="rect">
            <a:avLst/>
          </a:prstGeom>
          <a:noFill/>
          <a:ln>
            <a:noFill/>
          </a:ln>
        </p:spPr>
      </p:pic>
      <p:sp>
        <p:nvSpPr>
          <p:cNvPr id="522" name="Google Shape;522;p56"/>
          <p:cNvSpPr txBox="1"/>
          <p:nvPr/>
        </p:nvSpPr>
        <p:spPr>
          <a:xfrm>
            <a:off x="3907675" y="1287325"/>
            <a:ext cx="7806300" cy="137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Quindi il circuito ha guadagno 2 in ampiezza, ma essendo una configurazione invertente l’uscita è sfasata di 180° rispetto all’ingresso.</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Nel grafico si osserva infatti che, superata la frequenza di taglio, la risposta si stabilizza a un valore doppio rispetto al riferimento d’ingresso. In sintesi, la rete RC definisce il taglio, mentre l’operazionale permette di ottenere un’uscita amplificata di fattore 2.</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pic>
        <p:nvPicPr>
          <p:cNvPr id="527" name="Google Shape;527;p57"/>
          <p:cNvPicPr preferRelativeResize="0"/>
          <p:nvPr/>
        </p:nvPicPr>
        <p:blipFill rotWithShape="1">
          <a:blip r:embed="rId3">
            <a:alphaModFix/>
          </a:blip>
          <a:srcRect b="0" l="0" r="0" t="0"/>
          <a:stretch/>
        </p:blipFill>
        <p:spPr>
          <a:xfrm>
            <a:off x="8390478" y="5036825"/>
            <a:ext cx="3403327" cy="1667949"/>
          </a:xfrm>
          <a:prstGeom prst="rect">
            <a:avLst/>
          </a:prstGeom>
          <a:noFill/>
          <a:ln>
            <a:noFill/>
          </a:ln>
        </p:spPr>
      </p:pic>
      <p:sp>
        <p:nvSpPr>
          <p:cNvPr id="528" name="Google Shape;528;p57"/>
          <p:cNvSpPr txBox="1"/>
          <p:nvPr/>
        </p:nvSpPr>
        <p:spPr>
          <a:xfrm>
            <a:off x="9061601" y="4352322"/>
            <a:ext cx="28149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Open Sans"/>
                <a:ea typeface="Open Sans"/>
                <a:cs typeface="Open Sans"/>
                <a:sym typeface="Open Sans"/>
              </a:rPr>
              <a:t>250hz</a:t>
            </a:r>
            <a:endParaRPr/>
          </a:p>
        </p:txBody>
      </p:sp>
      <p:pic>
        <p:nvPicPr>
          <p:cNvPr id="529" name="Google Shape;529;p57"/>
          <p:cNvPicPr preferRelativeResize="0"/>
          <p:nvPr/>
        </p:nvPicPr>
        <p:blipFill rotWithShape="1">
          <a:blip r:embed="rId4">
            <a:alphaModFix/>
          </a:blip>
          <a:srcRect b="0" l="0" r="0" t="0"/>
          <a:stretch/>
        </p:blipFill>
        <p:spPr>
          <a:xfrm>
            <a:off x="1299654" y="5364371"/>
            <a:ext cx="2761802" cy="1353551"/>
          </a:xfrm>
          <a:prstGeom prst="rect">
            <a:avLst/>
          </a:prstGeom>
          <a:noFill/>
          <a:ln>
            <a:noFill/>
          </a:ln>
        </p:spPr>
      </p:pic>
      <p:sp>
        <p:nvSpPr>
          <p:cNvPr id="530" name="Google Shape;530;p57"/>
          <p:cNvSpPr txBox="1"/>
          <p:nvPr/>
        </p:nvSpPr>
        <p:spPr>
          <a:xfrm>
            <a:off x="2238046" y="4667525"/>
            <a:ext cx="885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Open Sans"/>
                <a:ea typeface="Open Sans"/>
                <a:cs typeface="Open Sans"/>
                <a:sym typeface="Open Sans"/>
              </a:rPr>
              <a:t>10hz</a:t>
            </a:r>
            <a:endParaRPr/>
          </a:p>
        </p:txBody>
      </p:sp>
      <p:pic>
        <p:nvPicPr>
          <p:cNvPr id="531" name="Google Shape;531;p57"/>
          <p:cNvPicPr preferRelativeResize="0"/>
          <p:nvPr/>
        </p:nvPicPr>
        <p:blipFill rotWithShape="1">
          <a:blip r:embed="rId5">
            <a:alphaModFix/>
          </a:blip>
          <a:srcRect b="0" l="0" r="0" t="0"/>
          <a:stretch/>
        </p:blipFill>
        <p:spPr>
          <a:xfrm>
            <a:off x="4566938" y="4957600"/>
            <a:ext cx="3236977" cy="1586425"/>
          </a:xfrm>
          <a:prstGeom prst="rect">
            <a:avLst/>
          </a:prstGeom>
          <a:noFill/>
          <a:ln>
            <a:noFill/>
          </a:ln>
        </p:spPr>
      </p:pic>
      <p:sp>
        <p:nvSpPr>
          <p:cNvPr id="532" name="Google Shape;532;p57"/>
          <p:cNvSpPr txBox="1"/>
          <p:nvPr/>
        </p:nvSpPr>
        <p:spPr>
          <a:xfrm>
            <a:off x="5566079" y="4414929"/>
            <a:ext cx="2640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Open Sans"/>
                <a:ea typeface="Open Sans"/>
                <a:cs typeface="Open Sans"/>
                <a:sym typeface="Open Sans"/>
              </a:rPr>
              <a:t>159hz</a:t>
            </a:r>
            <a:endParaRPr/>
          </a:p>
        </p:txBody>
      </p:sp>
      <p:sp>
        <p:nvSpPr>
          <p:cNvPr id="533" name="Google Shape;533;p57"/>
          <p:cNvSpPr txBox="1"/>
          <p:nvPr/>
        </p:nvSpPr>
        <p:spPr>
          <a:xfrm>
            <a:off x="976925" y="578025"/>
            <a:ext cx="111444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400"/>
              </a:spcAft>
              <a:buNone/>
            </a:pPr>
            <a:r>
              <a:rPr b="1" lang="it-IT" sz="1300">
                <a:solidFill>
                  <a:schemeClr val="dk1"/>
                </a:solidFill>
                <a:latin typeface="Libre Franklin"/>
                <a:ea typeface="Libre Franklin"/>
                <a:cs typeface="Libre Franklin"/>
                <a:sym typeface="Libre Franklin"/>
              </a:rPr>
              <a:t>Sfasamento nel filtro attivo</a:t>
            </a:r>
            <a:endParaRPr sz="1100">
              <a:solidFill>
                <a:schemeClr val="dk1"/>
              </a:solidFill>
              <a:latin typeface="Libre Franklin"/>
              <a:ea typeface="Libre Franklin"/>
              <a:cs typeface="Libre Franklin"/>
              <a:sym typeface="Libre Franklin"/>
            </a:endParaRPr>
          </a:p>
        </p:txBody>
      </p:sp>
      <p:sp>
        <p:nvSpPr>
          <p:cNvPr id="534" name="Google Shape;534;p57"/>
          <p:cNvSpPr txBox="1"/>
          <p:nvPr/>
        </p:nvSpPr>
        <p:spPr>
          <a:xfrm>
            <a:off x="924825" y="1766600"/>
            <a:ext cx="11326500" cy="9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200">
                <a:latin typeface="Libre Franklin"/>
                <a:ea typeface="Libre Franklin"/>
                <a:cs typeface="Libre Franklin"/>
                <a:sym typeface="Libre Franklin"/>
              </a:rPr>
              <a:t>L’operazionale, in questa configurazione ideale, non modifica la proprietà di fase introdotta dal filtro: la rete RC continua a determinare l’anticipo o il ritardo del segnale in funzione della frequenza.</a:t>
            </a:r>
            <a:endParaRPr sz="1200">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200">
                <a:latin typeface="Libre Franklin"/>
                <a:ea typeface="Libre Franklin"/>
                <a:cs typeface="Libre Franklin"/>
                <a:sym typeface="Libre Franklin"/>
              </a:rPr>
              <a:t>La differenza principale rispetto al filtro passivo è l’ampiezza del segnale di uscita. Nel filtro attivo, infatti, il guadagno impostato dalle resistenze vale:  Av=−2</a:t>
            </a:r>
            <a:endParaRPr sz="1200">
              <a:latin typeface="Libre Franklin"/>
              <a:ea typeface="Libre Franklin"/>
              <a:cs typeface="Libre Franklin"/>
              <a:sym typeface="Libre Franklin"/>
            </a:endParaRPr>
          </a:p>
        </p:txBody>
      </p:sp>
      <p:sp>
        <p:nvSpPr>
          <p:cNvPr id="535" name="Google Shape;535;p57"/>
          <p:cNvSpPr txBox="1"/>
          <p:nvPr/>
        </p:nvSpPr>
        <p:spPr>
          <a:xfrm>
            <a:off x="976925" y="2828700"/>
            <a:ext cx="109569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solidFill>
                  <a:schemeClr val="dk1"/>
                </a:solidFill>
                <a:latin typeface="Libre Franklin"/>
                <a:ea typeface="Libre Franklin"/>
                <a:cs typeface="Libre Franklin"/>
                <a:sym typeface="Libre Franklin"/>
              </a:rPr>
              <a:t>quindi Vout ha ampiezza maggiore di Vin, in particolare circa doppia in banda passante. Il segno meno indica l’inversione propria della configurazione invertente, ma la variazione di fase dovuta al comportamento del filtro rimane la stessa.</a:t>
            </a:r>
            <a:endParaRPr sz="1200">
              <a:latin typeface="Libre Franklin"/>
              <a:ea typeface="Libre Franklin"/>
              <a:cs typeface="Libre Franklin"/>
              <a:sym typeface="Libre Franklin"/>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0" name="Shape 540"/>
        <p:cNvGrpSpPr/>
        <p:nvPr/>
      </p:nvGrpSpPr>
      <p:grpSpPr>
        <a:xfrm>
          <a:off x="0" y="0"/>
          <a:ext cx="0" cy="0"/>
          <a:chOff x="0" y="0"/>
          <a:chExt cx="0" cy="0"/>
        </a:xfrm>
      </p:grpSpPr>
      <p:pic>
        <p:nvPicPr>
          <p:cNvPr id="541" name="Google Shape;541;p58"/>
          <p:cNvPicPr preferRelativeResize="0"/>
          <p:nvPr/>
        </p:nvPicPr>
        <p:blipFill>
          <a:blip r:embed="rId3">
            <a:alphaModFix/>
          </a:blip>
          <a:stretch>
            <a:fillRect/>
          </a:stretch>
        </p:blipFill>
        <p:spPr>
          <a:xfrm>
            <a:off x="1054250" y="2494888"/>
            <a:ext cx="4162425" cy="838200"/>
          </a:xfrm>
          <a:prstGeom prst="rect">
            <a:avLst/>
          </a:prstGeom>
          <a:noFill/>
          <a:ln>
            <a:noFill/>
          </a:ln>
        </p:spPr>
      </p:pic>
      <p:pic>
        <p:nvPicPr>
          <p:cNvPr id="542" name="Google Shape;542;p58"/>
          <p:cNvPicPr preferRelativeResize="0"/>
          <p:nvPr/>
        </p:nvPicPr>
        <p:blipFill>
          <a:blip r:embed="rId4">
            <a:alphaModFix/>
          </a:blip>
          <a:stretch>
            <a:fillRect/>
          </a:stretch>
        </p:blipFill>
        <p:spPr>
          <a:xfrm>
            <a:off x="5995200" y="2656813"/>
            <a:ext cx="2838450" cy="676275"/>
          </a:xfrm>
          <a:prstGeom prst="rect">
            <a:avLst/>
          </a:prstGeom>
          <a:noFill/>
          <a:ln>
            <a:noFill/>
          </a:ln>
        </p:spPr>
      </p:pic>
      <p:pic>
        <p:nvPicPr>
          <p:cNvPr id="543" name="Google Shape;543;p58"/>
          <p:cNvPicPr preferRelativeResize="0"/>
          <p:nvPr/>
        </p:nvPicPr>
        <p:blipFill>
          <a:blip r:embed="rId5">
            <a:alphaModFix/>
          </a:blip>
          <a:stretch>
            <a:fillRect/>
          </a:stretch>
        </p:blipFill>
        <p:spPr>
          <a:xfrm>
            <a:off x="9555800" y="2371063"/>
            <a:ext cx="1905000" cy="1247775"/>
          </a:xfrm>
          <a:prstGeom prst="rect">
            <a:avLst/>
          </a:prstGeom>
          <a:noFill/>
          <a:ln>
            <a:noFill/>
          </a:ln>
        </p:spPr>
      </p:pic>
      <p:pic>
        <p:nvPicPr>
          <p:cNvPr id="544" name="Google Shape;544;p58"/>
          <p:cNvPicPr preferRelativeResize="0"/>
          <p:nvPr/>
        </p:nvPicPr>
        <p:blipFill rotWithShape="1">
          <a:blip r:embed="rId6">
            <a:alphaModFix/>
          </a:blip>
          <a:srcRect b="0" l="0" r="0" t="0"/>
          <a:stretch/>
        </p:blipFill>
        <p:spPr>
          <a:xfrm>
            <a:off x="1432001" y="3585287"/>
            <a:ext cx="3840142" cy="1890562"/>
          </a:xfrm>
          <a:prstGeom prst="rect">
            <a:avLst/>
          </a:prstGeom>
          <a:noFill/>
          <a:ln>
            <a:noFill/>
          </a:ln>
        </p:spPr>
      </p:pic>
      <p:pic>
        <p:nvPicPr>
          <p:cNvPr id="545" name="Google Shape;545;p58"/>
          <p:cNvPicPr preferRelativeResize="0"/>
          <p:nvPr/>
        </p:nvPicPr>
        <p:blipFill rotWithShape="1">
          <a:blip r:embed="rId7">
            <a:alphaModFix/>
          </a:blip>
          <a:srcRect b="0" l="0" r="0" t="0"/>
          <a:stretch/>
        </p:blipFill>
        <p:spPr>
          <a:xfrm>
            <a:off x="5358181" y="3600623"/>
            <a:ext cx="3793847" cy="1859865"/>
          </a:xfrm>
          <a:prstGeom prst="rect">
            <a:avLst/>
          </a:prstGeom>
          <a:noFill/>
          <a:ln>
            <a:noFill/>
          </a:ln>
        </p:spPr>
      </p:pic>
      <p:sp>
        <p:nvSpPr>
          <p:cNvPr id="546" name="Google Shape;546;p58"/>
          <p:cNvSpPr txBox="1"/>
          <p:nvPr/>
        </p:nvSpPr>
        <p:spPr>
          <a:xfrm>
            <a:off x="4411675" y="2746375"/>
            <a:ext cx="2434200" cy="993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1300">
                <a:solidFill>
                  <a:schemeClr val="dk1"/>
                </a:solidFill>
                <a:latin typeface="Open Sans"/>
                <a:ea typeface="Open Sans"/>
                <a:cs typeface="Open Sans"/>
                <a:sym typeface="Open Sans"/>
              </a:rPr>
              <a:t>776</a:t>
            </a:r>
            <a:endParaRPr sz="1300">
              <a:solidFill>
                <a:schemeClr val="dk1"/>
              </a:solidFill>
              <a:latin typeface="Open Sans"/>
              <a:ea typeface="Open Sans"/>
              <a:cs typeface="Open Sans"/>
              <a:sym typeface="Open Sans"/>
            </a:endParaRPr>
          </a:p>
          <a:p>
            <a:pPr indent="0" lvl="0" marL="0" rtl="0" algn="l">
              <a:spcBef>
                <a:spcPts val="0"/>
              </a:spcBef>
              <a:spcAft>
                <a:spcPts val="0"/>
              </a:spcAft>
              <a:buNone/>
            </a:pPr>
            <a:r>
              <a:rPr lang="it-IT" sz="1300">
                <a:solidFill>
                  <a:schemeClr val="dk1"/>
                </a:solidFill>
                <a:latin typeface="Open Sans"/>
                <a:ea typeface="Open Sans"/>
                <a:cs typeface="Open Sans"/>
                <a:sym typeface="Open Sans"/>
              </a:rPr>
              <a:t>1.559	  da modificare!!</a:t>
            </a:r>
            <a:endParaRPr sz="1300">
              <a:solidFill>
                <a:schemeClr val="dk1"/>
              </a:solidFill>
              <a:latin typeface="Open Sans"/>
              <a:ea typeface="Open Sans"/>
              <a:cs typeface="Open Sans"/>
              <a:sym typeface="Open Sans"/>
            </a:endParaRPr>
          </a:p>
        </p:txBody>
      </p:sp>
      <p:sp>
        <p:nvSpPr>
          <p:cNvPr id="547" name="Google Shape;547;p58"/>
          <p:cNvSpPr txBox="1"/>
          <p:nvPr/>
        </p:nvSpPr>
        <p:spPr>
          <a:xfrm>
            <a:off x="1054250" y="1424700"/>
            <a:ext cx="11144400" cy="702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Analizzando lo sfasamento del filtro attivo attraverso il confronto tra picchi e ventri del segnale, si ottengono gli stessi risultati già osservati nel filtro passivo.</a:t>
            </a:r>
            <a:endParaRPr sz="11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Questo accade perché la fase dipende principalmente dalla rete RC, cioè dagli stessi componenti che determinano il comportamento passa-alto e la frequenza di taglio</a:t>
            </a:r>
            <a:endParaRPr sz="1100">
              <a:solidFill>
                <a:schemeClr val="dk1"/>
              </a:solidFill>
              <a:latin typeface="Libre Franklin"/>
              <a:ea typeface="Libre Franklin"/>
              <a:cs typeface="Libre Franklin"/>
              <a:sym typeface="Libre Franklin"/>
            </a:endParaRPr>
          </a:p>
        </p:txBody>
      </p:sp>
      <p:sp>
        <p:nvSpPr>
          <p:cNvPr id="548" name="Google Shape;548;p58"/>
          <p:cNvSpPr txBox="1"/>
          <p:nvPr/>
        </p:nvSpPr>
        <p:spPr>
          <a:xfrm>
            <a:off x="1163350" y="5728025"/>
            <a:ext cx="106233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a:latin typeface="Libre Franklin"/>
                <a:ea typeface="Libre Franklin"/>
                <a:cs typeface="Libre Franklin"/>
                <a:sym typeface="Libre Franklin"/>
              </a:rPr>
              <a:t>In sintesi, studiando picchi e ventri si vede che il filtro attivo conserva lo stesso andamento di fase del filtro passivo; ciò che cambia è il livello di uscita, che risulta amplificato grazie al guadagno dell’operazionale.</a:t>
            </a:r>
            <a:endParaRPr>
              <a:latin typeface="Libre Franklin"/>
              <a:ea typeface="Libre Franklin"/>
              <a:cs typeface="Libre Franklin"/>
              <a:sym typeface="Libre Franklin"/>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3" name="Shape 553"/>
        <p:cNvGrpSpPr/>
        <p:nvPr/>
      </p:nvGrpSpPr>
      <p:grpSpPr>
        <a:xfrm>
          <a:off x="0" y="0"/>
          <a:ext cx="0" cy="0"/>
          <a:chOff x="0" y="0"/>
          <a:chExt cx="0" cy="0"/>
        </a:xfrm>
      </p:grpSpPr>
      <p:sp>
        <p:nvSpPr>
          <p:cNvPr id="554" name="Google Shape;554;p59"/>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Effetto dei carichi sull’uscita del filtro attivo</a:t>
            </a:r>
            <a:endParaRPr sz="2500">
              <a:solidFill>
                <a:srgbClr val="073763"/>
              </a:solidFill>
              <a:latin typeface="Libre Franklin SemiBold"/>
              <a:ea typeface="Libre Franklin SemiBold"/>
              <a:cs typeface="Libre Franklin SemiBold"/>
              <a:sym typeface="Libre Franklin SemiBold"/>
            </a:endParaRPr>
          </a:p>
        </p:txBody>
      </p:sp>
      <p:sp>
        <p:nvSpPr>
          <p:cNvPr id="555" name="Google Shape;555;p59"/>
          <p:cNvSpPr txBox="1"/>
          <p:nvPr/>
        </p:nvSpPr>
        <p:spPr>
          <a:xfrm>
            <a:off x="1237425" y="1457250"/>
            <a:ext cx="9931200" cy="1629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Perché il carico non modifica la risposta</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Nel caso </a:t>
            </a:r>
            <a:r>
              <a:rPr b="1" lang="it-IT" sz="1100">
                <a:solidFill>
                  <a:schemeClr val="dk1"/>
                </a:solidFill>
              </a:rPr>
              <a:t>parallelo</a:t>
            </a:r>
            <a:r>
              <a:rPr lang="it-IT" sz="1100">
                <a:solidFill>
                  <a:schemeClr val="dk1"/>
                </a:solidFill>
              </a:rPr>
              <a:t>, la resistenza </a:t>
            </a:r>
            <a:r>
              <a:rPr b="1" lang="it-IT" sz="1100">
                <a:solidFill>
                  <a:schemeClr val="dk1"/>
                </a:solidFill>
              </a:rPr>
              <a:t>R7 = 10 kΩ</a:t>
            </a:r>
            <a:r>
              <a:rPr lang="it-IT" sz="1100">
                <a:solidFill>
                  <a:schemeClr val="dk1"/>
                </a:solidFill>
              </a:rPr>
              <a:t> è collegata tra l’uscita e massa. Nel caso </a:t>
            </a:r>
            <a:r>
              <a:rPr b="1" lang="it-IT" sz="1100">
                <a:solidFill>
                  <a:schemeClr val="dk1"/>
                </a:solidFill>
              </a:rPr>
              <a:t>serie</a:t>
            </a:r>
            <a:r>
              <a:rPr lang="it-IT" sz="1100">
                <a:solidFill>
                  <a:schemeClr val="dk1"/>
                </a:solidFill>
              </a:rPr>
              <a:t>, la resistenza </a:t>
            </a:r>
            <a:r>
              <a:rPr b="1" lang="it-IT" sz="1100">
                <a:solidFill>
                  <a:schemeClr val="dk1"/>
                </a:solidFill>
              </a:rPr>
              <a:t>R8 = 10 kΩ</a:t>
            </a:r>
            <a:r>
              <a:rPr lang="it-IT" sz="1100">
                <a:solidFill>
                  <a:schemeClr val="dk1"/>
                </a:solidFill>
              </a:rPr>
              <a:t> è collegata dopo l’uscita dell’operazionale.</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Nel filtro passivo questi carichi avrebbero modificato la rete RC, perché sarebbero diventati parte del circuito di filtro. Nel filtro attivo, invece, l’operazionale ideale isola la rete RC dal carico di uscita.</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Questo avviene perché l’opamp ideale ha:</a:t>
            </a:r>
            <a:endParaRPr sz="1100">
              <a:solidFill>
                <a:schemeClr val="dk1"/>
              </a:solidFill>
            </a:endParaRPr>
          </a:p>
        </p:txBody>
      </p:sp>
      <p:pic>
        <p:nvPicPr>
          <p:cNvPr id="556" name="Google Shape;556;p59"/>
          <p:cNvPicPr preferRelativeResize="0"/>
          <p:nvPr/>
        </p:nvPicPr>
        <p:blipFill>
          <a:blip r:embed="rId3">
            <a:alphaModFix/>
          </a:blip>
          <a:stretch>
            <a:fillRect/>
          </a:stretch>
        </p:blipFill>
        <p:spPr>
          <a:xfrm>
            <a:off x="4369450" y="2791800"/>
            <a:ext cx="1095375" cy="847725"/>
          </a:xfrm>
          <a:prstGeom prst="rect">
            <a:avLst/>
          </a:prstGeom>
          <a:noFill/>
          <a:ln>
            <a:noFill/>
          </a:ln>
        </p:spPr>
      </p:pic>
      <p:sp>
        <p:nvSpPr>
          <p:cNvPr id="557" name="Google Shape;557;p59"/>
          <p:cNvSpPr txBox="1"/>
          <p:nvPr/>
        </p:nvSpPr>
        <p:spPr>
          <a:xfrm>
            <a:off x="1339125" y="3769300"/>
            <a:ext cx="9727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a:t>Quindi la rete di ingresso non viene caricata e l’uscita riesce a pilotare il carico senza alterare significativamente Vout </a:t>
            </a:r>
            <a:endParaRPr/>
          </a:p>
        </p:txBody>
      </p:sp>
      <p:pic>
        <p:nvPicPr>
          <p:cNvPr id="558" name="Google Shape;558;p59"/>
          <p:cNvPicPr preferRelativeResize="0"/>
          <p:nvPr/>
        </p:nvPicPr>
        <p:blipFill rotWithShape="1">
          <a:blip r:embed="rId4">
            <a:alphaModFix/>
          </a:blip>
          <a:srcRect b="0" l="0" r="0" t="0"/>
          <a:stretch/>
        </p:blipFill>
        <p:spPr>
          <a:xfrm>
            <a:off x="1237425" y="4366425"/>
            <a:ext cx="4466876" cy="2189200"/>
          </a:xfrm>
          <a:prstGeom prst="rect">
            <a:avLst/>
          </a:prstGeom>
          <a:noFill/>
          <a:ln>
            <a:noFill/>
          </a:ln>
        </p:spPr>
      </p:pic>
      <p:sp>
        <p:nvSpPr>
          <p:cNvPr id="559" name="Google Shape;559;p59"/>
          <p:cNvSpPr txBox="1"/>
          <p:nvPr/>
        </p:nvSpPr>
        <p:spPr>
          <a:xfrm>
            <a:off x="6341875" y="4550825"/>
            <a:ext cx="5184900" cy="1322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latin typeface="Libre Franklin"/>
                <a:ea typeface="Libre Franklin"/>
                <a:cs typeface="Libre Franklin"/>
                <a:sym typeface="Libre Franklin"/>
              </a:rPr>
              <a:t>Conclusione</a:t>
            </a:r>
            <a:endParaRPr b="1" sz="13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Il filtro attivo è meno sensibile ai carichi rispetto al filtro passivo. La rete RC stabilisce la frequenza di taglio, l’operazionale stabilisce il guadagno, e il carico collegato in uscita non altera significativamente la risposta grazie alla bassa impedenza di uscita dell’opamp ideale.</a:t>
            </a:r>
            <a:endParaRPr sz="1100">
              <a:solidFill>
                <a:schemeClr val="dk1"/>
              </a:solidFill>
              <a:latin typeface="Libre Franklin"/>
              <a:ea typeface="Libre Franklin"/>
              <a:cs typeface="Libre Franklin"/>
              <a:sym typeface="Libre Franklin"/>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3" name="Shape 563"/>
        <p:cNvGrpSpPr/>
        <p:nvPr/>
      </p:nvGrpSpPr>
      <p:grpSpPr>
        <a:xfrm>
          <a:off x="0" y="0"/>
          <a:ext cx="0" cy="0"/>
          <a:chOff x="0" y="0"/>
          <a:chExt cx="0" cy="0"/>
        </a:xfrm>
      </p:grpSpPr>
      <p:pic>
        <p:nvPicPr>
          <p:cNvPr id="564" name="Google Shape;564;p60"/>
          <p:cNvPicPr preferRelativeResize="0"/>
          <p:nvPr/>
        </p:nvPicPr>
        <p:blipFill rotWithShape="1">
          <a:blip r:embed="rId3">
            <a:alphaModFix/>
          </a:blip>
          <a:srcRect b="0" l="0" r="0" t="0"/>
          <a:stretch/>
        </p:blipFill>
        <p:spPr>
          <a:xfrm>
            <a:off x="2813781" y="401827"/>
            <a:ext cx="6808125" cy="5520625"/>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9" name="Shape 569"/>
        <p:cNvGrpSpPr/>
        <p:nvPr/>
      </p:nvGrpSpPr>
      <p:grpSpPr>
        <a:xfrm>
          <a:off x="0" y="0"/>
          <a:ext cx="0" cy="0"/>
          <a:chOff x="0" y="0"/>
          <a:chExt cx="0" cy="0"/>
        </a:xfrm>
      </p:grpSpPr>
      <p:sp>
        <p:nvSpPr>
          <p:cNvPr id="570" name="Google Shape;570;p61"/>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Cambio Rs</a:t>
            </a:r>
            <a:endParaRPr sz="2500">
              <a:solidFill>
                <a:srgbClr val="073763"/>
              </a:solidFill>
              <a:latin typeface="Libre Franklin SemiBold"/>
              <a:ea typeface="Libre Franklin SemiBold"/>
              <a:cs typeface="Libre Franklin SemiBold"/>
              <a:sym typeface="Libre Franklin SemiBold"/>
            </a:endParaRPr>
          </a:p>
        </p:txBody>
      </p:sp>
      <p:pic>
        <p:nvPicPr>
          <p:cNvPr id="571" name="Google Shape;571;p61"/>
          <p:cNvPicPr preferRelativeResize="0"/>
          <p:nvPr/>
        </p:nvPicPr>
        <p:blipFill rotWithShape="1">
          <a:blip r:embed="rId3">
            <a:alphaModFix/>
          </a:blip>
          <a:srcRect b="0" l="0" r="0" t="0"/>
          <a:stretch/>
        </p:blipFill>
        <p:spPr>
          <a:xfrm>
            <a:off x="1355275" y="1418475"/>
            <a:ext cx="3407001" cy="1871025"/>
          </a:xfrm>
          <a:prstGeom prst="rect">
            <a:avLst/>
          </a:prstGeom>
          <a:noFill/>
          <a:ln>
            <a:noFill/>
          </a:ln>
        </p:spPr>
      </p:pic>
      <p:pic>
        <p:nvPicPr>
          <p:cNvPr id="572" name="Google Shape;572;p61"/>
          <p:cNvPicPr preferRelativeResize="0"/>
          <p:nvPr/>
        </p:nvPicPr>
        <p:blipFill rotWithShape="1">
          <a:blip r:embed="rId4">
            <a:alphaModFix/>
          </a:blip>
          <a:srcRect b="0" l="0" r="0" t="0"/>
          <a:stretch/>
        </p:blipFill>
        <p:spPr>
          <a:xfrm>
            <a:off x="5019248" y="3289511"/>
            <a:ext cx="7099477" cy="3479399"/>
          </a:xfrm>
          <a:prstGeom prst="rect">
            <a:avLst/>
          </a:prstGeom>
          <a:noFill/>
          <a:ln>
            <a:noFill/>
          </a:ln>
        </p:spPr>
      </p:pic>
      <p:pic>
        <p:nvPicPr>
          <p:cNvPr id="573" name="Google Shape;573;p61"/>
          <p:cNvPicPr preferRelativeResize="0"/>
          <p:nvPr/>
        </p:nvPicPr>
        <p:blipFill>
          <a:blip r:embed="rId5">
            <a:alphaModFix/>
          </a:blip>
          <a:stretch>
            <a:fillRect/>
          </a:stretch>
        </p:blipFill>
        <p:spPr>
          <a:xfrm>
            <a:off x="1397975" y="3645425"/>
            <a:ext cx="2724150" cy="2838450"/>
          </a:xfrm>
          <a:prstGeom prst="rect">
            <a:avLst/>
          </a:prstGeom>
          <a:noFill/>
          <a:ln>
            <a:noFill/>
          </a:ln>
        </p:spPr>
      </p:pic>
      <p:sp>
        <p:nvSpPr>
          <p:cNvPr id="574" name="Google Shape;574;p61"/>
          <p:cNvSpPr txBox="1"/>
          <p:nvPr/>
        </p:nvSpPr>
        <p:spPr>
          <a:xfrm>
            <a:off x="5300338" y="1546800"/>
            <a:ext cx="65373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Quindi ci aspettavamo una risposta in banda passante intorno a 86 dB.</a:t>
            </a:r>
            <a:endParaRPr sz="11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Il risultato però non è quello atteso: compaiono picchi e anomalie alle alte frequenze. Questo accade perché un guadagno così alto mette in crisi l’operazionale, evidenziando i limiti di GBW e i ritardi interni.</a:t>
            </a:r>
            <a:endParaRPr sz="11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Per avvicinarci al comportamento ideale, aumentiamo la GBW, così l’opamp non influenza più la risposta del filtro.</a:t>
            </a:r>
            <a:endParaRPr sz="1100">
              <a:solidFill>
                <a:schemeClr val="dk1"/>
              </a:solidFill>
              <a:latin typeface="Libre Franklin"/>
              <a:ea typeface="Libre Franklin"/>
              <a:cs typeface="Libre Franklin"/>
              <a:sym typeface="Libre Franklin"/>
            </a:endParaRPr>
          </a:p>
        </p:txBody>
      </p:sp>
      <p:sp>
        <p:nvSpPr>
          <p:cNvPr id="575" name="Google Shape;575;p61"/>
          <p:cNvSpPr txBox="1"/>
          <p:nvPr/>
        </p:nvSpPr>
        <p:spPr>
          <a:xfrm>
            <a:off x="7863325" y="566650"/>
            <a:ext cx="4101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800">
                <a:solidFill>
                  <a:schemeClr val="dk1"/>
                </a:solidFill>
                <a:latin typeface="Open Sans"/>
                <a:ea typeface="Open Sans"/>
                <a:cs typeface="Open Sans"/>
                <a:sym typeface="Open Sans"/>
              </a:rPr>
              <a:t>blu atteso, verde realtà</a:t>
            </a:r>
            <a:endParaRPr sz="2800">
              <a:solidFill>
                <a:schemeClr val="dk1"/>
              </a:solidFill>
              <a:latin typeface="Open Sans"/>
              <a:ea typeface="Open Sans"/>
              <a:cs typeface="Open Sans"/>
              <a:sym typeface="Open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9" name="Shape 579"/>
        <p:cNvGrpSpPr/>
        <p:nvPr/>
      </p:nvGrpSpPr>
      <p:grpSpPr>
        <a:xfrm>
          <a:off x="0" y="0"/>
          <a:ext cx="0" cy="0"/>
          <a:chOff x="0" y="0"/>
          <a:chExt cx="0" cy="0"/>
        </a:xfrm>
      </p:grpSpPr>
      <p:sp>
        <p:nvSpPr>
          <p:cNvPr id="580" name="Google Shape;580;p62"/>
          <p:cNvSpPr txBox="1"/>
          <p:nvPr/>
        </p:nvSpPr>
        <p:spPr>
          <a:xfrm>
            <a:off x="1057020" y="3380067"/>
            <a:ext cx="3934575"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Open Sans"/>
                <a:ea typeface="Open Sans"/>
                <a:cs typeface="Open Sans"/>
                <a:sym typeface="Open Sans"/>
              </a:rPr>
              <a:t>Cambio rs, cambia fc</a:t>
            </a:r>
            <a:endParaRPr sz="1800">
              <a:solidFill>
                <a:schemeClr val="dk1"/>
              </a:solidFill>
              <a:latin typeface="Open Sans"/>
              <a:ea typeface="Open Sans"/>
              <a:cs typeface="Open Sans"/>
              <a:sym typeface="Open Sans"/>
            </a:endParaRPr>
          </a:p>
        </p:txBody>
      </p:sp>
      <p:pic>
        <p:nvPicPr>
          <p:cNvPr id="581" name="Google Shape;581;p62"/>
          <p:cNvPicPr preferRelativeResize="0"/>
          <p:nvPr/>
        </p:nvPicPr>
        <p:blipFill rotWithShape="1">
          <a:blip r:embed="rId3">
            <a:alphaModFix/>
          </a:blip>
          <a:srcRect b="0" l="0" r="0" t="0"/>
          <a:stretch/>
        </p:blipFill>
        <p:spPr>
          <a:xfrm>
            <a:off x="6638307" y="3564733"/>
            <a:ext cx="5036336" cy="2468278"/>
          </a:xfrm>
          <a:prstGeom prst="rect">
            <a:avLst/>
          </a:prstGeom>
          <a:noFill/>
          <a:ln>
            <a:noFill/>
          </a:ln>
        </p:spPr>
      </p:pic>
      <p:pic>
        <p:nvPicPr>
          <p:cNvPr id="582" name="Google Shape;582;p62"/>
          <p:cNvPicPr preferRelativeResize="0"/>
          <p:nvPr/>
        </p:nvPicPr>
        <p:blipFill rotWithShape="1">
          <a:blip r:embed="rId4">
            <a:alphaModFix/>
          </a:blip>
          <a:srcRect b="0" l="0" r="0" t="0"/>
          <a:stretch/>
        </p:blipFill>
        <p:spPr>
          <a:xfrm>
            <a:off x="1324077" y="3800104"/>
            <a:ext cx="4771923" cy="233869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7" name="Shape 587"/>
        <p:cNvGrpSpPr/>
        <p:nvPr/>
      </p:nvGrpSpPr>
      <p:grpSpPr>
        <a:xfrm>
          <a:off x="0" y="0"/>
          <a:ext cx="0" cy="0"/>
          <a:chOff x="0" y="0"/>
          <a:chExt cx="0" cy="0"/>
        </a:xfrm>
      </p:grpSpPr>
      <p:sp>
        <p:nvSpPr>
          <p:cNvPr id="588" name="Google Shape;588;p63"/>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Non idealità → modifica OPAMP GBW</a:t>
            </a:r>
            <a:endParaRPr sz="2500">
              <a:solidFill>
                <a:srgbClr val="073763"/>
              </a:solidFill>
              <a:latin typeface="Libre Franklin SemiBold"/>
              <a:ea typeface="Libre Franklin SemiBold"/>
              <a:cs typeface="Libre Franklin SemiBold"/>
              <a:sym typeface="Libre Franklin SemiBold"/>
            </a:endParaRPr>
          </a:p>
        </p:txBody>
      </p:sp>
      <p:sp>
        <p:nvSpPr>
          <p:cNvPr id="589" name="Google Shape;589;p63"/>
          <p:cNvSpPr txBox="1"/>
          <p:nvPr/>
        </p:nvSpPr>
        <p:spPr>
          <a:xfrm>
            <a:off x="909300" y="1383975"/>
            <a:ext cx="11282700" cy="1476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Effetto della GBW sull’opamp ideale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In questa simulazione si osserva che l’operazionale non si comporta ancora in modo perfettamente ideale. Nel grafico la curva </a:t>
            </a:r>
            <a:r>
              <a:rPr b="1" lang="it-IT" sz="1100">
                <a:solidFill>
                  <a:schemeClr val="dk1"/>
                </a:solidFill>
              </a:rPr>
              <a:t>verde</a:t>
            </a:r>
            <a:r>
              <a:rPr lang="it-IT" sz="1100">
                <a:solidFill>
                  <a:schemeClr val="dk1"/>
                </a:solidFill>
              </a:rPr>
              <a:t> dovrebbe mantenere una risposta regolare, ma alle frequenze molto alte compare una </a:t>
            </a:r>
            <a:r>
              <a:rPr b="1" lang="it-IT" sz="1100">
                <a:solidFill>
                  <a:schemeClr val="dk1"/>
                </a:solidFill>
              </a:rPr>
              <a:t>crescita anomala con picco</a:t>
            </a:r>
            <a:r>
              <a:rPr lang="it-IT" sz="1100">
                <a:solidFill>
                  <a:schemeClr val="dk1"/>
                </a:solidFill>
              </a:rPr>
              <a:t>.</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Questo effetto è dovuto ai limiti interni dell’opamp, in particolare alla </a:t>
            </a:r>
            <a:r>
              <a:rPr b="1" lang="it-IT" sz="1100">
                <a:solidFill>
                  <a:schemeClr val="dk1"/>
                </a:solidFill>
              </a:rPr>
              <a:t>GBW</a:t>
            </a:r>
            <a:r>
              <a:rPr lang="it-IT" sz="1100">
                <a:solidFill>
                  <a:schemeClr val="dk1"/>
                </a:solidFill>
              </a:rPr>
              <a:t> (</a:t>
            </a:r>
            <a:r>
              <a:rPr i="1" lang="it-IT" sz="1100">
                <a:solidFill>
                  <a:schemeClr val="dk1"/>
                </a:solidFill>
              </a:rPr>
              <a:t>Gain Bandwidth Product</a:t>
            </a:r>
            <a:r>
              <a:rPr lang="it-IT" sz="1100">
                <a:solidFill>
                  <a:schemeClr val="dk1"/>
                </a:solidFill>
              </a:rPr>
              <a:t>). Se la GBW non è sufficientemente alta, l’operazionale introduce </a:t>
            </a:r>
            <a:r>
              <a:rPr b="1" lang="it-IT" sz="1100">
                <a:solidFill>
                  <a:schemeClr val="dk1"/>
                </a:solidFill>
              </a:rPr>
              <a:t>ritardo di fase</a:t>
            </a:r>
            <a:r>
              <a:rPr lang="it-IT" sz="1100">
                <a:solidFill>
                  <a:schemeClr val="dk1"/>
                </a:solidFill>
              </a:rPr>
              <a:t> e perde capacità di seguire correttamente il segnale alle alte frequenze.</a:t>
            </a:r>
            <a:endParaRPr sz="1100">
              <a:solidFill>
                <a:schemeClr val="dk1"/>
              </a:solidFill>
            </a:endParaRPr>
          </a:p>
        </p:txBody>
      </p:sp>
      <p:pic>
        <p:nvPicPr>
          <p:cNvPr id="590" name="Google Shape;590;p63"/>
          <p:cNvPicPr preferRelativeResize="0"/>
          <p:nvPr/>
        </p:nvPicPr>
        <p:blipFill rotWithShape="1">
          <a:blip r:embed="rId3">
            <a:alphaModFix/>
          </a:blip>
          <a:srcRect b="0" l="0" r="0" t="0"/>
          <a:stretch/>
        </p:blipFill>
        <p:spPr>
          <a:xfrm>
            <a:off x="2327550" y="2827350"/>
            <a:ext cx="8149148" cy="3993876"/>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pic>
        <p:nvPicPr>
          <p:cNvPr id="596" name="Google Shape;596;p64"/>
          <p:cNvPicPr preferRelativeResize="0"/>
          <p:nvPr/>
        </p:nvPicPr>
        <p:blipFill rotWithShape="1">
          <a:blip r:embed="rId3">
            <a:alphaModFix/>
          </a:blip>
          <a:srcRect b="0" l="0" r="0" t="0"/>
          <a:stretch/>
        </p:blipFill>
        <p:spPr>
          <a:xfrm>
            <a:off x="7627350" y="1305700"/>
            <a:ext cx="4251527" cy="2083650"/>
          </a:xfrm>
          <a:prstGeom prst="rect">
            <a:avLst/>
          </a:prstGeom>
          <a:noFill/>
          <a:ln>
            <a:noFill/>
          </a:ln>
        </p:spPr>
      </p:pic>
      <p:sp>
        <p:nvSpPr>
          <p:cNvPr id="597" name="Google Shape;597;p64"/>
          <p:cNvSpPr txBox="1"/>
          <p:nvPr/>
        </p:nvSpPr>
        <p:spPr>
          <a:xfrm>
            <a:off x="1090900" y="1492200"/>
            <a:ext cx="6259800" cy="1824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Perché compare il picco</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Alle alte frequenze l’opamp non riesce più a reagire istantaneamente. Il segnale in uscita arriva quindi con un piccolo ritardo rispetto al segnale richiesto dalla retroazione.</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Questo ritardo crea un accumulo di fase e può generare un aumento locale del guadagno, visibile nel grafico come un </a:t>
            </a:r>
            <a:r>
              <a:rPr b="1" lang="it-IT" sz="1100">
                <a:solidFill>
                  <a:schemeClr val="dk1"/>
                </a:solidFill>
              </a:rPr>
              <a:t>picco di risonanza</a:t>
            </a:r>
            <a:r>
              <a:rPr lang="it-IT" sz="1100">
                <a:solidFill>
                  <a:schemeClr val="dk1"/>
                </a:solidFill>
              </a:rPr>
              <a:t> o sovraelongazione.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In pratica, il circuito non è più dominato solo dalla rete </a:t>
            </a:r>
            <a:r>
              <a:rPr b="1" lang="it-IT" sz="1100">
                <a:solidFill>
                  <a:schemeClr val="dk1"/>
                </a:solidFill>
              </a:rPr>
              <a:t>RC</a:t>
            </a:r>
            <a:r>
              <a:rPr lang="it-IT" sz="1100">
                <a:solidFill>
                  <a:schemeClr val="dk1"/>
                </a:solidFill>
              </a:rPr>
              <a:t>, ma anche dal limite dinamico dell’operazionale.</a:t>
            </a:r>
            <a:endParaRPr sz="1100">
              <a:solidFill>
                <a:schemeClr val="dk1"/>
              </a:solidFill>
            </a:endParaRPr>
          </a:p>
        </p:txBody>
      </p:sp>
      <p:sp>
        <p:nvSpPr>
          <p:cNvPr id="598" name="Google Shape;598;p64"/>
          <p:cNvSpPr txBox="1"/>
          <p:nvPr/>
        </p:nvSpPr>
        <p:spPr>
          <a:xfrm>
            <a:off x="6406200" y="4046075"/>
            <a:ext cx="5364900" cy="2368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Perché aumentiamo la GBW</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Poiché l’obiettivo è studiare il filtro passa-alto attivo in condizioni ideali, vogliamo che l’opamp non introduca effetti propri.</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Per questo motivo aumentiamo la </a:t>
            </a:r>
            <a:r>
              <a:rPr b="1" lang="it-IT" sz="1100">
                <a:solidFill>
                  <a:schemeClr val="dk1"/>
                </a:solidFill>
              </a:rPr>
              <a:t>GBW</a:t>
            </a:r>
            <a:r>
              <a:rPr lang="it-IT" sz="1100">
                <a:solidFill>
                  <a:schemeClr val="dk1"/>
                </a:solidFill>
              </a:rPr>
              <a:t> da valori più bassi fino a valori molto elevati, ad esempio:</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GBW=1000TGBW = 1000TGBW=1000T</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In questo modo la banda dell’operazionale diventa molto più ampia della banda del filtro e il suo ritardo interno diventa trascurabile.</a:t>
            </a:r>
            <a:endParaRPr sz="1100">
              <a:solidFill>
                <a:schemeClr val="dk1"/>
              </a:solidFill>
            </a:endParaRPr>
          </a:p>
        </p:txBody>
      </p:sp>
      <p:pic>
        <p:nvPicPr>
          <p:cNvPr id="599" name="Google Shape;599;p64"/>
          <p:cNvPicPr preferRelativeResize="0"/>
          <p:nvPr/>
        </p:nvPicPr>
        <p:blipFill rotWithShape="1">
          <a:blip r:embed="rId4">
            <a:alphaModFix/>
          </a:blip>
          <a:srcRect b="0" l="0" r="0" t="0"/>
          <a:stretch/>
        </p:blipFill>
        <p:spPr>
          <a:xfrm>
            <a:off x="1879774" y="3671450"/>
            <a:ext cx="3490426" cy="2617099"/>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pic>
        <p:nvPicPr>
          <p:cNvPr id="605" name="Google Shape;605;p65"/>
          <p:cNvPicPr preferRelativeResize="0"/>
          <p:nvPr/>
        </p:nvPicPr>
        <p:blipFill rotWithShape="1">
          <a:blip r:embed="rId3">
            <a:alphaModFix/>
          </a:blip>
          <a:srcRect b="0" l="0" r="0" t="0"/>
          <a:stretch/>
        </p:blipFill>
        <p:spPr>
          <a:xfrm>
            <a:off x="1701275" y="1076026"/>
            <a:ext cx="9691501" cy="4749749"/>
          </a:xfrm>
          <a:prstGeom prst="rect">
            <a:avLst/>
          </a:prstGeom>
          <a:noFill/>
          <a:ln>
            <a:noFill/>
          </a:ln>
        </p:spPr>
      </p:pic>
      <p:sp>
        <p:nvSpPr>
          <p:cNvPr id="606" name="Google Shape;606;p65"/>
          <p:cNvSpPr txBox="1"/>
          <p:nvPr/>
        </p:nvSpPr>
        <p:spPr>
          <a:xfrm>
            <a:off x="1578450" y="298025"/>
            <a:ext cx="4965900" cy="58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800">
                <a:solidFill>
                  <a:schemeClr val="dk1"/>
                </a:solidFill>
                <a:latin typeface="Open Sans"/>
                <a:ea typeface="Open Sans"/>
                <a:cs typeface="Open Sans"/>
                <a:sym typeface="Open Sans"/>
              </a:rPr>
              <a:t>piccolo testo</a:t>
            </a:r>
            <a:endParaRPr sz="2800">
              <a:solidFill>
                <a:schemeClr val="dk1"/>
              </a:solidFill>
              <a:latin typeface="Open Sans"/>
              <a:ea typeface="Open Sans"/>
              <a:cs typeface="Open Sans"/>
              <a:sym typeface="Open Sans"/>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66"/>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Effettiva modifica Rs</a:t>
            </a:r>
            <a:endParaRPr sz="2500">
              <a:solidFill>
                <a:srgbClr val="073763"/>
              </a:solidFill>
              <a:latin typeface="Libre Franklin SemiBold"/>
              <a:ea typeface="Libre Franklin SemiBold"/>
              <a:cs typeface="Libre Franklin SemiBold"/>
              <a:sym typeface="Libre Franklin SemiBold"/>
            </a:endParaRPr>
          </a:p>
        </p:txBody>
      </p:sp>
      <p:pic>
        <p:nvPicPr>
          <p:cNvPr id="613" name="Google Shape;613;p66"/>
          <p:cNvPicPr preferRelativeResize="0"/>
          <p:nvPr/>
        </p:nvPicPr>
        <p:blipFill rotWithShape="1">
          <a:blip r:embed="rId3">
            <a:alphaModFix/>
          </a:blip>
          <a:srcRect b="0" l="0" r="0" t="0"/>
          <a:stretch/>
        </p:blipFill>
        <p:spPr>
          <a:xfrm>
            <a:off x="1204600" y="1579587"/>
            <a:ext cx="6229236" cy="3052899"/>
          </a:xfrm>
          <a:prstGeom prst="rect">
            <a:avLst/>
          </a:prstGeom>
          <a:noFill/>
          <a:ln>
            <a:noFill/>
          </a:ln>
        </p:spPr>
      </p:pic>
      <p:pic>
        <p:nvPicPr>
          <p:cNvPr id="614" name="Google Shape;614;p66"/>
          <p:cNvPicPr preferRelativeResize="0"/>
          <p:nvPr/>
        </p:nvPicPr>
        <p:blipFill>
          <a:blip r:embed="rId4">
            <a:alphaModFix/>
          </a:blip>
          <a:stretch>
            <a:fillRect/>
          </a:stretch>
        </p:blipFill>
        <p:spPr>
          <a:xfrm>
            <a:off x="8027975" y="1013900"/>
            <a:ext cx="2647625" cy="3818675"/>
          </a:xfrm>
          <a:prstGeom prst="rect">
            <a:avLst/>
          </a:prstGeom>
          <a:noFill/>
          <a:ln>
            <a:noFill/>
          </a:ln>
        </p:spPr>
      </p:pic>
      <p:pic>
        <p:nvPicPr>
          <p:cNvPr id="615" name="Google Shape;615;p66"/>
          <p:cNvPicPr preferRelativeResize="0"/>
          <p:nvPr/>
        </p:nvPicPr>
        <p:blipFill rotWithShape="1">
          <a:blip r:embed="rId5">
            <a:alphaModFix/>
          </a:blip>
          <a:srcRect b="0" l="0" r="0" t="0"/>
          <a:stretch/>
        </p:blipFill>
        <p:spPr>
          <a:xfrm>
            <a:off x="3268425" y="4707450"/>
            <a:ext cx="3407001" cy="1871025"/>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pic>
        <p:nvPicPr>
          <p:cNvPr id="620" name="Google Shape;620;p67"/>
          <p:cNvPicPr preferRelativeResize="0"/>
          <p:nvPr/>
        </p:nvPicPr>
        <p:blipFill rotWithShape="1">
          <a:blip r:embed="rId3">
            <a:alphaModFix/>
          </a:blip>
          <a:srcRect b="0" l="0" r="0" t="0"/>
          <a:stretch/>
        </p:blipFill>
        <p:spPr>
          <a:xfrm>
            <a:off x="1186224" y="1485601"/>
            <a:ext cx="4145249" cy="1956625"/>
          </a:xfrm>
          <a:prstGeom prst="rect">
            <a:avLst/>
          </a:prstGeom>
          <a:noFill/>
          <a:ln>
            <a:noFill/>
          </a:ln>
        </p:spPr>
      </p:pic>
      <p:pic>
        <p:nvPicPr>
          <p:cNvPr id="621" name="Google Shape;621;p67"/>
          <p:cNvPicPr preferRelativeResize="0"/>
          <p:nvPr/>
        </p:nvPicPr>
        <p:blipFill rotWithShape="1">
          <a:blip r:embed="rId4">
            <a:alphaModFix/>
          </a:blip>
          <a:srcRect b="0" l="0" r="0" t="0"/>
          <a:stretch/>
        </p:blipFill>
        <p:spPr>
          <a:xfrm>
            <a:off x="1472363" y="3725320"/>
            <a:ext cx="4979368" cy="2440357"/>
          </a:xfrm>
          <a:prstGeom prst="rect">
            <a:avLst/>
          </a:prstGeom>
          <a:noFill/>
          <a:ln>
            <a:noFill/>
          </a:ln>
        </p:spPr>
      </p:pic>
      <p:sp>
        <p:nvSpPr>
          <p:cNvPr id="622" name="Google Shape;622;p67"/>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Effettiva modifica Rf</a:t>
            </a:r>
            <a:endParaRPr sz="2500">
              <a:solidFill>
                <a:srgbClr val="073763"/>
              </a:solidFill>
              <a:latin typeface="Libre Franklin SemiBold"/>
              <a:ea typeface="Libre Franklin SemiBold"/>
              <a:cs typeface="Libre Franklin SemiBold"/>
              <a:sym typeface="Libre Franklin SemiBold"/>
            </a:endParaRPr>
          </a:p>
        </p:txBody>
      </p:sp>
      <p:pic>
        <p:nvPicPr>
          <p:cNvPr id="623" name="Google Shape;623;p67"/>
          <p:cNvPicPr preferRelativeResize="0"/>
          <p:nvPr/>
        </p:nvPicPr>
        <p:blipFill>
          <a:blip r:embed="rId5">
            <a:alphaModFix/>
          </a:blip>
          <a:stretch>
            <a:fillRect/>
          </a:stretch>
        </p:blipFill>
        <p:spPr>
          <a:xfrm>
            <a:off x="7686106" y="1300163"/>
            <a:ext cx="2952750" cy="1819275"/>
          </a:xfrm>
          <a:prstGeom prst="rect">
            <a:avLst/>
          </a:prstGeom>
          <a:noFill/>
          <a:ln>
            <a:noFill/>
          </a:ln>
        </p:spPr>
      </p:pic>
      <p:pic>
        <p:nvPicPr>
          <p:cNvPr id="624" name="Google Shape;624;p67"/>
          <p:cNvPicPr preferRelativeResize="0"/>
          <p:nvPr/>
        </p:nvPicPr>
        <p:blipFill>
          <a:blip r:embed="rId6">
            <a:alphaModFix/>
          </a:blip>
          <a:stretch>
            <a:fillRect/>
          </a:stretch>
        </p:blipFill>
        <p:spPr>
          <a:xfrm>
            <a:off x="8065256" y="3863688"/>
            <a:ext cx="2390775" cy="223837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pic>
        <p:nvPicPr>
          <p:cNvPr id="629" name="Google Shape;629;p68"/>
          <p:cNvPicPr preferRelativeResize="0"/>
          <p:nvPr/>
        </p:nvPicPr>
        <p:blipFill rotWithShape="1">
          <a:blip r:embed="rId3">
            <a:alphaModFix/>
          </a:blip>
          <a:srcRect b="0" l="0" r="0" t="0"/>
          <a:stretch/>
        </p:blipFill>
        <p:spPr>
          <a:xfrm>
            <a:off x="1294200" y="4066250"/>
            <a:ext cx="4901676" cy="1132125"/>
          </a:xfrm>
          <a:prstGeom prst="rect">
            <a:avLst/>
          </a:prstGeom>
          <a:noFill/>
          <a:ln>
            <a:noFill/>
          </a:ln>
        </p:spPr>
      </p:pic>
      <p:pic>
        <p:nvPicPr>
          <p:cNvPr id="630" name="Google Shape;630;p68"/>
          <p:cNvPicPr preferRelativeResize="0"/>
          <p:nvPr/>
        </p:nvPicPr>
        <p:blipFill rotWithShape="1">
          <a:blip r:embed="rId4">
            <a:alphaModFix/>
          </a:blip>
          <a:srcRect b="0" l="0" r="0" t="0"/>
          <a:stretch/>
        </p:blipFill>
        <p:spPr>
          <a:xfrm>
            <a:off x="1130049" y="1859824"/>
            <a:ext cx="3593415" cy="1993400"/>
          </a:xfrm>
          <a:prstGeom prst="rect">
            <a:avLst/>
          </a:prstGeom>
          <a:noFill/>
          <a:ln>
            <a:noFill/>
          </a:ln>
        </p:spPr>
      </p:pic>
      <p:sp>
        <p:nvSpPr>
          <p:cNvPr id="631" name="Google Shape;631;p68"/>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Risposta al gradino nel filtro HP attivo ideale</a:t>
            </a:r>
            <a:endParaRPr sz="2500">
              <a:solidFill>
                <a:srgbClr val="073763"/>
              </a:solidFill>
              <a:latin typeface="Libre Franklin SemiBold"/>
              <a:ea typeface="Libre Franklin SemiBold"/>
              <a:cs typeface="Libre Franklin SemiBold"/>
              <a:sym typeface="Libre Franklin SemiBold"/>
            </a:endParaRPr>
          </a:p>
        </p:txBody>
      </p:sp>
      <p:sp>
        <p:nvSpPr>
          <p:cNvPr id="632" name="Google Shape;632;p68"/>
          <p:cNvSpPr txBox="1"/>
          <p:nvPr/>
        </p:nvSpPr>
        <p:spPr>
          <a:xfrm>
            <a:off x="4947475" y="1479625"/>
            <a:ext cx="7030200" cy="2530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Nel circuito viene applicato un segnale Vin, rappresentato in rosso, che commuta tra -1 V e +1 V. La curva blu rappresenta invece il segnale sul nodo outC, cioè la tensione dopo il condensatore C7 e prima della resistenza R16.</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Questo punto permette di osservare direttamente il comportamento della rete RC del filtro, prima dell’amplificazione dell’operazionale.</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Quando Vin passa da -1 V a +1 V, il condensatore si carica e la tensione su outC varia gradualmente con andamento esponenziale. Quando invece Vin passa da +1 V a -1 V, il condensatore si scarica e la curva blu decresce progressivamente.</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La velocità della carica e scarica dipende dalla costante di tempo:</a:t>
            </a:r>
            <a:endParaRPr sz="1200">
              <a:solidFill>
                <a:schemeClr val="dk1"/>
              </a:solidFill>
              <a:latin typeface="Libre Franklin"/>
              <a:ea typeface="Libre Franklin"/>
              <a:cs typeface="Libre Franklin"/>
              <a:sym typeface="Libre Franklin"/>
            </a:endParaRPr>
          </a:p>
        </p:txBody>
      </p:sp>
      <p:pic>
        <p:nvPicPr>
          <p:cNvPr id="633" name="Google Shape;633;p68"/>
          <p:cNvPicPr preferRelativeResize="0"/>
          <p:nvPr/>
        </p:nvPicPr>
        <p:blipFill>
          <a:blip r:embed="rId5">
            <a:alphaModFix/>
          </a:blip>
          <a:stretch>
            <a:fillRect/>
          </a:stretch>
        </p:blipFill>
        <p:spPr>
          <a:xfrm>
            <a:off x="9843475" y="3653875"/>
            <a:ext cx="1946300" cy="1733825"/>
          </a:xfrm>
          <a:prstGeom prst="rect">
            <a:avLst/>
          </a:prstGeom>
          <a:noFill/>
          <a:ln>
            <a:noFill/>
          </a:ln>
        </p:spPr>
      </p:pic>
      <p:sp>
        <p:nvSpPr>
          <p:cNvPr id="634" name="Google Shape;634;p68"/>
          <p:cNvSpPr txBox="1"/>
          <p:nvPr/>
        </p:nvSpPr>
        <p:spPr>
          <a:xfrm>
            <a:off x="1294200" y="5715025"/>
            <a:ext cx="108039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solidFill>
                  <a:schemeClr val="dk1"/>
                </a:solidFill>
                <a:latin typeface="Libre Franklin"/>
                <a:ea typeface="Libre Franklin"/>
                <a:cs typeface="Libre Franklin"/>
                <a:sym typeface="Libre Franklin"/>
              </a:rPr>
              <a:t>Quindi il grafico mostra la risposta transitoria della sola rete RC: il condensatore non segue istantaneamente i salti di Vin, ma si carica e si scarica gradualmente. L’operazionale interviene dopo questo nodo, amplificando il segnale secondo il guadagno impostato dalla retroazione.</a:t>
            </a:r>
            <a:endParaRPr sz="1500">
              <a:latin typeface="Libre Franklin"/>
              <a:ea typeface="Libre Franklin"/>
              <a:cs typeface="Libre Franklin"/>
              <a:sym typeface="Libre Frankli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pic>
        <p:nvPicPr>
          <p:cNvPr id="639" name="Google Shape;639;p69"/>
          <p:cNvPicPr preferRelativeResize="0"/>
          <p:nvPr/>
        </p:nvPicPr>
        <p:blipFill rotWithShape="1">
          <a:blip r:embed="rId3">
            <a:alphaModFix/>
          </a:blip>
          <a:srcRect b="0" l="0" r="0" t="0"/>
          <a:stretch/>
        </p:blipFill>
        <p:spPr>
          <a:xfrm>
            <a:off x="2841097" y="3099328"/>
            <a:ext cx="7073900" cy="3466875"/>
          </a:xfrm>
          <a:prstGeom prst="rect">
            <a:avLst/>
          </a:prstGeom>
          <a:noFill/>
          <a:ln>
            <a:noFill/>
          </a:ln>
        </p:spPr>
      </p:pic>
      <p:sp>
        <p:nvSpPr>
          <p:cNvPr id="640" name="Google Shape;640;p69"/>
          <p:cNvSpPr txBox="1"/>
          <p:nvPr/>
        </p:nvSpPr>
        <p:spPr>
          <a:xfrm>
            <a:off x="758300" y="381600"/>
            <a:ext cx="108567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solidFill>
                  <a:schemeClr val="dk1"/>
                </a:solidFill>
                <a:latin typeface="Libre Franklin"/>
                <a:ea typeface="Libre Franklin"/>
                <a:cs typeface="Libre Franklin"/>
                <a:sym typeface="Libre Franklin"/>
              </a:rPr>
              <a:t>Il segnale di ingresso Vin, rappresentato in rosso, è un’onda quadra compresa tra -1 V e +1 V. Ogni fronte del segnale produce quindi una variazione totale pari a:</a:t>
            </a:r>
            <a:endParaRPr sz="1500">
              <a:latin typeface="Libre Franklin"/>
              <a:ea typeface="Libre Franklin"/>
              <a:cs typeface="Libre Franklin"/>
              <a:sym typeface="Libre Franklin"/>
            </a:endParaRPr>
          </a:p>
        </p:txBody>
      </p:sp>
      <p:pic>
        <p:nvPicPr>
          <p:cNvPr id="641" name="Google Shape;641;p69"/>
          <p:cNvPicPr preferRelativeResize="0"/>
          <p:nvPr/>
        </p:nvPicPr>
        <p:blipFill>
          <a:blip r:embed="rId4">
            <a:alphaModFix/>
          </a:blip>
          <a:stretch>
            <a:fillRect/>
          </a:stretch>
        </p:blipFill>
        <p:spPr>
          <a:xfrm>
            <a:off x="1776236" y="738900"/>
            <a:ext cx="1723826" cy="354000"/>
          </a:xfrm>
          <a:prstGeom prst="rect">
            <a:avLst/>
          </a:prstGeom>
          <a:noFill/>
          <a:ln>
            <a:noFill/>
          </a:ln>
        </p:spPr>
      </p:pic>
      <p:sp>
        <p:nvSpPr>
          <p:cNvPr id="642" name="Google Shape;642;p69"/>
          <p:cNvSpPr txBox="1"/>
          <p:nvPr/>
        </p:nvSpPr>
        <p:spPr>
          <a:xfrm>
            <a:off x="833700" y="1276200"/>
            <a:ext cx="11358300" cy="1716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lang="it-IT">
                <a:solidFill>
                  <a:schemeClr val="dk1"/>
                </a:solidFill>
                <a:latin typeface="Libre Franklin"/>
                <a:ea typeface="Libre Franklin"/>
                <a:cs typeface="Libre Franklin"/>
                <a:sym typeface="Libre Franklin"/>
              </a:rPr>
              <a:t>Comportamento della rete RC</a:t>
            </a:r>
            <a:endParaRPr>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Nel primo stadio del circuito è presente la rete RC passa-alto formata dal condensatore e dalla resistenza d’ingresso.</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Quando Vin cambia bruscamente valore, il condensatore non può variare istantaneamente la tensione ai suoi capi. Per questo motivo trasferisce inizialmente la variazione al nodo del filtro, generando un impulso.</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Dopo il fronte, il condensatore inizia a caricarsi o scaricarsi attraverso la resistenza e il segnale decade progressivamente con andamento esponenziale.</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70"/>
          <p:cNvSpPr txBox="1"/>
          <p:nvPr/>
        </p:nvSpPr>
        <p:spPr>
          <a:xfrm>
            <a:off x="1350150" y="527125"/>
            <a:ext cx="10683000" cy="1562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a:solidFill>
                  <a:schemeClr val="dk1"/>
                </a:solidFill>
                <a:latin typeface="Libre Franklin"/>
                <a:ea typeface="Libre Franklin"/>
                <a:cs typeface="Libre Franklin"/>
                <a:sym typeface="Libre Franklin"/>
              </a:rPr>
              <a:t>Nodo intermedio del filtro</a:t>
            </a:r>
            <a:endParaRPr b="1">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La curva blu rappresenta il segnale sul nodo intermedio della rete RC, cioè il punto tra Vin e l’ingresso dell’operazionale.</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Si osserva che, a ogni fronte della curva rossa, la curva blu presenta una variazione rapida seguita da un decadimento esponenziale. Questo è il comportamento tipico del filtro passa-alto: vengono evidenziate le variazioni rapide del segnale, mentre il valore continuo tende progressivamente a zero.</a:t>
            </a:r>
            <a:endParaRPr sz="1200">
              <a:solidFill>
                <a:schemeClr val="dk1"/>
              </a:solidFill>
              <a:latin typeface="Libre Franklin"/>
              <a:ea typeface="Libre Franklin"/>
              <a:cs typeface="Libre Franklin"/>
              <a:sym typeface="Libre Franklin"/>
            </a:endParaRPr>
          </a:p>
        </p:txBody>
      </p:sp>
      <p:pic>
        <p:nvPicPr>
          <p:cNvPr id="649" name="Google Shape;649;p70"/>
          <p:cNvPicPr preferRelativeResize="0"/>
          <p:nvPr/>
        </p:nvPicPr>
        <p:blipFill rotWithShape="1">
          <a:blip r:embed="rId3">
            <a:alphaModFix/>
          </a:blip>
          <a:srcRect b="0" l="0" r="0" t="0"/>
          <a:stretch/>
        </p:blipFill>
        <p:spPr>
          <a:xfrm>
            <a:off x="3525438" y="2169188"/>
            <a:ext cx="5141127" cy="2519624"/>
          </a:xfrm>
          <a:prstGeom prst="rect">
            <a:avLst/>
          </a:prstGeom>
          <a:noFill/>
          <a:ln>
            <a:noFill/>
          </a:ln>
        </p:spPr>
      </p:pic>
      <p:sp>
        <p:nvSpPr>
          <p:cNvPr id="650" name="Google Shape;650;p70"/>
          <p:cNvSpPr txBox="1"/>
          <p:nvPr/>
        </p:nvSpPr>
        <p:spPr>
          <a:xfrm>
            <a:off x="1081950" y="5029200"/>
            <a:ext cx="10294800" cy="1562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a:solidFill>
                  <a:schemeClr val="dk1"/>
                </a:solidFill>
                <a:latin typeface="Libre Franklin"/>
                <a:ea typeface="Libre Franklin"/>
                <a:cs typeface="Libre Franklin"/>
                <a:sym typeface="Libre Franklin"/>
              </a:rPr>
              <a:t>Uscita amplificata</a:t>
            </a:r>
            <a:endParaRPr b="1">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La curva verde rappresenta l’uscita dell’operazionale. Rispetto alla curva blu, mantiene lo stesso andamento esponenziale, ma risulta invertita e con ampiezza circa doppia.</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Questo significa che il filtro attivo conserva il comportamento del filtro RC, ma aggiunge l’effetto dell’operazionale: il segnale viene amplificato di un fattore 2 e invertito di fase.</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5" name="Shape 655"/>
        <p:cNvGrpSpPr/>
        <p:nvPr/>
      </p:nvGrpSpPr>
      <p:grpSpPr>
        <a:xfrm>
          <a:off x="0" y="0"/>
          <a:ext cx="0" cy="0"/>
          <a:chOff x="0" y="0"/>
          <a:chExt cx="0" cy="0"/>
        </a:xfrm>
      </p:grpSpPr>
      <p:sp>
        <p:nvSpPr>
          <p:cNvPr id="656" name="Google Shape;656;p71"/>
          <p:cNvSpPr txBox="1"/>
          <p:nvPr/>
        </p:nvSpPr>
        <p:spPr>
          <a:xfrm>
            <a:off x="1378800" y="650275"/>
            <a:ext cx="95496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Effetto della resistenza Rs sulla carica e scarica del condensatore</a:t>
            </a:r>
            <a:endParaRPr sz="2500">
              <a:solidFill>
                <a:srgbClr val="073763"/>
              </a:solidFill>
              <a:latin typeface="Libre Franklin SemiBold"/>
              <a:ea typeface="Libre Franklin SemiBold"/>
              <a:cs typeface="Libre Franklin SemiBold"/>
              <a:sym typeface="Libre Franklin SemiBold"/>
            </a:endParaRPr>
          </a:p>
        </p:txBody>
      </p:sp>
      <p:pic>
        <p:nvPicPr>
          <p:cNvPr id="657" name="Google Shape;657;p71"/>
          <p:cNvPicPr preferRelativeResize="0"/>
          <p:nvPr/>
        </p:nvPicPr>
        <p:blipFill>
          <a:blip r:embed="rId3">
            <a:alphaModFix/>
          </a:blip>
          <a:stretch>
            <a:fillRect/>
          </a:stretch>
        </p:blipFill>
        <p:spPr>
          <a:xfrm>
            <a:off x="10721500" y="2329950"/>
            <a:ext cx="1219200" cy="419100"/>
          </a:xfrm>
          <a:prstGeom prst="rect">
            <a:avLst/>
          </a:prstGeom>
          <a:noFill/>
          <a:ln>
            <a:noFill/>
          </a:ln>
        </p:spPr>
      </p:pic>
      <p:sp>
        <p:nvSpPr>
          <p:cNvPr id="658" name="Google Shape;658;p71"/>
          <p:cNvSpPr txBox="1"/>
          <p:nvPr/>
        </p:nvSpPr>
        <p:spPr>
          <a:xfrm>
            <a:off x="785400" y="1851750"/>
            <a:ext cx="10736400" cy="89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Nel caso ideale, l’operazionale mantiene il nodo invertente a massa virtuale. Questo significa che il nodo collegato all’ingresso (−) resta circa a 0 V, anche se non è collegato direttamente a massa.</a:t>
            </a:r>
            <a:endParaRPr sz="11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In questa condizione, il condensatore C4 vede principalmente la resistenza R16. La costante di tempo del circuito può quindi essere approssimata con:</a:t>
            </a:r>
            <a:endParaRPr>
              <a:latin typeface="Libre Franklin"/>
              <a:ea typeface="Libre Franklin"/>
              <a:cs typeface="Libre Franklin"/>
              <a:sym typeface="Libre Franklin"/>
            </a:endParaRPr>
          </a:p>
        </p:txBody>
      </p:sp>
      <p:sp>
        <p:nvSpPr>
          <p:cNvPr id="659" name="Google Shape;659;p71"/>
          <p:cNvSpPr txBox="1"/>
          <p:nvPr/>
        </p:nvSpPr>
        <p:spPr>
          <a:xfrm>
            <a:off x="887775" y="2894500"/>
            <a:ext cx="10819800" cy="1177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Quando però la resistenza di retroazione R17 diventa molto grande, la retroazione è meno efficace. L’operazionale fatica a mantenere il nodo invertente perfettamente a 0 V, quindi la massa virtuale diventa meno ideale.</a:t>
            </a:r>
            <a:endParaRPr sz="10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Di conseguenza, il condensatore non vede più soltanto R16, ma una resistenza equivalente maggiore. In questo caso anche R17 contribuisce, almeno in parte, alla costante di tempo.</a:t>
            </a:r>
            <a:endParaRPr sz="10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La relazione approssimata diventa:</a:t>
            </a:r>
            <a:endParaRPr sz="1000">
              <a:solidFill>
                <a:schemeClr val="dk1"/>
              </a:solidFill>
              <a:latin typeface="Libre Franklin"/>
              <a:ea typeface="Libre Franklin"/>
              <a:cs typeface="Libre Franklin"/>
              <a:sym typeface="Libre Franklin"/>
            </a:endParaRPr>
          </a:p>
        </p:txBody>
      </p:sp>
      <p:pic>
        <p:nvPicPr>
          <p:cNvPr id="660" name="Google Shape;660;p71"/>
          <p:cNvPicPr preferRelativeResize="0"/>
          <p:nvPr/>
        </p:nvPicPr>
        <p:blipFill>
          <a:blip r:embed="rId4">
            <a:alphaModFix/>
          </a:blip>
          <a:stretch>
            <a:fillRect/>
          </a:stretch>
        </p:blipFill>
        <p:spPr>
          <a:xfrm>
            <a:off x="5072063" y="3919225"/>
            <a:ext cx="2047875" cy="800100"/>
          </a:xfrm>
          <a:prstGeom prst="rect">
            <a:avLst/>
          </a:prstGeom>
          <a:noFill/>
          <a:ln>
            <a:noFill/>
          </a:ln>
        </p:spPr>
      </p:pic>
      <p:sp>
        <p:nvSpPr>
          <p:cNvPr id="661" name="Google Shape;661;p71"/>
          <p:cNvSpPr txBox="1"/>
          <p:nvPr/>
        </p:nvSpPr>
        <p:spPr>
          <a:xfrm>
            <a:off x="1294675" y="4761125"/>
            <a:ext cx="5326500" cy="702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latin typeface="Libre Franklin"/>
                <a:ea typeface="Libre Franklin"/>
                <a:cs typeface="Libre Franklin"/>
                <a:sym typeface="Libre Franklin"/>
              </a:rPr>
              <a:t>dove A è il guadagno ad anello aperto dell’operazionale.</a:t>
            </a:r>
            <a:endParaRPr sz="11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100">
                <a:solidFill>
                  <a:schemeClr val="dk1"/>
                </a:solidFill>
                <a:latin typeface="Libre Franklin"/>
                <a:ea typeface="Libre Franklin"/>
                <a:cs typeface="Libre Franklin"/>
                <a:sym typeface="Libre Franklin"/>
              </a:rPr>
              <a:t>Se A è molto grande, il termine:</a:t>
            </a:r>
            <a:endParaRPr sz="1100">
              <a:solidFill>
                <a:schemeClr val="dk1"/>
              </a:solidFill>
              <a:latin typeface="Libre Franklin"/>
              <a:ea typeface="Libre Franklin"/>
              <a:cs typeface="Libre Franklin"/>
              <a:sym typeface="Libre Franklin"/>
            </a:endParaRPr>
          </a:p>
        </p:txBody>
      </p:sp>
      <p:pic>
        <p:nvPicPr>
          <p:cNvPr id="662" name="Google Shape;662;p71"/>
          <p:cNvPicPr preferRelativeResize="0"/>
          <p:nvPr/>
        </p:nvPicPr>
        <p:blipFill>
          <a:blip r:embed="rId5">
            <a:alphaModFix/>
          </a:blip>
          <a:stretch>
            <a:fillRect/>
          </a:stretch>
        </p:blipFill>
        <p:spPr>
          <a:xfrm>
            <a:off x="3971650" y="5029200"/>
            <a:ext cx="657225" cy="647700"/>
          </a:xfrm>
          <a:prstGeom prst="rect">
            <a:avLst/>
          </a:prstGeom>
          <a:noFill/>
          <a:ln>
            <a:noFill/>
          </a:ln>
        </p:spPr>
      </p:pic>
      <p:sp>
        <p:nvSpPr>
          <p:cNvPr id="663" name="Google Shape;663;p71"/>
          <p:cNvSpPr txBox="1"/>
          <p:nvPr/>
        </p:nvSpPr>
        <p:spPr>
          <a:xfrm>
            <a:off x="5072075" y="5078825"/>
            <a:ext cx="36573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300">
                <a:latin typeface="Libre Franklin"/>
                <a:ea typeface="Libre Franklin"/>
                <a:cs typeface="Libre Franklin"/>
                <a:sym typeface="Libre Franklin"/>
              </a:rPr>
              <a:t>è trascurabile e si torna al caso ideale:</a:t>
            </a:r>
            <a:endParaRPr sz="1300">
              <a:latin typeface="Libre Franklin"/>
              <a:ea typeface="Libre Franklin"/>
              <a:cs typeface="Libre Franklin"/>
              <a:sym typeface="Libre Franklin"/>
            </a:endParaRPr>
          </a:p>
        </p:txBody>
      </p:sp>
      <p:pic>
        <p:nvPicPr>
          <p:cNvPr id="664" name="Google Shape;664;p71"/>
          <p:cNvPicPr preferRelativeResize="0"/>
          <p:nvPr/>
        </p:nvPicPr>
        <p:blipFill>
          <a:blip r:embed="rId6">
            <a:alphaModFix/>
          </a:blip>
          <a:stretch>
            <a:fillRect/>
          </a:stretch>
        </p:blipFill>
        <p:spPr>
          <a:xfrm>
            <a:off x="8428975" y="5085525"/>
            <a:ext cx="1209675" cy="371475"/>
          </a:xfrm>
          <a:prstGeom prst="rect">
            <a:avLst/>
          </a:prstGeom>
          <a:noFill/>
          <a:ln>
            <a:noFill/>
          </a:ln>
        </p:spPr>
      </p:pic>
      <p:sp>
        <p:nvSpPr>
          <p:cNvPr id="665" name="Google Shape;665;p71"/>
          <p:cNvSpPr txBox="1"/>
          <p:nvPr/>
        </p:nvSpPr>
        <p:spPr>
          <a:xfrm>
            <a:off x="1794025" y="5986400"/>
            <a:ext cx="97746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solidFill>
                  <a:schemeClr val="dk1"/>
                </a:solidFill>
                <a:latin typeface="Libre Franklin"/>
                <a:ea typeface="Libre Franklin"/>
                <a:cs typeface="Libre Franklin"/>
                <a:sym typeface="Libre Franklin"/>
              </a:rPr>
              <a:t>Se invece R17 è molto elevata, oppure l’operazionale non riesce a mantenere bene la massa virtuale, il contributo di R17 diventa significativo. Il transitorio risulta quindi più lento perché aumenta la costante di tempo equivalente.</a:t>
            </a:r>
            <a:endParaRPr sz="1500">
              <a:latin typeface="Libre Franklin"/>
              <a:ea typeface="Libre Franklin"/>
              <a:cs typeface="Libre Franklin"/>
              <a:sym typeface="Libre Frankli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pic>
        <p:nvPicPr>
          <p:cNvPr id="670" name="Google Shape;670;p72"/>
          <p:cNvPicPr preferRelativeResize="0"/>
          <p:nvPr/>
        </p:nvPicPr>
        <p:blipFill rotWithShape="1">
          <a:blip r:embed="rId3">
            <a:alphaModFix/>
          </a:blip>
          <a:srcRect b="0" l="0" r="0" t="0"/>
          <a:stretch/>
        </p:blipFill>
        <p:spPr>
          <a:xfrm>
            <a:off x="1400622" y="4267802"/>
            <a:ext cx="10349477" cy="2390425"/>
          </a:xfrm>
          <a:prstGeom prst="rect">
            <a:avLst/>
          </a:prstGeom>
          <a:noFill/>
          <a:ln>
            <a:noFill/>
          </a:ln>
        </p:spPr>
      </p:pic>
      <p:pic>
        <p:nvPicPr>
          <p:cNvPr id="671" name="Google Shape;671;p72"/>
          <p:cNvPicPr preferRelativeResize="0"/>
          <p:nvPr/>
        </p:nvPicPr>
        <p:blipFill rotWithShape="1">
          <a:blip r:embed="rId4">
            <a:alphaModFix/>
          </a:blip>
          <a:srcRect b="0" l="0" r="0" t="0"/>
          <a:stretch/>
        </p:blipFill>
        <p:spPr>
          <a:xfrm>
            <a:off x="680951" y="1074788"/>
            <a:ext cx="5960663" cy="2390424"/>
          </a:xfrm>
          <a:prstGeom prst="rect">
            <a:avLst/>
          </a:prstGeom>
          <a:noFill/>
          <a:ln>
            <a:noFill/>
          </a:ln>
        </p:spPr>
      </p:pic>
      <p:pic>
        <p:nvPicPr>
          <p:cNvPr id="672" name="Google Shape;672;p72"/>
          <p:cNvPicPr preferRelativeResize="0"/>
          <p:nvPr/>
        </p:nvPicPr>
        <p:blipFill rotWithShape="1">
          <a:blip r:embed="rId5">
            <a:alphaModFix/>
          </a:blip>
          <a:srcRect b="0" l="0" r="0" t="0"/>
          <a:stretch/>
        </p:blipFill>
        <p:spPr>
          <a:xfrm>
            <a:off x="6809451" y="1180499"/>
            <a:ext cx="5024225" cy="228470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pic>
        <p:nvPicPr>
          <p:cNvPr id="678" name="Google Shape;678;p73"/>
          <p:cNvPicPr preferRelativeResize="0"/>
          <p:nvPr/>
        </p:nvPicPr>
        <p:blipFill rotWithShape="1">
          <a:blip r:embed="rId3">
            <a:alphaModFix/>
          </a:blip>
          <a:srcRect b="0" l="0" r="0" t="0"/>
          <a:stretch/>
        </p:blipFill>
        <p:spPr>
          <a:xfrm>
            <a:off x="859449" y="1555225"/>
            <a:ext cx="5039726" cy="2291750"/>
          </a:xfrm>
          <a:prstGeom prst="rect">
            <a:avLst/>
          </a:prstGeom>
          <a:noFill/>
          <a:ln>
            <a:noFill/>
          </a:ln>
        </p:spPr>
      </p:pic>
      <p:pic>
        <p:nvPicPr>
          <p:cNvPr id="679" name="Google Shape;679;p73"/>
          <p:cNvPicPr preferRelativeResize="0"/>
          <p:nvPr/>
        </p:nvPicPr>
        <p:blipFill rotWithShape="1">
          <a:blip r:embed="rId4">
            <a:alphaModFix/>
          </a:blip>
          <a:srcRect b="0" l="0" r="0" t="0"/>
          <a:stretch/>
        </p:blipFill>
        <p:spPr>
          <a:xfrm>
            <a:off x="1540575" y="4133646"/>
            <a:ext cx="10442275" cy="2411850"/>
          </a:xfrm>
          <a:prstGeom prst="rect">
            <a:avLst/>
          </a:prstGeom>
          <a:noFill/>
          <a:ln>
            <a:noFill/>
          </a:ln>
        </p:spPr>
      </p:pic>
      <p:pic>
        <p:nvPicPr>
          <p:cNvPr id="680" name="Google Shape;680;p73"/>
          <p:cNvPicPr preferRelativeResize="0"/>
          <p:nvPr/>
        </p:nvPicPr>
        <p:blipFill rotWithShape="1">
          <a:blip r:embed="rId5">
            <a:alphaModFix/>
          </a:blip>
          <a:srcRect b="0" l="0" r="0" t="0"/>
          <a:stretch/>
        </p:blipFill>
        <p:spPr>
          <a:xfrm>
            <a:off x="6711083" y="1864057"/>
            <a:ext cx="5100676" cy="1982925"/>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4" name="Shape 684"/>
        <p:cNvGrpSpPr/>
        <p:nvPr/>
      </p:nvGrpSpPr>
      <p:grpSpPr>
        <a:xfrm>
          <a:off x="0" y="0"/>
          <a:ext cx="0" cy="0"/>
          <a:chOff x="0" y="0"/>
          <a:chExt cx="0" cy="0"/>
        </a:xfrm>
      </p:grpSpPr>
      <p:pic>
        <p:nvPicPr>
          <p:cNvPr id="685" name="Google Shape;685;p74"/>
          <p:cNvPicPr preferRelativeResize="0"/>
          <p:nvPr/>
        </p:nvPicPr>
        <p:blipFill rotWithShape="1">
          <a:blip r:embed="rId3">
            <a:alphaModFix/>
          </a:blip>
          <a:srcRect b="0" l="0" r="0" t="0"/>
          <a:stretch/>
        </p:blipFill>
        <p:spPr>
          <a:xfrm>
            <a:off x="3035776" y="3157951"/>
            <a:ext cx="6500550" cy="3185874"/>
          </a:xfrm>
          <a:prstGeom prst="rect">
            <a:avLst/>
          </a:prstGeom>
          <a:noFill/>
          <a:ln>
            <a:noFill/>
          </a:ln>
        </p:spPr>
      </p:pic>
      <p:pic>
        <p:nvPicPr>
          <p:cNvPr id="686" name="Google Shape;686;p74"/>
          <p:cNvPicPr preferRelativeResize="0"/>
          <p:nvPr/>
        </p:nvPicPr>
        <p:blipFill rotWithShape="1">
          <a:blip r:embed="rId4">
            <a:alphaModFix/>
          </a:blip>
          <a:srcRect b="0" l="0" r="0" t="0"/>
          <a:stretch/>
        </p:blipFill>
        <p:spPr>
          <a:xfrm>
            <a:off x="6657674" y="431861"/>
            <a:ext cx="4902300" cy="2138975"/>
          </a:xfrm>
          <a:prstGeom prst="rect">
            <a:avLst/>
          </a:prstGeom>
          <a:noFill/>
          <a:ln>
            <a:noFill/>
          </a:ln>
        </p:spPr>
      </p:pic>
      <p:pic>
        <p:nvPicPr>
          <p:cNvPr id="687" name="Google Shape;687;p74"/>
          <p:cNvPicPr preferRelativeResize="0"/>
          <p:nvPr/>
        </p:nvPicPr>
        <p:blipFill rotWithShape="1">
          <a:blip r:embed="rId5">
            <a:alphaModFix/>
          </a:blip>
          <a:srcRect b="0" l="0" r="0" t="0"/>
          <a:stretch/>
        </p:blipFill>
        <p:spPr>
          <a:xfrm>
            <a:off x="1221842" y="483290"/>
            <a:ext cx="4465448" cy="1948800"/>
          </a:xfrm>
          <a:prstGeom prst="rect">
            <a:avLst/>
          </a:prstGeom>
          <a:noFill/>
          <a:ln>
            <a:noFill/>
          </a:ln>
        </p:spPr>
      </p:pic>
      <p:sp>
        <p:nvSpPr>
          <p:cNvPr id="688" name="Google Shape;688;p74"/>
          <p:cNvSpPr txBox="1"/>
          <p:nvPr/>
        </p:nvSpPr>
        <p:spPr>
          <a:xfrm>
            <a:off x="1821775" y="2533825"/>
            <a:ext cx="4420200" cy="54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800">
                <a:solidFill>
                  <a:schemeClr val="dk1"/>
                </a:solidFill>
                <a:latin typeface="Open Sans"/>
                <a:ea typeface="Open Sans"/>
                <a:cs typeface="Open Sans"/>
                <a:sym typeface="Open Sans"/>
              </a:rPr>
              <a:t>non cambia</a:t>
            </a:r>
            <a:endParaRPr sz="2800">
              <a:solidFill>
                <a:schemeClr val="dk1"/>
              </a:solidFill>
              <a:latin typeface="Open Sans"/>
              <a:ea typeface="Open Sans"/>
              <a:cs typeface="Open Sans"/>
              <a:sym typeface="Open Sans"/>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3" name="Shape 693"/>
        <p:cNvGrpSpPr/>
        <p:nvPr/>
      </p:nvGrpSpPr>
      <p:grpSpPr>
        <a:xfrm>
          <a:off x="0" y="0"/>
          <a:ext cx="0" cy="0"/>
          <a:chOff x="0" y="0"/>
          <a:chExt cx="0" cy="0"/>
        </a:xfrm>
      </p:grpSpPr>
      <p:sp>
        <p:nvSpPr>
          <p:cNvPr id="694" name="Google Shape;694;p75"/>
          <p:cNvSpPr txBox="1"/>
          <p:nvPr/>
        </p:nvSpPr>
        <p:spPr>
          <a:xfrm>
            <a:off x="1378800" y="650275"/>
            <a:ext cx="95496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2500">
                <a:solidFill>
                  <a:srgbClr val="073763"/>
                </a:solidFill>
                <a:latin typeface="Libre Franklin SemiBold"/>
                <a:ea typeface="Libre Franklin SemiBold"/>
                <a:cs typeface="Libre Franklin SemiBold"/>
                <a:sym typeface="Libre Franklin SemiBold"/>
              </a:rPr>
              <a:t>Filtro attivo con condensatore reale e parassiti</a:t>
            </a:r>
            <a:endParaRPr sz="2500">
              <a:solidFill>
                <a:srgbClr val="073763"/>
              </a:solidFill>
              <a:latin typeface="Libre Franklin SemiBold"/>
              <a:ea typeface="Libre Franklin SemiBold"/>
              <a:cs typeface="Libre Franklin SemiBold"/>
              <a:sym typeface="Libre Franklin SemiBold"/>
            </a:endParaRPr>
          </a:p>
        </p:txBody>
      </p:sp>
      <p:sp>
        <p:nvSpPr>
          <p:cNvPr id="695" name="Google Shape;695;p75"/>
          <p:cNvSpPr txBox="1"/>
          <p:nvPr/>
        </p:nvSpPr>
        <p:spPr>
          <a:xfrm>
            <a:off x="1378800" y="1407425"/>
            <a:ext cx="8110800" cy="1685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In questa simulazione viene confrontato il filtro passa-alto attivo ideale con una versione in cui il condensatore non è più considerato perfetto. Nel circuito inferiore, infatti, il condensatore è modellato con i suoi parassiti principali: una ESR in serie e una ESL in serie.</a:t>
            </a:r>
            <a:endParaRPr sz="10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Il modello reale diventa quindi:</a:t>
            </a:r>
            <a:endParaRPr sz="10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C+ESR+ESLC + ESR + ESLC+ESR+ESL</a:t>
            </a:r>
            <a:endParaRPr sz="10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dove la ESR rappresenta le perdite resistive del condensatore, mentre la ESL rappresenta la piccola induttanza parassita dovuta alla struttura fisica del componente.</a:t>
            </a:r>
            <a:endParaRPr sz="1000">
              <a:solidFill>
                <a:schemeClr val="dk1"/>
              </a:solidFill>
              <a:latin typeface="Libre Franklin"/>
              <a:ea typeface="Libre Franklin"/>
              <a:cs typeface="Libre Franklin"/>
              <a:sym typeface="Libre Franklin"/>
            </a:endParaRPr>
          </a:p>
        </p:txBody>
      </p:sp>
      <p:pic>
        <p:nvPicPr>
          <p:cNvPr id="696" name="Google Shape;696;p75"/>
          <p:cNvPicPr preferRelativeResize="0"/>
          <p:nvPr/>
        </p:nvPicPr>
        <p:blipFill rotWithShape="1">
          <a:blip r:embed="rId3">
            <a:alphaModFix/>
          </a:blip>
          <a:srcRect b="0" l="0" r="0" t="0"/>
          <a:stretch/>
        </p:blipFill>
        <p:spPr>
          <a:xfrm>
            <a:off x="1378810" y="3727700"/>
            <a:ext cx="6250639" cy="1142024"/>
          </a:xfrm>
          <a:prstGeom prst="rect">
            <a:avLst/>
          </a:prstGeom>
          <a:noFill/>
          <a:ln>
            <a:noFill/>
          </a:ln>
        </p:spPr>
      </p:pic>
      <p:pic>
        <p:nvPicPr>
          <p:cNvPr id="697" name="Google Shape;697;p75"/>
          <p:cNvPicPr preferRelativeResize="0"/>
          <p:nvPr/>
        </p:nvPicPr>
        <p:blipFill rotWithShape="1">
          <a:blip r:embed="rId4">
            <a:alphaModFix/>
          </a:blip>
          <a:srcRect b="0" l="0" r="0" t="0"/>
          <a:stretch/>
        </p:blipFill>
        <p:spPr>
          <a:xfrm>
            <a:off x="8116922" y="2911045"/>
            <a:ext cx="2510018" cy="2887683"/>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76"/>
          <p:cNvSpPr txBox="1"/>
          <p:nvPr/>
        </p:nvSpPr>
        <p:spPr>
          <a:xfrm>
            <a:off x="1165750" y="504675"/>
            <a:ext cx="7214700" cy="882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200">
                <a:solidFill>
                  <a:schemeClr val="dk1"/>
                </a:solidFill>
                <a:latin typeface="Libre Franklin"/>
                <a:ea typeface="Libre Franklin"/>
                <a:cs typeface="Libre Franklin"/>
                <a:sym typeface="Libre Franklin"/>
              </a:rPr>
              <a:t>Effetto dell’ESL: comparsa del comportamento passa-basso</a:t>
            </a:r>
            <a:endParaRPr b="1"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Quando si introducono i parassiti del condensatore, alle alte frequenze entra in gioco l’induttanza serie ESL. A basse frequenze domina la capacità, ma ad alte frequenze l’impedenza dell’induttanza cresce:</a:t>
            </a:r>
            <a:endParaRPr sz="1300">
              <a:latin typeface="Libre Franklin"/>
              <a:ea typeface="Libre Franklin"/>
              <a:cs typeface="Libre Franklin"/>
              <a:sym typeface="Libre Franklin"/>
            </a:endParaRPr>
          </a:p>
        </p:txBody>
      </p:sp>
      <p:pic>
        <p:nvPicPr>
          <p:cNvPr id="704" name="Google Shape;704;p76"/>
          <p:cNvPicPr preferRelativeResize="0"/>
          <p:nvPr/>
        </p:nvPicPr>
        <p:blipFill>
          <a:blip r:embed="rId3">
            <a:alphaModFix/>
          </a:blip>
          <a:stretch>
            <a:fillRect/>
          </a:stretch>
        </p:blipFill>
        <p:spPr>
          <a:xfrm>
            <a:off x="1524275" y="1638050"/>
            <a:ext cx="1439850" cy="2988125"/>
          </a:xfrm>
          <a:prstGeom prst="rect">
            <a:avLst/>
          </a:prstGeom>
          <a:noFill/>
          <a:ln>
            <a:noFill/>
          </a:ln>
        </p:spPr>
      </p:pic>
      <p:sp>
        <p:nvSpPr>
          <p:cNvPr id="705" name="Google Shape;705;p76"/>
          <p:cNvSpPr txBox="1"/>
          <p:nvPr/>
        </p:nvSpPr>
        <p:spPr>
          <a:xfrm>
            <a:off x="3397725" y="1606450"/>
            <a:ext cx="7307400" cy="692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Dopo questa frequenza, l’ESL domina e il condensatore reale inizia a comportarsi come una piccola induttanza. Per questo motivo la risposta, invece di restare piatta alle alte frequenze, tende a diminuire: compare un effetto simile a un passa-basso.</a:t>
            </a:r>
            <a:endParaRPr sz="1000">
              <a:solidFill>
                <a:schemeClr val="dk1"/>
              </a:solidFill>
              <a:latin typeface="Libre Franklin"/>
              <a:ea typeface="Libre Franklin"/>
              <a:cs typeface="Libre Franklin"/>
              <a:sym typeface="Libre Franklin"/>
            </a:endParaRPr>
          </a:p>
        </p:txBody>
      </p:sp>
      <p:sp>
        <p:nvSpPr>
          <p:cNvPr id="706" name="Google Shape;706;p76"/>
          <p:cNvSpPr txBox="1"/>
          <p:nvPr/>
        </p:nvSpPr>
        <p:spPr>
          <a:xfrm>
            <a:off x="3330225" y="2704325"/>
            <a:ext cx="7442400" cy="1708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A</a:t>
            </a:r>
            <a:r>
              <a:rPr lang="it-IT" sz="1000">
                <a:solidFill>
                  <a:schemeClr val="dk1"/>
                </a:solidFill>
                <a:latin typeface="Libre Franklin"/>
                <a:ea typeface="Libre Franklin"/>
                <a:cs typeface="Libre Franklin"/>
                <a:sym typeface="Libre Franklin"/>
              </a:rPr>
              <a:t>nche con un opamp ideale il comportamento passa-basso dovuto all’ESL può comparire, perché non dipende dall’operazionale ma dal modello reale del condensatore.</a:t>
            </a:r>
            <a:endParaRPr sz="10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000">
                <a:solidFill>
                  <a:schemeClr val="dk1"/>
                </a:solidFill>
                <a:latin typeface="Libre Franklin"/>
                <a:ea typeface="Libre Franklin"/>
                <a:cs typeface="Libre Franklin"/>
                <a:sym typeface="Libre Franklin"/>
              </a:rPr>
              <a:t>L’opamp ideale elimina limiti come banda passante, slew rate e impedenza di uscita, ma non elimina i parassiti dei componenti esterni. Quindi, se il condensatore viene modellato con ESL ed ESR, la risposta del filtro attivo risente comunque della risonanza del condensatore.</a:t>
            </a:r>
            <a:endParaRPr sz="10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000">
                <a:solidFill>
                  <a:schemeClr val="dk1"/>
                </a:solidFill>
                <a:latin typeface="Libre Franklin"/>
                <a:ea typeface="Libre Franklin"/>
                <a:cs typeface="Libre Franklin"/>
                <a:sym typeface="Libre Franklin"/>
              </a:rPr>
              <a:t>Nel grafico si vede infatti che la risposta passa-alto cresce e poi rimane stabile, ma alle frequenze molto alte tende a scendere. Questa discesa non è causata dal limite dell’opamp, ma dal comportamento induttivo del condensatore reale.</a:t>
            </a:r>
            <a:endParaRPr sz="1000">
              <a:solidFill>
                <a:schemeClr val="dk1"/>
              </a:solidFill>
              <a:latin typeface="Libre Franklin"/>
              <a:ea typeface="Libre Franklin"/>
              <a:cs typeface="Libre Franklin"/>
              <a:sym typeface="Libre Franklin"/>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pic>
        <p:nvPicPr>
          <p:cNvPr id="712" name="Google Shape;712;p77"/>
          <p:cNvPicPr preferRelativeResize="0"/>
          <p:nvPr/>
        </p:nvPicPr>
        <p:blipFill rotWithShape="1">
          <a:blip r:embed="rId3">
            <a:alphaModFix/>
          </a:blip>
          <a:srcRect b="0" l="0" r="0" t="0"/>
          <a:stretch/>
        </p:blipFill>
        <p:spPr>
          <a:xfrm>
            <a:off x="1144407" y="500963"/>
            <a:ext cx="9739549" cy="4773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GradientVTI">
  <a:themeElements>
    <a:clrScheme name="Gradient">
      <a:dk1>
        <a:srgbClr val="000000"/>
      </a:dk1>
      <a:lt1>
        <a:srgbClr val="FFFFFF"/>
      </a:lt1>
      <a:dk2>
        <a:srgbClr val="10013F"/>
      </a:dk2>
      <a:lt2>
        <a:srgbClr val="F2F0FF"/>
      </a:lt2>
      <a:accent1>
        <a:srgbClr val="814DFF"/>
      </a:accent1>
      <a:accent2>
        <a:srgbClr val="243FFF"/>
      </a:accent2>
      <a:accent3>
        <a:srgbClr val="FF83B6"/>
      </a:accent3>
      <a:accent4>
        <a:srgbClr val="FF9022"/>
      </a:accent4>
      <a:accent5>
        <a:srgbClr val="FF1F85"/>
      </a:accent5>
      <a:accent6>
        <a:srgbClr val="1A98FF"/>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i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