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4" r:id="rId1"/>
  </p:sldMasterIdLst>
  <p:notesMasterIdLst>
    <p:notesMasterId r:id="rId73"/>
  </p:notesMasterIdLst>
  <p:handoutMasterIdLst>
    <p:handoutMasterId r:id="rId74"/>
  </p:handoutMasterIdLst>
  <p:sldIdLst>
    <p:sldId id="256" r:id="rId2"/>
    <p:sldId id="257" r:id="rId3"/>
    <p:sldId id="324" r:id="rId4"/>
    <p:sldId id="258" r:id="rId5"/>
    <p:sldId id="317" r:id="rId6"/>
    <p:sldId id="325" r:id="rId7"/>
    <p:sldId id="323" r:id="rId8"/>
    <p:sldId id="326" r:id="rId9"/>
    <p:sldId id="259" r:id="rId10"/>
    <p:sldId id="327" r:id="rId11"/>
    <p:sldId id="260" r:id="rId12"/>
    <p:sldId id="328" r:id="rId13"/>
    <p:sldId id="261" r:id="rId14"/>
    <p:sldId id="329" r:id="rId15"/>
    <p:sldId id="263" r:id="rId16"/>
    <p:sldId id="330"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321"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9" r:id="rId66"/>
    <p:sldId id="311" r:id="rId67"/>
    <p:sldId id="312" r:id="rId68"/>
    <p:sldId id="322" r:id="rId69"/>
    <p:sldId id="314" r:id="rId70"/>
    <p:sldId id="315" r:id="rId71"/>
    <p:sldId id="316" r:id="rId72"/>
  </p:sldIdLst>
  <p:sldSz cx="12192000" cy="6858000"/>
  <p:notesSz cx="6858000" cy="9144000"/>
  <p:embeddedFontLst>
    <p:embeddedFont>
      <p:font typeface="Cambria Math" panose="02040503050406030204" pitchFamily="18" charset="0"/>
      <p:regular r:id="rId75"/>
    </p:embeddedFont>
    <p:embeddedFont>
      <p:font typeface="Garamond" panose="02020404030301010803" pitchFamily="18" charset="0"/>
      <p:regular r:id="rId76"/>
      <p:bold r:id="rId77"/>
      <p:italic r:id="rId78"/>
    </p:embeddedFont>
    <p:embeddedFont>
      <p:font typeface="Libre Franklin" pitchFamily="2" charset="0"/>
      <p:regular r:id="rId79"/>
      <p:bold r:id="rId80"/>
      <p:italic r:id="rId81"/>
      <p:boldItalic r:id="rId82"/>
    </p:embeddedFont>
    <p:embeddedFont>
      <p:font typeface="Libre Franklin SemiBold" pitchFamily="2" charset="0"/>
      <p:regular r:id="rId83"/>
      <p:bold r:id="rId84"/>
      <p:italic r:id="rId85"/>
      <p:boldItalic r:id="rId86"/>
    </p:embeddedFont>
    <p:embeddedFont>
      <p:font typeface="Open Sans" panose="020B0606030504020204" pitchFamily="34" charset="0"/>
      <p:regular r:id="rId87"/>
      <p:bold r:id="rId88"/>
      <p:italic r:id="rId89"/>
      <p:boldItalic r:id="rId90"/>
    </p:embeddedFont>
    <p:embeddedFont>
      <p:font typeface="Segoe UI" panose="020B0502040204020203" pitchFamily="34" charset="0"/>
      <p:regular r:id="rId91"/>
      <p:bold r:id="rId92"/>
      <p:italic r:id="rId93"/>
      <p:boldItalic r:id="rId94"/>
    </p:embeddedFont>
    <p:embeddedFont>
      <p:font typeface="Segoe UI Semibold" panose="020B0702040204020203" pitchFamily="34" charset="0"/>
      <p:bold r:id="rId95"/>
      <p:boldItalic r:id="rId9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89" userDrawn="1">
          <p15:clr>
            <a:srgbClr val="A4A3A4"/>
          </p15:clr>
        </p15:guide>
        <p15:guide id="2" pos="7056">
          <p15:clr>
            <a:srgbClr val="A4A3A4"/>
          </p15:clr>
        </p15:guide>
        <p15:guide id="3" orient="horz" pos="318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7FF3A"/>
    <a:srgbClr val="3134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996" autoAdjust="0"/>
    <p:restoredTop sz="94669" autoAdjust="0"/>
  </p:normalViewPr>
  <p:slideViewPr>
    <p:cSldViewPr snapToGrid="0">
      <p:cViewPr varScale="1">
        <p:scale>
          <a:sx n="152" d="100"/>
          <a:sy n="152" d="100"/>
        </p:scale>
        <p:origin x="192" y="72"/>
      </p:cViewPr>
      <p:guideLst>
        <p:guide orient="horz" pos="1389"/>
        <p:guide pos="7056"/>
        <p:guide orient="horz" pos="3181"/>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122" d="100"/>
          <a:sy n="122" d="100"/>
        </p:scale>
        <p:origin x="3952" y="6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10.fntdata"/><Relationship Id="rId89" Type="http://schemas.openxmlformats.org/officeDocument/2006/relationships/font" Target="fonts/font15.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handoutMaster" Target="handoutMasters/handoutMaster1.xml"/><Relationship Id="rId79" Type="http://schemas.openxmlformats.org/officeDocument/2006/relationships/font" Target="fonts/font5.fntdata"/><Relationship Id="rId5" Type="http://schemas.openxmlformats.org/officeDocument/2006/relationships/slide" Target="slides/slide4.xml"/><Relationship Id="rId90" Type="http://schemas.openxmlformats.org/officeDocument/2006/relationships/font" Target="fonts/font16.fntdata"/><Relationship Id="rId95" Type="http://schemas.openxmlformats.org/officeDocument/2006/relationships/font" Target="fonts/font21.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font" Target="fonts/font6.fntdata"/><Relationship Id="rId85" Type="http://schemas.openxmlformats.org/officeDocument/2006/relationships/font" Target="fonts/font1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1.fntdata"/><Relationship Id="rId83" Type="http://schemas.openxmlformats.org/officeDocument/2006/relationships/font" Target="fonts/font9.fntdata"/><Relationship Id="rId88" Type="http://schemas.openxmlformats.org/officeDocument/2006/relationships/font" Target="fonts/font14.fntdata"/><Relationship Id="rId91" Type="http://schemas.openxmlformats.org/officeDocument/2006/relationships/font" Target="fonts/font17.fntdata"/><Relationship Id="rId96" Type="http://schemas.openxmlformats.org/officeDocument/2006/relationships/font" Target="fonts/font2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openxmlformats.org/officeDocument/2006/relationships/font" Target="fonts/font4.fntdata"/><Relationship Id="rId81" Type="http://schemas.openxmlformats.org/officeDocument/2006/relationships/font" Target="fonts/font7.fntdata"/><Relationship Id="rId86" Type="http://schemas.openxmlformats.org/officeDocument/2006/relationships/font" Target="fonts/font12.fntdata"/><Relationship Id="rId94" Type="http://schemas.openxmlformats.org/officeDocument/2006/relationships/font" Target="fonts/font20.fntdata"/><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2.fntdata"/><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18.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13.fntdata"/><Relationship Id="rId61" Type="http://schemas.openxmlformats.org/officeDocument/2006/relationships/slide" Target="slides/slide60.xml"/><Relationship Id="rId82" Type="http://schemas.openxmlformats.org/officeDocument/2006/relationships/font" Target="fonts/font8.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font" Target="fonts/font3.fntdata"/><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19.fntdata"/><Relationship Id="rId98"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478958EB-AA2F-B45A-687A-DCF2C8CC87E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dirty="0"/>
          </a:p>
        </p:txBody>
      </p:sp>
      <p:sp>
        <p:nvSpPr>
          <p:cNvPr id="3" name="Segnaposto data 2">
            <a:extLst>
              <a:ext uri="{FF2B5EF4-FFF2-40B4-BE49-F238E27FC236}">
                <a16:creationId xmlns:a16="http://schemas.microsoft.com/office/drawing/2014/main" id="{7A042FE5-AD25-DF47-506F-63EC2EAE383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B255E26-29DD-44FD-986B-5EAFE05E1238}" type="datetimeFigureOut">
              <a:rPr lang="it-IT" smtClean="0"/>
              <a:t>28/06/2026</a:t>
            </a:fld>
            <a:endParaRPr lang="it-IT" dirty="0"/>
          </a:p>
        </p:txBody>
      </p:sp>
      <p:sp>
        <p:nvSpPr>
          <p:cNvPr id="4" name="Segnaposto piè di pagina 3">
            <a:extLst>
              <a:ext uri="{FF2B5EF4-FFF2-40B4-BE49-F238E27FC236}">
                <a16:creationId xmlns:a16="http://schemas.microsoft.com/office/drawing/2014/main" id="{30C3F0CD-CEE1-1CC6-1FBF-9694DAE1FC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dirty="0"/>
          </a:p>
        </p:txBody>
      </p:sp>
      <p:sp>
        <p:nvSpPr>
          <p:cNvPr id="5" name="Segnaposto numero diapositiva 4">
            <a:extLst>
              <a:ext uri="{FF2B5EF4-FFF2-40B4-BE49-F238E27FC236}">
                <a16:creationId xmlns:a16="http://schemas.microsoft.com/office/drawing/2014/main" id="{44D5DB67-191C-A46D-A0C5-A98EA3B4245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FD34B02-97A9-4AE8-AD15-60C80FDA4C23}" type="slidenum">
              <a:rPr lang="it-IT" smtClean="0"/>
              <a:t>‹N›</a:t>
            </a:fld>
            <a:endParaRPr lang="it-IT" dirty="0"/>
          </a:p>
        </p:txBody>
      </p:sp>
    </p:spTree>
    <p:extLst>
      <p:ext uri="{BB962C8B-B14F-4D97-AF65-F5344CB8AC3E}">
        <p14:creationId xmlns:p14="http://schemas.microsoft.com/office/powerpoint/2010/main" val="7261797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it-IT"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 name="Google Shape;14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dirty="0">
              <a:solidFill>
                <a:schemeClr val="dk1"/>
              </a:solidFill>
              <a:latin typeface="Calibri"/>
              <a:ea typeface="Calibri"/>
              <a:cs typeface="Calibri"/>
              <a:sym typeface="Calibri"/>
            </a:endParaRPr>
          </a:p>
        </p:txBody>
      </p:sp>
      <p:sp>
        <p:nvSpPr>
          <p:cNvPr id="143" name="Google Shape;143;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it-IT" sz="1200" b="0" i="0" u="none" strike="noStrike" cap="none">
                <a:solidFill>
                  <a:schemeClr val="dk1"/>
                </a:solidFill>
                <a:latin typeface="Calibri"/>
                <a:ea typeface="Calibri"/>
                <a:cs typeface="Calibri"/>
                <a:sym typeface="Calibri"/>
              </a:rPr>
              <a:t>1</a:t>
            </a:fld>
            <a:endParaRPr sz="1200" b="0" i="0" u="none" strike="noStrike" cap="none" dirty="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ef670dd640_0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ef670dd640_0_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9" name="Google Shape;149;g3ef670dd640_0_1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2</a:t>
            </a:fld>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ef670dd640_0_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ef670dd640_0_2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g3ef670dd640_0_2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ef670dd640_0_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ef670dd640_0_3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g3ef670dd640_0_3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9</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it-IT" sz="1200" b="0" i="0" u="none" strike="noStrike" cap="none" smtClean="0">
                <a:solidFill>
                  <a:schemeClr val="dk1"/>
                </a:solidFill>
                <a:latin typeface="Calibri"/>
                <a:ea typeface="Calibri"/>
                <a:cs typeface="Calibri"/>
                <a:sym typeface="Calibri"/>
              </a:rPr>
              <a:t>10</a:t>
            </a:fld>
            <a:endParaRPr lang="it-IT"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601717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ef670dd640_0_3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ef670dd640_0_33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g3ef670dd640_0_33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11</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ef670dd640_0_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3ef670dd640_0_4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g3ef670dd640_0_4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13</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ef670dd640_0_1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ef670dd640_0_19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g3ef670dd640_0_19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15</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ef670dd640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3ef670dd640_0_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 name="Google Shape;227;g3ef670dd640_0_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17</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ef670dd640_0_3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3ef670dd640_0_36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6" name="Google Shape;236;g3ef670dd640_0_36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18</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3ef670dd640_0_3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3ef670dd640_0_37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3" name="Google Shape;253;g3ef670dd640_0_37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20</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0" name="Google Shape;26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ef670dd640_0_3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3ef670dd640_0_39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 name="Google Shape;270;g3ef670dd640_0_39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22</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3ef670dd640_0_4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3ef670dd640_0_4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g3ef670dd640_0_41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23</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ef670dd640_0_4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3ef670dd640_0_44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6" name="Google Shape;286;g3ef670dd640_0_44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24</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ef670dd640_0_4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3ef670dd640_0_42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8" name="Google Shape;298;g3ef670dd640_0_42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25</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3ef670dd640_0_4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3ef670dd640_0_45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8" name="Google Shape;308;g3ef670dd640_0_45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26</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ef670dd640_0_4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3ef670dd640_0_47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1" name="Google Shape;321;g3ef670dd640_0_47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27</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3ef670dd640_0_4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3ef670dd640_0_49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1" name="Google Shape;331;g3ef670dd640_0_49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28</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ef670dd640_0_4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3ef670dd640_0_48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1" name="Google Shape;341;g3ef670dd640_0_48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29</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3ef670dd640_0_5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3ef670dd640_0_51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8" name="Google Shape;348;g3ef670dd640_0_51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30</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3ef670dd640_0_5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3ef670dd640_0_52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1" name="Google Shape;361;g3ef670dd640_0_52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31</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3ef670dd640_0_5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3ef670dd640_0_55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2" name="Google Shape;372;g3ef670dd640_0_55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32</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3ef670dd640_0_5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1" name="Google Shape;381;g3ef670dd640_0_56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2" name="Google Shape;382;g3ef670dd640_0_56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34</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9" name="Google Shape;38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3ef670dd640_0_5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3ef670dd640_0_57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6" name="Google Shape;396;g3ef670dd640_0_57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36</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3ef670dd640_0_5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 name="Google Shape;406;g3ef670dd640_0_59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7" name="Google Shape;407;g3ef670dd640_0_59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37</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g3ef670dd640_0_5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3" name="Google Shape;413;g3ef670dd640_0_59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4" name="Google Shape;414;g3ef670dd640_0_59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38</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g3ef670dd640_0_6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2" name="Google Shape;422;g3ef670dd640_0_6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3" name="Google Shape;423;g3ef670dd640_0_61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39</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3ef670dd640_0_6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6" name="Google Shape;436;g3ef670dd640_0_62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7" name="Google Shape;437;g3ef670dd640_0_62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40</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3ef670dd640_0_6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3" name="Google Shape;443;g3ef670dd640_0_6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g3ef670dd640_0_6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41</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3ef670dd640_0_6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3ef670dd640_0_65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4" name="Google Shape;454;g3ef670dd640_0_65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42</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g3ef670dd640_0_6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9" name="Google Shape;459;g3ef670dd640_0_66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0" name="Google Shape;460;g3ef670dd640_0_66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43</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8" name="Google Shape;46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3ef670dd640_0_6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9" name="Google Shape;479;g3ef670dd640_0_69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0" name="Google Shape;480;g3ef670dd640_0_69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45</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ef670dd640_0_7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3ef670dd640_0_71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9" name="Google Shape;489;g3ef670dd640_0_71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46</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g3ef670dd640_0_6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8" name="Google Shape;498;g3ef670dd640_0_67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9" name="Google Shape;499;g3ef670dd640_0_67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47</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g3ef670dd640_0_7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7" name="Google Shape;507;g3ef670dd640_0_74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8" name="Google Shape;508;g3ef670dd640_0_74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48</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g3ef670dd640_0_7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5" name="Google Shape;515;g3ef670dd640_0_73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6" name="Google Shape;516;g3ef670dd640_0_73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49</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5" name="Google Shape;525;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3ef670dd640_0_7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 name="Google Shape;538;g3ef670dd640_0_76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9" name="Google Shape;539;g3ef670dd640_0_76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51</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3ef670dd640_0_7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3ef670dd640_0_78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2" name="Google Shape;552;g3ef670dd640_0_78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52</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2" name="Google Shape;56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g3ef670dd640_0_8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7" name="Google Shape;567;g3ef670dd640_0_80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8" name="Google Shape;568;g3ef670dd640_0_80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54</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8" name="Google Shape;578;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g3ef670dd640_0_8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5" name="Google Shape;585;g3ef670dd640_0_80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6" name="Google Shape;586;g3ef670dd640_0_80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56</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g3ef670dd640_0_8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3" name="Google Shape;593;g3ef670dd640_0_82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4" name="Google Shape;594;g3ef670dd640_0_82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57</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g3ef670dd640_0_8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2" name="Google Shape;602;g3ef670dd640_0_84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3" name="Google Shape;603;g3ef670dd640_0_84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58</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
        <p:cNvGrpSpPr/>
        <p:nvPr/>
      </p:nvGrpSpPr>
      <p:grpSpPr>
        <a:xfrm>
          <a:off x="0" y="0"/>
          <a:ext cx="0" cy="0"/>
          <a:chOff x="0" y="0"/>
          <a:chExt cx="0" cy="0"/>
        </a:xfrm>
      </p:grpSpPr>
      <p:sp>
        <p:nvSpPr>
          <p:cNvPr id="608" name="Google Shape;608;g3ef670dd640_0_8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9" name="Google Shape;609;g3ef670dd640_0_8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0" name="Google Shape;610;g3ef670dd640_0_81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59</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8" name="Google Shape;618;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7" name="Google Shape;627;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7" name="Google Shape;637;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g3ef670dd640_0_8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5" name="Google Shape;645;g3ef670dd640_0_87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6" name="Google Shape;646;g3ef670dd640_0_87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63</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g3ef670dd640_0_8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3" name="Google Shape;653;g3ef670dd640_0_88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4" name="Google Shape;654;g3ef670dd640_0_88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64</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8" name="Google Shape;668;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g3ef670dd640_0_9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5" name="Google Shape;675;g3ef670dd640_0_9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6" name="Google Shape;676;g3ef670dd640_0_91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67</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g3ef670dd640_0_9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1" name="Google Shape;691;g3ef670dd640_0_91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2" name="Google Shape;692;g3ef670dd640_0_91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69</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g3ef670dd640_0_9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0" name="Google Shape;700;g3ef670dd640_0_93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1" name="Google Shape;701;g3ef670dd640_0_93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70</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
        <p:cNvGrpSpPr/>
        <p:nvPr/>
      </p:nvGrpSpPr>
      <p:grpSpPr>
        <a:xfrm>
          <a:off x="0" y="0"/>
          <a:ext cx="0" cy="0"/>
          <a:chOff x="0" y="0"/>
          <a:chExt cx="0" cy="0"/>
        </a:xfrm>
      </p:grpSpPr>
      <p:sp>
        <p:nvSpPr>
          <p:cNvPr id="708" name="Google Shape;708;g3ef670dd640_0_9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9" name="Google Shape;709;g3ef670dd640_0_94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0" name="Google Shape;710;g3ef670dd640_0_94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71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titolo">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a:xfrm>
            <a:off x="7983232" y="5037663"/>
            <a:ext cx="897467" cy="279400"/>
          </a:xfrm>
        </p:spPr>
        <p:txBody>
          <a:bodyPr/>
          <a:lstStyle/>
          <a:p>
            <a:endParaRPr lang="it-IT"/>
          </a:p>
        </p:txBody>
      </p:sp>
      <p:sp>
        <p:nvSpPr>
          <p:cNvPr id="5" name="Footer Placeholder 4"/>
          <p:cNvSpPr>
            <a:spLocks noGrp="1"/>
          </p:cNvSpPr>
          <p:nvPr>
            <p:ph type="ftr" sz="quarter" idx="11"/>
          </p:nvPr>
        </p:nvSpPr>
        <p:spPr>
          <a:xfrm>
            <a:off x="2692397" y="5037663"/>
            <a:ext cx="5214635" cy="279400"/>
          </a:xfrm>
        </p:spPr>
        <p:txBody>
          <a:bodyPr/>
          <a:lstStyle/>
          <a:p>
            <a:endParaRPr lang="it-IT"/>
          </a:p>
        </p:txBody>
      </p:sp>
      <p:sp>
        <p:nvSpPr>
          <p:cNvPr id="6" name="Slide Number Placeholder 5"/>
          <p:cNvSpPr>
            <a:spLocks noGrp="1"/>
          </p:cNvSpPr>
          <p:nvPr>
            <p:ph type="sldNum" sz="quarter" idx="12"/>
          </p:nvPr>
        </p:nvSpPr>
        <p:spPr>
          <a:xfrm>
            <a:off x="8956900" y="5037663"/>
            <a:ext cx="551167" cy="279400"/>
          </a:xfrm>
        </p:spPr>
        <p:txBody>
          <a:bodyPr/>
          <a:lstStyle/>
          <a:p>
            <a:pPr marL="0" lvl="0" indent="0" algn="ctr" rtl="0">
              <a:spcBef>
                <a:spcPts val="0"/>
              </a:spcBef>
              <a:spcAft>
                <a:spcPts val="0"/>
              </a:spcAft>
              <a:buNone/>
            </a:pPr>
            <a:fld id="{00000000-1234-1234-1234-123412341234}" type="slidenum">
              <a:rPr lang="it-IT" smtClean="0"/>
              <a:t>‹N›</a:t>
            </a:fld>
            <a:endParaRPr lang="it-IT"/>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9195668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6/28/2026</a:t>
            </a:fld>
            <a:endParaRPr lang="en-US" dirty="0"/>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it-IT" smtClean="0"/>
              <a:t>‹N›</a:t>
            </a:fld>
            <a:endParaRPr lang="it-IT"/>
          </a:p>
        </p:txBody>
      </p:sp>
    </p:spTree>
    <p:extLst>
      <p:ext uri="{BB962C8B-B14F-4D97-AF65-F5344CB8AC3E}">
        <p14:creationId xmlns:p14="http://schemas.microsoft.com/office/powerpoint/2010/main" val="1437470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it-IT" smtClean="0"/>
              <a:t>‹N›</a:t>
            </a:fld>
            <a:endParaRPr lang="it-IT"/>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0663739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it-IT" smtClean="0"/>
              <a:t>‹N›</a:t>
            </a:fld>
            <a:endParaRPr lang="it-IT"/>
          </a:p>
        </p:txBody>
      </p:sp>
    </p:spTree>
    <p:extLst>
      <p:ext uri="{BB962C8B-B14F-4D97-AF65-F5344CB8AC3E}">
        <p14:creationId xmlns:p14="http://schemas.microsoft.com/office/powerpoint/2010/main" val="244635774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endParaRPr lang="it-IT"/>
          </a:p>
        </p:txBody>
      </p:sp>
      <p:sp>
        <p:nvSpPr>
          <p:cNvPr id="8" name="Footer Placeholder 7"/>
          <p:cNvSpPr>
            <a:spLocks noGrp="1"/>
          </p:cNvSpPr>
          <p:nvPr>
            <p:ph type="ftr" sz="quarter" idx="11"/>
          </p:nvPr>
        </p:nvSpPr>
        <p:spPr/>
        <p:txBody>
          <a:bodyPr/>
          <a:lstStyle/>
          <a:p>
            <a:endParaRPr lang="it-IT"/>
          </a:p>
        </p:txBody>
      </p:sp>
      <p:sp>
        <p:nvSpPr>
          <p:cNvPr id="9" name="Slide Number Placeholder 8"/>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it-IT" smtClean="0"/>
              <a:t>‹N›</a:t>
            </a:fld>
            <a:endParaRPr lang="it-IT"/>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6456494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6/28/2026</a:t>
            </a:fld>
            <a:endParaRPr lang="en-US" dirty="0"/>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it-IT" smtClean="0"/>
              <a:t>‹N›</a:t>
            </a:fld>
            <a:endParaRPr lang="it-IT"/>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661335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it-IT"/>
          </a:p>
        </p:txBody>
      </p:sp>
      <p:sp>
        <p:nvSpPr>
          <p:cNvPr id="3" name="Footer Placeholder 2"/>
          <p:cNvSpPr>
            <a:spLocks noGrp="1"/>
          </p:cNvSpPr>
          <p:nvPr>
            <p:ph type="ftr" sz="quarter" idx="11"/>
          </p:nvPr>
        </p:nvSpPr>
        <p:spPr/>
        <p:txBody>
          <a:bodyPr/>
          <a:lstStyle/>
          <a:p>
            <a:endParaRPr lang="it-IT"/>
          </a:p>
        </p:txBody>
      </p:sp>
      <p:sp>
        <p:nvSpPr>
          <p:cNvPr id="4" name="Slide Number Placeholder 3"/>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it-IT" smtClean="0"/>
              <a:t>‹N›</a:t>
            </a:fld>
            <a:endParaRPr lang="it-IT"/>
          </a:p>
        </p:txBody>
      </p:sp>
    </p:spTree>
    <p:extLst>
      <p:ext uri="{BB962C8B-B14F-4D97-AF65-F5344CB8AC3E}">
        <p14:creationId xmlns:p14="http://schemas.microsoft.com/office/powerpoint/2010/main" val="160419582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it-IT"/>
              <a:t>Fare clic per modificare lo stile del titolo dello schema</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it-IT" smtClean="0"/>
              <a:t>‹N›</a:t>
            </a:fld>
            <a:endParaRPr lang="it-IT"/>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9398217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it-IT"/>
              <a:t>Fare clic per modificare lo stile del titolo dello schema</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it-IT" smtClean="0"/>
              <a:t>‹N›</a:t>
            </a:fld>
            <a:endParaRPr lang="it-IT"/>
          </a:p>
        </p:txBody>
      </p:sp>
    </p:spTree>
    <p:extLst>
      <p:ext uri="{BB962C8B-B14F-4D97-AF65-F5344CB8AC3E}">
        <p14:creationId xmlns:p14="http://schemas.microsoft.com/office/powerpoint/2010/main" val="138794262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it-IT" smtClean="0"/>
              <a:t>‹N›</a:t>
            </a:fld>
            <a:endParaRPr lang="it-IT"/>
          </a:p>
        </p:txBody>
      </p:sp>
    </p:spTree>
    <p:extLst>
      <p:ext uri="{BB962C8B-B14F-4D97-AF65-F5344CB8AC3E}">
        <p14:creationId xmlns:p14="http://schemas.microsoft.com/office/powerpoint/2010/main" val="188499513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it-IT" smtClean="0"/>
              <a:t>‹N›</a:t>
            </a:fld>
            <a:endParaRPr lang="it-IT"/>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2323006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it-IT"/>
              <a:t>Fare clic per modificare lo stile del titolo dello schema</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it-IT"/>
              <a:t>Fare clic per modificare gli stili del testo dello schema</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it-IT" smtClean="0"/>
              <a:t>‹N›</a:t>
            </a:fld>
            <a:endParaRPr lang="it-IT"/>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0847485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it-IT" smtClean="0"/>
              <a:t>‹N›</a:t>
            </a:fld>
            <a:endParaRPr lang="it-IT"/>
          </a:p>
        </p:txBody>
      </p:sp>
    </p:spTree>
    <p:extLst>
      <p:ext uri="{BB962C8B-B14F-4D97-AF65-F5344CB8AC3E}">
        <p14:creationId xmlns:p14="http://schemas.microsoft.com/office/powerpoint/2010/main" val="2671250477"/>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cheda nome citazione">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it-IT"/>
              <a:t>Fare clic per modificare lo stile del titolo dello schema</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it-IT" smtClean="0"/>
              <a:t>‹N›</a:t>
            </a:fld>
            <a:endParaRPr lang="it-IT"/>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9506037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o o falso">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it-IT"/>
              <a:t>Fare clic per modificare lo stile del titolo dello schema</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it-IT" smtClean="0"/>
              <a:t>‹N›</a:t>
            </a:fld>
            <a:endParaRPr lang="it-IT"/>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9093905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ncho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it-IT" smtClean="0"/>
              <a:t>‹N›</a:t>
            </a:fld>
            <a:endParaRPr lang="it-IT"/>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968987"/>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it-IT" smtClean="0"/>
              <a:t>‹N›</a:t>
            </a:fld>
            <a:endParaRPr lang="it-IT"/>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4947570"/>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Diapositiva solo titolo">
  <p:cSld name="Diapositiva solo titolo">
    <p:bg>
      <p:bgPr>
        <a:gradFill>
          <a:gsLst>
            <a:gs pos="0">
              <a:schemeClr val="accent2"/>
            </a:gs>
            <a:gs pos="100000">
              <a:schemeClr val="accent4"/>
            </a:gs>
          </a:gsLst>
          <a:lin ang="2700000" scaled="0"/>
        </a:gradFill>
        <a:effectLst/>
      </p:bgPr>
    </p:bg>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280159" y="357809"/>
            <a:ext cx="7983110" cy="3080335"/>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lt1"/>
              </a:buClr>
              <a:buSzPts val="5400"/>
              <a:buFont typeface="Open Sans"/>
              <a:buNone/>
              <a:defRPr sz="5400" b="1" i="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163990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it-IT"/>
            </a:p>
          </p:txBody>
        </p:sp>
        <p:pic>
          <p:nvPicPr>
            <p:cNvPr id="10" name="Picture 9"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endParaRPr lang="it-IT"/>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it-IT"/>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pPr marL="0" lvl="0" indent="0" algn="ctr" rtl="0">
              <a:spcBef>
                <a:spcPts val="0"/>
              </a:spcBef>
              <a:spcAft>
                <a:spcPts val="0"/>
              </a:spcAft>
              <a:buNone/>
            </a:pPr>
            <a:fld id="{00000000-1234-1234-1234-123412341234}" type="slidenum">
              <a:rPr lang="it-IT" smtClean="0"/>
              <a:t>‹N›</a:t>
            </a:fld>
            <a:endParaRPr lang="it-IT"/>
          </a:p>
        </p:txBody>
      </p:sp>
    </p:spTree>
    <p:extLst>
      <p:ext uri="{BB962C8B-B14F-4D97-AF65-F5344CB8AC3E}">
        <p14:creationId xmlns:p14="http://schemas.microsoft.com/office/powerpoint/2010/main" val="1252686286"/>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Lst>
  <p:hf sldNum="0" hdr="0" ftr="0" dt="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s>
</file>

<file path=ppt/slides/_rels/slide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0.png"/></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1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9" Type="http://schemas.openxmlformats.org/officeDocument/2006/relationships/image" Target="../media/image48.png"/></Relationships>
</file>

<file path=ppt/slides/_rels/slide1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51.png"/></Relationships>
</file>

<file path=ppt/slides/_rels/slide15.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png"/><Relationship Id="rId7" Type="http://schemas.openxmlformats.org/officeDocument/2006/relationships/image" Target="../media/image57.png"/><Relationship Id="rId12" Type="http://schemas.openxmlformats.org/officeDocument/2006/relationships/image" Target="../media/image62.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56.png"/><Relationship Id="rId11" Type="http://schemas.openxmlformats.org/officeDocument/2006/relationships/image" Target="../media/image61.png"/><Relationship Id="rId5" Type="http://schemas.openxmlformats.org/officeDocument/2006/relationships/image" Target="../media/image55.png"/><Relationship Id="rId10" Type="http://schemas.openxmlformats.org/officeDocument/2006/relationships/image" Target="../media/image60.png"/><Relationship Id="rId4" Type="http://schemas.openxmlformats.org/officeDocument/2006/relationships/image" Target="../media/image54.png"/><Relationship Id="rId9" Type="http://schemas.openxmlformats.org/officeDocument/2006/relationships/image" Target="../media/image59.png"/></Relationships>
</file>

<file path=ppt/slides/_rels/slide16.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63.png"/><Relationship Id="rId1" Type="http://schemas.openxmlformats.org/officeDocument/2006/relationships/slideLayout" Target="../slideLayouts/slideLayout7.xml"/><Relationship Id="rId6" Type="http://schemas.openxmlformats.org/officeDocument/2006/relationships/image" Target="../media/image67.png"/><Relationship Id="rId11" Type="http://schemas.openxmlformats.org/officeDocument/2006/relationships/image" Target="../media/image72.png"/><Relationship Id="rId5" Type="http://schemas.openxmlformats.org/officeDocument/2006/relationships/image" Target="../media/image66.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png"/></Relationships>
</file>

<file path=ppt/slides/_rels/slide1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76.png"/></Relationships>
</file>

<file path=ppt/slides/_rels/slide2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78.png"/></Relationships>
</file>

<file path=ppt/slides/_rels/slide2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76.png"/></Relationships>
</file>

<file path=ppt/slides/_rels/slide2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81.png"/></Relationships>
</file>

<file path=ppt/slides/_rels/slide2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85.png"/><Relationship Id="rId4" Type="http://schemas.openxmlformats.org/officeDocument/2006/relationships/image" Target="../media/image84.png"/></Relationships>
</file>

<file path=ppt/slides/_rels/slide25.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89.png"/><Relationship Id="rId4" Type="http://schemas.openxmlformats.org/officeDocument/2006/relationships/image" Target="../media/image88.png"/></Relationships>
</file>

<file path=ppt/slides/_rels/slide2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92.png"/><Relationship Id="rId4" Type="http://schemas.openxmlformats.org/officeDocument/2006/relationships/image" Target="../media/image91.png"/></Relationships>
</file>

<file path=ppt/slides/_rels/slide2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93.png"/><Relationship Id="rId4" Type="http://schemas.openxmlformats.org/officeDocument/2006/relationships/image" Target="../media/image91.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96.png"/><Relationship Id="rId4" Type="http://schemas.openxmlformats.org/officeDocument/2006/relationships/image" Target="../media/image95.png"/></Relationships>
</file>

<file path=ppt/slides/_rels/slide31.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96.png"/></Relationships>
</file>

<file path=ppt/slides/_rels/slide33.xml.rels><?xml version="1.0" encoding="UTF-8" standalone="yes"?>
<Relationships xmlns="http://schemas.openxmlformats.org/package/2006/relationships"><Relationship Id="rId3" Type="http://schemas.openxmlformats.org/officeDocument/2006/relationships/image" Target="../media/image99.png"/><Relationship Id="rId7" Type="http://schemas.openxmlformats.org/officeDocument/2006/relationships/image" Target="../media/image103.png"/><Relationship Id="rId2" Type="http://schemas.openxmlformats.org/officeDocument/2006/relationships/image" Target="../media/image98.png"/><Relationship Id="rId1" Type="http://schemas.openxmlformats.org/officeDocument/2006/relationships/slideLayout" Target="../slideLayouts/slideLayout7.xml"/><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image" Target="../media/image100.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105.png"/></Relationships>
</file>

<file path=ppt/slides/_rels/slide36.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108.png"/><Relationship Id="rId4" Type="http://schemas.openxmlformats.org/officeDocument/2006/relationships/image" Target="../media/image107.png"/></Relationships>
</file>

<file path=ppt/slides/_rels/slide37.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111.png"/></Relationships>
</file>

<file path=ppt/slides/_rels/slide39.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image" Target="../media/image115.png"/><Relationship Id="rId5" Type="http://schemas.openxmlformats.org/officeDocument/2006/relationships/image" Target="../media/image114.png"/><Relationship Id="rId4" Type="http://schemas.openxmlformats.org/officeDocument/2006/relationships/image" Target="../media/image113.png"/></Relationships>
</file>

<file path=ppt/slides/_rels/slide40.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32.xml"/><Relationship Id="rId1" Type="http://schemas.openxmlformats.org/officeDocument/2006/relationships/slideLayout" Target="../slideLayouts/slideLayout7.xml"/><Relationship Id="rId5" Type="http://schemas.openxmlformats.org/officeDocument/2006/relationships/image" Target="../media/image118.png"/><Relationship Id="rId4" Type="http://schemas.openxmlformats.org/officeDocument/2006/relationships/image" Target="../media/image117.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35.xml"/><Relationship Id="rId1" Type="http://schemas.openxmlformats.org/officeDocument/2006/relationships/slideLayout" Target="../slideLayouts/slideLayout7.xml"/><Relationship Id="rId5" Type="http://schemas.openxmlformats.org/officeDocument/2006/relationships/image" Target="../media/image121.png"/><Relationship Id="rId4" Type="http://schemas.openxmlformats.org/officeDocument/2006/relationships/image" Target="../media/image120.png"/></Relationships>
</file>

<file path=ppt/slides/_rels/slide45.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124.png"/></Relationships>
</file>

<file path=ppt/slides/_rels/slide47.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126.png"/></Relationships>
</file>

<file path=ppt/slides/_rels/slide48.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128.png"/></Relationships>
</file>

<file path=ppt/slides/_rels/slide49.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40.xml"/><Relationship Id="rId1" Type="http://schemas.openxmlformats.org/officeDocument/2006/relationships/slideLayout" Target="../slideLayouts/slideLayout7.xml"/><Relationship Id="rId5" Type="http://schemas.openxmlformats.org/officeDocument/2006/relationships/image" Target="../media/image131.png"/><Relationship Id="rId4" Type="http://schemas.openxmlformats.org/officeDocument/2006/relationships/image" Target="../media/image130.png"/></Relationships>
</file>

<file path=ppt/slides/_rels/slide50.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41.xml"/><Relationship Id="rId1" Type="http://schemas.openxmlformats.org/officeDocument/2006/relationships/slideLayout" Target="../slideLayouts/slideLayout7.xml"/><Relationship Id="rId5" Type="http://schemas.openxmlformats.org/officeDocument/2006/relationships/image" Target="../media/image134.png"/><Relationship Id="rId4" Type="http://schemas.openxmlformats.org/officeDocument/2006/relationships/image" Target="../media/image133.png"/></Relationships>
</file>

<file path=ppt/slides/_rels/slide51.xml.rels><?xml version="1.0" encoding="UTF-8" standalone="yes"?>
<Relationships xmlns="http://schemas.openxmlformats.org/package/2006/relationships"><Relationship Id="rId3" Type="http://schemas.openxmlformats.org/officeDocument/2006/relationships/image" Target="../media/image135.png"/><Relationship Id="rId7" Type="http://schemas.openxmlformats.org/officeDocument/2006/relationships/image" Target="../media/image139.png"/><Relationship Id="rId2" Type="http://schemas.openxmlformats.org/officeDocument/2006/relationships/notesSlide" Target="../notesSlides/notesSlide42.xml"/><Relationship Id="rId1" Type="http://schemas.openxmlformats.org/officeDocument/2006/relationships/slideLayout" Target="../slideLayouts/slideLayout7.xml"/><Relationship Id="rId6" Type="http://schemas.openxmlformats.org/officeDocument/2006/relationships/image" Target="../media/image138.png"/><Relationship Id="rId5" Type="http://schemas.openxmlformats.org/officeDocument/2006/relationships/image" Target="../media/image137.png"/><Relationship Id="rId4" Type="http://schemas.openxmlformats.org/officeDocument/2006/relationships/image" Target="../media/image136.png"/></Relationships>
</file>

<file path=ppt/slides/_rels/slide52.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141.png"/></Relationships>
</file>

<file path=ppt/slides/_rels/slide53.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45.xml"/><Relationship Id="rId1" Type="http://schemas.openxmlformats.org/officeDocument/2006/relationships/slideLayout" Target="../slideLayouts/slideLayout7.xml"/><Relationship Id="rId5" Type="http://schemas.openxmlformats.org/officeDocument/2006/relationships/image" Target="../media/image145.png"/><Relationship Id="rId4" Type="http://schemas.openxmlformats.org/officeDocument/2006/relationships/image" Target="../media/image144.png"/></Relationships>
</file>

<file path=ppt/slides/_rels/slide55.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6.xml"/><Relationship Id="rId1" Type="http://schemas.openxmlformats.org/officeDocument/2006/relationships/slideLayout" Target="../slideLayouts/slideLayout7.xml"/><Relationship Id="rId4" Type="http://schemas.openxmlformats.org/officeDocument/2006/relationships/image" Target="../media/image147.png"/></Relationships>
</file>

<file path=ppt/slides/_rels/slide56.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48.xml"/><Relationship Id="rId1" Type="http://schemas.openxmlformats.org/officeDocument/2006/relationships/slideLayout" Target="../slideLayouts/slideLayout7.xml"/><Relationship Id="rId4" Type="http://schemas.openxmlformats.org/officeDocument/2006/relationships/image" Target="../media/image150.png"/></Relationships>
</file>

<file path=ppt/slides/_rels/slide58.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50.xml"/><Relationship Id="rId1" Type="http://schemas.openxmlformats.org/officeDocument/2006/relationships/slideLayout" Target="../slideLayouts/slideLayout7.xml"/><Relationship Id="rId5" Type="http://schemas.openxmlformats.org/officeDocument/2006/relationships/image" Target="../media/image143.png"/><Relationship Id="rId4" Type="http://schemas.openxmlformats.org/officeDocument/2006/relationships/image" Target="../media/image152.png"/></Relationships>
</file>

<file path=ppt/slides/_rels/slide60.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51.xml"/><Relationship Id="rId1" Type="http://schemas.openxmlformats.org/officeDocument/2006/relationships/slideLayout" Target="../slideLayouts/slideLayout7.xml"/><Relationship Id="rId6" Type="http://schemas.openxmlformats.org/officeDocument/2006/relationships/image" Target="../media/image156.png"/><Relationship Id="rId5" Type="http://schemas.openxmlformats.org/officeDocument/2006/relationships/image" Target="../media/image155.png"/><Relationship Id="rId4" Type="http://schemas.openxmlformats.org/officeDocument/2006/relationships/image" Target="../media/image154.png"/></Relationships>
</file>

<file path=ppt/slides/_rels/slide61.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notesSlide" Target="../notesSlides/notesSlide52.xml"/><Relationship Id="rId1" Type="http://schemas.openxmlformats.org/officeDocument/2006/relationships/slideLayout" Target="../slideLayouts/slideLayout7.xml"/><Relationship Id="rId5" Type="http://schemas.openxmlformats.org/officeDocument/2006/relationships/image" Target="../media/image159.png"/><Relationship Id="rId4" Type="http://schemas.openxmlformats.org/officeDocument/2006/relationships/image" Target="../media/image158.png"/></Relationships>
</file>

<file path=ppt/slides/_rels/slide62.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53.xml"/><Relationship Id="rId1" Type="http://schemas.openxmlformats.org/officeDocument/2006/relationships/slideLayout" Target="../slideLayouts/slideLayout7.xml"/><Relationship Id="rId4" Type="http://schemas.openxmlformats.org/officeDocument/2006/relationships/image" Target="../media/image161.png"/></Relationships>
</file>

<file path=ppt/slides/_rels/slide63.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55.xml"/><Relationship Id="rId1" Type="http://schemas.openxmlformats.org/officeDocument/2006/relationships/slideLayout" Target="../slideLayouts/slideLayout7.xml"/><Relationship Id="rId6" Type="http://schemas.openxmlformats.org/officeDocument/2006/relationships/image" Target="../media/image165.png"/><Relationship Id="rId5" Type="http://schemas.openxmlformats.org/officeDocument/2006/relationships/image" Target="../media/image164.png"/><Relationship Id="rId4" Type="http://schemas.openxmlformats.org/officeDocument/2006/relationships/image" Target="../media/image163.png"/></Relationships>
</file>

<file path=ppt/slides/_rels/slide65.xml.rels><?xml version="1.0" encoding="UTF-8" standalone="yes"?>
<Relationships xmlns="http://schemas.openxmlformats.org/package/2006/relationships"><Relationship Id="rId2" Type="http://schemas.openxmlformats.org/officeDocument/2006/relationships/image" Target="../media/image166.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56.xml"/><Relationship Id="rId1" Type="http://schemas.openxmlformats.org/officeDocument/2006/relationships/slideLayout" Target="../slideLayouts/slideLayout7.xml"/><Relationship Id="rId5" Type="http://schemas.openxmlformats.org/officeDocument/2006/relationships/image" Target="../media/image169.png"/><Relationship Id="rId4" Type="http://schemas.openxmlformats.org/officeDocument/2006/relationships/image" Target="../media/image168.png"/></Relationships>
</file>

<file path=ppt/slides/_rels/slide67.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57.xml"/><Relationship Id="rId1" Type="http://schemas.openxmlformats.org/officeDocument/2006/relationships/slideLayout" Target="../slideLayouts/slideLayout7.xml"/><Relationship Id="rId5" Type="http://schemas.openxmlformats.org/officeDocument/2006/relationships/image" Target="../media/image171.png"/><Relationship Id="rId4" Type="http://schemas.openxmlformats.org/officeDocument/2006/relationships/image" Target="../media/image170.png"/></Relationships>
</file>

<file path=ppt/slides/_rels/slide68.xml.rels><?xml version="1.0" encoding="UTF-8" standalone="yes"?>
<Relationships xmlns="http://schemas.openxmlformats.org/package/2006/relationships"><Relationship Id="rId3" Type="http://schemas.openxmlformats.org/officeDocument/2006/relationships/image" Target="../media/image173.png"/><Relationship Id="rId7" Type="http://schemas.openxmlformats.org/officeDocument/2006/relationships/image" Target="../media/image103.png"/><Relationship Id="rId2" Type="http://schemas.openxmlformats.org/officeDocument/2006/relationships/image" Target="../media/image172.png"/><Relationship Id="rId1" Type="http://schemas.openxmlformats.org/officeDocument/2006/relationships/slideLayout" Target="../slideLayouts/slideLayout7.xml"/><Relationship Id="rId6" Type="http://schemas.openxmlformats.org/officeDocument/2006/relationships/image" Target="../media/image102.png"/><Relationship Id="rId5" Type="http://schemas.openxmlformats.org/officeDocument/2006/relationships/image" Target="../media/image175.png"/><Relationship Id="rId4" Type="http://schemas.openxmlformats.org/officeDocument/2006/relationships/image" Target="../media/image174.png"/></Relationships>
</file>

<file path=ppt/slides/_rels/slide69.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58.xml"/><Relationship Id="rId1" Type="http://schemas.openxmlformats.org/officeDocument/2006/relationships/slideLayout" Target="../slideLayouts/slideLayout7.xml"/><Relationship Id="rId4" Type="http://schemas.openxmlformats.org/officeDocument/2006/relationships/image" Target="../media/image177.png"/></Relationships>
</file>

<file path=ppt/slides/_rels/slide70.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7"/>
          <p:cNvSpPr txBox="1">
            <a:spLocks noGrp="1"/>
          </p:cNvSpPr>
          <p:nvPr>
            <p:ph type="ctrTitle"/>
          </p:nvPr>
        </p:nvSpPr>
        <p:spPr>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chemeClr val="lt1"/>
              </a:buClr>
              <a:buSzPts val="5400"/>
              <a:buFont typeface="Open Sans"/>
              <a:buNone/>
            </a:pPr>
            <a:r>
              <a:rPr lang="it-IT" sz="5400" b="1" i="0" u="none" strike="noStrike" cap="none" dirty="0">
                <a:solidFill>
                  <a:schemeClr val="lt1"/>
                </a:solidFill>
                <a:latin typeface="Open Sans"/>
                <a:ea typeface="Open Sans"/>
                <a:cs typeface="Open Sans"/>
                <a:sym typeface="Open Sans"/>
              </a:rPr>
              <a:t>GALASSIA</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8"/>
          <p:cNvSpPr txBox="1"/>
          <p:nvPr/>
        </p:nvSpPr>
        <p:spPr>
          <a:xfrm>
            <a:off x="1078020" y="1350600"/>
            <a:ext cx="10123380" cy="1283398"/>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1200"/>
              </a:spcBef>
              <a:spcAft>
                <a:spcPts val="0"/>
              </a:spcAft>
              <a:buNone/>
            </a:pPr>
            <a:r>
              <a:rPr lang="it-IT" sz="1200" dirty="0">
                <a:latin typeface="Segoe UI" panose="020B0502040204020203" pitchFamily="34" charset="0"/>
                <a:ea typeface="Libre Franklin"/>
                <a:cs typeface="Segoe UI" panose="020B0502040204020203" pitchFamily="34" charset="0"/>
                <a:sym typeface="Libre Franklin"/>
              </a:rPr>
              <a:t>Un filtro passa-alto </a:t>
            </a:r>
            <a:r>
              <a:rPr lang="it-IT" sz="1200" b="1" i="1" dirty="0">
                <a:latin typeface="Segoe UI" panose="020B0502040204020203" pitchFamily="34" charset="0"/>
                <a:ea typeface="Libre Franklin"/>
                <a:cs typeface="Segoe UI" panose="020B0502040204020203" pitchFamily="34" charset="0"/>
                <a:sym typeface="Libre Franklin"/>
              </a:rPr>
              <a:t>(High-Pass Filter, HP)</a:t>
            </a:r>
            <a:r>
              <a:rPr lang="it-IT" sz="1200" dirty="0">
                <a:latin typeface="Segoe UI" panose="020B0502040204020203" pitchFamily="34" charset="0"/>
                <a:ea typeface="Libre Franklin"/>
                <a:cs typeface="Segoe UI" panose="020B0502040204020203" pitchFamily="34" charset="0"/>
                <a:sym typeface="Libre Franklin"/>
              </a:rPr>
              <a:t> è un circuito che </a:t>
            </a:r>
            <a:r>
              <a:rPr lang="it-IT" sz="1200" i="1" u="sng" dirty="0">
                <a:latin typeface="Segoe UI" panose="020B0502040204020203" pitchFamily="34" charset="0"/>
                <a:ea typeface="Libre Franklin"/>
                <a:cs typeface="Segoe UI" panose="020B0502040204020203" pitchFamily="34" charset="0"/>
                <a:sym typeface="Libre Franklin"/>
              </a:rPr>
              <a:t>attenua i segnali a bassa frequenza </a:t>
            </a:r>
            <a:r>
              <a:rPr lang="it-IT" sz="1200" dirty="0">
                <a:latin typeface="Segoe UI" panose="020B0502040204020203" pitchFamily="34" charset="0"/>
                <a:ea typeface="Libre Franklin"/>
                <a:cs typeface="Segoe UI" panose="020B0502040204020203" pitchFamily="34" charset="0"/>
                <a:sym typeface="Libre Franklin"/>
              </a:rPr>
              <a:t>e </a:t>
            </a:r>
            <a:r>
              <a:rPr lang="it-IT" sz="1200" b="1" u="sng" dirty="0">
                <a:latin typeface="Segoe UI" panose="020B0502040204020203" pitchFamily="34" charset="0"/>
                <a:ea typeface="Libre Franklin"/>
                <a:cs typeface="Segoe UI" panose="020B0502040204020203" pitchFamily="34" charset="0"/>
                <a:sym typeface="Libre Franklin"/>
              </a:rPr>
              <a:t>lascia passare quelli a frequenza più elevata</a:t>
            </a:r>
            <a:r>
              <a:rPr lang="it-IT" sz="1200" dirty="0">
                <a:latin typeface="Segoe UI" panose="020B0502040204020203" pitchFamily="34" charset="0"/>
                <a:ea typeface="Libre Franklin"/>
                <a:cs typeface="Segoe UI" panose="020B0502040204020203" pitchFamily="34" charset="0"/>
                <a:sym typeface="Libre Franklin"/>
              </a:rPr>
              <a:t>.</a:t>
            </a:r>
            <a:endParaRPr sz="1200" dirty="0">
              <a:latin typeface="Segoe UI" panose="020B0502040204020203" pitchFamily="34" charset="0"/>
              <a:ea typeface="Libre Franklin"/>
              <a:cs typeface="Segoe UI" panose="020B0502040204020203" pitchFamily="34" charset="0"/>
              <a:sym typeface="Libre Franklin"/>
            </a:endParaRPr>
          </a:p>
          <a:p>
            <a:pPr marL="0" lvl="0" indent="0" algn="just" rtl="0">
              <a:lnSpc>
                <a:spcPct val="115000"/>
              </a:lnSpc>
              <a:spcBef>
                <a:spcPts val="1200"/>
              </a:spcBef>
              <a:spcAft>
                <a:spcPts val="0"/>
              </a:spcAft>
              <a:buNone/>
            </a:pPr>
            <a:r>
              <a:rPr lang="it-IT" sz="1200" dirty="0">
                <a:solidFill>
                  <a:schemeClr val="dk1"/>
                </a:solidFill>
                <a:latin typeface="Segoe UI" panose="020B0502040204020203" pitchFamily="34" charset="0"/>
                <a:ea typeface="Libre Franklin"/>
                <a:cs typeface="Segoe UI" panose="020B0502040204020203" pitchFamily="34" charset="0"/>
                <a:sym typeface="Libre Franklin"/>
              </a:rPr>
              <a:t>Un filtro passa-alto nasce sempre dalla presenza di un elemento reattivo, cioè un componente la cui impedenza cambia con la frequenza.</a:t>
            </a:r>
            <a:endParaRPr sz="1200" dirty="0">
              <a:solidFill>
                <a:schemeClr val="dk1"/>
              </a:solidFill>
              <a:latin typeface="Segoe UI" panose="020B0502040204020203" pitchFamily="34" charset="0"/>
              <a:ea typeface="Libre Franklin"/>
              <a:cs typeface="Segoe UI" panose="020B0502040204020203" pitchFamily="34" charset="0"/>
              <a:sym typeface="Libre Franklin"/>
            </a:endParaRPr>
          </a:p>
          <a:p>
            <a:pPr marL="0" lvl="0" indent="0" algn="just" rtl="0">
              <a:lnSpc>
                <a:spcPct val="115000"/>
              </a:lnSpc>
              <a:spcBef>
                <a:spcPts val="1200"/>
              </a:spcBef>
              <a:spcAft>
                <a:spcPts val="0"/>
              </a:spcAft>
              <a:buNone/>
            </a:pPr>
            <a:r>
              <a:rPr lang="it-IT" sz="1200" dirty="0">
                <a:solidFill>
                  <a:schemeClr val="dk1"/>
                </a:solidFill>
                <a:latin typeface="Segoe UI" panose="020B0502040204020203" pitchFamily="34" charset="0"/>
                <a:ea typeface="Libre Franklin"/>
                <a:cs typeface="Segoe UI" panose="020B0502040204020203" pitchFamily="34" charset="0"/>
                <a:sym typeface="Libre Franklin"/>
              </a:rPr>
              <a:t>Esistono diverse configurazioni circuitali, tra cui le reti RC e RL</a:t>
            </a:r>
            <a:endParaRPr sz="1200" dirty="0">
              <a:solidFill>
                <a:schemeClr val="dk1"/>
              </a:solidFill>
              <a:latin typeface="Segoe UI" panose="020B0502040204020203" pitchFamily="34" charset="0"/>
              <a:ea typeface="Libre Franklin"/>
              <a:cs typeface="Segoe UI" panose="020B0502040204020203" pitchFamily="34" charset="0"/>
              <a:sym typeface="Libre Franklin"/>
            </a:endParaRPr>
          </a:p>
        </p:txBody>
      </p:sp>
      <p:sp>
        <p:nvSpPr>
          <p:cNvPr id="152" name="Google Shape;152;p18"/>
          <p:cNvSpPr txBox="1"/>
          <p:nvPr/>
        </p:nvSpPr>
        <p:spPr>
          <a:xfrm>
            <a:off x="1078020" y="769958"/>
            <a:ext cx="47844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rPr>
              <a:t>Cos'è un Filtro Passa Alto?</a:t>
            </a:r>
            <a:endParaRPr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endParaRPr>
          </a:p>
        </p:txBody>
      </p:sp>
      <p:sp>
        <p:nvSpPr>
          <p:cNvPr id="153" name="Google Shape;153;p18"/>
          <p:cNvSpPr txBox="1"/>
          <p:nvPr/>
        </p:nvSpPr>
        <p:spPr>
          <a:xfrm>
            <a:off x="1078019" y="3823924"/>
            <a:ext cx="4344287" cy="400079"/>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it-IT" sz="1400" i="1" dirty="0">
                <a:solidFill>
                  <a:schemeClr val="dk1"/>
                </a:solidFill>
                <a:latin typeface="Segoe UI" panose="020B0502040204020203" pitchFamily="34" charset="0"/>
                <a:ea typeface="Libre Franklin"/>
                <a:cs typeface="Segoe UI" panose="020B0502040204020203" pitchFamily="34" charset="0"/>
                <a:sym typeface="Libre Franklin"/>
              </a:rPr>
              <a:t>Le rispettive frequenze di taglio sono:</a:t>
            </a:r>
            <a:endParaRPr sz="1400" i="1" dirty="0">
              <a:solidFill>
                <a:schemeClr val="dk1"/>
              </a:solidFill>
              <a:latin typeface="Segoe UI" panose="020B0502040204020203" pitchFamily="34" charset="0"/>
              <a:ea typeface="Libre Franklin"/>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8182F5B3-CF88-2CC6-5686-046B8E54B733}"/>
                  </a:ext>
                </a:extLst>
              </p:cNvPr>
              <p:cNvSpPr txBox="1"/>
              <p:nvPr/>
            </p:nvSpPr>
            <p:spPr>
              <a:xfrm>
                <a:off x="2564724" y="2905795"/>
                <a:ext cx="6595391" cy="646331"/>
              </a:xfrm>
              <a:prstGeom prst="rect">
                <a:avLst/>
              </a:prstGeom>
              <a:noFill/>
            </p:spPr>
            <p:txBody>
              <a:bodyPr wrap="square">
                <a:spAutoFit/>
              </a:bodyPr>
              <a:lstStyle/>
              <a:p>
                <a:pPr algn="ctr">
                  <a:buNone/>
                </a:pPr>
                <a:r>
                  <a:rPr lang="it-IT" sz="1200" dirty="0">
                    <a:latin typeface="Segoe UI" panose="020B0502040204020203" pitchFamily="34" charset="0"/>
                    <a:cs typeface="Segoe UI" panose="020B0502040204020203" pitchFamily="34" charset="0"/>
                  </a:rPr>
                  <a:t>La frequenza di separazione è la </a:t>
                </a:r>
                <a:r>
                  <a:rPr lang="it-IT" sz="1200" b="1" dirty="0">
                    <a:latin typeface="Segoe UI" panose="020B0502040204020203" pitchFamily="34" charset="0"/>
                    <a:cs typeface="Segoe UI" panose="020B0502040204020203" pitchFamily="34" charset="0"/>
                  </a:rPr>
                  <a:t>frequenza di taglio</a:t>
                </a:r>
                <a:r>
                  <a:rPr lang="it-IT" sz="1200" dirty="0">
                    <a:latin typeface="Segoe UI" panose="020B0502040204020203" pitchFamily="34" charset="0"/>
                    <a:cs typeface="Segoe UI" panose="020B0502040204020203" pitchFamily="34" charset="0"/>
                  </a:rPr>
                  <a:t>: </a:t>
                </a:r>
                <a14:m>
                  <m:oMath xmlns:m="http://schemas.openxmlformats.org/officeDocument/2006/math">
                    <m:sSub>
                      <m:sSubPr>
                        <m:ctrlPr>
                          <a:rPr lang="it-IT" sz="1200" b="1" i="1">
                            <a:latin typeface="Cambria Math" panose="02040503050406030204" pitchFamily="18" charset="0"/>
                          </a:rPr>
                        </m:ctrlPr>
                      </m:sSubPr>
                      <m:e>
                        <m:r>
                          <a:rPr lang="it-IT" sz="1200" b="1" i="1">
                            <a:latin typeface="Cambria Math" panose="02040503050406030204" pitchFamily="18" charset="0"/>
                          </a:rPr>
                          <m:t>𝒇</m:t>
                        </m:r>
                      </m:e>
                      <m:sub>
                        <m:r>
                          <a:rPr lang="it-IT" sz="1200" b="1" i="1">
                            <a:latin typeface="Cambria Math" panose="02040503050406030204" pitchFamily="18" charset="0"/>
                          </a:rPr>
                          <m:t>𝒄</m:t>
                        </m:r>
                      </m:sub>
                    </m:sSub>
                  </m:oMath>
                </a14:m>
                <a:endParaRPr lang="it-IT" sz="1200" b="1" dirty="0">
                  <a:latin typeface="Segoe UI" panose="020B0502040204020203" pitchFamily="34" charset="0"/>
                  <a:cs typeface="Segoe UI" panose="020B0502040204020203" pitchFamily="34" charset="0"/>
                </a:endParaRPr>
              </a:p>
              <a:p>
                <a:pPr algn="ctr">
                  <a:buNone/>
                </a:pPr>
                <a:endParaRPr lang="it-IT" sz="1200" dirty="0">
                  <a:latin typeface="Segoe UI" panose="020B0502040204020203" pitchFamily="34" charset="0"/>
                  <a:cs typeface="Segoe UI" panose="020B0502040204020203" pitchFamily="34" charset="0"/>
                </a:endParaRPr>
              </a:p>
              <a:p>
                <a:pPr algn="ctr">
                  <a:buNone/>
                </a:pPr>
                <a:r>
                  <a:rPr lang="it-IT" sz="1200" dirty="0">
                    <a:latin typeface="Segoe UI" panose="020B0502040204020203" pitchFamily="34" charset="0"/>
                    <a:cs typeface="Segoe UI" panose="020B0502040204020203" pitchFamily="34" charset="0"/>
                  </a:rPr>
                  <a:t>Sotto </a:t>
                </a:r>
                <a14:m>
                  <m:oMath xmlns:m="http://schemas.openxmlformats.org/officeDocument/2006/math">
                    <m:sSub>
                      <m:sSubPr>
                        <m:ctrlPr>
                          <a:rPr lang="it-IT" sz="1200" i="1">
                            <a:latin typeface="Cambria Math" panose="02040503050406030204" pitchFamily="18" charset="0"/>
                          </a:rPr>
                        </m:ctrlPr>
                      </m:sSubPr>
                      <m:e>
                        <m:r>
                          <a:rPr lang="it-IT" sz="1200" i="1">
                            <a:latin typeface="Cambria Math" panose="02040503050406030204" pitchFamily="18" charset="0"/>
                          </a:rPr>
                          <m:t>𝑓</m:t>
                        </m:r>
                      </m:e>
                      <m:sub>
                        <m:r>
                          <a:rPr lang="it-IT" sz="1200" i="1">
                            <a:latin typeface="Cambria Math" panose="02040503050406030204" pitchFamily="18" charset="0"/>
                          </a:rPr>
                          <m:t>𝑐</m:t>
                        </m:r>
                      </m:sub>
                    </m:sSub>
                  </m:oMath>
                </a14:m>
                <a:r>
                  <a:rPr lang="it-IT" sz="1200" dirty="0">
                    <a:latin typeface="Segoe UI" panose="020B0502040204020203" pitchFamily="34" charset="0"/>
                    <a:cs typeface="Segoe UI" panose="020B0502040204020203" pitchFamily="34" charset="0"/>
                  </a:rPr>
                  <a:t> il segnale attenuato. Sopra </a:t>
                </a:r>
                <a14:m>
                  <m:oMath xmlns:m="http://schemas.openxmlformats.org/officeDocument/2006/math">
                    <m:sSub>
                      <m:sSubPr>
                        <m:ctrlPr>
                          <a:rPr lang="it-IT" sz="1200" i="1">
                            <a:latin typeface="Cambria Math" panose="02040503050406030204" pitchFamily="18" charset="0"/>
                          </a:rPr>
                        </m:ctrlPr>
                      </m:sSubPr>
                      <m:e>
                        <m:r>
                          <a:rPr lang="it-IT" sz="1200" i="1">
                            <a:latin typeface="Cambria Math" panose="02040503050406030204" pitchFamily="18" charset="0"/>
                          </a:rPr>
                          <m:t>𝑓</m:t>
                        </m:r>
                      </m:e>
                      <m:sub>
                        <m:r>
                          <a:rPr lang="it-IT" sz="1200" i="1">
                            <a:latin typeface="Cambria Math" panose="02040503050406030204" pitchFamily="18" charset="0"/>
                          </a:rPr>
                          <m:t>𝑐</m:t>
                        </m:r>
                      </m:sub>
                    </m:sSub>
                  </m:oMath>
                </a14:m>
                <a:r>
                  <a:rPr lang="it-IT" sz="1200" dirty="0">
                    <a:latin typeface="Segoe UI" panose="020B0502040204020203" pitchFamily="34" charset="0"/>
                    <a:cs typeface="Segoe UI" panose="020B0502040204020203" pitchFamily="34" charset="0"/>
                  </a:rPr>
                  <a:t>: segnale trasmesso</a:t>
                </a:r>
                <a:r>
                  <a:rPr lang="it-IT" sz="1200" dirty="0"/>
                  <a:t>.</a:t>
                </a:r>
              </a:p>
            </p:txBody>
          </p:sp>
        </mc:Choice>
        <mc:Fallback xmlns="">
          <p:sp>
            <p:nvSpPr>
              <p:cNvPr id="5" name="CasellaDiTesto 4">
                <a:extLst>
                  <a:ext uri="{FF2B5EF4-FFF2-40B4-BE49-F238E27FC236}">
                    <a16:creationId xmlns:a16="http://schemas.microsoft.com/office/drawing/2014/main" id="{8182F5B3-CF88-2CC6-5686-046B8E54B733}"/>
                  </a:ext>
                </a:extLst>
              </p:cNvPr>
              <p:cNvSpPr txBox="1">
                <a:spLocks noRot="1" noChangeAspect="1" noMove="1" noResize="1" noEditPoints="1" noAdjustHandles="1" noChangeArrowheads="1" noChangeShapeType="1" noTextEdit="1"/>
              </p:cNvSpPr>
              <p:nvPr/>
            </p:nvSpPr>
            <p:spPr>
              <a:xfrm>
                <a:off x="2564724" y="2905795"/>
                <a:ext cx="6595391" cy="646331"/>
              </a:xfrm>
              <a:prstGeom prst="rect">
                <a:avLst/>
              </a:prstGeom>
              <a:blipFill>
                <a:blip r:embed="rId3"/>
                <a:stretch>
                  <a:fillRect t="-1887" b="-6604"/>
                </a:stretch>
              </a:blipFill>
            </p:spPr>
            <p:txBody>
              <a:bodyPr/>
              <a:lstStyle/>
              <a:p>
                <a:r>
                  <a:rPr lang="it-IT">
                    <a:noFill/>
                  </a:rPr>
                  <a:t> </a:t>
                </a:r>
              </a:p>
            </p:txBody>
          </p:sp>
        </mc:Fallback>
      </mc:AlternateContent>
      <p:grpSp>
        <p:nvGrpSpPr>
          <p:cNvPr id="12" name="Gruppo 11">
            <a:extLst>
              <a:ext uri="{FF2B5EF4-FFF2-40B4-BE49-F238E27FC236}">
                <a16:creationId xmlns:a16="http://schemas.microsoft.com/office/drawing/2014/main" id="{4248A301-5815-C962-F5C2-3390751502F9}"/>
              </a:ext>
            </a:extLst>
          </p:cNvPr>
          <p:cNvGrpSpPr/>
          <p:nvPr/>
        </p:nvGrpSpPr>
        <p:grpSpPr>
          <a:xfrm>
            <a:off x="3816433" y="4357314"/>
            <a:ext cx="4091971" cy="578235"/>
            <a:chOff x="2731862" y="5256118"/>
            <a:chExt cx="6428253" cy="578235"/>
          </a:xfrm>
        </p:grpSpPr>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0476FEF3-1BF1-7D0A-F85B-E1040588115E}"/>
                    </a:ext>
                  </a:extLst>
                </p:cNvPr>
                <p:cNvSpPr txBox="1"/>
                <p:nvPr/>
              </p:nvSpPr>
              <p:spPr>
                <a:xfrm>
                  <a:off x="2731862" y="5256118"/>
                  <a:ext cx="1229567" cy="57823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2000" i="1" smtClean="0">
                                <a:latin typeface="Cambria Math" panose="02040503050406030204" pitchFamily="18" charset="0"/>
                              </a:rPr>
                            </m:ctrlPr>
                          </m:sSubPr>
                          <m:e>
                            <m:r>
                              <a:rPr lang="it-IT" sz="2000" b="0" i="1" smtClean="0">
                                <a:latin typeface="Cambria Math" panose="02040503050406030204" pitchFamily="18" charset="0"/>
                              </a:rPr>
                              <m:t>𝑓</m:t>
                            </m:r>
                          </m:e>
                          <m:sub>
                            <m:r>
                              <a:rPr lang="it-IT" sz="2000" b="0" i="1" smtClean="0">
                                <a:latin typeface="Cambria Math" panose="02040503050406030204" pitchFamily="18" charset="0"/>
                              </a:rPr>
                              <m:t>𝑐</m:t>
                            </m:r>
                          </m:sub>
                        </m:sSub>
                        <m:r>
                          <a:rPr lang="it-IT" sz="2000" b="0" i="1" smtClean="0">
                            <a:latin typeface="Cambria Math" panose="02040503050406030204" pitchFamily="18" charset="0"/>
                          </a:rPr>
                          <m:t>=</m:t>
                        </m:r>
                        <m:f>
                          <m:fPr>
                            <m:ctrlPr>
                              <a:rPr lang="it-IT" sz="2000" b="0" i="1" smtClean="0">
                                <a:latin typeface="Cambria Math" panose="02040503050406030204" pitchFamily="18" charset="0"/>
                              </a:rPr>
                            </m:ctrlPr>
                          </m:fPr>
                          <m:num>
                            <m:r>
                              <a:rPr lang="it-IT" sz="2000" b="0" i="1" smtClean="0">
                                <a:latin typeface="Cambria Math" panose="02040503050406030204" pitchFamily="18" charset="0"/>
                              </a:rPr>
                              <m:t>1</m:t>
                            </m:r>
                          </m:num>
                          <m:den>
                            <m:r>
                              <a:rPr lang="it-IT" sz="2000" b="0" i="1" smtClean="0">
                                <a:latin typeface="Cambria Math" panose="02040503050406030204" pitchFamily="18" charset="0"/>
                              </a:rPr>
                              <m:t>2</m:t>
                            </m:r>
                            <m:r>
                              <a:rPr lang="it-IT" sz="2000" b="0" i="1" smtClean="0">
                                <a:latin typeface="Cambria Math" panose="02040503050406030204" pitchFamily="18" charset="0"/>
                                <a:ea typeface="Cambria Math" panose="02040503050406030204" pitchFamily="18" charset="0"/>
                              </a:rPr>
                              <m:t>𝜋</m:t>
                            </m:r>
                            <m:r>
                              <a:rPr lang="it-IT" sz="2000" b="0" i="1" smtClean="0">
                                <a:latin typeface="Cambria Math" panose="02040503050406030204" pitchFamily="18" charset="0"/>
                                <a:ea typeface="Cambria Math" panose="02040503050406030204" pitchFamily="18" charset="0"/>
                              </a:rPr>
                              <m:t>𝑅𝐶</m:t>
                            </m:r>
                          </m:den>
                        </m:f>
                      </m:oMath>
                    </m:oMathPara>
                  </a14:m>
                  <a:endParaRPr lang="it-IT" sz="2000" dirty="0"/>
                </a:p>
              </p:txBody>
            </p:sp>
          </mc:Choice>
          <mc:Fallback xmlns="">
            <p:sp>
              <p:nvSpPr>
                <p:cNvPr id="6" name="CasellaDiTesto 5">
                  <a:extLst>
                    <a:ext uri="{FF2B5EF4-FFF2-40B4-BE49-F238E27FC236}">
                      <a16:creationId xmlns:a16="http://schemas.microsoft.com/office/drawing/2014/main" id="{0476FEF3-1BF1-7D0A-F85B-E1040588115E}"/>
                    </a:ext>
                  </a:extLst>
                </p:cNvPr>
                <p:cNvSpPr txBox="1">
                  <a:spLocks noRot="1" noChangeAspect="1" noMove="1" noResize="1" noEditPoints="1" noAdjustHandles="1" noChangeArrowheads="1" noChangeShapeType="1" noTextEdit="1"/>
                </p:cNvSpPr>
                <p:nvPr/>
              </p:nvSpPr>
              <p:spPr>
                <a:xfrm>
                  <a:off x="2731862" y="5256118"/>
                  <a:ext cx="1229567" cy="578235"/>
                </a:xfrm>
                <a:prstGeom prst="rect">
                  <a:avLst/>
                </a:prstGeom>
                <a:blipFill>
                  <a:blip r:embed="rId4"/>
                  <a:stretch>
                    <a:fillRect l="-781" r="-4765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FB76DFF0-F78C-3323-F184-7076CA51BCEC}"/>
                    </a:ext>
                  </a:extLst>
                </p:cNvPr>
                <p:cNvSpPr txBox="1"/>
                <p:nvPr/>
              </p:nvSpPr>
              <p:spPr>
                <a:xfrm>
                  <a:off x="8116111" y="5256118"/>
                  <a:ext cx="1044004" cy="5761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2000" i="1" smtClean="0">
                                <a:latin typeface="Cambria Math" panose="02040503050406030204" pitchFamily="18" charset="0"/>
                              </a:rPr>
                            </m:ctrlPr>
                          </m:sSubPr>
                          <m:e>
                            <m:r>
                              <a:rPr lang="it-IT" sz="2000" b="0" i="1" smtClean="0">
                                <a:latin typeface="Cambria Math" panose="02040503050406030204" pitchFamily="18" charset="0"/>
                              </a:rPr>
                              <m:t>𝑓</m:t>
                            </m:r>
                          </m:e>
                          <m:sub>
                            <m:r>
                              <a:rPr lang="it-IT" sz="2000" b="0" i="1" smtClean="0">
                                <a:latin typeface="Cambria Math" panose="02040503050406030204" pitchFamily="18" charset="0"/>
                              </a:rPr>
                              <m:t>𝑐</m:t>
                            </m:r>
                          </m:sub>
                        </m:sSub>
                        <m:r>
                          <a:rPr lang="it-IT" sz="2000" b="0" i="1" smtClean="0">
                            <a:latin typeface="Cambria Math" panose="02040503050406030204" pitchFamily="18" charset="0"/>
                          </a:rPr>
                          <m:t>=</m:t>
                        </m:r>
                        <m:f>
                          <m:fPr>
                            <m:ctrlPr>
                              <a:rPr lang="it-IT" sz="2000" b="0" i="1" smtClean="0">
                                <a:latin typeface="Cambria Math" panose="02040503050406030204" pitchFamily="18" charset="0"/>
                              </a:rPr>
                            </m:ctrlPr>
                          </m:fPr>
                          <m:num>
                            <m:r>
                              <a:rPr lang="it-IT" sz="2000" b="0" i="1" smtClean="0">
                                <a:latin typeface="Cambria Math" panose="02040503050406030204" pitchFamily="18" charset="0"/>
                              </a:rPr>
                              <m:t>𝑅</m:t>
                            </m:r>
                          </m:num>
                          <m:den>
                            <m:r>
                              <a:rPr lang="it-IT" sz="2000" b="0" i="1" smtClean="0">
                                <a:latin typeface="Cambria Math" panose="02040503050406030204" pitchFamily="18" charset="0"/>
                              </a:rPr>
                              <m:t>2</m:t>
                            </m:r>
                            <m:r>
                              <a:rPr lang="it-IT" sz="2000" b="0" i="1" smtClean="0">
                                <a:latin typeface="Cambria Math" panose="02040503050406030204" pitchFamily="18" charset="0"/>
                                <a:ea typeface="Cambria Math" panose="02040503050406030204" pitchFamily="18" charset="0"/>
                              </a:rPr>
                              <m:t>𝜋</m:t>
                            </m:r>
                            <m:r>
                              <a:rPr lang="it-IT" sz="2000" b="0" i="1" smtClean="0">
                                <a:latin typeface="Cambria Math" panose="02040503050406030204" pitchFamily="18" charset="0"/>
                                <a:ea typeface="Cambria Math" panose="02040503050406030204" pitchFamily="18" charset="0"/>
                              </a:rPr>
                              <m:t>𝐿</m:t>
                            </m:r>
                          </m:den>
                        </m:f>
                      </m:oMath>
                    </m:oMathPara>
                  </a14:m>
                  <a:endParaRPr lang="it-IT" sz="2000" dirty="0"/>
                </a:p>
              </p:txBody>
            </p:sp>
          </mc:Choice>
          <mc:Fallback xmlns="">
            <p:sp>
              <p:nvSpPr>
                <p:cNvPr id="7" name="CasellaDiTesto 6">
                  <a:extLst>
                    <a:ext uri="{FF2B5EF4-FFF2-40B4-BE49-F238E27FC236}">
                      <a16:creationId xmlns:a16="http://schemas.microsoft.com/office/drawing/2014/main" id="{FB76DFF0-F78C-3323-F184-7076CA51BCEC}"/>
                    </a:ext>
                  </a:extLst>
                </p:cNvPr>
                <p:cNvSpPr txBox="1">
                  <a:spLocks noRot="1" noChangeAspect="1" noMove="1" noResize="1" noEditPoints="1" noAdjustHandles="1" noChangeArrowheads="1" noChangeShapeType="1" noTextEdit="1"/>
                </p:cNvSpPr>
                <p:nvPr/>
              </p:nvSpPr>
              <p:spPr>
                <a:xfrm>
                  <a:off x="8116111" y="5256118"/>
                  <a:ext cx="1044004" cy="576183"/>
                </a:xfrm>
                <a:prstGeom prst="rect">
                  <a:avLst/>
                </a:prstGeom>
                <a:blipFill>
                  <a:blip r:embed="rId5"/>
                  <a:stretch>
                    <a:fillRect l="-917" r="-45872"/>
                  </a:stretch>
                </a:blipFill>
              </p:spPr>
              <p:txBody>
                <a:bodyPr/>
                <a:lstStyle/>
                <a:p>
                  <a:r>
                    <a:rPr lang="it-IT">
                      <a:noFill/>
                    </a:rPr>
                    <a:t> </a:t>
                  </a:r>
                </a:p>
              </p:txBody>
            </p:sp>
          </mc:Fallback>
        </mc:AlternateContent>
      </p:grpSp>
      <p:sp>
        <p:nvSpPr>
          <p:cNvPr id="11" name="CasellaDiTesto 10">
            <a:extLst>
              <a:ext uri="{FF2B5EF4-FFF2-40B4-BE49-F238E27FC236}">
                <a16:creationId xmlns:a16="http://schemas.microsoft.com/office/drawing/2014/main" id="{FF0907B1-B7EE-9BB4-BDD0-CA38221D4AC3}"/>
              </a:ext>
            </a:extLst>
          </p:cNvPr>
          <p:cNvSpPr txBox="1"/>
          <p:nvPr/>
        </p:nvSpPr>
        <p:spPr>
          <a:xfrm>
            <a:off x="1078020" y="5318309"/>
            <a:ext cx="10123380" cy="569643"/>
          </a:xfrm>
          <a:prstGeom prst="rect">
            <a:avLst/>
          </a:prstGeom>
          <a:noFill/>
        </p:spPr>
        <p:txBody>
          <a:bodyPr wrap="square">
            <a:spAutoFit/>
          </a:bodyPr>
          <a:lstStyle/>
          <a:p>
            <a:pPr marL="0" lvl="0" indent="0" algn="ctr" rtl="0">
              <a:lnSpc>
                <a:spcPct val="115000"/>
              </a:lnSpc>
              <a:spcBef>
                <a:spcPts val="1200"/>
              </a:spcBef>
              <a:spcAft>
                <a:spcPts val="1200"/>
              </a:spcAft>
              <a:buNone/>
            </a:pPr>
            <a:r>
              <a:rPr lang="it-IT" sz="1400" dirty="0">
                <a:latin typeface="Segoe UI Semibold" panose="020B0702040204020203" pitchFamily="34" charset="0"/>
                <a:ea typeface="Libre Franklin"/>
                <a:cs typeface="Segoe UI Semibold" panose="020B0702040204020203" pitchFamily="34" charset="0"/>
                <a:sym typeface="Libre Franklin"/>
              </a:rPr>
              <a:t>La frequenza che separa la banda attenuata dalla banda passante è detta frequenza di taglio (</a:t>
            </a:r>
            <a:r>
              <a:rPr lang="it-IT" sz="1400" dirty="0" err="1">
                <a:latin typeface="Segoe UI Semibold" panose="020B0702040204020203" pitchFamily="34" charset="0"/>
                <a:ea typeface="Libre Franklin"/>
                <a:cs typeface="Segoe UI Semibold" panose="020B0702040204020203" pitchFamily="34" charset="0"/>
                <a:sym typeface="Libre Franklin"/>
              </a:rPr>
              <a:t>ƒc</a:t>
            </a:r>
            <a:r>
              <a:rPr lang="it-IT" sz="1400" dirty="0">
                <a:latin typeface="Segoe UI Semibold" panose="020B0702040204020203" pitchFamily="34" charset="0"/>
                <a:ea typeface="Libre Franklin"/>
                <a:cs typeface="Segoe UI Semibold" panose="020B0702040204020203" pitchFamily="34" charset="0"/>
                <a:sym typeface="Libre Franklin"/>
              </a:rPr>
              <a:t>​). Al di sotto di essa il segnale viene progressivamente attenuato, mentre al di sopra viene trasmesso con guadagno pressoché costante.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1CA81D29-7978-EC4A-974C-7F079A9BBF99}"/>
              </a:ext>
            </a:extLst>
          </p:cNvPr>
          <p:cNvSpPr txBox="1"/>
          <p:nvPr/>
        </p:nvSpPr>
        <p:spPr>
          <a:xfrm>
            <a:off x="1011636" y="5526016"/>
            <a:ext cx="10168727" cy="523220"/>
          </a:xfrm>
          <a:prstGeom prst="rect">
            <a:avLst/>
          </a:prstGeom>
          <a:noFill/>
          <a:ln w="19050">
            <a:noFill/>
          </a:ln>
        </p:spPr>
        <p:txBody>
          <a:bodyPr wrap="square">
            <a:spAutoFit/>
          </a:bodyPr>
          <a:lstStyle>
            <a:defPPr marR="0" lvl="0" algn="l" rtl="0">
              <a:lnSpc>
                <a:spcPct val="100000"/>
              </a:lnSpc>
              <a:spcBef>
                <a:spcPts val="0"/>
              </a:spcBef>
              <a:spcAft>
                <a:spcPts val="0"/>
              </a:spcAft>
              <a:defRPr/>
            </a:defPPr>
            <a:lvl1pPr marL="0" indent="0" algn="ctr">
              <a:defRPr>
                <a:latin typeface="Segoe UI" panose="020B0502040204020203" pitchFamily="34" charset="0"/>
                <a:cs typeface="Segoe UI" panose="020B0502040204020203" pitchFamily="34" charset="0"/>
              </a:defRPr>
            </a:lvl1pPr>
          </a:lstStyle>
          <a:p>
            <a:r>
              <a:rPr lang="it-IT" sz="1400" dirty="0">
                <a:sym typeface="Libre Franklin"/>
              </a:rPr>
              <a:t>In entrambi i casi </a:t>
            </a:r>
            <a:r>
              <a:rPr lang="it-IT" sz="1400" b="1" dirty="0">
                <a:sym typeface="Libre Franklin"/>
              </a:rPr>
              <a:t>la resistenza </a:t>
            </a:r>
            <a:r>
              <a:rPr lang="it-IT" sz="1400" dirty="0">
                <a:sym typeface="Libre Franklin"/>
              </a:rPr>
              <a:t>non genera da sola l’effetto di filtro, ma </a:t>
            </a:r>
            <a:r>
              <a:rPr lang="it-IT" sz="1400" b="1" u="sng" dirty="0">
                <a:sym typeface="Libre Franklin"/>
              </a:rPr>
              <a:t>serve a fissare i parametri principali del circuito, come la frequenza di taglio e la rapidità della risposta transitoria</a:t>
            </a:r>
            <a:r>
              <a:rPr lang="it-IT" sz="1400" dirty="0">
                <a:sym typeface="Libre Franklin"/>
              </a:rPr>
              <a:t>.</a:t>
            </a:r>
          </a:p>
        </p:txBody>
      </p:sp>
      <p:pic>
        <p:nvPicPr>
          <p:cNvPr id="8" name="Immagine 7">
            <a:extLst>
              <a:ext uri="{FF2B5EF4-FFF2-40B4-BE49-F238E27FC236}">
                <a16:creationId xmlns:a16="http://schemas.microsoft.com/office/drawing/2014/main" id="{4E3C6F84-016F-B2F2-6BC5-5F92F17D0A5D}"/>
              </a:ext>
            </a:extLst>
          </p:cNvPr>
          <p:cNvPicPr>
            <a:picLocks noChangeAspect="1"/>
          </p:cNvPicPr>
          <p:nvPr/>
        </p:nvPicPr>
        <p:blipFill>
          <a:blip r:embed="rId2"/>
          <a:srcRect l="6059" t="3694" r="7551" b="10542"/>
          <a:stretch>
            <a:fillRect/>
          </a:stretch>
        </p:blipFill>
        <p:spPr>
          <a:xfrm>
            <a:off x="1074632" y="722119"/>
            <a:ext cx="3666146" cy="2204815"/>
          </a:xfrm>
          <a:prstGeom prst="rect">
            <a:avLst/>
          </a:prstGeom>
          <a:ln w="38100">
            <a:solidFill>
              <a:srgbClr val="FFC000"/>
            </a:solidFill>
          </a:ln>
        </p:spPr>
      </p:pic>
      <p:pic>
        <p:nvPicPr>
          <p:cNvPr id="10" name="Immagine 9">
            <a:extLst>
              <a:ext uri="{FF2B5EF4-FFF2-40B4-BE49-F238E27FC236}">
                <a16:creationId xmlns:a16="http://schemas.microsoft.com/office/drawing/2014/main" id="{0EAB93FB-786A-06B1-0BD3-5F2A509313EF}"/>
              </a:ext>
            </a:extLst>
          </p:cNvPr>
          <p:cNvPicPr>
            <a:picLocks noChangeAspect="1"/>
          </p:cNvPicPr>
          <p:nvPr/>
        </p:nvPicPr>
        <p:blipFill>
          <a:blip r:embed="rId3"/>
          <a:srcRect l="3718" t="3618" r="13284" b="10841"/>
          <a:stretch>
            <a:fillRect/>
          </a:stretch>
        </p:blipFill>
        <p:spPr>
          <a:xfrm>
            <a:off x="7872010" y="3124068"/>
            <a:ext cx="3329390" cy="2204815"/>
          </a:xfrm>
          <a:prstGeom prst="rect">
            <a:avLst/>
          </a:prstGeom>
          <a:ln w="38100">
            <a:solidFill>
              <a:srgbClr val="00B050"/>
            </a:solidFill>
          </a:ln>
        </p:spPr>
      </p:pic>
      <p:sp>
        <p:nvSpPr>
          <p:cNvPr id="11" name="Rettangolo con angoli arrotondati 10">
            <a:extLst>
              <a:ext uri="{FF2B5EF4-FFF2-40B4-BE49-F238E27FC236}">
                <a16:creationId xmlns:a16="http://schemas.microsoft.com/office/drawing/2014/main" id="{4759CF74-3CBC-54B8-B7DB-806D191F9936}"/>
              </a:ext>
            </a:extLst>
          </p:cNvPr>
          <p:cNvSpPr/>
          <p:nvPr/>
        </p:nvSpPr>
        <p:spPr>
          <a:xfrm>
            <a:off x="5294118" y="722120"/>
            <a:ext cx="5907281" cy="2204815"/>
          </a:xfrm>
          <a:prstGeom prst="roundRect">
            <a:avLst/>
          </a:prstGeom>
          <a:solidFill>
            <a:schemeClr val="bg1"/>
          </a:soli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solidFill>
                  <a:schemeClr val="tx1"/>
                </a:solidFill>
                <a:latin typeface="Segoe UI" panose="020B0502040204020203" pitchFamily="34" charset="0"/>
                <a:cs typeface="Segoe UI" panose="020B0502040204020203" pitchFamily="34" charset="0"/>
                <a:sym typeface="Libre Franklin"/>
              </a:rPr>
              <a:t>Nel filtro RC, il comportamento passa-alto è legato al condensatore: alle basse frequenze la sua impedenza è alta e il segnale viene attenuato; alle alte frequenze l’impedenza diminuisce e il segnale passa più facilmente.</a:t>
            </a:r>
          </a:p>
        </p:txBody>
      </p:sp>
      <p:sp>
        <p:nvSpPr>
          <p:cNvPr id="12" name="Rettangolo con angoli arrotondati 11">
            <a:extLst>
              <a:ext uri="{FF2B5EF4-FFF2-40B4-BE49-F238E27FC236}">
                <a16:creationId xmlns:a16="http://schemas.microsoft.com/office/drawing/2014/main" id="{DC2E4A7B-4EA9-2A4A-753D-EAAB4DAEE5FE}"/>
              </a:ext>
            </a:extLst>
          </p:cNvPr>
          <p:cNvSpPr/>
          <p:nvPr/>
        </p:nvSpPr>
        <p:spPr>
          <a:xfrm>
            <a:off x="1074632" y="3079763"/>
            <a:ext cx="6415757" cy="2204815"/>
          </a:xfrm>
          <a:prstGeom prst="roundRect">
            <a:avLst/>
          </a:prstGeom>
          <a:solidFill>
            <a:schemeClr val="bg1"/>
          </a:solid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solidFill>
                  <a:schemeClr val="tx1"/>
                </a:solidFill>
                <a:latin typeface="Segoe UI" panose="020B0502040204020203" pitchFamily="34" charset="0"/>
                <a:cs typeface="Segoe UI" panose="020B0502040204020203" pitchFamily="34" charset="0"/>
                <a:sym typeface="Libre Franklin"/>
              </a:rPr>
              <a:t>Nel filtro RL, invece, il ruolo selettivo è svolto dall’induttore: la sua impedenza aumenta con la frequenza e modifica la distribuzione della tensione nel circuito, permettendo di ottenere una risposta passa-alto in modo analogo ma con un principio fisico diverso.</a:t>
            </a:r>
          </a:p>
        </p:txBody>
      </p:sp>
    </p:spTree>
    <p:extLst>
      <p:ext uri="{BB962C8B-B14F-4D97-AF65-F5344CB8AC3E}">
        <p14:creationId xmlns:p14="http://schemas.microsoft.com/office/powerpoint/2010/main" val="2938296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pic>
        <p:nvPicPr>
          <p:cNvPr id="161" name="Google Shape;161;p19"/>
          <p:cNvPicPr preferRelativeResize="0"/>
          <p:nvPr/>
        </p:nvPicPr>
        <p:blipFill rotWithShape="1">
          <a:blip r:embed="rId3"/>
          <a:srcRect t="17136"/>
          <a:stretch/>
        </p:blipFill>
        <p:spPr>
          <a:xfrm>
            <a:off x="1117200" y="888350"/>
            <a:ext cx="6353196" cy="1326300"/>
          </a:xfrm>
          <a:prstGeom prst="rect">
            <a:avLst/>
          </a:prstGeom>
          <a:ln w="38100">
            <a:solidFill>
              <a:schemeClr val="bg2">
                <a:lumMod val="10000"/>
              </a:schemeClr>
            </a:solidFill>
          </a:ln>
        </p:spPr>
      </p:pic>
      <p:sp>
        <p:nvSpPr>
          <p:cNvPr id="162" name="Google Shape;162;p19"/>
          <p:cNvSpPr txBox="1"/>
          <p:nvPr/>
        </p:nvSpPr>
        <p:spPr>
          <a:xfrm>
            <a:off x="7558481" y="1028295"/>
            <a:ext cx="3642919" cy="104641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it-IT" sz="1400" i="1" dirty="0">
                <a:latin typeface="Libre Franklin"/>
                <a:ea typeface="Libre Franklin"/>
                <a:cs typeface="Libre Franklin"/>
                <a:sym typeface="Libre Franklin"/>
              </a:rPr>
              <a:t>Per confrontare le due configurazioni, sono stati scelti valori dei componenti tali da ottenere la stessa frequenza di taglio:      </a:t>
            </a:r>
            <a:r>
              <a:rPr lang="it-IT" sz="1400" b="1" i="1" dirty="0">
                <a:latin typeface="Libre Franklin"/>
                <a:ea typeface="Libre Franklin"/>
                <a:cs typeface="Libre Franklin"/>
                <a:sym typeface="Libre Franklin"/>
              </a:rPr>
              <a:t>159 Hz</a:t>
            </a:r>
            <a:endParaRPr sz="1400" b="1" i="1" dirty="0">
              <a:latin typeface="Libre Franklin"/>
              <a:ea typeface="Libre Franklin"/>
              <a:cs typeface="Libre Franklin"/>
              <a:sym typeface="Libre Franklin"/>
            </a:endParaRPr>
          </a:p>
        </p:txBody>
      </p:sp>
      <p:sp>
        <p:nvSpPr>
          <p:cNvPr id="163" name="Google Shape;163;p19"/>
          <p:cNvSpPr txBox="1"/>
          <p:nvPr/>
        </p:nvSpPr>
        <p:spPr>
          <a:xfrm>
            <a:off x="1156050" y="2513000"/>
            <a:ext cx="10508100" cy="40007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dirty="0">
                <a:latin typeface="Libre Franklin"/>
                <a:ea typeface="Libre Franklin"/>
                <a:cs typeface="Libre Franklin"/>
                <a:sym typeface="Libre Franklin"/>
              </a:rPr>
              <a:t>Entrambi i circuiti sono </a:t>
            </a:r>
            <a:r>
              <a:rPr lang="it-IT" sz="1400" dirty="0">
                <a:latin typeface="Segoe UI" panose="020B0502040204020203" pitchFamily="34" charset="0"/>
                <a:cs typeface="Segoe UI" panose="020B0502040204020203" pitchFamily="34" charset="0"/>
                <a:sym typeface="Libre Franklin"/>
              </a:rPr>
              <a:t>stati</a:t>
            </a:r>
            <a:r>
              <a:rPr lang="it-IT" sz="1200" dirty="0">
                <a:latin typeface="Libre Franklin"/>
                <a:ea typeface="Libre Franklin"/>
                <a:cs typeface="Libre Franklin"/>
                <a:sym typeface="Libre Franklin"/>
              </a:rPr>
              <a:t> simulati con un segnale sinusoidale di ingresso a 1 kHz, frequenza ampiamente superiore alla frequenza di taglio.</a:t>
            </a:r>
            <a:endParaRPr sz="1200" dirty="0">
              <a:latin typeface="Libre Franklin"/>
              <a:ea typeface="Libre Franklin"/>
              <a:cs typeface="Libre Franklin"/>
              <a:sym typeface="Libre Franklin"/>
            </a:endParaRPr>
          </a:p>
        </p:txBody>
      </p:sp>
      <p:pic>
        <p:nvPicPr>
          <p:cNvPr id="164" name="Google Shape;164;p19"/>
          <p:cNvPicPr preferRelativeResize="0"/>
          <p:nvPr/>
        </p:nvPicPr>
        <p:blipFill rotWithShape="1">
          <a:blip r:embed="rId4">
            <a:alphaModFix/>
          </a:blip>
          <a:srcRect/>
          <a:stretch/>
        </p:blipFill>
        <p:spPr>
          <a:xfrm>
            <a:off x="1765996" y="3114173"/>
            <a:ext cx="3614275" cy="1771351"/>
          </a:xfrm>
          <a:prstGeom prst="rect">
            <a:avLst/>
          </a:prstGeom>
          <a:noFill/>
          <a:ln>
            <a:noFill/>
          </a:ln>
        </p:spPr>
      </p:pic>
      <p:pic>
        <p:nvPicPr>
          <p:cNvPr id="165" name="Google Shape;165;p19"/>
          <p:cNvPicPr preferRelativeResize="0"/>
          <p:nvPr/>
        </p:nvPicPr>
        <p:blipFill rotWithShape="1">
          <a:blip r:embed="rId5">
            <a:alphaModFix/>
          </a:blip>
          <a:srcRect/>
          <a:stretch/>
        </p:blipFill>
        <p:spPr>
          <a:xfrm>
            <a:off x="6811708" y="3114174"/>
            <a:ext cx="3614296" cy="1771351"/>
          </a:xfrm>
          <a:prstGeom prst="rect">
            <a:avLst/>
          </a:prstGeom>
          <a:noFill/>
          <a:ln>
            <a:noFill/>
          </a:ln>
        </p:spPr>
      </p:pic>
      <p:sp>
        <p:nvSpPr>
          <p:cNvPr id="166" name="Google Shape;166;p19"/>
          <p:cNvSpPr txBox="1"/>
          <p:nvPr/>
        </p:nvSpPr>
        <p:spPr>
          <a:xfrm>
            <a:off x="4869222" y="4503511"/>
            <a:ext cx="511049" cy="430857"/>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sz="1600" b="1" dirty="0">
                <a:sym typeface="Libre Franklin"/>
              </a:rPr>
              <a:t>RC</a:t>
            </a:r>
            <a:endParaRPr sz="1600" b="1" dirty="0">
              <a:sym typeface="Libre Franklin"/>
            </a:endParaRPr>
          </a:p>
        </p:txBody>
      </p:sp>
      <p:sp>
        <p:nvSpPr>
          <p:cNvPr id="167" name="Google Shape;167;p19"/>
          <p:cNvSpPr txBox="1"/>
          <p:nvPr/>
        </p:nvSpPr>
        <p:spPr>
          <a:xfrm>
            <a:off x="9958144" y="4503511"/>
            <a:ext cx="467860" cy="430857"/>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600" b="1">
                <a:latin typeface="Libre Franklin"/>
                <a:ea typeface="Libre Franklin"/>
                <a:cs typeface="Libre Franklin"/>
              </a:defRPr>
            </a:lvl1pPr>
          </a:lstStyle>
          <a:p>
            <a:r>
              <a:rPr lang="it-IT" dirty="0">
                <a:sym typeface="Libre Franklin"/>
              </a:rPr>
              <a:t>RL</a:t>
            </a:r>
            <a:endParaRPr dirty="0">
              <a:sym typeface="Libre Franklin"/>
            </a:endParaRPr>
          </a:p>
        </p:txBody>
      </p:sp>
      <p:sp>
        <p:nvSpPr>
          <p:cNvPr id="168" name="Google Shape;168;p19"/>
          <p:cNvSpPr txBox="1"/>
          <p:nvPr/>
        </p:nvSpPr>
        <p:spPr>
          <a:xfrm>
            <a:off x="1117200" y="5086618"/>
            <a:ext cx="10084200" cy="1107965"/>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dirty="0">
                <a:sym typeface="Libre Franklin"/>
              </a:rPr>
              <a:t>Le forme d'onda ottenute mostrano che le configurazioni RC e RL producono una risposta sostanzialmente equivalente, come previsto dalla teoria dei filtri passa-alto del primo ordine.</a:t>
            </a:r>
            <a:br>
              <a:rPr lang="it-IT" dirty="0">
                <a:sym typeface="Libre Franklin"/>
              </a:rPr>
            </a:br>
            <a:endParaRPr dirty="0">
              <a:sym typeface="Libre Franklin"/>
            </a:endParaRPr>
          </a:p>
          <a:p>
            <a:r>
              <a:rPr lang="it-IT" dirty="0">
                <a:sym typeface="Libre Franklin"/>
              </a:rPr>
              <a:t>Poiché </a:t>
            </a:r>
            <a:r>
              <a:rPr lang="it-IT" b="1" i="1" dirty="0">
                <a:sym typeface="Libre Franklin"/>
              </a:rPr>
              <a:t>entrambe presentano lo stesso comportamento in frequenza e nel dominio del tempo</a:t>
            </a:r>
            <a:r>
              <a:rPr lang="it-IT" dirty="0">
                <a:sym typeface="Libre Franklin"/>
              </a:rPr>
              <a:t>, </a:t>
            </a:r>
            <a:r>
              <a:rPr lang="it-IT" i="1" u="sng" dirty="0">
                <a:sym typeface="Libre Franklin"/>
              </a:rPr>
              <a:t>nelle analisi successive verrà considerata esclusivamente la configurazione RC</a:t>
            </a:r>
            <a:r>
              <a:rPr lang="it-IT" dirty="0">
                <a:sym typeface="Libre Franklin"/>
              </a:rPr>
              <a:t>, che risulta più semplice da implementare e da studiare.</a:t>
            </a:r>
            <a:endParaRPr dirty="0">
              <a:sym typeface="Libre Franklin"/>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92DA4CC5-4DF9-E15F-2B57-542ADD478AD6}"/>
                  </a:ext>
                </a:extLst>
              </p:cNvPr>
              <p:cNvSpPr txBox="1"/>
              <p:nvPr/>
            </p:nvSpPr>
            <p:spPr>
              <a:xfrm>
                <a:off x="5550437" y="3948161"/>
                <a:ext cx="1091126" cy="215444"/>
              </a:xfrm>
              <a:prstGeom prst="rect">
                <a:avLst/>
              </a:prstGeom>
              <a:noFill/>
            </p:spPr>
            <p:txBody>
              <a:bodyPr wrap="square" lIns="0" tIns="0" rIns="0" bIns="0" rtlCol="0">
                <a:spAutoFit/>
              </a:bodyPr>
              <a:lstStyle/>
              <a:p>
                <a14:m>
                  <m:oMath xmlns:m="http://schemas.openxmlformats.org/officeDocument/2006/math">
                    <m:sSub>
                      <m:sSubPr>
                        <m:ctrlPr>
                          <a:rPr lang="it-IT" sz="1400" b="1" i="1" smtClean="0">
                            <a:latin typeface="Cambria Math" panose="02040503050406030204" pitchFamily="18" charset="0"/>
                          </a:rPr>
                        </m:ctrlPr>
                      </m:sSubPr>
                      <m:e>
                        <m:r>
                          <a:rPr lang="it-IT" sz="1400" b="1" i="1" smtClean="0">
                            <a:latin typeface="Cambria Math" panose="02040503050406030204" pitchFamily="18" charset="0"/>
                          </a:rPr>
                          <m:t>𝒇</m:t>
                        </m:r>
                      </m:e>
                      <m:sub>
                        <m:r>
                          <a:rPr lang="it-IT" sz="1400" b="1" i="1" smtClean="0">
                            <a:latin typeface="Cambria Math" panose="02040503050406030204" pitchFamily="18" charset="0"/>
                          </a:rPr>
                          <m:t>𝒄</m:t>
                        </m:r>
                      </m:sub>
                    </m:sSub>
                    <m:r>
                      <a:rPr lang="it-IT" sz="1400" b="1" i="1" smtClean="0">
                        <a:latin typeface="Cambria Math" panose="02040503050406030204" pitchFamily="18" charset="0"/>
                      </a:rPr>
                      <m:t>=</m:t>
                    </m:r>
                    <m:r>
                      <a:rPr lang="it-IT" sz="1400" b="1" i="1" smtClean="0">
                        <a:latin typeface="Cambria Math" panose="02040503050406030204" pitchFamily="18" charset="0"/>
                      </a:rPr>
                      <m:t>𝟏𝟓𝟗</m:t>
                    </m:r>
                  </m:oMath>
                </a14:m>
                <a:r>
                  <a:rPr lang="it-IT" sz="1400" b="1" dirty="0"/>
                  <a:t>Hz</a:t>
                </a:r>
              </a:p>
            </p:txBody>
          </p:sp>
        </mc:Choice>
        <mc:Fallback xmlns="">
          <p:sp>
            <p:nvSpPr>
              <p:cNvPr id="2" name="CasellaDiTesto 1">
                <a:extLst>
                  <a:ext uri="{FF2B5EF4-FFF2-40B4-BE49-F238E27FC236}">
                    <a16:creationId xmlns:a16="http://schemas.microsoft.com/office/drawing/2014/main" id="{92DA4CC5-4DF9-E15F-2B57-542ADD478AD6}"/>
                  </a:ext>
                </a:extLst>
              </p:cNvPr>
              <p:cNvSpPr txBox="1">
                <a:spLocks noRot="1" noChangeAspect="1" noMove="1" noResize="1" noEditPoints="1" noAdjustHandles="1" noChangeArrowheads="1" noChangeShapeType="1" noTextEdit="1"/>
              </p:cNvSpPr>
              <p:nvPr/>
            </p:nvSpPr>
            <p:spPr>
              <a:xfrm>
                <a:off x="5550437" y="3948161"/>
                <a:ext cx="1091126" cy="215444"/>
              </a:xfrm>
              <a:prstGeom prst="rect">
                <a:avLst/>
              </a:prstGeom>
              <a:blipFill>
                <a:blip r:embed="rId6"/>
                <a:stretch>
                  <a:fillRect l="-7865" t="-28571" b="-51429"/>
                </a:stretch>
              </a:blipFill>
            </p:spPr>
            <p:txBody>
              <a:bodyPr/>
              <a:lstStyle/>
              <a:p>
                <a:r>
                  <a:rPr lang="it-IT">
                    <a:noFill/>
                  </a:rPr>
                  <a:t> </a:t>
                </a: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sellaDiTesto 8">
            <a:extLst>
              <a:ext uri="{FF2B5EF4-FFF2-40B4-BE49-F238E27FC236}">
                <a16:creationId xmlns:a16="http://schemas.microsoft.com/office/drawing/2014/main" id="{BCB3247D-87BD-04E0-720A-AA82F0DEA626}"/>
              </a:ext>
            </a:extLst>
          </p:cNvPr>
          <p:cNvSpPr txBox="1"/>
          <p:nvPr/>
        </p:nvSpPr>
        <p:spPr>
          <a:xfrm>
            <a:off x="1073791" y="765520"/>
            <a:ext cx="10127609" cy="569356"/>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t>Impedenza del condensatore</a:t>
            </a:r>
          </a:p>
        </p:txBody>
      </p:sp>
      <p:pic>
        <p:nvPicPr>
          <p:cNvPr id="15" name="Immagine 14">
            <a:extLst>
              <a:ext uri="{FF2B5EF4-FFF2-40B4-BE49-F238E27FC236}">
                <a16:creationId xmlns:a16="http://schemas.microsoft.com/office/drawing/2014/main" id="{562F4A1A-F8DA-F5EA-7D70-3C4D545E71FE}"/>
              </a:ext>
            </a:extLst>
          </p:cNvPr>
          <p:cNvPicPr>
            <a:picLocks noChangeAspect="1"/>
          </p:cNvPicPr>
          <p:nvPr/>
        </p:nvPicPr>
        <p:blipFill>
          <a:blip r:embed="rId2"/>
          <a:srcRect r="24648"/>
          <a:stretch>
            <a:fillRect/>
          </a:stretch>
        </p:blipFill>
        <p:spPr>
          <a:xfrm>
            <a:off x="6550341" y="2019927"/>
            <a:ext cx="4317079" cy="1823655"/>
          </a:xfrm>
          <a:prstGeom prst="rect">
            <a:avLst/>
          </a:prstGeom>
          <a:ln w="19050">
            <a:solidFill>
              <a:schemeClr val="bg1">
                <a:lumMod val="50000"/>
              </a:schemeClr>
            </a:solidFill>
          </a:ln>
        </p:spPr>
      </p:pic>
      <p:sp>
        <p:nvSpPr>
          <p:cNvPr id="29" name="CasellaDiTesto 28">
            <a:extLst>
              <a:ext uri="{FF2B5EF4-FFF2-40B4-BE49-F238E27FC236}">
                <a16:creationId xmlns:a16="http://schemas.microsoft.com/office/drawing/2014/main" id="{78B4F30F-C993-001D-39C6-B26A76D84776}"/>
              </a:ext>
            </a:extLst>
          </p:cNvPr>
          <p:cNvSpPr txBox="1"/>
          <p:nvPr/>
        </p:nvSpPr>
        <p:spPr>
          <a:xfrm>
            <a:off x="5641596" y="2971800"/>
            <a:ext cx="65" cy="276999"/>
          </a:xfrm>
          <a:prstGeom prst="rect">
            <a:avLst/>
          </a:prstGeom>
          <a:noFill/>
        </p:spPr>
        <p:txBody>
          <a:bodyPr wrap="none" lIns="0" tIns="0" rIns="0" bIns="0" rtlCol="0">
            <a:spAutoFit/>
          </a:bodyPr>
          <a:lstStyle/>
          <a:p>
            <a:endParaRPr lang="it-IT" dirty="0"/>
          </a:p>
        </p:txBody>
      </p:sp>
      <p:grpSp>
        <p:nvGrpSpPr>
          <p:cNvPr id="33" name="Gruppo 32">
            <a:extLst>
              <a:ext uri="{FF2B5EF4-FFF2-40B4-BE49-F238E27FC236}">
                <a16:creationId xmlns:a16="http://schemas.microsoft.com/office/drawing/2014/main" id="{AF568ACC-338A-13BF-A08C-20509A6AB4DA}"/>
              </a:ext>
            </a:extLst>
          </p:cNvPr>
          <p:cNvGrpSpPr/>
          <p:nvPr/>
        </p:nvGrpSpPr>
        <p:grpSpPr>
          <a:xfrm>
            <a:off x="1258370" y="2006563"/>
            <a:ext cx="4198708" cy="3033082"/>
            <a:chOff x="1073789" y="2617794"/>
            <a:chExt cx="3586295" cy="3043009"/>
          </a:xfrm>
        </p:grpSpPr>
        <mc:AlternateContent xmlns:mc="http://schemas.openxmlformats.org/markup-compatibility/2006" xmlns:a14="http://schemas.microsoft.com/office/drawing/2010/main">
          <mc:Choice Requires="a14">
            <p:sp>
              <p:nvSpPr>
                <p:cNvPr id="18" name="CasellaDiTesto 17">
                  <a:extLst>
                    <a:ext uri="{FF2B5EF4-FFF2-40B4-BE49-F238E27FC236}">
                      <a16:creationId xmlns:a16="http://schemas.microsoft.com/office/drawing/2014/main" id="{2310CFA4-ACD2-9F17-7C89-23153A936B34}"/>
                    </a:ext>
                  </a:extLst>
                </p:cNvPr>
                <p:cNvSpPr txBox="1"/>
                <p:nvPr/>
              </p:nvSpPr>
              <p:spPr>
                <a:xfrm>
                  <a:off x="1073789" y="3032823"/>
                  <a:ext cx="3586294" cy="56227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𝑍</m:t>
                            </m:r>
                          </m:e>
                          <m:sub>
                            <m:r>
                              <a:rPr lang="it-IT" i="1">
                                <a:latin typeface="Cambria Math" panose="02040503050406030204" pitchFamily="18" charset="0"/>
                              </a:rPr>
                              <m:t>𝑐</m:t>
                            </m:r>
                          </m:sub>
                        </m:sSub>
                        <m:r>
                          <a:rPr lang="it-IT" i="0">
                            <a:latin typeface="Cambria Math" panose="02040503050406030204" pitchFamily="18" charset="0"/>
                          </a:rPr>
                          <m:t>=</m:t>
                        </m:r>
                        <m:f>
                          <m:fPr>
                            <m:ctrlPr>
                              <a:rPr lang="it-IT" i="1">
                                <a:latin typeface="Cambria Math" panose="02040503050406030204" pitchFamily="18" charset="0"/>
                              </a:rPr>
                            </m:ctrlPr>
                          </m:fPr>
                          <m:num>
                            <m:r>
                              <a:rPr lang="it-IT" i="0">
                                <a:latin typeface="Cambria Math" panose="02040503050406030204" pitchFamily="18" charset="0"/>
                              </a:rPr>
                              <m:t>1</m:t>
                            </m:r>
                          </m:num>
                          <m:den>
                            <m:r>
                              <a:rPr lang="it-IT" i="1">
                                <a:latin typeface="Cambria Math" panose="02040503050406030204" pitchFamily="18" charset="0"/>
                              </a:rPr>
                              <m:t>𝐽</m:t>
                            </m:r>
                            <m:r>
                              <a:rPr lang="it-IT" i="1">
                                <a:latin typeface="Cambria Math" panose="02040503050406030204" pitchFamily="18" charset="0"/>
                              </a:rPr>
                              <m:t>𝜔</m:t>
                            </m:r>
                            <m:r>
                              <a:rPr lang="it-IT" i="1">
                                <a:latin typeface="Cambria Math" panose="02040503050406030204" pitchFamily="18" charset="0"/>
                              </a:rPr>
                              <m:t>𝐶</m:t>
                            </m:r>
                          </m:den>
                        </m:f>
                      </m:oMath>
                    </m:oMathPara>
                  </a14:m>
                  <a:endParaRPr lang="it-IT" dirty="0"/>
                </a:p>
              </p:txBody>
            </p:sp>
          </mc:Choice>
          <mc:Fallback xmlns="">
            <p:sp>
              <p:nvSpPr>
                <p:cNvPr id="18" name="CasellaDiTesto 17">
                  <a:extLst>
                    <a:ext uri="{FF2B5EF4-FFF2-40B4-BE49-F238E27FC236}">
                      <a16:creationId xmlns:a16="http://schemas.microsoft.com/office/drawing/2014/main" id="{2310CFA4-ACD2-9F17-7C89-23153A936B34}"/>
                    </a:ext>
                  </a:extLst>
                </p:cNvPr>
                <p:cNvSpPr txBox="1">
                  <a:spLocks noRot="1" noChangeAspect="1" noMove="1" noResize="1" noEditPoints="1" noAdjustHandles="1" noChangeArrowheads="1" noChangeShapeType="1" noTextEdit="1"/>
                </p:cNvSpPr>
                <p:nvPr/>
              </p:nvSpPr>
              <p:spPr>
                <a:xfrm>
                  <a:off x="1073789" y="3032823"/>
                  <a:ext cx="3586294" cy="562270"/>
                </a:xfrm>
                <a:prstGeom prst="rect">
                  <a:avLst/>
                </a:prstGeom>
                <a:blipFill>
                  <a:blip r:embed="rId3"/>
                  <a:stretch>
                    <a:fillRect/>
                  </a:stretch>
                </a:blipFill>
              </p:spPr>
              <p:txBody>
                <a:bodyPr/>
                <a:lstStyle/>
                <a:p>
                  <a:r>
                    <a:rPr lang="it-IT">
                      <a:noFill/>
                    </a:rPr>
                    <a:t> </a:t>
                  </a:r>
                </a:p>
              </p:txBody>
            </p:sp>
          </mc:Fallback>
        </mc:AlternateContent>
        <p:sp>
          <p:nvSpPr>
            <p:cNvPr id="20" name="CasellaDiTesto 19">
              <a:extLst>
                <a:ext uri="{FF2B5EF4-FFF2-40B4-BE49-F238E27FC236}">
                  <a16:creationId xmlns:a16="http://schemas.microsoft.com/office/drawing/2014/main" id="{80F8B64C-A1AF-936A-A119-3ED95B9D7044}"/>
                </a:ext>
              </a:extLst>
            </p:cNvPr>
            <p:cNvSpPr txBox="1"/>
            <p:nvPr/>
          </p:nvSpPr>
          <p:spPr>
            <a:xfrm>
              <a:off x="1073790" y="2617794"/>
              <a:ext cx="3586293" cy="307777"/>
            </a:xfrm>
            <a:prstGeom prst="rect">
              <a:avLst/>
            </a:prstGeom>
            <a:noFill/>
          </p:spPr>
          <p:txBody>
            <a:bodyPr wrap="square">
              <a:spAutoFit/>
            </a:bodyPr>
            <a:lstStyle>
              <a:defPPr>
                <a:defRPr lang="en-US"/>
              </a:defPPr>
              <a:lvl1pPr>
                <a:defRPr sz="1400">
                  <a:latin typeface="Segoe UI" panose="020B0502040204020203" pitchFamily="34" charset="0"/>
                  <a:cs typeface="Segoe UI" panose="020B0502040204020203" pitchFamily="34" charset="0"/>
                </a:defRPr>
              </a:lvl1pPr>
            </a:lstStyle>
            <a:p>
              <a:r>
                <a:rPr lang="it-IT" b="1" dirty="0"/>
                <a:t>Un condensatore in AC si descrive con:</a:t>
              </a:r>
            </a:p>
          </p:txBody>
        </p:sp>
        <p:sp>
          <p:nvSpPr>
            <p:cNvPr id="24" name="CasellaDiTesto 23">
              <a:extLst>
                <a:ext uri="{FF2B5EF4-FFF2-40B4-BE49-F238E27FC236}">
                  <a16:creationId xmlns:a16="http://schemas.microsoft.com/office/drawing/2014/main" id="{75B76D7D-D795-A787-C798-2EEECCFC3B44}"/>
                </a:ext>
              </a:extLst>
            </p:cNvPr>
            <p:cNvSpPr txBox="1"/>
            <p:nvPr/>
          </p:nvSpPr>
          <p:spPr>
            <a:xfrm>
              <a:off x="1073790" y="3639133"/>
              <a:ext cx="3586293" cy="307777"/>
            </a:xfrm>
            <a:prstGeom prst="rect">
              <a:avLst/>
            </a:prstGeom>
            <a:noFill/>
          </p:spPr>
          <p:txBody>
            <a:bodyPr wrap="square">
              <a:spAutoFit/>
            </a:bodyPr>
            <a:lstStyle>
              <a:defPPr>
                <a:defRPr lang="en-US"/>
              </a:defPPr>
              <a:lvl1pPr>
                <a:defRPr sz="1400">
                  <a:latin typeface="Segoe UI" panose="020B0502040204020203" pitchFamily="34" charset="0"/>
                  <a:cs typeface="Segoe UI" panose="020B0502040204020203" pitchFamily="34" charset="0"/>
                </a:defRPr>
              </a:lvl1pPr>
            </a:lstStyle>
            <a:p>
              <a:r>
                <a:rPr lang="it-IT" dirty="0"/>
                <a:t>dove:</a:t>
              </a:r>
            </a:p>
          </p:txBody>
        </p:sp>
        <mc:AlternateContent xmlns:mc="http://schemas.openxmlformats.org/markup-compatibility/2006" xmlns:a14="http://schemas.microsoft.com/office/drawing/2010/main">
          <mc:Choice Requires="a14">
            <p:sp>
              <p:nvSpPr>
                <p:cNvPr id="26" name="CasellaDiTesto 25">
                  <a:extLst>
                    <a:ext uri="{FF2B5EF4-FFF2-40B4-BE49-F238E27FC236}">
                      <a16:creationId xmlns:a16="http://schemas.microsoft.com/office/drawing/2014/main" id="{624A5D03-D6F4-C510-1D3D-C9633F821BE4}"/>
                    </a:ext>
                  </a:extLst>
                </p:cNvPr>
                <p:cNvSpPr txBox="1"/>
                <p:nvPr/>
              </p:nvSpPr>
              <p:spPr>
                <a:xfrm>
                  <a:off x="1073789" y="4094619"/>
                  <a:ext cx="3586294"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rPr>
                          <m:t>𝜔</m:t>
                        </m:r>
                        <m:r>
                          <a:rPr lang="it-IT" i="0">
                            <a:latin typeface="Cambria Math" panose="02040503050406030204" pitchFamily="18" charset="0"/>
                          </a:rPr>
                          <m:t>=2</m:t>
                        </m:r>
                        <m:r>
                          <a:rPr lang="it-IT" i="1">
                            <a:latin typeface="Cambria Math" panose="02040503050406030204" pitchFamily="18" charset="0"/>
                          </a:rPr>
                          <m:t>𝜋</m:t>
                        </m:r>
                        <m:r>
                          <a:rPr lang="it-IT" i="1">
                            <a:latin typeface="Cambria Math" panose="02040503050406030204" pitchFamily="18" charset="0"/>
                          </a:rPr>
                          <m:t>𝑓</m:t>
                        </m:r>
                      </m:oMath>
                    </m:oMathPara>
                  </a14:m>
                  <a:endParaRPr lang="it-IT" dirty="0"/>
                </a:p>
              </p:txBody>
            </p:sp>
          </mc:Choice>
          <mc:Fallback xmlns="">
            <p:sp>
              <p:nvSpPr>
                <p:cNvPr id="26" name="CasellaDiTesto 25">
                  <a:extLst>
                    <a:ext uri="{FF2B5EF4-FFF2-40B4-BE49-F238E27FC236}">
                      <a16:creationId xmlns:a16="http://schemas.microsoft.com/office/drawing/2014/main" id="{624A5D03-D6F4-C510-1D3D-C9633F821BE4}"/>
                    </a:ext>
                  </a:extLst>
                </p:cNvPr>
                <p:cNvSpPr txBox="1">
                  <a:spLocks noRot="1" noChangeAspect="1" noMove="1" noResize="1" noEditPoints="1" noAdjustHandles="1" noChangeArrowheads="1" noChangeShapeType="1" noTextEdit="1"/>
                </p:cNvSpPr>
                <p:nvPr/>
              </p:nvSpPr>
              <p:spPr>
                <a:xfrm>
                  <a:off x="1073789" y="4094619"/>
                  <a:ext cx="3586294" cy="276999"/>
                </a:xfrm>
                <a:prstGeom prst="rect">
                  <a:avLst/>
                </a:prstGeom>
                <a:blipFill>
                  <a:blip r:embed="rId4"/>
                  <a:stretch>
                    <a:fillRect t="-4444" b="-35556"/>
                  </a:stretch>
                </a:blipFill>
              </p:spPr>
              <p:txBody>
                <a:bodyPr/>
                <a:lstStyle/>
                <a:p>
                  <a:r>
                    <a:rPr lang="it-IT">
                      <a:noFill/>
                    </a:rPr>
                    <a:t> </a:t>
                  </a:r>
                </a:p>
              </p:txBody>
            </p:sp>
          </mc:Fallback>
        </mc:AlternateContent>
        <p:sp>
          <p:nvSpPr>
            <p:cNvPr id="28" name="CasellaDiTesto 27">
              <a:extLst>
                <a:ext uri="{FF2B5EF4-FFF2-40B4-BE49-F238E27FC236}">
                  <a16:creationId xmlns:a16="http://schemas.microsoft.com/office/drawing/2014/main" id="{2064E443-E228-7868-D897-F1FE36111AFC}"/>
                </a:ext>
              </a:extLst>
            </p:cNvPr>
            <p:cNvSpPr txBox="1"/>
            <p:nvPr/>
          </p:nvSpPr>
          <p:spPr>
            <a:xfrm>
              <a:off x="1073789" y="4577821"/>
              <a:ext cx="3586294" cy="307777"/>
            </a:xfrm>
            <a:prstGeom prst="rect">
              <a:avLst/>
            </a:prstGeom>
            <a:noFill/>
          </p:spPr>
          <p:txBody>
            <a:bodyPr wrap="square">
              <a:spAutoFit/>
            </a:bodyPr>
            <a:lstStyle/>
            <a:p>
              <a:r>
                <a:rPr lang="it-IT" sz="1400" dirty="0">
                  <a:latin typeface="Segoe UI" panose="020B0502040204020203" pitchFamily="34" charset="0"/>
                  <a:cs typeface="Segoe UI" panose="020B0502040204020203" pitchFamily="34" charset="0"/>
                </a:rPr>
                <a:t>Quindi il modulo vale:</a:t>
              </a:r>
            </a:p>
          </p:txBody>
        </p:sp>
        <mc:AlternateContent xmlns:mc="http://schemas.openxmlformats.org/markup-compatibility/2006" xmlns:a14="http://schemas.microsoft.com/office/drawing/2010/main">
          <mc:Choice Requires="a14">
            <p:sp>
              <p:nvSpPr>
                <p:cNvPr id="30" name="CasellaDiTesto 29">
                  <a:extLst>
                    <a:ext uri="{FF2B5EF4-FFF2-40B4-BE49-F238E27FC236}">
                      <a16:creationId xmlns:a16="http://schemas.microsoft.com/office/drawing/2014/main" id="{27949FE3-FF27-60D3-E246-258C53F283C2}"/>
                    </a:ext>
                  </a:extLst>
                </p:cNvPr>
                <p:cNvSpPr txBox="1"/>
                <p:nvPr/>
              </p:nvSpPr>
              <p:spPr>
                <a:xfrm>
                  <a:off x="1073789" y="5091801"/>
                  <a:ext cx="3586295" cy="56900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it-IT" i="1" smtClean="0">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𝑍</m:t>
                                </m:r>
                              </m:e>
                              <m:sub>
                                <m:r>
                                  <a:rPr lang="it-IT" i="1">
                                    <a:latin typeface="Cambria Math" panose="02040503050406030204" pitchFamily="18" charset="0"/>
                                  </a:rPr>
                                  <m:t>𝑐</m:t>
                                </m:r>
                              </m:sub>
                            </m:sSub>
                          </m:e>
                        </m:d>
                        <m:r>
                          <a:rPr lang="it-IT" i="0">
                            <a:latin typeface="Cambria Math" panose="02040503050406030204" pitchFamily="18" charset="0"/>
                          </a:rPr>
                          <m:t>=</m:t>
                        </m:r>
                        <m:f>
                          <m:fPr>
                            <m:ctrlPr>
                              <a:rPr lang="it-IT" i="1">
                                <a:latin typeface="Cambria Math" panose="02040503050406030204" pitchFamily="18" charset="0"/>
                              </a:rPr>
                            </m:ctrlPr>
                          </m:fPr>
                          <m:num>
                            <m:r>
                              <a:rPr lang="it-IT" i="0">
                                <a:latin typeface="Cambria Math" panose="02040503050406030204" pitchFamily="18" charset="0"/>
                              </a:rPr>
                              <m:t>1</m:t>
                            </m:r>
                          </m:num>
                          <m:den>
                            <m:r>
                              <a:rPr lang="it-IT" i="0">
                                <a:latin typeface="Cambria Math" panose="02040503050406030204" pitchFamily="18" charset="0"/>
                              </a:rPr>
                              <m:t>2</m:t>
                            </m:r>
                            <m:r>
                              <a:rPr lang="it-IT" i="1">
                                <a:latin typeface="Cambria Math" panose="02040503050406030204" pitchFamily="18" charset="0"/>
                              </a:rPr>
                              <m:t>𝜋</m:t>
                            </m:r>
                            <m:r>
                              <a:rPr lang="it-IT" i="1">
                                <a:latin typeface="Cambria Math" panose="02040503050406030204" pitchFamily="18" charset="0"/>
                              </a:rPr>
                              <m:t>𝑓𝐶</m:t>
                            </m:r>
                          </m:den>
                        </m:f>
                      </m:oMath>
                    </m:oMathPara>
                  </a14:m>
                  <a:endParaRPr lang="it-IT" dirty="0"/>
                </a:p>
              </p:txBody>
            </p:sp>
          </mc:Choice>
          <mc:Fallback xmlns="">
            <p:sp>
              <p:nvSpPr>
                <p:cNvPr id="30" name="CasellaDiTesto 29">
                  <a:extLst>
                    <a:ext uri="{FF2B5EF4-FFF2-40B4-BE49-F238E27FC236}">
                      <a16:creationId xmlns:a16="http://schemas.microsoft.com/office/drawing/2014/main" id="{27949FE3-FF27-60D3-E246-258C53F283C2}"/>
                    </a:ext>
                  </a:extLst>
                </p:cNvPr>
                <p:cNvSpPr txBox="1">
                  <a:spLocks noRot="1" noChangeAspect="1" noMove="1" noResize="1" noEditPoints="1" noAdjustHandles="1" noChangeArrowheads="1" noChangeShapeType="1" noTextEdit="1"/>
                </p:cNvSpPr>
                <p:nvPr/>
              </p:nvSpPr>
              <p:spPr>
                <a:xfrm>
                  <a:off x="1073789" y="5091801"/>
                  <a:ext cx="3586295" cy="569002"/>
                </a:xfrm>
                <a:prstGeom prst="rect">
                  <a:avLst/>
                </a:prstGeom>
                <a:blipFill>
                  <a:blip r:embed="rId5"/>
                  <a:stretch>
                    <a:fillRect/>
                  </a:stretch>
                </a:blipFill>
              </p:spPr>
              <p:txBody>
                <a:bodyPr/>
                <a:lstStyle/>
                <a:p>
                  <a:r>
                    <a:rPr lang="it-IT">
                      <a:noFill/>
                    </a:rPr>
                    <a:t> </a:t>
                  </a:r>
                </a:p>
              </p:txBody>
            </p:sp>
          </mc:Fallback>
        </mc:AlternateContent>
      </p:grpSp>
      <p:sp>
        <p:nvSpPr>
          <p:cNvPr id="36" name="CasellaDiTesto 35">
            <a:extLst>
              <a:ext uri="{FF2B5EF4-FFF2-40B4-BE49-F238E27FC236}">
                <a16:creationId xmlns:a16="http://schemas.microsoft.com/office/drawing/2014/main" id="{D391E939-98FB-B6C7-CD42-981C24D0406C}"/>
              </a:ext>
            </a:extLst>
          </p:cNvPr>
          <p:cNvSpPr txBox="1"/>
          <p:nvPr/>
        </p:nvSpPr>
        <p:spPr>
          <a:xfrm>
            <a:off x="6550340" y="4241460"/>
            <a:ext cx="4355369" cy="1384995"/>
          </a:xfrm>
          <a:prstGeom prst="rect">
            <a:avLst/>
          </a:prstGeom>
          <a:noFill/>
        </p:spPr>
        <p:txBody>
          <a:bodyPr wrap="square">
            <a:spAutoFit/>
          </a:bodyPr>
          <a:lstStyle>
            <a:defPPr>
              <a:defRPr lang="en-US"/>
            </a:defPPr>
            <a:lvl1pPr>
              <a:defRPr sz="1400">
                <a:latin typeface="Segoe UI" panose="020B0502040204020203" pitchFamily="34" charset="0"/>
                <a:cs typeface="Segoe UI" panose="020B0502040204020203" pitchFamily="34" charset="0"/>
              </a:defRPr>
            </a:lvl1pPr>
          </a:lstStyle>
          <a:p>
            <a:pPr marL="285750" indent="-285750">
              <a:buFont typeface="Arial" panose="020B0604020202020204" pitchFamily="34" charset="0"/>
              <a:buChar char="•"/>
            </a:pPr>
            <a:r>
              <a:rPr lang="it-IT" dirty="0"/>
              <a:t>A frequenza o capacità alte il condensatore tende al cortocircuito.</a:t>
            </a:r>
          </a:p>
          <a:p>
            <a:pPr marL="285750" indent="-285750">
              <a:buFont typeface="Arial" panose="020B0604020202020204" pitchFamily="34" charset="0"/>
              <a:buChar char="•"/>
            </a:pPr>
            <a:endParaRPr lang="it-IT" dirty="0"/>
          </a:p>
          <a:p>
            <a:pPr marL="285750" indent="-285750">
              <a:buFont typeface="Arial" panose="020B0604020202020204" pitchFamily="34" charset="0"/>
              <a:buChar char="•"/>
            </a:pPr>
            <a:r>
              <a:rPr lang="it-IT" dirty="0"/>
              <a:t>A frequenza o capacità basse, invece, l’impedenza cresce e il condensatore si comporta come circuito aperto.</a:t>
            </a:r>
          </a:p>
        </p:txBody>
      </p:sp>
      <p:sp>
        <p:nvSpPr>
          <p:cNvPr id="38" name="CasellaDiTesto 37">
            <a:extLst>
              <a:ext uri="{FF2B5EF4-FFF2-40B4-BE49-F238E27FC236}">
                <a16:creationId xmlns:a16="http://schemas.microsoft.com/office/drawing/2014/main" id="{BE8F1436-EAFA-D34F-F901-A1CD6D9F7E64}"/>
              </a:ext>
            </a:extLst>
          </p:cNvPr>
          <p:cNvSpPr txBox="1"/>
          <p:nvPr/>
        </p:nvSpPr>
        <p:spPr>
          <a:xfrm>
            <a:off x="6550340" y="1372383"/>
            <a:ext cx="4317079" cy="369332"/>
          </a:xfrm>
          <a:prstGeom prst="rect">
            <a:avLst/>
          </a:prstGeom>
          <a:noFill/>
        </p:spPr>
        <p:txBody>
          <a:bodyPr wrap="square">
            <a:spAutoFit/>
          </a:bodyPr>
          <a:lstStyle/>
          <a:p>
            <a:pPr algn="ctr"/>
            <a:r>
              <a:rPr lang="it-IT" dirty="0">
                <a:latin typeface="Segoe UI Semibold" panose="020B0702040204020203" pitchFamily="34" charset="0"/>
                <a:cs typeface="Segoe UI Semibold" panose="020B0702040204020203" pitchFamily="34" charset="0"/>
              </a:rPr>
              <a:t>Una tabella che mostra le tendenze </a:t>
            </a:r>
            <a:endParaRPr lang="it-IT" dirty="0"/>
          </a:p>
        </p:txBody>
      </p:sp>
    </p:spTree>
    <p:extLst>
      <p:ext uri="{BB962C8B-B14F-4D97-AF65-F5344CB8AC3E}">
        <p14:creationId xmlns:p14="http://schemas.microsoft.com/office/powerpoint/2010/main" val="37085715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9A902634-4B29-0DD4-5E94-EFD452F13F0F}"/>
              </a:ext>
            </a:extLst>
          </p:cNvPr>
          <p:cNvPicPr>
            <a:picLocks noChangeAspect="1"/>
          </p:cNvPicPr>
          <p:nvPr/>
        </p:nvPicPr>
        <p:blipFill>
          <a:blip r:embed="rId2"/>
          <a:srcRect l="6059" t="3694" r="7551" b="10542"/>
          <a:stretch>
            <a:fillRect/>
          </a:stretch>
        </p:blipFill>
        <p:spPr>
          <a:xfrm>
            <a:off x="1195264" y="1838548"/>
            <a:ext cx="3246706" cy="1952564"/>
          </a:xfrm>
          <a:prstGeom prst="rect">
            <a:avLst/>
          </a:prstGeom>
          <a:ln w="38100">
            <a:solidFill>
              <a:srgbClr val="FFC000"/>
            </a:solidFill>
          </a:ln>
        </p:spPr>
      </p:pic>
      <p:sp>
        <p:nvSpPr>
          <p:cNvPr id="4" name="CasellaDiTesto 3">
            <a:extLst>
              <a:ext uri="{FF2B5EF4-FFF2-40B4-BE49-F238E27FC236}">
                <a16:creationId xmlns:a16="http://schemas.microsoft.com/office/drawing/2014/main" id="{AA35433E-5A95-50C3-FC28-0680E09E8BDC}"/>
              </a:ext>
            </a:extLst>
          </p:cNvPr>
          <p:cNvSpPr txBox="1"/>
          <p:nvPr/>
        </p:nvSpPr>
        <p:spPr>
          <a:xfrm>
            <a:off x="1099799" y="983501"/>
            <a:ext cx="6115574" cy="36933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t>HP come partitore di tensione</a:t>
            </a:r>
          </a:p>
        </p:txBody>
      </p:sp>
      <p:sp>
        <p:nvSpPr>
          <p:cNvPr id="6" name="CasellaDiTesto 5">
            <a:extLst>
              <a:ext uri="{FF2B5EF4-FFF2-40B4-BE49-F238E27FC236}">
                <a16:creationId xmlns:a16="http://schemas.microsoft.com/office/drawing/2014/main" id="{9B85F5B0-9820-1C7E-DFD1-486760AAF456}"/>
              </a:ext>
            </a:extLst>
          </p:cNvPr>
          <p:cNvSpPr txBox="1"/>
          <p:nvPr/>
        </p:nvSpPr>
        <p:spPr>
          <a:xfrm>
            <a:off x="5306037" y="1929943"/>
            <a:ext cx="6115574" cy="646331"/>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dirty="0"/>
              <a:t>Il filtro passa-alto RC può essere visto come un </a:t>
            </a:r>
            <a:r>
              <a:rPr lang="it-IT" b="1" dirty="0"/>
              <a:t>partitore di tensione </a:t>
            </a:r>
            <a:r>
              <a:rPr lang="it-IT" dirty="0"/>
              <a:t>formato da:</a:t>
            </a:r>
          </a:p>
        </p:txBody>
      </p:sp>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64D83513-B843-EA80-6A06-23712152438F}"/>
                  </a:ext>
                </a:extLst>
              </p:cNvPr>
              <p:cNvSpPr txBox="1"/>
              <p:nvPr/>
            </p:nvSpPr>
            <p:spPr>
              <a:xfrm>
                <a:off x="5306037" y="2358362"/>
                <a:ext cx="1723916" cy="56043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𝑍</m:t>
                          </m:r>
                        </m:e>
                        <m:sub>
                          <m:r>
                            <a:rPr lang="it-IT" i="1">
                              <a:latin typeface="Cambria Math" panose="02040503050406030204" pitchFamily="18" charset="0"/>
                            </a:rPr>
                            <m:t>𝑐</m:t>
                          </m:r>
                        </m:sub>
                      </m:sSub>
                      <m:r>
                        <a:rPr lang="it-IT" i="0">
                          <a:latin typeface="Cambria Math" panose="02040503050406030204" pitchFamily="18" charset="0"/>
                        </a:rPr>
                        <m:t>=</m:t>
                      </m:r>
                      <m:f>
                        <m:fPr>
                          <m:ctrlPr>
                            <a:rPr lang="it-IT" i="1">
                              <a:latin typeface="Cambria Math" panose="02040503050406030204" pitchFamily="18" charset="0"/>
                            </a:rPr>
                          </m:ctrlPr>
                        </m:fPr>
                        <m:num>
                          <m:r>
                            <a:rPr lang="it-IT" i="0">
                              <a:latin typeface="Cambria Math" panose="02040503050406030204" pitchFamily="18" charset="0"/>
                            </a:rPr>
                            <m:t>1</m:t>
                          </m:r>
                        </m:num>
                        <m:den>
                          <m:r>
                            <a:rPr lang="it-IT" i="1">
                              <a:latin typeface="Cambria Math" panose="02040503050406030204" pitchFamily="18" charset="0"/>
                            </a:rPr>
                            <m:t>𝐽</m:t>
                          </m:r>
                          <m:r>
                            <a:rPr lang="it-IT" i="1">
                              <a:latin typeface="Cambria Math" panose="02040503050406030204" pitchFamily="18" charset="0"/>
                            </a:rPr>
                            <m:t>𝜔</m:t>
                          </m:r>
                          <m:r>
                            <a:rPr lang="it-IT" i="1">
                              <a:latin typeface="Cambria Math" panose="02040503050406030204" pitchFamily="18" charset="0"/>
                            </a:rPr>
                            <m:t>𝐶</m:t>
                          </m:r>
                        </m:den>
                      </m:f>
                    </m:oMath>
                  </m:oMathPara>
                </a14:m>
                <a:endParaRPr lang="it-IT" dirty="0"/>
              </a:p>
            </p:txBody>
          </p:sp>
        </mc:Choice>
        <mc:Fallback xmlns="">
          <p:sp>
            <p:nvSpPr>
              <p:cNvPr id="7" name="CasellaDiTesto 6">
                <a:extLst>
                  <a:ext uri="{FF2B5EF4-FFF2-40B4-BE49-F238E27FC236}">
                    <a16:creationId xmlns:a16="http://schemas.microsoft.com/office/drawing/2014/main" id="{64D83513-B843-EA80-6A06-23712152438F}"/>
                  </a:ext>
                </a:extLst>
              </p:cNvPr>
              <p:cNvSpPr txBox="1">
                <a:spLocks noRot="1" noChangeAspect="1" noMove="1" noResize="1" noEditPoints="1" noAdjustHandles="1" noChangeArrowheads="1" noChangeShapeType="1" noTextEdit="1"/>
              </p:cNvSpPr>
              <p:nvPr/>
            </p:nvSpPr>
            <p:spPr>
              <a:xfrm>
                <a:off x="5306037" y="2358362"/>
                <a:ext cx="1723916" cy="560436"/>
              </a:xfrm>
              <a:prstGeom prst="rect">
                <a:avLst/>
              </a:prstGeom>
              <a:blipFill>
                <a:blip r:embed="rId3"/>
                <a:stretch>
                  <a:fillRect/>
                </a:stretch>
              </a:blipFill>
            </p:spPr>
            <p:txBody>
              <a:bodyPr/>
              <a:lstStyle/>
              <a:p>
                <a:r>
                  <a:rPr lang="it-IT">
                    <a:noFill/>
                  </a:rPr>
                  <a:t> </a:t>
                </a:r>
              </a:p>
            </p:txBody>
          </p:sp>
        </mc:Fallback>
      </mc:AlternateContent>
      <p:sp>
        <p:nvSpPr>
          <p:cNvPr id="8" name="CasellaDiTesto 7">
            <a:extLst>
              <a:ext uri="{FF2B5EF4-FFF2-40B4-BE49-F238E27FC236}">
                <a16:creationId xmlns:a16="http://schemas.microsoft.com/office/drawing/2014/main" id="{BC9EF961-404B-7918-12C4-65991A7BA668}"/>
              </a:ext>
            </a:extLst>
          </p:cNvPr>
          <p:cNvSpPr txBox="1"/>
          <p:nvPr/>
        </p:nvSpPr>
        <p:spPr>
          <a:xfrm>
            <a:off x="8061820" y="2491680"/>
            <a:ext cx="302004"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dirty="0"/>
              <a:t>&amp;</a:t>
            </a:r>
          </a:p>
        </p:txBody>
      </p:sp>
      <mc:AlternateContent xmlns:mc="http://schemas.openxmlformats.org/markup-compatibility/2006" xmlns:a14="http://schemas.microsoft.com/office/drawing/2010/main">
        <mc:Choice Requires="a14">
          <p:sp>
            <p:nvSpPr>
              <p:cNvPr id="9" name="CasellaDiTesto 8">
                <a:extLst>
                  <a:ext uri="{FF2B5EF4-FFF2-40B4-BE49-F238E27FC236}">
                    <a16:creationId xmlns:a16="http://schemas.microsoft.com/office/drawing/2014/main" id="{4C33AE91-72D6-551D-3BDC-4AA5F1059BB0}"/>
                  </a:ext>
                </a:extLst>
              </p:cNvPr>
              <p:cNvSpPr txBox="1"/>
              <p:nvPr/>
            </p:nvSpPr>
            <p:spPr>
              <a:xfrm>
                <a:off x="8900719" y="2537831"/>
                <a:ext cx="172391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rPr>
                        <m:t>𝑅</m:t>
                      </m:r>
                    </m:oMath>
                  </m:oMathPara>
                </a14:m>
                <a:endParaRPr lang="it-IT" dirty="0"/>
              </a:p>
            </p:txBody>
          </p:sp>
        </mc:Choice>
        <mc:Fallback xmlns="">
          <p:sp>
            <p:nvSpPr>
              <p:cNvPr id="9" name="CasellaDiTesto 8">
                <a:extLst>
                  <a:ext uri="{FF2B5EF4-FFF2-40B4-BE49-F238E27FC236}">
                    <a16:creationId xmlns:a16="http://schemas.microsoft.com/office/drawing/2014/main" id="{4C33AE91-72D6-551D-3BDC-4AA5F1059BB0}"/>
                  </a:ext>
                </a:extLst>
              </p:cNvPr>
              <p:cNvSpPr txBox="1">
                <a:spLocks noRot="1" noChangeAspect="1" noMove="1" noResize="1" noEditPoints="1" noAdjustHandles="1" noChangeArrowheads="1" noChangeShapeType="1" noTextEdit="1"/>
              </p:cNvSpPr>
              <p:nvPr/>
            </p:nvSpPr>
            <p:spPr>
              <a:xfrm>
                <a:off x="8900719" y="2537831"/>
                <a:ext cx="1723916" cy="276999"/>
              </a:xfrm>
              <a:prstGeom prst="rect">
                <a:avLst/>
              </a:prstGeom>
              <a:blipFill>
                <a:blip r:embed="rId4"/>
                <a:stretch>
                  <a:fillRect b="-6522"/>
                </a:stretch>
              </a:blipFill>
            </p:spPr>
            <p:txBody>
              <a:bodyPr/>
              <a:lstStyle/>
              <a:p>
                <a:r>
                  <a:rPr lang="it-IT">
                    <a:noFill/>
                  </a:rPr>
                  <a:t> </a:t>
                </a:r>
              </a:p>
            </p:txBody>
          </p:sp>
        </mc:Fallback>
      </mc:AlternateContent>
      <p:sp>
        <p:nvSpPr>
          <p:cNvPr id="11" name="CasellaDiTesto 10">
            <a:extLst>
              <a:ext uri="{FF2B5EF4-FFF2-40B4-BE49-F238E27FC236}">
                <a16:creationId xmlns:a16="http://schemas.microsoft.com/office/drawing/2014/main" id="{7E5A2B81-6DCA-EA74-88CD-1A58C589D15B}"/>
              </a:ext>
            </a:extLst>
          </p:cNvPr>
          <p:cNvSpPr txBox="1"/>
          <p:nvPr/>
        </p:nvSpPr>
        <p:spPr>
          <a:xfrm>
            <a:off x="5306037" y="3157384"/>
            <a:ext cx="6115574" cy="430857"/>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sz="1600" b="1" dirty="0"/>
              <a:t>Formula del partitore</a:t>
            </a:r>
          </a:p>
        </p:txBody>
      </p:sp>
      <mc:AlternateContent xmlns:mc="http://schemas.openxmlformats.org/markup-compatibility/2006" xmlns:a14="http://schemas.microsoft.com/office/drawing/2010/main">
        <mc:Choice Requires="a14">
          <p:sp>
            <p:nvSpPr>
              <p:cNvPr id="14" name="CasellaDiTesto 13">
                <a:extLst>
                  <a:ext uri="{FF2B5EF4-FFF2-40B4-BE49-F238E27FC236}">
                    <a16:creationId xmlns:a16="http://schemas.microsoft.com/office/drawing/2014/main" id="{1FB2F56B-7645-AEEB-DE1D-81D59FBB5A40}"/>
                  </a:ext>
                </a:extLst>
              </p:cNvPr>
              <p:cNvSpPr txBox="1"/>
              <p:nvPr/>
            </p:nvSpPr>
            <p:spPr>
              <a:xfrm>
                <a:off x="733012" y="3953687"/>
                <a:ext cx="363818" cy="4396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it-IT" sz="1400" i="1">
                              <a:latin typeface="Cambria Math" panose="02040503050406030204" pitchFamily="18" charset="0"/>
                            </a:rPr>
                          </m:ctrlPr>
                        </m:fPr>
                        <m:num>
                          <m:sSub>
                            <m:sSubPr>
                              <m:ctrlPr>
                                <a:rPr lang="it-IT" sz="1400" i="1">
                                  <a:latin typeface="Cambria Math" panose="02040503050406030204" pitchFamily="18" charset="0"/>
                                </a:rPr>
                              </m:ctrlPr>
                            </m:sSubPr>
                            <m:e>
                              <m:r>
                                <a:rPr lang="it-IT" sz="1400" i="1">
                                  <a:latin typeface="Cambria Math" panose="02040503050406030204" pitchFamily="18" charset="0"/>
                                </a:rPr>
                                <m:t>𝑉</m:t>
                              </m:r>
                            </m:e>
                            <m:sub>
                              <m:r>
                                <a:rPr lang="it-IT" sz="1400" i="1">
                                  <a:latin typeface="Cambria Math" panose="02040503050406030204" pitchFamily="18" charset="0"/>
                                </a:rPr>
                                <m:t>𝑜𝑢𝑡</m:t>
                              </m:r>
                            </m:sub>
                          </m:sSub>
                        </m:num>
                        <m:den>
                          <m:sSub>
                            <m:sSubPr>
                              <m:ctrlPr>
                                <a:rPr lang="it-IT" sz="1400" i="1">
                                  <a:latin typeface="Cambria Math" panose="02040503050406030204" pitchFamily="18" charset="0"/>
                                </a:rPr>
                              </m:ctrlPr>
                            </m:sSubPr>
                            <m:e>
                              <m:r>
                                <a:rPr lang="it-IT" sz="1400" i="1">
                                  <a:latin typeface="Cambria Math" panose="02040503050406030204" pitchFamily="18" charset="0"/>
                                </a:rPr>
                                <m:t>𝑉</m:t>
                              </m:r>
                            </m:e>
                            <m:sub>
                              <m:r>
                                <a:rPr lang="it-IT" sz="1400" i="1">
                                  <a:latin typeface="Cambria Math" panose="02040503050406030204" pitchFamily="18" charset="0"/>
                                </a:rPr>
                                <m:t>𝑖𝑛</m:t>
                              </m:r>
                            </m:sub>
                          </m:sSub>
                        </m:den>
                      </m:f>
                    </m:oMath>
                  </m:oMathPara>
                </a14:m>
                <a:endParaRPr lang="it-IT" sz="1400" dirty="0"/>
              </a:p>
            </p:txBody>
          </p:sp>
        </mc:Choice>
        <mc:Fallback xmlns="">
          <p:sp>
            <p:nvSpPr>
              <p:cNvPr id="14" name="CasellaDiTesto 13">
                <a:extLst>
                  <a:ext uri="{FF2B5EF4-FFF2-40B4-BE49-F238E27FC236}">
                    <a16:creationId xmlns:a16="http://schemas.microsoft.com/office/drawing/2014/main" id="{1FB2F56B-7645-AEEB-DE1D-81D59FBB5A40}"/>
                  </a:ext>
                </a:extLst>
              </p:cNvPr>
              <p:cNvSpPr txBox="1">
                <a:spLocks noRot="1" noChangeAspect="1" noMove="1" noResize="1" noEditPoints="1" noAdjustHandles="1" noChangeArrowheads="1" noChangeShapeType="1" noTextEdit="1"/>
              </p:cNvSpPr>
              <p:nvPr/>
            </p:nvSpPr>
            <p:spPr>
              <a:xfrm>
                <a:off x="733012" y="3953687"/>
                <a:ext cx="363818" cy="439672"/>
              </a:xfrm>
              <a:prstGeom prst="rect">
                <a:avLst/>
              </a:prstGeom>
              <a:blipFill>
                <a:blip r:embed="rId5"/>
                <a:stretch>
                  <a:fillRect l="-10000" t="-1389" b="-8333"/>
                </a:stretch>
              </a:blipFill>
            </p:spPr>
            <p:txBody>
              <a:bodyPr/>
              <a:lstStyle/>
              <a:p>
                <a:r>
                  <a:rPr lang="it-IT">
                    <a:noFill/>
                  </a:rPr>
                  <a:t> </a:t>
                </a:r>
              </a:p>
            </p:txBody>
          </p:sp>
        </mc:Fallback>
      </mc:AlternateContent>
      <p:cxnSp>
        <p:nvCxnSpPr>
          <p:cNvPr id="16" name="Connettore 2 15">
            <a:extLst>
              <a:ext uri="{FF2B5EF4-FFF2-40B4-BE49-F238E27FC236}">
                <a16:creationId xmlns:a16="http://schemas.microsoft.com/office/drawing/2014/main" id="{EDF813D3-9475-0BD8-EB36-5A9247A8DD9B}"/>
              </a:ext>
            </a:extLst>
          </p:cNvPr>
          <p:cNvCxnSpPr/>
          <p:nvPr/>
        </p:nvCxnSpPr>
        <p:spPr>
          <a:xfrm>
            <a:off x="7621398" y="4131950"/>
            <a:ext cx="118284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CasellaDiTesto 16">
                <a:extLst>
                  <a:ext uri="{FF2B5EF4-FFF2-40B4-BE49-F238E27FC236}">
                    <a16:creationId xmlns:a16="http://schemas.microsoft.com/office/drawing/2014/main" id="{281DAFDB-20D9-6BFE-D433-B296C63749EC}"/>
                  </a:ext>
                </a:extLst>
              </p:cNvPr>
              <p:cNvSpPr txBox="1"/>
              <p:nvPr/>
            </p:nvSpPr>
            <p:spPr>
              <a:xfrm>
                <a:off x="9040998" y="3847481"/>
                <a:ext cx="2051203" cy="5689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𝑉</m:t>
                          </m:r>
                        </m:e>
                        <m:sub>
                          <m:r>
                            <a:rPr lang="it-IT" b="0" i="1" smtClean="0">
                              <a:latin typeface="Cambria Math" panose="02040503050406030204" pitchFamily="18" charset="0"/>
                            </a:rPr>
                            <m:t>𝑜𝑢𝑡</m:t>
                          </m:r>
                        </m:sub>
                      </m:sSub>
                      <m:r>
                        <a:rPr lang="it-IT" i="0">
                          <a:latin typeface="Cambria Math" panose="02040503050406030204" pitchFamily="18" charset="0"/>
                        </a:rPr>
                        <m:t>=</m:t>
                      </m:r>
                      <m:sSub>
                        <m:sSubPr>
                          <m:ctrlPr>
                            <a:rPr lang="it-IT" i="1" smtClean="0">
                              <a:latin typeface="Cambria Math" panose="02040503050406030204" pitchFamily="18" charset="0"/>
                            </a:rPr>
                          </m:ctrlPr>
                        </m:sSubPr>
                        <m:e>
                          <m:r>
                            <a:rPr lang="it-IT" b="0" i="1" smtClean="0">
                              <a:latin typeface="Cambria Math" panose="02040503050406030204" pitchFamily="18" charset="0"/>
                            </a:rPr>
                            <m:t>𝑉</m:t>
                          </m:r>
                        </m:e>
                        <m:sub>
                          <m:r>
                            <a:rPr lang="it-IT" b="0" i="1" smtClean="0">
                              <a:latin typeface="Cambria Math" panose="02040503050406030204" pitchFamily="18" charset="0"/>
                            </a:rPr>
                            <m:t>𝑖𝑛</m:t>
                          </m:r>
                        </m:sub>
                      </m:sSub>
                      <m:f>
                        <m:fPr>
                          <m:ctrlPr>
                            <a:rPr lang="it-IT" i="1" smtClean="0">
                              <a:latin typeface="Cambria Math" panose="02040503050406030204" pitchFamily="18" charset="0"/>
                            </a:rPr>
                          </m:ctrlPr>
                        </m:fPr>
                        <m:num>
                          <m:r>
                            <a:rPr lang="it-IT" b="0" i="1" smtClean="0">
                              <a:latin typeface="Cambria Math" panose="02040503050406030204" pitchFamily="18" charset="0"/>
                            </a:rPr>
                            <m:t>𝑗</m:t>
                          </m:r>
                          <m:r>
                            <a:rPr lang="it-IT" b="0" i="1" smtClean="0">
                              <a:latin typeface="Cambria Math" panose="02040503050406030204" pitchFamily="18" charset="0"/>
                              <a:ea typeface="Cambria Math" panose="02040503050406030204" pitchFamily="18" charset="0"/>
                            </a:rPr>
                            <m:t>𝜔</m:t>
                          </m:r>
                          <m:r>
                            <a:rPr lang="it-IT" i="1">
                              <a:latin typeface="Cambria Math" panose="02040503050406030204" pitchFamily="18" charset="0"/>
                            </a:rPr>
                            <m:t>𝑅</m:t>
                          </m:r>
                          <m:r>
                            <a:rPr lang="it-IT" b="0" i="1" smtClean="0">
                              <a:latin typeface="Cambria Math" panose="02040503050406030204" pitchFamily="18" charset="0"/>
                            </a:rPr>
                            <m:t>𝐶</m:t>
                          </m:r>
                        </m:num>
                        <m:den>
                          <m:r>
                            <a:rPr lang="it-IT" b="0" i="1" smtClean="0">
                              <a:latin typeface="Cambria Math" panose="02040503050406030204" pitchFamily="18" charset="0"/>
                            </a:rPr>
                            <m:t>1</m:t>
                          </m:r>
                          <m:r>
                            <a:rPr lang="it-IT" i="0">
                              <a:latin typeface="Cambria Math" panose="02040503050406030204" pitchFamily="18" charset="0"/>
                            </a:rPr>
                            <m:t>+</m:t>
                          </m:r>
                          <m:r>
                            <a:rPr lang="it-IT" i="1">
                              <a:latin typeface="Cambria Math" panose="02040503050406030204" pitchFamily="18" charset="0"/>
                            </a:rPr>
                            <m:t>𝑗</m:t>
                          </m:r>
                          <m:r>
                            <a:rPr lang="it-IT" i="1">
                              <a:latin typeface="Cambria Math" panose="02040503050406030204" pitchFamily="18" charset="0"/>
                              <a:ea typeface="Cambria Math" panose="02040503050406030204" pitchFamily="18" charset="0"/>
                            </a:rPr>
                            <m:t>𝜔</m:t>
                          </m:r>
                          <m:r>
                            <a:rPr lang="it-IT" i="1">
                              <a:latin typeface="Cambria Math" panose="02040503050406030204" pitchFamily="18" charset="0"/>
                            </a:rPr>
                            <m:t>𝑅𝐶</m:t>
                          </m:r>
                        </m:den>
                      </m:f>
                    </m:oMath>
                  </m:oMathPara>
                </a14:m>
                <a:endParaRPr lang="it-IT" dirty="0"/>
              </a:p>
            </p:txBody>
          </p:sp>
        </mc:Choice>
        <mc:Fallback xmlns="">
          <p:sp>
            <p:nvSpPr>
              <p:cNvPr id="17" name="CasellaDiTesto 16">
                <a:extLst>
                  <a:ext uri="{FF2B5EF4-FFF2-40B4-BE49-F238E27FC236}">
                    <a16:creationId xmlns:a16="http://schemas.microsoft.com/office/drawing/2014/main" id="{281DAFDB-20D9-6BFE-D433-B296C63749EC}"/>
                  </a:ext>
                </a:extLst>
              </p:cNvPr>
              <p:cNvSpPr txBox="1">
                <a:spLocks noRot="1" noChangeAspect="1" noMove="1" noResize="1" noEditPoints="1" noAdjustHandles="1" noChangeArrowheads="1" noChangeShapeType="1" noTextEdit="1"/>
              </p:cNvSpPr>
              <p:nvPr/>
            </p:nvSpPr>
            <p:spPr>
              <a:xfrm>
                <a:off x="9040998" y="3847481"/>
                <a:ext cx="2051203" cy="568938"/>
              </a:xfrm>
              <a:prstGeom prst="rect">
                <a:avLst/>
              </a:prstGeom>
              <a:blipFill>
                <a:blip r:embed="rId6"/>
                <a:stretch>
                  <a:fillRect/>
                </a:stretch>
              </a:blipFill>
            </p:spPr>
            <p:txBody>
              <a:bodyPr/>
              <a:lstStyle/>
              <a:p>
                <a:r>
                  <a:rPr lang="it-IT">
                    <a:noFill/>
                  </a:rPr>
                  <a:t> </a:t>
                </a:r>
              </a:p>
            </p:txBody>
          </p:sp>
        </mc:Fallback>
      </mc:AlternateContent>
      <p:pic>
        <p:nvPicPr>
          <p:cNvPr id="19" name="Immagine 18">
            <a:extLst>
              <a:ext uri="{FF2B5EF4-FFF2-40B4-BE49-F238E27FC236}">
                <a16:creationId xmlns:a16="http://schemas.microsoft.com/office/drawing/2014/main" id="{A38A48EE-A179-6966-2439-AAB065E793B1}"/>
              </a:ext>
            </a:extLst>
          </p:cNvPr>
          <p:cNvPicPr>
            <a:picLocks noChangeAspect="1"/>
          </p:cNvPicPr>
          <p:nvPr/>
        </p:nvPicPr>
        <p:blipFill>
          <a:blip r:embed="rId7"/>
          <a:stretch>
            <a:fillRect/>
          </a:stretch>
        </p:blipFill>
        <p:spPr>
          <a:xfrm>
            <a:off x="5487745" y="4833268"/>
            <a:ext cx="5752158" cy="995099"/>
          </a:xfrm>
          <a:prstGeom prst="rect">
            <a:avLst/>
          </a:prstGeom>
          <a:ln w="19050">
            <a:solidFill>
              <a:schemeClr val="bg1">
                <a:lumMod val="50000"/>
              </a:schemeClr>
            </a:solidFill>
          </a:ln>
        </p:spPr>
      </p:pic>
      <p:pic>
        <p:nvPicPr>
          <p:cNvPr id="25" name="Immagine 24">
            <a:extLst>
              <a:ext uri="{FF2B5EF4-FFF2-40B4-BE49-F238E27FC236}">
                <a16:creationId xmlns:a16="http://schemas.microsoft.com/office/drawing/2014/main" id="{7885376E-AEAB-34CC-1AF1-1F397596E6D6}"/>
              </a:ext>
            </a:extLst>
          </p:cNvPr>
          <p:cNvPicPr>
            <a:picLocks noChangeAspect="1"/>
          </p:cNvPicPr>
          <p:nvPr/>
        </p:nvPicPr>
        <p:blipFill>
          <a:blip r:embed="rId8"/>
          <a:srcRect t="1213" r="25487"/>
          <a:stretch>
            <a:fillRect/>
          </a:stretch>
        </p:blipFill>
        <p:spPr>
          <a:xfrm>
            <a:off x="1195264" y="3990728"/>
            <a:ext cx="3260033" cy="2118220"/>
          </a:xfrm>
          <a:prstGeom prst="rect">
            <a:avLst/>
          </a:prstGeom>
          <a:ln w="9525">
            <a:solidFill>
              <a:schemeClr val="tx1"/>
            </a:solidFill>
          </a:ln>
        </p:spPr>
      </p:pic>
      <p:sp>
        <p:nvSpPr>
          <p:cNvPr id="26" name="Ovale 25">
            <a:extLst>
              <a:ext uri="{FF2B5EF4-FFF2-40B4-BE49-F238E27FC236}">
                <a16:creationId xmlns:a16="http://schemas.microsoft.com/office/drawing/2014/main" id="{22E70BA9-EF41-B3BA-1FF2-56D2DDB54E2B}"/>
              </a:ext>
            </a:extLst>
          </p:cNvPr>
          <p:cNvSpPr/>
          <p:nvPr/>
        </p:nvSpPr>
        <p:spPr>
          <a:xfrm>
            <a:off x="1099799" y="2076275"/>
            <a:ext cx="467566" cy="461556"/>
          </a:xfrm>
          <a:prstGeom prst="ellipse">
            <a:avLst/>
          </a:prstGeom>
          <a:noFill/>
          <a:ln>
            <a:solidFill>
              <a:srgbClr val="3134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28" name="Connettore 2 27">
            <a:extLst>
              <a:ext uri="{FF2B5EF4-FFF2-40B4-BE49-F238E27FC236}">
                <a16:creationId xmlns:a16="http://schemas.microsoft.com/office/drawing/2014/main" id="{6B733EB8-7315-B8F4-8F99-4AF514A997CA}"/>
              </a:ext>
            </a:extLst>
          </p:cNvPr>
          <p:cNvCxnSpPr>
            <a:stCxn id="26" idx="4"/>
          </p:cNvCxnSpPr>
          <p:nvPr/>
        </p:nvCxnSpPr>
        <p:spPr>
          <a:xfrm>
            <a:off x="1333582" y="2537831"/>
            <a:ext cx="524579" cy="1635692"/>
          </a:xfrm>
          <a:prstGeom prst="straightConnector1">
            <a:avLst/>
          </a:prstGeom>
          <a:ln>
            <a:solidFill>
              <a:srgbClr val="3134FF"/>
            </a:solidFill>
            <a:tailEnd type="triangle"/>
          </a:ln>
        </p:spPr>
        <p:style>
          <a:lnRef idx="1">
            <a:schemeClr val="accent1"/>
          </a:lnRef>
          <a:fillRef idx="0">
            <a:schemeClr val="accent1"/>
          </a:fillRef>
          <a:effectRef idx="0">
            <a:schemeClr val="accent1"/>
          </a:effectRef>
          <a:fontRef idx="minor">
            <a:schemeClr val="tx1"/>
          </a:fontRef>
        </p:style>
      </p:cxnSp>
      <p:sp>
        <p:nvSpPr>
          <p:cNvPr id="33" name="Ovale 32">
            <a:extLst>
              <a:ext uri="{FF2B5EF4-FFF2-40B4-BE49-F238E27FC236}">
                <a16:creationId xmlns:a16="http://schemas.microsoft.com/office/drawing/2014/main" id="{2252CBD5-3059-6AB9-3DDA-B4A4DF37425B}"/>
              </a:ext>
            </a:extLst>
          </p:cNvPr>
          <p:cNvSpPr/>
          <p:nvPr/>
        </p:nvSpPr>
        <p:spPr>
          <a:xfrm>
            <a:off x="3974404" y="2076275"/>
            <a:ext cx="467566" cy="461556"/>
          </a:xfrm>
          <a:prstGeom prst="ellipse">
            <a:avLst/>
          </a:prstGeom>
          <a:noFill/>
          <a:ln>
            <a:solidFill>
              <a:srgbClr val="37FF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35" name="Connettore 2 34">
            <a:extLst>
              <a:ext uri="{FF2B5EF4-FFF2-40B4-BE49-F238E27FC236}">
                <a16:creationId xmlns:a16="http://schemas.microsoft.com/office/drawing/2014/main" id="{4ABF7833-E689-E852-1349-4DDDBD6D204A}"/>
              </a:ext>
            </a:extLst>
          </p:cNvPr>
          <p:cNvCxnSpPr>
            <a:stCxn id="33" idx="4"/>
          </p:cNvCxnSpPr>
          <p:nvPr/>
        </p:nvCxnSpPr>
        <p:spPr>
          <a:xfrm flipH="1">
            <a:off x="2604782" y="2537831"/>
            <a:ext cx="1603405" cy="2046752"/>
          </a:xfrm>
          <a:prstGeom prst="straightConnector1">
            <a:avLst/>
          </a:prstGeom>
          <a:ln>
            <a:solidFill>
              <a:srgbClr val="37FF3A"/>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CasellaDiTesto 35">
                <a:extLst>
                  <a:ext uri="{FF2B5EF4-FFF2-40B4-BE49-F238E27FC236}">
                    <a16:creationId xmlns:a16="http://schemas.microsoft.com/office/drawing/2014/main" id="{1EED676C-5579-04DB-7D57-BB5B39D54879}"/>
                  </a:ext>
                </a:extLst>
              </p:cNvPr>
              <p:cNvSpPr txBox="1"/>
              <p:nvPr/>
            </p:nvSpPr>
            <p:spPr>
              <a:xfrm>
                <a:off x="3763829" y="5893504"/>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𝑓</m:t>
                      </m:r>
                    </m:oMath>
                  </m:oMathPara>
                </a14:m>
                <a:endParaRPr lang="it-IT" sz="1400" dirty="0"/>
              </a:p>
            </p:txBody>
          </p:sp>
        </mc:Choice>
        <mc:Fallback xmlns="">
          <p:sp>
            <p:nvSpPr>
              <p:cNvPr id="36" name="CasellaDiTesto 35">
                <a:extLst>
                  <a:ext uri="{FF2B5EF4-FFF2-40B4-BE49-F238E27FC236}">
                    <a16:creationId xmlns:a16="http://schemas.microsoft.com/office/drawing/2014/main" id="{1EED676C-5579-04DB-7D57-BB5B39D54879}"/>
                  </a:ext>
                </a:extLst>
              </p:cNvPr>
              <p:cNvSpPr txBox="1">
                <a:spLocks noRot="1" noChangeAspect="1" noMove="1" noResize="1" noEditPoints="1" noAdjustHandles="1" noChangeArrowheads="1" noChangeShapeType="1" noTextEdit="1"/>
              </p:cNvSpPr>
              <p:nvPr/>
            </p:nvSpPr>
            <p:spPr>
              <a:xfrm>
                <a:off x="3763829" y="5893504"/>
                <a:ext cx="1723916" cy="215444"/>
              </a:xfrm>
              <a:prstGeom prst="rect">
                <a:avLst/>
              </a:prstGeom>
              <a:blipFill>
                <a:blip r:embed="rId9"/>
                <a:stretch>
                  <a:fillRect b="-31429"/>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7" name="CasellaDiTesto 36">
                <a:extLst>
                  <a:ext uri="{FF2B5EF4-FFF2-40B4-BE49-F238E27FC236}">
                    <a16:creationId xmlns:a16="http://schemas.microsoft.com/office/drawing/2014/main" id="{5DFF5001-32E2-FC65-C912-62826C385F6B}"/>
                  </a:ext>
                </a:extLst>
              </p:cNvPr>
              <p:cNvSpPr txBox="1"/>
              <p:nvPr/>
            </p:nvSpPr>
            <p:spPr>
              <a:xfrm>
                <a:off x="5418260" y="3847481"/>
                <a:ext cx="1760995" cy="56534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𝑉</m:t>
                          </m:r>
                        </m:e>
                        <m:sub>
                          <m:r>
                            <a:rPr lang="it-IT" b="0" i="1" smtClean="0">
                              <a:latin typeface="Cambria Math" panose="02040503050406030204" pitchFamily="18" charset="0"/>
                            </a:rPr>
                            <m:t>𝑜𝑢𝑡</m:t>
                          </m:r>
                        </m:sub>
                      </m:sSub>
                      <m:r>
                        <a:rPr lang="it-IT" i="0">
                          <a:latin typeface="Cambria Math" panose="02040503050406030204" pitchFamily="18" charset="0"/>
                        </a:rPr>
                        <m:t>=</m:t>
                      </m:r>
                      <m:sSub>
                        <m:sSubPr>
                          <m:ctrlPr>
                            <a:rPr lang="it-IT" i="1" smtClean="0">
                              <a:latin typeface="Cambria Math" panose="02040503050406030204" pitchFamily="18" charset="0"/>
                            </a:rPr>
                          </m:ctrlPr>
                        </m:sSubPr>
                        <m:e>
                          <m:r>
                            <a:rPr lang="it-IT" b="0" i="1" smtClean="0">
                              <a:latin typeface="Cambria Math" panose="02040503050406030204" pitchFamily="18" charset="0"/>
                            </a:rPr>
                            <m:t>𝑉</m:t>
                          </m:r>
                        </m:e>
                        <m:sub>
                          <m:r>
                            <a:rPr lang="it-IT" b="0" i="1" smtClean="0">
                              <a:latin typeface="Cambria Math" panose="02040503050406030204" pitchFamily="18" charset="0"/>
                            </a:rPr>
                            <m:t>𝑖𝑛</m:t>
                          </m:r>
                        </m:sub>
                      </m:sSub>
                      <m:f>
                        <m:fPr>
                          <m:ctrlPr>
                            <a:rPr lang="it-IT" i="1" smtClean="0">
                              <a:latin typeface="Cambria Math" panose="02040503050406030204" pitchFamily="18" charset="0"/>
                            </a:rPr>
                          </m:ctrlPr>
                        </m:fPr>
                        <m:num>
                          <m:r>
                            <a:rPr lang="it-IT" i="1">
                              <a:latin typeface="Cambria Math" panose="02040503050406030204" pitchFamily="18" charset="0"/>
                            </a:rPr>
                            <m:t>𝑅</m:t>
                          </m:r>
                        </m:num>
                        <m:den>
                          <m:sSub>
                            <m:sSubPr>
                              <m:ctrlPr>
                                <a:rPr lang="it-IT" i="1">
                                  <a:latin typeface="Cambria Math" panose="02040503050406030204" pitchFamily="18" charset="0"/>
                                </a:rPr>
                              </m:ctrlPr>
                            </m:sSubPr>
                            <m:e>
                              <m:r>
                                <a:rPr lang="it-IT" i="1">
                                  <a:latin typeface="Cambria Math" panose="02040503050406030204" pitchFamily="18" charset="0"/>
                                </a:rPr>
                                <m:t>𝑍</m:t>
                              </m:r>
                            </m:e>
                            <m:sub>
                              <m:r>
                                <a:rPr lang="it-IT" i="1">
                                  <a:latin typeface="Cambria Math" panose="02040503050406030204" pitchFamily="18" charset="0"/>
                                </a:rPr>
                                <m:t>𝑐</m:t>
                              </m:r>
                            </m:sub>
                          </m:sSub>
                          <m:r>
                            <a:rPr lang="it-IT" i="0">
                              <a:latin typeface="Cambria Math" panose="02040503050406030204" pitchFamily="18" charset="0"/>
                            </a:rPr>
                            <m:t>+</m:t>
                          </m:r>
                          <m:r>
                            <a:rPr lang="it-IT" i="1">
                              <a:latin typeface="Cambria Math" panose="02040503050406030204" pitchFamily="18" charset="0"/>
                            </a:rPr>
                            <m:t>𝑅</m:t>
                          </m:r>
                        </m:den>
                      </m:f>
                    </m:oMath>
                  </m:oMathPara>
                </a14:m>
                <a:endParaRPr lang="it-IT" dirty="0"/>
              </a:p>
            </p:txBody>
          </p:sp>
        </mc:Choice>
        <mc:Fallback xmlns="">
          <p:sp>
            <p:nvSpPr>
              <p:cNvPr id="37" name="CasellaDiTesto 36">
                <a:extLst>
                  <a:ext uri="{FF2B5EF4-FFF2-40B4-BE49-F238E27FC236}">
                    <a16:creationId xmlns:a16="http://schemas.microsoft.com/office/drawing/2014/main" id="{5DFF5001-32E2-FC65-C912-62826C385F6B}"/>
                  </a:ext>
                </a:extLst>
              </p:cNvPr>
              <p:cNvSpPr txBox="1">
                <a:spLocks noRot="1" noChangeAspect="1" noMove="1" noResize="1" noEditPoints="1" noAdjustHandles="1" noChangeArrowheads="1" noChangeShapeType="1" noTextEdit="1"/>
              </p:cNvSpPr>
              <p:nvPr/>
            </p:nvSpPr>
            <p:spPr>
              <a:xfrm>
                <a:off x="5418260" y="3847481"/>
                <a:ext cx="1760995" cy="565348"/>
              </a:xfrm>
              <a:prstGeom prst="rect">
                <a:avLst/>
              </a:prstGeom>
              <a:blipFill>
                <a:blip r:embed="rId10"/>
                <a:stretch>
                  <a:fillRect/>
                </a:stretch>
              </a:blipFill>
            </p:spPr>
            <p:txBody>
              <a:bodyPr/>
              <a:lstStyle/>
              <a:p>
                <a:r>
                  <a:rPr lang="it-IT">
                    <a:noFill/>
                  </a:rPr>
                  <a:t> </a:t>
                </a:r>
              </a:p>
            </p:txBody>
          </p:sp>
        </mc:Fallback>
      </mc:AlternateContent>
    </p:spTree>
    <p:extLst>
      <p:ext uri="{BB962C8B-B14F-4D97-AF65-F5344CB8AC3E}">
        <p14:creationId xmlns:p14="http://schemas.microsoft.com/office/powerpoint/2010/main" val="2564830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magine 5">
            <a:extLst>
              <a:ext uri="{FF2B5EF4-FFF2-40B4-BE49-F238E27FC236}">
                <a16:creationId xmlns:a16="http://schemas.microsoft.com/office/drawing/2014/main" id="{DD210EA8-277B-A44C-5734-D44AF8C7231C}"/>
              </a:ext>
            </a:extLst>
          </p:cNvPr>
          <p:cNvPicPr>
            <a:picLocks noChangeAspect="1"/>
          </p:cNvPicPr>
          <p:nvPr/>
        </p:nvPicPr>
        <p:blipFill>
          <a:blip r:embed="rId2"/>
          <a:srcRect r="53693"/>
          <a:stretch>
            <a:fillRect/>
          </a:stretch>
        </p:blipFill>
        <p:spPr>
          <a:xfrm>
            <a:off x="6939093" y="2220025"/>
            <a:ext cx="3639425" cy="3851796"/>
          </a:xfrm>
          <a:prstGeom prst="rect">
            <a:avLst/>
          </a:prstGeom>
          <a:ln w="9525">
            <a:solidFill>
              <a:schemeClr val="tx1"/>
            </a:solidFill>
          </a:ln>
        </p:spPr>
      </p:pic>
      <p:sp>
        <p:nvSpPr>
          <p:cNvPr id="8" name="CasellaDiTesto 7">
            <a:extLst>
              <a:ext uri="{FF2B5EF4-FFF2-40B4-BE49-F238E27FC236}">
                <a16:creationId xmlns:a16="http://schemas.microsoft.com/office/drawing/2014/main" id="{0D0A84FB-3400-1906-3054-DA245BBE08F3}"/>
              </a:ext>
            </a:extLst>
          </p:cNvPr>
          <p:cNvSpPr txBox="1"/>
          <p:nvPr/>
        </p:nvSpPr>
        <p:spPr>
          <a:xfrm>
            <a:off x="1067577" y="1459750"/>
            <a:ext cx="5028423" cy="553968"/>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dirty="0"/>
              <a:t>Quando nel circuito è presente un condensatore, bisogna considerare che </a:t>
            </a:r>
            <a:r>
              <a:rPr lang="it-IT" u="sng" dirty="0"/>
              <a:t>la sua tensione non cambia istantaneamente</a:t>
            </a:r>
            <a:r>
              <a:rPr lang="it-IT" dirty="0"/>
              <a:t>:</a:t>
            </a:r>
          </a:p>
        </p:txBody>
      </p:sp>
      <p:sp>
        <p:nvSpPr>
          <p:cNvPr id="9" name="CasellaDiTesto 8">
            <a:extLst>
              <a:ext uri="{FF2B5EF4-FFF2-40B4-BE49-F238E27FC236}">
                <a16:creationId xmlns:a16="http://schemas.microsoft.com/office/drawing/2014/main" id="{E17B5409-7BFA-B551-A5B3-48914206DA5C}"/>
              </a:ext>
            </a:extLst>
          </p:cNvPr>
          <p:cNvSpPr txBox="1"/>
          <p:nvPr/>
        </p:nvSpPr>
        <p:spPr>
          <a:xfrm>
            <a:off x="1067577" y="786179"/>
            <a:ext cx="6115574" cy="569356"/>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t>Condensatore nel transitorio</a:t>
            </a:r>
          </a:p>
        </p:txBody>
      </p:sp>
      <mc:AlternateContent xmlns:mc="http://schemas.openxmlformats.org/markup-compatibility/2006" xmlns:a14="http://schemas.microsoft.com/office/drawing/2010/main">
        <mc:Choice Requires="a14">
          <p:sp>
            <p:nvSpPr>
              <p:cNvPr id="10" name="CasellaDiTesto 9">
                <a:extLst>
                  <a:ext uri="{FF2B5EF4-FFF2-40B4-BE49-F238E27FC236}">
                    <a16:creationId xmlns:a16="http://schemas.microsoft.com/office/drawing/2014/main" id="{927246E8-D14C-11F3-0190-AD289FBDEB39}"/>
                  </a:ext>
                </a:extLst>
              </p:cNvPr>
              <p:cNvSpPr txBox="1"/>
              <p:nvPr/>
            </p:nvSpPr>
            <p:spPr>
              <a:xfrm>
                <a:off x="6096002" y="1353453"/>
                <a:ext cx="5105399"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𝑣</m:t>
                          </m:r>
                        </m:e>
                        <m:sub>
                          <m:r>
                            <a:rPr lang="it-IT" i="1">
                              <a:latin typeface="Cambria Math" panose="02040503050406030204" pitchFamily="18" charset="0"/>
                            </a:rPr>
                            <m:t>𝑐</m:t>
                          </m:r>
                        </m:sub>
                      </m:sSub>
                      <m:d>
                        <m:dPr>
                          <m:ctrlPr>
                            <a:rPr lang="it-IT" i="1">
                              <a:latin typeface="Cambria Math" panose="02040503050406030204" pitchFamily="18" charset="0"/>
                            </a:rPr>
                          </m:ctrlPr>
                        </m:dPr>
                        <m:e>
                          <m:sSup>
                            <m:sSupPr>
                              <m:ctrlPr>
                                <a:rPr lang="it-IT" i="1">
                                  <a:latin typeface="Cambria Math" panose="02040503050406030204" pitchFamily="18" charset="0"/>
                                </a:rPr>
                              </m:ctrlPr>
                            </m:sSupPr>
                            <m:e>
                              <m:r>
                                <a:rPr lang="it-IT" i="0">
                                  <a:latin typeface="Cambria Math" panose="02040503050406030204" pitchFamily="18" charset="0"/>
                                </a:rPr>
                                <m:t>0</m:t>
                              </m:r>
                            </m:e>
                            <m:sup>
                              <m:r>
                                <a:rPr lang="it-IT" i="0">
                                  <a:latin typeface="Cambria Math" panose="02040503050406030204" pitchFamily="18" charset="0"/>
                                </a:rPr>
                                <m:t>+</m:t>
                              </m:r>
                            </m:sup>
                          </m:sSup>
                        </m:e>
                      </m:d>
                      <m:r>
                        <a:rPr lang="it-IT" i="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𝑣</m:t>
                          </m:r>
                        </m:e>
                        <m:sub>
                          <m:r>
                            <a:rPr lang="it-IT" i="1">
                              <a:latin typeface="Cambria Math" panose="02040503050406030204" pitchFamily="18" charset="0"/>
                            </a:rPr>
                            <m:t>𝑐</m:t>
                          </m:r>
                        </m:sub>
                      </m:sSub>
                      <m:d>
                        <m:dPr>
                          <m:ctrlPr>
                            <a:rPr lang="it-IT" i="1">
                              <a:latin typeface="Cambria Math" panose="02040503050406030204" pitchFamily="18" charset="0"/>
                            </a:rPr>
                          </m:ctrlPr>
                        </m:dPr>
                        <m:e>
                          <m:sSup>
                            <m:sSupPr>
                              <m:ctrlPr>
                                <a:rPr lang="it-IT" i="1">
                                  <a:latin typeface="Cambria Math" panose="02040503050406030204" pitchFamily="18" charset="0"/>
                                </a:rPr>
                              </m:ctrlPr>
                            </m:sSupPr>
                            <m:e>
                              <m:r>
                                <a:rPr lang="it-IT" i="0">
                                  <a:latin typeface="Cambria Math" panose="02040503050406030204" pitchFamily="18" charset="0"/>
                                </a:rPr>
                                <m:t>0</m:t>
                              </m:r>
                            </m:e>
                            <m:sup>
                              <m:r>
                                <a:rPr lang="it-IT" i="0">
                                  <a:latin typeface="Cambria Math" panose="02040503050406030204" pitchFamily="18" charset="0"/>
                                </a:rPr>
                                <m:t>−</m:t>
                              </m:r>
                            </m:sup>
                          </m:sSup>
                        </m:e>
                      </m:d>
                    </m:oMath>
                  </m:oMathPara>
                </a14:m>
                <a:endParaRPr lang="it-IT" dirty="0"/>
              </a:p>
            </p:txBody>
          </p:sp>
        </mc:Choice>
        <mc:Fallback xmlns="">
          <p:sp>
            <p:nvSpPr>
              <p:cNvPr id="10" name="CasellaDiTesto 9">
                <a:extLst>
                  <a:ext uri="{FF2B5EF4-FFF2-40B4-BE49-F238E27FC236}">
                    <a16:creationId xmlns:a16="http://schemas.microsoft.com/office/drawing/2014/main" id="{927246E8-D14C-11F3-0190-AD289FBDEB39}"/>
                  </a:ext>
                </a:extLst>
              </p:cNvPr>
              <p:cNvSpPr txBox="1">
                <a:spLocks noRot="1" noChangeAspect="1" noMove="1" noResize="1" noEditPoints="1" noAdjustHandles="1" noChangeArrowheads="1" noChangeShapeType="1" noTextEdit="1"/>
              </p:cNvSpPr>
              <p:nvPr/>
            </p:nvSpPr>
            <p:spPr>
              <a:xfrm>
                <a:off x="6096002" y="1353453"/>
                <a:ext cx="5105399" cy="276999"/>
              </a:xfrm>
              <a:prstGeom prst="rect">
                <a:avLst/>
              </a:prstGeom>
              <a:blipFill>
                <a:blip r:embed="rId3"/>
                <a:stretch>
                  <a:fillRect b="-11111"/>
                </a:stretch>
              </a:blipFill>
            </p:spPr>
            <p:txBody>
              <a:bodyPr/>
              <a:lstStyle/>
              <a:p>
                <a:r>
                  <a:rPr lang="it-IT">
                    <a:noFill/>
                  </a:rPr>
                  <a:t> </a:t>
                </a:r>
              </a:p>
            </p:txBody>
          </p:sp>
        </mc:Fallback>
      </mc:AlternateContent>
      <p:sp>
        <p:nvSpPr>
          <p:cNvPr id="12" name="CasellaDiTesto 11">
            <a:extLst>
              <a:ext uri="{FF2B5EF4-FFF2-40B4-BE49-F238E27FC236}">
                <a16:creationId xmlns:a16="http://schemas.microsoft.com/office/drawing/2014/main" id="{05B3A0A7-4DDC-D49C-3A57-F468ADA78226}"/>
              </a:ext>
            </a:extLst>
          </p:cNvPr>
          <p:cNvSpPr txBox="1"/>
          <p:nvPr/>
        </p:nvSpPr>
        <p:spPr>
          <a:xfrm>
            <a:off x="6096001" y="1736734"/>
            <a:ext cx="5105400"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pPr algn="ctr"/>
            <a:r>
              <a:rPr lang="it-IT" dirty="0"/>
              <a:t>cioè </a:t>
            </a:r>
            <a:r>
              <a:rPr lang="it-IT" b="1" dirty="0"/>
              <a:t>il condensatore “ricorda” l’energia accumulata prima.</a:t>
            </a:r>
          </a:p>
        </p:txBody>
      </p:sp>
      <p:sp>
        <p:nvSpPr>
          <p:cNvPr id="14" name="CasellaDiTesto 13">
            <a:extLst>
              <a:ext uri="{FF2B5EF4-FFF2-40B4-BE49-F238E27FC236}">
                <a16:creationId xmlns:a16="http://schemas.microsoft.com/office/drawing/2014/main" id="{F45DA9BE-B094-6776-8ED2-F7273DB9E6B4}"/>
              </a:ext>
            </a:extLst>
          </p:cNvPr>
          <p:cNvSpPr txBox="1"/>
          <p:nvPr/>
        </p:nvSpPr>
        <p:spPr>
          <a:xfrm>
            <a:off x="981243" y="2212318"/>
            <a:ext cx="6115574"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dirty="0"/>
              <a:t>La carica segue una legge esponenziale:</a:t>
            </a:r>
          </a:p>
        </p:txBody>
      </p:sp>
      <p:sp>
        <p:nvSpPr>
          <p:cNvPr id="15" name="Ovale 14">
            <a:extLst>
              <a:ext uri="{FF2B5EF4-FFF2-40B4-BE49-F238E27FC236}">
                <a16:creationId xmlns:a16="http://schemas.microsoft.com/office/drawing/2014/main" id="{D34A8E2F-7715-05D3-22FF-B11507AA0DB8}"/>
              </a:ext>
            </a:extLst>
          </p:cNvPr>
          <p:cNvSpPr/>
          <p:nvPr/>
        </p:nvSpPr>
        <p:spPr>
          <a:xfrm>
            <a:off x="6665053" y="3363985"/>
            <a:ext cx="2176943" cy="1921079"/>
          </a:xfrm>
          <a:prstGeom prst="ellipse">
            <a:avLst/>
          </a:prstGeom>
          <a:noFill/>
          <a:ln>
            <a:solidFill>
              <a:srgbClr val="3134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xmlns:a14="http://schemas.microsoft.com/office/drawing/2010/main">
        <mc:Choice Requires="a14">
          <p:sp>
            <p:nvSpPr>
              <p:cNvPr id="18" name="CasellaDiTesto 17">
                <a:extLst>
                  <a:ext uri="{FF2B5EF4-FFF2-40B4-BE49-F238E27FC236}">
                    <a16:creationId xmlns:a16="http://schemas.microsoft.com/office/drawing/2014/main" id="{C16921E2-4E9C-B4BF-2167-78C3B7793BD6}"/>
                  </a:ext>
                </a:extLst>
              </p:cNvPr>
              <p:cNvSpPr txBox="1"/>
              <p:nvPr/>
            </p:nvSpPr>
            <p:spPr>
              <a:xfrm>
                <a:off x="2918210" y="2812264"/>
                <a:ext cx="2241639" cy="4145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𝑣</m:t>
                          </m:r>
                        </m:e>
                        <m:sub>
                          <m:r>
                            <a:rPr lang="it-IT" i="1">
                              <a:latin typeface="Cambria Math" panose="02040503050406030204" pitchFamily="18" charset="0"/>
                            </a:rPr>
                            <m:t>𝑐</m:t>
                          </m:r>
                        </m:sub>
                      </m:sSub>
                      <m:d>
                        <m:dPr>
                          <m:ctrlPr>
                            <a:rPr lang="it-IT" i="1">
                              <a:latin typeface="Cambria Math" panose="02040503050406030204" pitchFamily="18" charset="0"/>
                            </a:rPr>
                          </m:ctrlPr>
                        </m:dPr>
                        <m:e>
                          <m:r>
                            <a:rPr lang="it-IT" i="1">
                              <a:latin typeface="Cambria Math" panose="02040503050406030204" pitchFamily="18" charset="0"/>
                            </a:rPr>
                            <m:t>𝑡</m:t>
                          </m:r>
                        </m:e>
                      </m:d>
                      <m:r>
                        <a:rPr lang="it-IT" i="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𝑣</m:t>
                          </m:r>
                        </m:e>
                        <m:sub>
                          <m:r>
                            <a:rPr lang="it-IT" i="1">
                              <a:latin typeface="Cambria Math" panose="02040503050406030204" pitchFamily="18" charset="0"/>
                            </a:rPr>
                            <m:t>𝑓</m:t>
                          </m:r>
                        </m:sub>
                      </m:sSub>
                      <m:d>
                        <m:dPr>
                          <m:ctrlPr>
                            <a:rPr lang="it-IT" i="1">
                              <a:latin typeface="Cambria Math" panose="02040503050406030204" pitchFamily="18" charset="0"/>
                            </a:rPr>
                          </m:ctrlPr>
                        </m:dPr>
                        <m:e>
                          <m:r>
                            <a:rPr lang="it-IT" i="0">
                              <a:latin typeface="Cambria Math" panose="02040503050406030204" pitchFamily="18" charset="0"/>
                            </a:rPr>
                            <m:t>1−</m:t>
                          </m:r>
                          <m:sSup>
                            <m:sSupPr>
                              <m:ctrlPr>
                                <a:rPr lang="it-IT" i="1">
                                  <a:latin typeface="Cambria Math" panose="02040503050406030204" pitchFamily="18" charset="0"/>
                                </a:rPr>
                              </m:ctrlPr>
                            </m:sSupPr>
                            <m:e>
                              <m:r>
                                <a:rPr lang="it-IT" b="0" i="1" smtClean="0">
                                  <a:latin typeface="Cambria Math" panose="02040503050406030204" pitchFamily="18" charset="0"/>
                                </a:rPr>
                                <m:t>𝑒</m:t>
                              </m:r>
                            </m:e>
                            <m:sup>
                              <m:f>
                                <m:fPr>
                                  <m:type m:val="skw"/>
                                  <m:ctrlPr>
                                    <a:rPr lang="it-IT" i="1">
                                      <a:latin typeface="Cambria Math" panose="02040503050406030204" pitchFamily="18" charset="0"/>
                                    </a:rPr>
                                  </m:ctrlPr>
                                </m:fPr>
                                <m:num>
                                  <m:r>
                                    <a:rPr lang="it-IT" b="0" i="1" smtClean="0">
                                      <a:latin typeface="Cambria Math" panose="02040503050406030204" pitchFamily="18" charset="0"/>
                                    </a:rPr>
                                    <m:t>−</m:t>
                                  </m:r>
                                  <m:r>
                                    <a:rPr lang="it-IT" i="1">
                                      <a:latin typeface="Cambria Math" panose="02040503050406030204" pitchFamily="18" charset="0"/>
                                    </a:rPr>
                                    <m:t>𝑡</m:t>
                                  </m:r>
                                </m:num>
                                <m:den>
                                  <m:r>
                                    <a:rPr lang="it-IT" i="1">
                                      <a:latin typeface="Cambria Math" panose="02040503050406030204" pitchFamily="18" charset="0"/>
                                    </a:rPr>
                                    <m:t>𝜏</m:t>
                                  </m:r>
                                </m:den>
                              </m:f>
                            </m:sup>
                          </m:sSup>
                        </m:e>
                      </m:d>
                    </m:oMath>
                  </m:oMathPara>
                </a14:m>
                <a:endParaRPr lang="it-IT" dirty="0"/>
              </a:p>
            </p:txBody>
          </p:sp>
        </mc:Choice>
        <mc:Fallback xmlns="">
          <p:sp>
            <p:nvSpPr>
              <p:cNvPr id="18" name="CasellaDiTesto 17">
                <a:extLst>
                  <a:ext uri="{FF2B5EF4-FFF2-40B4-BE49-F238E27FC236}">
                    <a16:creationId xmlns:a16="http://schemas.microsoft.com/office/drawing/2014/main" id="{C16921E2-4E9C-B4BF-2167-78C3B7793BD6}"/>
                  </a:ext>
                </a:extLst>
              </p:cNvPr>
              <p:cNvSpPr txBox="1">
                <a:spLocks noRot="1" noChangeAspect="1" noMove="1" noResize="1" noEditPoints="1" noAdjustHandles="1" noChangeArrowheads="1" noChangeShapeType="1" noTextEdit="1"/>
              </p:cNvSpPr>
              <p:nvPr/>
            </p:nvSpPr>
            <p:spPr>
              <a:xfrm>
                <a:off x="2918210" y="2812264"/>
                <a:ext cx="2241639" cy="414537"/>
              </a:xfrm>
              <a:prstGeom prst="rect">
                <a:avLst/>
              </a:prstGeom>
              <a:blipFill>
                <a:blip r:embed="rId4"/>
                <a:stretch>
                  <a:fillRect l="-1090" t="-101471" r="-19074" b="-119118"/>
                </a:stretch>
              </a:blipFill>
            </p:spPr>
            <p:txBody>
              <a:bodyPr/>
              <a:lstStyle/>
              <a:p>
                <a:r>
                  <a:rPr lang="it-IT">
                    <a:noFill/>
                  </a:rPr>
                  <a:t> </a:t>
                </a:r>
              </a:p>
            </p:txBody>
          </p:sp>
        </mc:Fallback>
      </mc:AlternateContent>
      <p:sp>
        <p:nvSpPr>
          <p:cNvPr id="20" name="CasellaDiTesto 19">
            <a:extLst>
              <a:ext uri="{FF2B5EF4-FFF2-40B4-BE49-F238E27FC236}">
                <a16:creationId xmlns:a16="http://schemas.microsoft.com/office/drawing/2014/main" id="{47A6AB90-EC82-E82C-F76F-614AF5EC3EA2}"/>
              </a:ext>
            </a:extLst>
          </p:cNvPr>
          <p:cNvSpPr txBox="1"/>
          <p:nvPr/>
        </p:nvSpPr>
        <p:spPr>
          <a:xfrm>
            <a:off x="1067577" y="3509572"/>
            <a:ext cx="6115574" cy="369332"/>
          </a:xfrm>
          <a:prstGeom prst="rect">
            <a:avLst/>
          </a:prstGeom>
          <a:noFill/>
        </p:spPr>
        <p:txBody>
          <a:bodyPr wrap="square">
            <a:spAutoFit/>
          </a:bodyPr>
          <a:lstStyle/>
          <a:p>
            <a:r>
              <a:rPr lang="it-IT" sz="1200" dirty="0">
                <a:latin typeface="Libre Franklin"/>
              </a:rPr>
              <a:t>dove</a:t>
            </a:r>
            <a:r>
              <a:rPr lang="it-IT" dirty="0"/>
              <a:t>:</a:t>
            </a:r>
          </a:p>
        </p:txBody>
      </p:sp>
      <mc:AlternateContent xmlns:mc="http://schemas.openxmlformats.org/markup-compatibility/2006" xmlns:a14="http://schemas.microsoft.com/office/drawing/2010/main">
        <mc:Choice Requires="a14">
          <p:sp>
            <p:nvSpPr>
              <p:cNvPr id="21" name="CasellaDiTesto 20">
                <a:extLst>
                  <a:ext uri="{FF2B5EF4-FFF2-40B4-BE49-F238E27FC236}">
                    <a16:creationId xmlns:a16="http://schemas.microsoft.com/office/drawing/2014/main" id="{C82BC81F-8071-FB7E-4DEC-FB0EE4DEDF48}"/>
                  </a:ext>
                </a:extLst>
              </p:cNvPr>
              <p:cNvSpPr txBox="1"/>
              <p:nvPr/>
            </p:nvSpPr>
            <p:spPr>
              <a:xfrm>
                <a:off x="2918210" y="4153514"/>
                <a:ext cx="968278" cy="2984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rPr>
                        <m:t>𝜏</m:t>
                      </m:r>
                      <m:r>
                        <a:rPr lang="it-IT" i="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𝑒</m:t>
                          </m:r>
                          <m:r>
                            <a:rPr lang="it-IT" b="0" i="1" smtClean="0">
                              <a:latin typeface="Cambria Math" panose="02040503050406030204" pitchFamily="18" charset="0"/>
                            </a:rPr>
                            <m:t>𝑞</m:t>
                          </m:r>
                        </m:sub>
                      </m:sSub>
                      <m:r>
                        <a:rPr lang="it-IT" b="0" i="1" smtClean="0">
                          <a:latin typeface="Cambria Math" panose="02040503050406030204" pitchFamily="18" charset="0"/>
                        </a:rPr>
                        <m:t>𝐶</m:t>
                      </m:r>
                    </m:oMath>
                  </m:oMathPara>
                </a14:m>
                <a:endParaRPr lang="it-IT" dirty="0"/>
              </a:p>
            </p:txBody>
          </p:sp>
        </mc:Choice>
        <mc:Fallback xmlns="">
          <p:sp>
            <p:nvSpPr>
              <p:cNvPr id="21" name="CasellaDiTesto 20">
                <a:extLst>
                  <a:ext uri="{FF2B5EF4-FFF2-40B4-BE49-F238E27FC236}">
                    <a16:creationId xmlns:a16="http://schemas.microsoft.com/office/drawing/2014/main" id="{C82BC81F-8071-FB7E-4DEC-FB0EE4DEDF48}"/>
                  </a:ext>
                </a:extLst>
              </p:cNvPr>
              <p:cNvSpPr txBox="1">
                <a:spLocks noRot="1" noChangeAspect="1" noMove="1" noResize="1" noEditPoints="1" noAdjustHandles="1" noChangeArrowheads="1" noChangeShapeType="1" noTextEdit="1"/>
              </p:cNvSpPr>
              <p:nvPr/>
            </p:nvSpPr>
            <p:spPr>
              <a:xfrm>
                <a:off x="2918210" y="4153514"/>
                <a:ext cx="968278" cy="298415"/>
              </a:xfrm>
              <a:prstGeom prst="rect">
                <a:avLst/>
              </a:prstGeom>
              <a:blipFill>
                <a:blip r:embed="rId5"/>
                <a:stretch>
                  <a:fillRect l="-3145" r="-3774" b="-20408"/>
                </a:stretch>
              </a:blipFill>
            </p:spPr>
            <p:txBody>
              <a:bodyPr/>
              <a:lstStyle/>
              <a:p>
                <a:r>
                  <a:rPr lang="it-IT">
                    <a:noFill/>
                  </a:rPr>
                  <a:t> </a:t>
                </a:r>
              </a:p>
            </p:txBody>
          </p:sp>
        </mc:Fallback>
      </mc:AlternateContent>
      <p:sp>
        <p:nvSpPr>
          <p:cNvPr id="23" name="CasellaDiTesto 22">
            <a:extLst>
              <a:ext uri="{FF2B5EF4-FFF2-40B4-BE49-F238E27FC236}">
                <a16:creationId xmlns:a16="http://schemas.microsoft.com/office/drawing/2014/main" id="{346D53F5-1CAE-386E-2A66-C6DE25AF5313}"/>
              </a:ext>
            </a:extLst>
          </p:cNvPr>
          <p:cNvSpPr txBox="1"/>
          <p:nvPr/>
        </p:nvSpPr>
        <p:spPr>
          <a:xfrm>
            <a:off x="981242" y="4680536"/>
            <a:ext cx="4328989" cy="553968"/>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dirty="0"/>
              <a:t>Quindi il condensatore non arriva subito al valore finale, ma ci arriva gradualmente.</a:t>
            </a:r>
          </a:p>
        </p:txBody>
      </p:sp>
      <p:sp>
        <p:nvSpPr>
          <p:cNvPr id="27" name="CasellaDiTesto 26">
            <a:extLst>
              <a:ext uri="{FF2B5EF4-FFF2-40B4-BE49-F238E27FC236}">
                <a16:creationId xmlns:a16="http://schemas.microsoft.com/office/drawing/2014/main" id="{78F262C8-0741-5F81-C57D-F37AB078D283}"/>
              </a:ext>
            </a:extLst>
          </p:cNvPr>
          <p:cNvSpPr txBox="1"/>
          <p:nvPr/>
        </p:nvSpPr>
        <p:spPr>
          <a:xfrm>
            <a:off x="981243" y="5340895"/>
            <a:ext cx="5771895" cy="738633"/>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dirty="0"/>
              <a:t>Nel grafico questo si vede nel segnale blu: </a:t>
            </a:r>
            <a:r>
              <a:rPr lang="it-IT" b="1" dirty="0"/>
              <a:t>all’inizio c’è un transitorio</a:t>
            </a:r>
            <a:r>
              <a:rPr lang="it-IT" dirty="0"/>
              <a:t>, </a:t>
            </a:r>
            <a:r>
              <a:rPr lang="it-IT" u="sng" dirty="0"/>
              <a:t>cioè una parte instabile dovuta alla carica/scarica del condensatore.</a:t>
            </a:r>
            <a:r>
              <a:rPr lang="it-IT" dirty="0"/>
              <a:t> Solo dopo l’assestamento il circuito mostra il comportamento reale a regime.</a:t>
            </a:r>
          </a:p>
        </p:txBody>
      </p:sp>
      <p:sp>
        <p:nvSpPr>
          <p:cNvPr id="28" name="CasellaDiTesto 27">
            <a:extLst>
              <a:ext uri="{FF2B5EF4-FFF2-40B4-BE49-F238E27FC236}">
                <a16:creationId xmlns:a16="http://schemas.microsoft.com/office/drawing/2014/main" id="{C430A221-6755-7D6F-4574-D48496DD55D0}"/>
              </a:ext>
            </a:extLst>
          </p:cNvPr>
          <p:cNvSpPr txBox="1"/>
          <p:nvPr/>
        </p:nvSpPr>
        <p:spPr>
          <a:xfrm>
            <a:off x="7493398" y="5466797"/>
            <a:ext cx="2697195" cy="553968"/>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pPr algn="ctr"/>
            <a:r>
              <a:rPr lang="it-IT" dirty="0"/>
              <a:t>Esempio con configurazione </a:t>
            </a:r>
            <a:r>
              <a:rPr lang="it-IT" dirty="0" err="1"/>
              <a:t>opamp</a:t>
            </a:r>
            <a:r>
              <a:rPr lang="it-IT" dirty="0"/>
              <a:t> del disturbo</a:t>
            </a:r>
          </a:p>
        </p:txBody>
      </p:sp>
    </p:spTree>
    <p:extLst>
      <p:ext uri="{BB962C8B-B14F-4D97-AF65-F5344CB8AC3E}">
        <p14:creationId xmlns:p14="http://schemas.microsoft.com/office/powerpoint/2010/main" val="12187338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CasellaDiTesto 24">
            <a:extLst>
              <a:ext uri="{FF2B5EF4-FFF2-40B4-BE49-F238E27FC236}">
                <a16:creationId xmlns:a16="http://schemas.microsoft.com/office/drawing/2014/main" id="{A9E49883-A9D1-4BF7-B97B-1E43A34A3D92}"/>
              </a:ext>
            </a:extLst>
          </p:cNvPr>
          <p:cNvSpPr txBox="1"/>
          <p:nvPr/>
        </p:nvSpPr>
        <p:spPr>
          <a:xfrm>
            <a:off x="989901" y="990856"/>
            <a:ext cx="10142289" cy="553968"/>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dirty="0"/>
              <a:t>Quindi, </a:t>
            </a:r>
            <a:r>
              <a:rPr lang="it-IT" b="1" dirty="0">
                <a:effectLst>
                  <a:outerShdw blurRad="38100" dist="38100" dir="2700000" algn="tl">
                    <a:srgbClr val="000000">
                      <a:alpha val="43137"/>
                    </a:srgbClr>
                  </a:outerShdw>
                </a:effectLst>
              </a:rPr>
              <a:t>in simulazione, conviene far passare un certo tempo prima di osservare il segnale, così il condensatore è già “saturo” </a:t>
            </a:r>
            <a:r>
              <a:rPr lang="it-IT" dirty="0"/>
              <a:t>e non altera più l’analisi del circuito.</a:t>
            </a: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BD4E5782-86B4-3AE9-A88D-979DF52412CB}"/>
                  </a:ext>
                </a:extLst>
              </p:cNvPr>
              <p:cNvSpPr txBox="1"/>
              <p:nvPr/>
            </p:nvSpPr>
            <p:spPr>
              <a:xfrm>
                <a:off x="989901" y="1544824"/>
                <a:ext cx="9010825" cy="553968"/>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dirty="0"/>
                  <a:t>Facciamo quindi un’analisi transitoria lasciando prima saturare/assestare il condensatore.</a:t>
                </a:r>
              </a:p>
              <a:p>
                <a:r>
                  <a:rPr lang="it-IT" dirty="0"/>
                  <a:t>In simulazione </a:t>
                </a:r>
                <a:r>
                  <a:rPr lang="it-IT" dirty="0" err="1"/>
                  <a:t>LTspice</a:t>
                </a:r>
                <a:r>
                  <a:rPr lang="it-IT" dirty="0"/>
                  <a:t> non guardiamo subito da </a:t>
                </a:r>
                <a14:m>
                  <m:oMath xmlns:m="http://schemas.openxmlformats.org/officeDocument/2006/math">
                    <m:r>
                      <a:rPr lang="it-IT">
                        <a:latin typeface="Cambria Math" panose="02040503050406030204" pitchFamily="18" charset="0"/>
                      </a:rPr>
                      <m:t>𝑡</m:t>
                    </m:r>
                    <m:r>
                      <a:rPr lang="it-IT">
                        <a:latin typeface="Cambria Math" panose="02040503050406030204" pitchFamily="18" charset="0"/>
                      </a:rPr>
                      <m:t>=0 </m:t>
                    </m:r>
                    <m:r>
                      <m:rPr>
                        <m:sty m:val="p"/>
                      </m:rPr>
                      <a:rPr lang="it-IT">
                        <a:latin typeface="Cambria Math" panose="02040503050406030204" pitchFamily="18" charset="0"/>
                      </a:rPr>
                      <m:t>secondi</m:t>
                    </m:r>
                  </m:oMath>
                </a14:m>
                <a:r>
                  <a:rPr lang="it-IT" dirty="0"/>
                  <a:t>, perché lì compare il transitorio iniziale di carica di </a:t>
                </a:r>
                <a14:m>
                  <m:oMath xmlns:m="http://schemas.openxmlformats.org/officeDocument/2006/math">
                    <m:r>
                      <a:rPr lang="it-IT">
                        <a:latin typeface="Cambria Math" panose="02040503050406030204" pitchFamily="18" charset="0"/>
                      </a:rPr>
                      <m:t>𝐶</m:t>
                    </m:r>
                  </m:oMath>
                </a14:m>
                <a:r>
                  <a:rPr lang="it-IT" dirty="0"/>
                  <a:t>.</a:t>
                </a:r>
              </a:p>
            </p:txBody>
          </p:sp>
        </mc:Choice>
        <mc:Fallback xmlns="">
          <p:sp>
            <p:nvSpPr>
              <p:cNvPr id="2" name="CasellaDiTesto 1">
                <a:extLst>
                  <a:ext uri="{FF2B5EF4-FFF2-40B4-BE49-F238E27FC236}">
                    <a16:creationId xmlns:a16="http://schemas.microsoft.com/office/drawing/2014/main" id="{BD4E5782-86B4-3AE9-A88D-979DF52412CB}"/>
                  </a:ext>
                </a:extLst>
              </p:cNvPr>
              <p:cNvSpPr txBox="1">
                <a:spLocks noRot="1" noChangeAspect="1" noMove="1" noResize="1" noEditPoints="1" noAdjustHandles="1" noChangeArrowheads="1" noChangeShapeType="1" noTextEdit="1"/>
              </p:cNvSpPr>
              <p:nvPr/>
            </p:nvSpPr>
            <p:spPr>
              <a:xfrm>
                <a:off x="989901" y="1544824"/>
                <a:ext cx="9010825" cy="553968"/>
              </a:xfrm>
              <a:prstGeom prst="rect">
                <a:avLst/>
              </a:prstGeom>
              <a:blipFill>
                <a:blip r:embed="rId2"/>
                <a:stretch>
                  <a:fillRect/>
                </a:stretch>
              </a:blipFill>
              <a:ln>
                <a:noFill/>
              </a:ln>
            </p:spPr>
            <p:txBody>
              <a:bodyPr/>
              <a:lstStyle/>
              <a:p>
                <a:r>
                  <a:rPr lang="it-IT">
                    <a:noFill/>
                  </a:rPr>
                  <a:t> </a:t>
                </a:r>
              </a:p>
            </p:txBody>
          </p:sp>
        </mc:Fallback>
      </mc:AlternateContent>
      <p:pic>
        <p:nvPicPr>
          <p:cNvPr id="3" name="Immagine 2">
            <a:extLst>
              <a:ext uri="{FF2B5EF4-FFF2-40B4-BE49-F238E27FC236}">
                <a16:creationId xmlns:a16="http://schemas.microsoft.com/office/drawing/2014/main" id="{33540721-BBE3-1B88-8420-D08180C9566E}"/>
              </a:ext>
            </a:extLst>
          </p:cNvPr>
          <p:cNvPicPr>
            <a:picLocks noChangeAspect="1"/>
          </p:cNvPicPr>
          <p:nvPr/>
        </p:nvPicPr>
        <p:blipFill>
          <a:blip r:embed="rId3"/>
          <a:stretch>
            <a:fillRect/>
          </a:stretch>
        </p:blipFill>
        <p:spPr>
          <a:xfrm>
            <a:off x="633669" y="2265436"/>
            <a:ext cx="5418157" cy="2655405"/>
          </a:xfrm>
          <a:prstGeom prst="rect">
            <a:avLst/>
          </a:prstGeom>
        </p:spPr>
      </p:pic>
      <p:pic>
        <p:nvPicPr>
          <p:cNvPr id="4" name="Immagine 3">
            <a:extLst>
              <a:ext uri="{FF2B5EF4-FFF2-40B4-BE49-F238E27FC236}">
                <a16:creationId xmlns:a16="http://schemas.microsoft.com/office/drawing/2014/main" id="{86FD2239-CB56-E9DA-E657-DE5B305CCF64}"/>
              </a:ext>
            </a:extLst>
          </p:cNvPr>
          <p:cNvPicPr>
            <a:picLocks noChangeAspect="1"/>
          </p:cNvPicPr>
          <p:nvPr/>
        </p:nvPicPr>
        <p:blipFill>
          <a:blip r:embed="rId4"/>
          <a:stretch>
            <a:fillRect/>
          </a:stretch>
        </p:blipFill>
        <p:spPr>
          <a:xfrm>
            <a:off x="6140175" y="2265437"/>
            <a:ext cx="5418156" cy="2655404"/>
          </a:xfrm>
          <a:prstGeom prst="rect">
            <a:avLst/>
          </a:prstGeom>
        </p:spPr>
      </p:pic>
      <p:sp>
        <p:nvSpPr>
          <p:cNvPr id="6" name="CasellaDiTesto 5">
            <a:extLst>
              <a:ext uri="{FF2B5EF4-FFF2-40B4-BE49-F238E27FC236}">
                <a16:creationId xmlns:a16="http://schemas.microsoft.com/office/drawing/2014/main" id="{025CB173-BE13-6816-3D65-4F47A1ADB3E9}"/>
              </a:ext>
            </a:extLst>
          </p:cNvPr>
          <p:cNvSpPr txBox="1"/>
          <p:nvPr/>
        </p:nvSpPr>
        <p:spPr>
          <a:xfrm>
            <a:off x="3386922" y="2356607"/>
            <a:ext cx="2593246" cy="954077"/>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pPr algn="ctr"/>
            <a:r>
              <a:rPr lang="it-IT" sz="1000" dirty="0"/>
              <a:t>Con </a:t>
            </a:r>
            <a:r>
              <a:rPr lang="it-IT" sz="1000" b="1" dirty="0">
                <a:solidFill>
                  <a:srgbClr val="3134FF"/>
                </a:solidFill>
              </a:rPr>
              <a:t>.tran 0 100m 0 100u </a:t>
            </a:r>
            <a:r>
              <a:rPr lang="it-IT" sz="1000" dirty="0" err="1"/>
              <a:t>LTspice</a:t>
            </a:r>
            <a:r>
              <a:rPr lang="it-IT" sz="1000" dirty="0"/>
              <a:t> simula da 0 a 100 ms.</a:t>
            </a:r>
            <a:br>
              <a:rPr lang="it-IT" sz="1000" dirty="0"/>
            </a:br>
            <a:r>
              <a:rPr lang="it-IT" sz="1000" dirty="0"/>
              <a:t>Mostra tutto subito da 0, quindi vedi anche il transitorio iniziale del condensatore.</a:t>
            </a:r>
          </a:p>
        </p:txBody>
      </p:sp>
      <p:sp>
        <p:nvSpPr>
          <p:cNvPr id="7" name="CasellaDiTesto 6">
            <a:extLst>
              <a:ext uri="{FF2B5EF4-FFF2-40B4-BE49-F238E27FC236}">
                <a16:creationId xmlns:a16="http://schemas.microsoft.com/office/drawing/2014/main" id="{00F50613-F854-01AC-62C8-2427C926F2EB}"/>
              </a:ext>
            </a:extLst>
          </p:cNvPr>
          <p:cNvSpPr txBox="1"/>
          <p:nvPr/>
        </p:nvSpPr>
        <p:spPr>
          <a:xfrm>
            <a:off x="8640794" y="2267943"/>
            <a:ext cx="2740054" cy="954077"/>
          </a:xfrm>
          <a:prstGeom prst="rect">
            <a:avLst/>
          </a:prstGeom>
          <a:noFill/>
          <a:ln>
            <a:noFill/>
          </a:ln>
        </p:spPr>
        <p:txBody>
          <a:bodyPr spcFirstLastPara="1" wrap="square" lIns="91425" tIns="91425" rIns="91425" bIns="91425" anchor="t" anchorCtr="0">
            <a:spAutoFit/>
          </a:bodyPr>
          <a:lstStyle>
            <a:defPPr>
              <a:defRPr lang="en-US"/>
            </a:defPPr>
            <a:lvl1pPr lvl="0" indent="0" algn="ctr">
              <a:spcBef>
                <a:spcPts val="0"/>
              </a:spcBef>
              <a:spcAft>
                <a:spcPts val="0"/>
              </a:spcAft>
              <a:buNone/>
              <a:defRPr sz="1000">
                <a:latin typeface="Libre Franklin"/>
                <a:ea typeface="Libre Franklin"/>
                <a:cs typeface="Libre Franklin"/>
              </a:defRPr>
            </a:lvl1pPr>
          </a:lstStyle>
          <a:p>
            <a:r>
              <a:rPr lang="it-IT" dirty="0"/>
              <a:t>Con </a:t>
            </a:r>
            <a:r>
              <a:rPr lang="it-IT" b="1" dirty="0">
                <a:solidFill>
                  <a:srgbClr val="3134FF"/>
                </a:solidFill>
              </a:rPr>
              <a:t>.tran 0 5 4.9 100u </a:t>
            </a:r>
            <a:r>
              <a:rPr lang="it-IT" dirty="0" err="1"/>
              <a:t>LTspice</a:t>
            </a:r>
            <a:r>
              <a:rPr lang="it-IT" dirty="0"/>
              <a:t> simula il circuito da 0 a 5 s.</a:t>
            </a:r>
            <a:br>
              <a:rPr lang="it-IT" dirty="0"/>
            </a:br>
            <a:r>
              <a:rPr lang="it-IT" i="1" u="sng" dirty="0"/>
              <a:t>Però mostra/salva solo da 4.9 s a 5 s.</a:t>
            </a:r>
            <a:br>
              <a:rPr lang="it-IT" i="1" u="sng" dirty="0"/>
            </a:br>
            <a:r>
              <a:rPr lang="it-IT" b="1" dirty="0"/>
              <a:t>Così vediamo un solo periodo finale, dopo che il condensatore si è assestato.</a:t>
            </a:r>
          </a:p>
        </p:txBody>
      </p:sp>
      <p:pic>
        <p:nvPicPr>
          <p:cNvPr id="8" name="Immagine 7">
            <a:extLst>
              <a:ext uri="{FF2B5EF4-FFF2-40B4-BE49-F238E27FC236}">
                <a16:creationId xmlns:a16="http://schemas.microsoft.com/office/drawing/2014/main" id="{79D7A016-A59D-539C-DD1B-2AE00504B26E}"/>
              </a:ext>
            </a:extLst>
          </p:cNvPr>
          <p:cNvPicPr>
            <a:picLocks noChangeAspect="1"/>
          </p:cNvPicPr>
          <p:nvPr/>
        </p:nvPicPr>
        <p:blipFill>
          <a:blip r:embed="rId5"/>
          <a:srcRect l="139" b="66154"/>
          <a:stretch>
            <a:fillRect/>
          </a:stretch>
        </p:blipFill>
        <p:spPr>
          <a:xfrm>
            <a:off x="1881255" y="5049838"/>
            <a:ext cx="3011333" cy="868352"/>
          </a:xfrm>
          <a:prstGeom prst="rect">
            <a:avLst/>
          </a:prstGeom>
        </p:spPr>
      </p:pic>
      <p:pic>
        <p:nvPicPr>
          <p:cNvPr id="9" name="Immagine 8">
            <a:extLst>
              <a:ext uri="{FF2B5EF4-FFF2-40B4-BE49-F238E27FC236}">
                <a16:creationId xmlns:a16="http://schemas.microsoft.com/office/drawing/2014/main" id="{3EC087F3-A424-5998-D73A-1DEDDB30E7E9}"/>
              </a:ext>
            </a:extLst>
          </p:cNvPr>
          <p:cNvPicPr>
            <a:picLocks noChangeAspect="1"/>
          </p:cNvPicPr>
          <p:nvPr/>
        </p:nvPicPr>
        <p:blipFill>
          <a:blip r:embed="rId6"/>
          <a:srcRect b="66228"/>
          <a:stretch>
            <a:fillRect/>
          </a:stretch>
        </p:blipFill>
        <p:spPr>
          <a:xfrm>
            <a:off x="7341489" y="5046703"/>
            <a:ext cx="3015527" cy="871487"/>
          </a:xfrm>
          <a:prstGeom prst="rect">
            <a:avLst/>
          </a:prstGeom>
        </p:spPr>
      </p:pic>
    </p:spTree>
    <p:extLst>
      <p:ext uri="{BB962C8B-B14F-4D97-AF65-F5344CB8AC3E}">
        <p14:creationId xmlns:p14="http://schemas.microsoft.com/office/powerpoint/2010/main" val="1399223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0"/>
          <p:cNvSpPr txBox="1"/>
          <p:nvPr/>
        </p:nvSpPr>
        <p:spPr>
          <a:xfrm>
            <a:off x="1049142" y="1127656"/>
            <a:ext cx="4968834" cy="569400"/>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Analisi transitoria</a:t>
            </a:r>
            <a:endParaRPr dirty="0">
              <a:sym typeface="Libre Franklin SemiBold"/>
            </a:endParaRPr>
          </a:p>
        </p:txBody>
      </p:sp>
      <p:sp>
        <p:nvSpPr>
          <p:cNvPr id="175" name="Google Shape;175;p20"/>
          <p:cNvSpPr txBox="1"/>
          <p:nvPr/>
        </p:nvSpPr>
        <p:spPr>
          <a:xfrm>
            <a:off x="1049142" y="1859354"/>
            <a:ext cx="10093716" cy="3693288"/>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u="sng" dirty="0">
                <a:sym typeface="Libre Franklin"/>
              </a:rPr>
              <a:t>Scelta la configurazione RC con </a:t>
            </a:r>
            <a:r>
              <a:rPr lang="it-IT" b="1" i="1" u="sng" dirty="0">
                <a:sym typeface="Libre Franklin"/>
              </a:rPr>
              <a:t>frequenza di taglio pari a 159 Hz</a:t>
            </a:r>
            <a:r>
              <a:rPr lang="it-IT" dirty="0">
                <a:sym typeface="Libre Franklin"/>
              </a:rPr>
              <a:t>, è possibile analizzare il comportamento del filtro al variare della frequenza del segnale di ingresso.</a:t>
            </a:r>
            <a:br>
              <a:rPr lang="it-IT" dirty="0">
                <a:sym typeface="Libre Franklin"/>
              </a:rPr>
            </a:br>
            <a:br>
              <a:rPr lang="it-IT" dirty="0">
                <a:sym typeface="Libre Franklin"/>
              </a:rPr>
            </a:br>
            <a:endParaRPr dirty="0">
              <a:sym typeface="Libre Franklin"/>
            </a:endParaRPr>
          </a:p>
          <a:p>
            <a:r>
              <a:rPr lang="it-IT" dirty="0">
                <a:sym typeface="Libre Franklin"/>
              </a:rPr>
              <a:t>Sono state eseguite simulazioni con tre segnali sinusoidali a </a:t>
            </a:r>
            <a:r>
              <a:rPr lang="it-IT" b="1" i="1" dirty="0">
                <a:sym typeface="Libre Franklin"/>
              </a:rPr>
              <a:t>10 Hz,159Hz, 250 Hz e 3 kHz</a:t>
            </a:r>
            <a:r>
              <a:rPr lang="it-IT" dirty="0">
                <a:sym typeface="Libre Franklin"/>
              </a:rPr>
              <a:t>. </a:t>
            </a:r>
            <a:br>
              <a:rPr lang="it-IT" dirty="0">
                <a:sym typeface="Libre Franklin"/>
              </a:rPr>
            </a:br>
            <a:r>
              <a:rPr lang="it-IT" dirty="0">
                <a:sym typeface="Libre Franklin"/>
              </a:rPr>
              <a:t>I risultati mostrano come la risposta del filtro dipenda dalla posizione della frequenza di ingresso rispetto alla frequenza di taglio:</a:t>
            </a:r>
            <a:br>
              <a:rPr lang="it-IT" dirty="0">
                <a:sym typeface="Libre Franklin"/>
              </a:rPr>
            </a:br>
            <a:br>
              <a:rPr lang="it-IT" dirty="0">
                <a:sym typeface="Libre Franklin"/>
              </a:rPr>
            </a:br>
            <a:endParaRPr dirty="0">
              <a:sym typeface="Libre Franklin"/>
            </a:endParaRPr>
          </a:p>
          <a:p>
            <a:r>
              <a:rPr lang="it-IT" dirty="0">
                <a:sym typeface="Libre Franklin"/>
              </a:rPr>
              <a:t>• Per </a:t>
            </a:r>
            <a:r>
              <a:rPr lang="it-IT" u="sng" dirty="0">
                <a:sym typeface="Libre Franklin"/>
              </a:rPr>
              <a:t>frequenze molto inferiori come​ (10 Hz)</a:t>
            </a:r>
            <a:r>
              <a:rPr lang="it-IT" dirty="0">
                <a:sym typeface="Libre Franklin"/>
              </a:rPr>
              <a:t>, il segnale risulta </a:t>
            </a:r>
            <a:r>
              <a:rPr lang="it-IT" i="1" u="sng" dirty="0">
                <a:sym typeface="Libre Franklin"/>
              </a:rPr>
              <a:t>fortemente attenuato e presenta uno sfasamento significativo</a:t>
            </a:r>
            <a:r>
              <a:rPr lang="it-IT" dirty="0">
                <a:sym typeface="Libre Franklin"/>
              </a:rPr>
              <a:t>.</a:t>
            </a:r>
          </a:p>
          <a:p>
            <a:endParaRPr dirty="0">
              <a:sym typeface="Libre Franklin"/>
            </a:endParaRPr>
          </a:p>
          <a:p>
            <a:r>
              <a:rPr lang="it-IT" dirty="0">
                <a:sym typeface="Libre Franklin"/>
              </a:rPr>
              <a:t>• In prossimità della frequenza di taglio (250 Hz), l'attenuazione diminuisce e il segnale in uscita assume un'ampiezza più vicina a quella del segnale di ingresso.</a:t>
            </a:r>
          </a:p>
          <a:p>
            <a:endParaRPr dirty="0">
              <a:sym typeface="Libre Franklin"/>
            </a:endParaRPr>
          </a:p>
          <a:p>
            <a:r>
              <a:rPr lang="it-IT" dirty="0">
                <a:sym typeface="Libre Franklin"/>
              </a:rPr>
              <a:t>• Per frequenze molto superiori a </a:t>
            </a:r>
            <a:r>
              <a:rPr lang="it-IT" dirty="0" err="1">
                <a:sym typeface="Libre Franklin"/>
              </a:rPr>
              <a:t>ƒc</a:t>
            </a:r>
            <a:r>
              <a:rPr lang="it-IT" dirty="0">
                <a:sym typeface="Libre Franklin"/>
              </a:rPr>
              <a:t>​ (3 kHz), il filtro lascia passare quasi interamente il segnale, con ampiezza pressoché invariata e sfasamento ridotto.</a:t>
            </a:r>
          </a:p>
          <a:p>
            <a:endParaRPr lang="it-IT" dirty="0">
              <a:sym typeface="Libre Franklin"/>
            </a:endParaRPr>
          </a:p>
          <a:p>
            <a:endParaRPr dirty="0">
              <a:sym typeface="Libre Franklin"/>
            </a:endParaRPr>
          </a:p>
          <a:p>
            <a:r>
              <a:rPr lang="it-IT" dirty="0">
                <a:effectLst>
                  <a:outerShdw blurRad="38100" dist="38100" dir="2700000" algn="tl">
                    <a:srgbClr val="000000">
                      <a:alpha val="43137"/>
                    </a:srgbClr>
                  </a:outerShdw>
                </a:effectLst>
                <a:sym typeface="Libre Franklin"/>
              </a:rPr>
              <a:t>Si osserva quindi il comportamento tipico di un filtro passa-alto: l'attenuazione diminuisce all'aumentare della frequenza del segnale di ingresso.</a:t>
            </a:r>
            <a:endParaRPr dirty="0">
              <a:effectLst>
                <a:outerShdw blurRad="38100" dist="38100" dir="2700000" algn="tl">
                  <a:srgbClr val="000000">
                    <a:alpha val="43137"/>
                  </a:srgbClr>
                </a:outerShdw>
              </a:effectLst>
              <a:sym typeface="Libre Frankli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2E8CD4E-6381-4807-AA5B-CE0024A8BE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28445F8-F032-43C9-8D0F-A5155F5252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59"/>
            <a:ext cx="5538555" cy="28870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magine 2">
            <a:extLst>
              <a:ext uri="{FF2B5EF4-FFF2-40B4-BE49-F238E27FC236}">
                <a16:creationId xmlns:a16="http://schemas.microsoft.com/office/drawing/2014/main" id="{54B37572-AC18-4C8A-6B7D-EDC57A6A8ADB}"/>
              </a:ext>
            </a:extLst>
          </p:cNvPr>
          <p:cNvPicPr>
            <a:picLocks noChangeAspect="1"/>
          </p:cNvPicPr>
          <p:nvPr/>
        </p:nvPicPr>
        <p:blipFill>
          <a:blip r:embed="rId3"/>
          <a:stretch>
            <a:fillRect/>
          </a:stretch>
        </p:blipFill>
        <p:spPr>
          <a:xfrm>
            <a:off x="641179" y="647429"/>
            <a:ext cx="5212080" cy="2553919"/>
          </a:xfrm>
          <a:prstGeom prst="rect">
            <a:avLst/>
          </a:prstGeom>
        </p:spPr>
      </p:pic>
      <p:sp>
        <p:nvSpPr>
          <p:cNvPr id="14" name="Rectangle 13">
            <a:extLst>
              <a:ext uri="{FF2B5EF4-FFF2-40B4-BE49-F238E27FC236}">
                <a16:creationId xmlns:a16="http://schemas.microsoft.com/office/drawing/2014/main" id="{36A325B5-56A3-425A-B9A3-0CEB7CA1BB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76432" y="480060"/>
            <a:ext cx="5538555" cy="28870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magine 4">
            <a:extLst>
              <a:ext uri="{FF2B5EF4-FFF2-40B4-BE49-F238E27FC236}">
                <a16:creationId xmlns:a16="http://schemas.microsoft.com/office/drawing/2014/main" id="{DEACFF84-26D2-D7C6-E837-34A29132E3F9}"/>
              </a:ext>
            </a:extLst>
          </p:cNvPr>
          <p:cNvPicPr>
            <a:picLocks noChangeAspect="1"/>
          </p:cNvPicPr>
          <p:nvPr/>
        </p:nvPicPr>
        <p:blipFill>
          <a:blip r:embed="rId4"/>
          <a:stretch>
            <a:fillRect/>
          </a:stretch>
        </p:blipFill>
        <p:spPr>
          <a:xfrm>
            <a:off x="6339669" y="647429"/>
            <a:ext cx="5212080" cy="2553919"/>
          </a:xfrm>
          <a:prstGeom prst="rect">
            <a:avLst/>
          </a:prstGeom>
        </p:spPr>
      </p:pic>
      <p:sp>
        <p:nvSpPr>
          <p:cNvPr id="16" name="Rectangle 15">
            <a:extLst>
              <a:ext uri="{FF2B5EF4-FFF2-40B4-BE49-F238E27FC236}">
                <a16:creationId xmlns:a16="http://schemas.microsoft.com/office/drawing/2014/main" id="{B80DE958-9D45-4CAD-BF1F-FA2ED970B7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3" y="3527956"/>
            <a:ext cx="5538554" cy="284998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magine 3">
            <a:extLst>
              <a:ext uri="{FF2B5EF4-FFF2-40B4-BE49-F238E27FC236}">
                <a16:creationId xmlns:a16="http://schemas.microsoft.com/office/drawing/2014/main" id="{D09181CB-2314-09C3-244E-C0BD3C5C6692}"/>
              </a:ext>
            </a:extLst>
          </p:cNvPr>
          <p:cNvPicPr>
            <a:picLocks noChangeAspect="1"/>
          </p:cNvPicPr>
          <p:nvPr/>
        </p:nvPicPr>
        <p:blipFill>
          <a:blip r:embed="rId5"/>
          <a:stretch>
            <a:fillRect/>
          </a:stretch>
        </p:blipFill>
        <p:spPr>
          <a:xfrm>
            <a:off x="641179" y="3656651"/>
            <a:ext cx="5212080" cy="2553919"/>
          </a:xfrm>
          <a:prstGeom prst="rect">
            <a:avLst/>
          </a:prstGeom>
        </p:spPr>
      </p:pic>
      <p:sp>
        <p:nvSpPr>
          <p:cNvPr id="18" name="Rectangle 17">
            <a:extLst>
              <a:ext uri="{FF2B5EF4-FFF2-40B4-BE49-F238E27FC236}">
                <a16:creationId xmlns:a16="http://schemas.microsoft.com/office/drawing/2014/main" id="{BB93B4BF-AD35-4E52-8131-161C5FB9CD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76432" y="3527956"/>
            <a:ext cx="5538555" cy="284998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Immagine 1">
            <a:extLst>
              <a:ext uri="{FF2B5EF4-FFF2-40B4-BE49-F238E27FC236}">
                <a16:creationId xmlns:a16="http://schemas.microsoft.com/office/drawing/2014/main" id="{F737AF05-F1BE-27CB-47A4-5B038103EB17}"/>
              </a:ext>
            </a:extLst>
          </p:cNvPr>
          <p:cNvPicPr>
            <a:picLocks noChangeAspect="1"/>
          </p:cNvPicPr>
          <p:nvPr/>
        </p:nvPicPr>
        <p:blipFill>
          <a:blip r:embed="rId6"/>
          <a:stretch>
            <a:fillRect/>
          </a:stretch>
        </p:blipFill>
        <p:spPr>
          <a:xfrm>
            <a:off x="6339669" y="3675988"/>
            <a:ext cx="5212080" cy="2553919"/>
          </a:xfrm>
          <a:prstGeom prst="rect">
            <a:avLst/>
          </a:prstGeom>
        </p:spPr>
      </p:pic>
      <p:sp>
        <p:nvSpPr>
          <p:cNvPr id="7" name="CasellaDiTesto 6">
            <a:extLst>
              <a:ext uri="{FF2B5EF4-FFF2-40B4-BE49-F238E27FC236}">
                <a16:creationId xmlns:a16="http://schemas.microsoft.com/office/drawing/2014/main" id="{3F5877C7-5414-45F2-D59A-0E6AC009A82B}"/>
              </a:ext>
            </a:extLst>
          </p:cNvPr>
          <p:cNvSpPr txBox="1"/>
          <p:nvPr/>
        </p:nvSpPr>
        <p:spPr>
          <a:xfrm>
            <a:off x="5217102" y="647429"/>
            <a:ext cx="636157"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sng">
                <a:latin typeface="Libre Franklin"/>
                <a:ea typeface="Libre Franklin"/>
                <a:cs typeface="Libre Franklin"/>
              </a:defRPr>
            </a:lvl1pPr>
          </a:lstStyle>
          <a:p>
            <a:r>
              <a:rPr lang="it-IT" dirty="0">
                <a:solidFill>
                  <a:schemeClr val="bg1"/>
                </a:solidFill>
                <a:sym typeface="Libre Franklin"/>
              </a:rPr>
              <a:t>10 Hz</a:t>
            </a:r>
            <a:endParaRPr lang="it-IT" dirty="0">
              <a:solidFill>
                <a:schemeClr val="bg1"/>
              </a:solidFill>
            </a:endParaRPr>
          </a:p>
        </p:txBody>
      </p:sp>
      <p:sp>
        <p:nvSpPr>
          <p:cNvPr id="8" name="CasellaDiTesto 7">
            <a:extLst>
              <a:ext uri="{FF2B5EF4-FFF2-40B4-BE49-F238E27FC236}">
                <a16:creationId xmlns:a16="http://schemas.microsoft.com/office/drawing/2014/main" id="{2952BE0C-65FB-A249-7AB4-FCC07A2E48F7}"/>
              </a:ext>
            </a:extLst>
          </p:cNvPr>
          <p:cNvSpPr txBox="1"/>
          <p:nvPr/>
        </p:nvSpPr>
        <p:spPr>
          <a:xfrm>
            <a:off x="5087924" y="3656651"/>
            <a:ext cx="765336"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sng">
                <a:latin typeface="Libre Franklin"/>
                <a:ea typeface="Libre Franklin"/>
                <a:cs typeface="Libre Franklin"/>
              </a:defRPr>
            </a:lvl1pPr>
          </a:lstStyle>
          <a:p>
            <a:r>
              <a:rPr lang="it-IT" dirty="0">
                <a:solidFill>
                  <a:schemeClr val="bg1"/>
                </a:solidFill>
                <a:sym typeface="Libre Franklin"/>
              </a:rPr>
              <a:t>250 Hz</a:t>
            </a:r>
            <a:endParaRPr lang="it-IT" dirty="0">
              <a:solidFill>
                <a:schemeClr val="bg1"/>
              </a:solidFill>
            </a:endParaRPr>
          </a:p>
        </p:txBody>
      </p:sp>
      <p:sp>
        <p:nvSpPr>
          <p:cNvPr id="9" name="CasellaDiTesto 8">
            <a:extLst>
              <a:ext uri="{FF2B5EF4-FFF2-40B4-BE49-F238E27FC236}">
                <a16:creationId xmlns:a16="http://schemas.microsoft.com/office/drawing/2014/main" id="{7D88D6D6-D018-F005-8D52-5D93FF2852D9}"/>
              </a:ext>
            </a:extLst>
          </p:cNvPr>
          <p:cNvSpPr txBox="1"/>
          <p:nvPr/>
        </p:nvSpPr>
        <p:spPr>
          <a:xfrm>
            <a:off x="10914664" y="3675988"/>
            <a:ext cx="636157"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sng">
                <a:latin typeface="Libre Franklin"/>
                <a:ea typeface="Libre Franklin"/>
                <a:cs typeface="Libre Franklin"/>
              </a:defRPr>
            </a:lvl1pPr>
          </a:lstStyle>
          <a:p>
            <a:r>
              <a:rPr lang="it-IT" dirty="0">
                <a:solidFill>
                  <a:schemeClr val="bg1"/>
                </a:solidFill>
                <a:sym typeface="Libre Franklin"/>
              </a:rPr>
              <a:t>3k Hz</a:t>
            </a:r>
            <a:endParaRPr lang="it-IT" dirty="0">
              <a:solidFill>
                <a:schemeClr val="bg1"/>
              </a:solidFill>
            </a:endParaRPr>
          </a:p>
        </p:txBody>
      </p:sp>
      <p:sp>
        <p:nvSpPr>
          <p:cNvPr id="11" name="CasellaDiTesto 10">
            <a:extLst>
              <a:ext uri="{FF2B5EF4-FFF2-40B4-BE49-F238E27FC236}">
                <a16:creationId xmlns:a16="http://schemas.microsoft.com/office/drawing/2014/main" id="{11E20541-B741-BA0F-4412-D53B840F8797}"/>
              </a:ext>
            </a:extLst>
          </p:cNvPr>
          <p:cNvSpPr txBox="1"/>
          <p:nvPr/>
        </p:nvSpPr>
        <p:spPr>
          <a:xfrm>
            <a:off x="10876327" y="647429"/>
            <a:ext cx="674494"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sng">
                <a:latin typeface="Libre Franklin"/>
                <a:ea typeface="Libre Franklin"/>
                <a:cs typeface="Libre Franklin"/>
              </a:defRPr>
            </a:lvl1pPr>
          </a:lstStyle>
          <a:p>
            <a:r>
              <a:rPr lang="it-IT" dirty="0">
                <a:solidFill>
                  <a:schemeClr val="bg1"/>
                </a:solidFill>
                <a:sym typeface="Libre Franklin"/>
              </a:rPr>
              <a:t>159 Hz</a:t>
            </a:r>
            <a:endParaRPr lang="it-IT" dirty="0">
              <a:solidFill>
                <a:schemeClr val="bg1"/>
              </a:solidFill>
            </a:endParaRPr>
          </a:p>
        </p:txBody>
      </p:sp>
    </p:spTree>
    <p:extLst>
      <p:ext uri="{BB962C8B-B14F-4D97-AF65-F5344CB8AC3E}">
        <p14:creationId xmlns:p14="http://schemas.microsoft.com/office/powerpoint/2010/main" val="488462136"/>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2" name="Google Shape;174;p20">
            <a:extLst>
              <a:ext uri="{FF2B5EF4-FFF2-40B4-BE49-F238E27FC236}">
                <a16:creationId xmlns:a16="http://schemas.microsoft.com/office/drawing/2014/main" id="{AB5742CF-5145-C84D-926C-7ADF53384A98}"/>
              </a:ext>
            </a:extLst>
          </p:cNvPr>
          <p:cNvSpPr txBox="1"/>
          <p:nvPr/>
        </p:nvSpPr>
        <p:spPr>
          <a:xfrm>
            <a:off x="1049142" y="1127656"/>
            <a:ext cx="4968834" cy="569400"/>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Analisi Sfasamento</a:t>
            </a:r>
          </a:p>
        </p:txBody>
      </p:sp>
      <p:sp>
        <p:nvSpPr>
          <p:cNvPr id="4" name="CasellaDiTesto 3">
            <a:extLst>
              <a:ext uri="{FF2B5EF4-FFF2-40B4-BE49-F238E27FC236}">
                <a16:creationId xmlns:a16="http://schemas.microsoft.com/office/drawing/2014/main" id="{A34B870D-5F8F-1170-D01D-36C4C46B847E}"/>
              </a:ext>
            </a:extLst>
          </p:cNvPr>
          <p:cNvSpPr txBox="1"/>
          <p:nvPr/>
        </p:nvSpPr>
        <p:spPr>
          <a:xfrm>
            <a:off x="1049142" y="1762132"/>
            <a:ext cx="10152258" cy="738633"/>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sng">
                <a:latin typeface="Libre Franklin"/>
                <a:ea typeface="Libre Franklin"/>
                <a:cs typeface="Libre Franklin"/>
              </a:defRPr>
            </a:lvl1pPr>
          </a:lstStyle>
          <a:p>
            <a:r>
              <a:rPr lang="it-IT" u="none" dirty="0">
                <a:sym typeface="Libre Franklin"/>
              </a:rPr>
              <a:t>Oltre all'attenuazione del segnale, il filtro passa-alto introduce uno </a:t>
            </a:r>
            <a:r>
              <a:rPr lang="it-IT" i="1" dirty="0">
                <a:sym typeface="Libre Franklin"/>
              </a:rPr>
              <a:t>sfasamento tra ingresso e uscita.</a:t>
            </a:r>
          </a:p>
          <a:p>
            <a:r>
              <a:rPr lang="it-IT" u="none" dirty="0">
                <a:sym typeface="Libre Franklin"/>
              </a:rPr>
              <a:t>Per il caso con frequenza di ingresso pari a 159 Hz, lo sfasamento può essere ricavato misurando il ritardo temporale (ΔT) tra i picchi dei segnali di ingresso e di uscita.</a:t>
            </a:r>
          </a:p>
        </p:txBody>
      </p:sp>
      <p:pic>
        <p:nvPicPr>
          <p:cNvPr id="7" name="Immagine 6">
            <a:extLst>
              <a:ext uri="{FF2B5EF4-FFF2-40B4-BE49-F238E27FC236}">
                <a16:creationId xmlns:a16="http://schemas.microsoft.com/office/drawing/2014/main" id="{1CCF8EEC-4C5A-DCB6-3A63-505124C6EA38}"/>
              </a:ext>
            </a:extLst>
          </p:cNvPr>
          <p:cNvPicPr>
            <a:picLocks noChangeAspect="1"/>
          </p:cNvPicPr>
          <p:nvPr/>
        </p:nvPicPr>
        <p:blipFill>
          <a:blip r:embed="rId3"/>
          <a:stretch>
            <a:fillRect/>
          </a:stretch>
        </p:blipFill>
        <p:spPr>
          <a:xfrm>
            <a:off x="648510" y="2726421"/>
            <a:ext cx="5444531" cy="2690356"/>
          </a:xfrm>
          <a:prstGeom prst="rect">
            <a:avLst/>
          </a:prstGeom>
        </p:spPr>
      </p:pic>
      <p:pic>
        <p:nvPicPr>
          <p:cNvPr id="8" name="Immagine 7">
            <a:extLst>
              <a:ext uri="{FF2B5EF4-FFF2-40B4-BE49-F238E27FC236}">
                <a16:creationId xmlns:a16="http://schemas.microsoft.com/office/drawing/2014/main" id="{391DDAEB-292C-3786-9A68-A3BD44AD16B3}"/>
              </a:ext>
            </a:extLst>
          </p:cNvPr>
          <p:cNvPicPr>
            <a:picLocks noChangeAspect="1"/>
          </p:cNvPicPr>
          <p:nvPr/>
        </p:nvPicPr>
        <p:blipFill>
          <a:blip r:embed="rId4"/>
          <a:stretch>
            <a:fillRect/>
          </a:stretch>
        </p:blipFill>
        <p:spPr>
          <a:xfrm>
            <a:off x="6093041" y="2726421"/>
            <a:ext cx="5461808" cy="269035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A2A446F6-D8DC-C2D1-EA1B-DC25E67B8A35}"/>
              </a:ext>
            </a:extLst>
          </p:cNvPr>
          <p:cNvPicPr>
            <a:picLocks noChangeAspect="1"/>
          </p:cNvPicPr>
          <p:nvPr/>
        </p:nvPicPr>
        <p:blipFill>
          <a:blip r:embed="rId2"/>
          <a:stretch>
            <a:fillRect/>
          </a:stretch>
        </p:blipFill>
        <p:spPr>
          <a:xfrm>
            <a:off x="644537" y="637290"/>
            <a:ext cx="5649643" cy="2791710"/>
          </a:xfrm>
          <a:prstGeom prst="rect">
            <a:avLst/>
          </a:prstGeom>
        </p:spPr>
      </p:pic>
      <p:pic>
        <p:nvPicPr>
          <p:cNvPr id="3" name="Immagine 2">
            <a:extLst>
              <a:ext uri="{FF2B5EF4-FFF2-40B4-BE49-F238E27FC236}">
                <a16:creationId xmlns:a16="http://schemas.microsoft.com/office/drawing/2014/main" id="{B824D55F-AFEF-002C-0BCE-242B13810E34}"/>
              </a:ext>
            </a:extLst>
          </p:cNvPr>
          <p:cNvPicPr>
            <a:picLocks noChangeAspect="1"/>
          </p:cNvPicPr>
          <p:nvPr/>
        </p:nvPicPr>
        <p:blipFill>
          <a:blip r:embed="rId3"/>
          <a:stretch>
            <a:fillRect/>
          </a:stretch>
        </p:blipFill>
        <p:spPr>
          <a:xfrm>
            <a:off x="5871485" y="3429001"/>
            <a:ext cx="5667571" cy="2791710"/>
          </a:xfrm>
          <a:prstGeom prst="rect">
            <a:avLst/>
          </a:prstGeom>
        </p:spPr>
      </p:pic>
      <p:sp>
        <p:nvSpPr>
          <p:cNvPr id="4" name="Ovale 3">
            <a:extLst>
              <a:ext uri="{FF2B5EF4-FFF2-40B4-BE49-F238E27FC236}">
                <a16:creationId xmlns:a16="http://schemas.microsoft.com/office/drawing/2014/main" id="{7CB4B310-4AD8-6A2F-B7F7-387BC5F2BDB2}"/>
              </a:ext>
            </a:extLst>
          </p:cNvPr>
          <p:cNvSpPr/>
          <p:nvPr/>
        </p:nvSpPr>
        <p:spPr>
          <a:xfrm>
            <a:off x="2852767" y="637289"/>
            <a:ext cx="1233182" cy="1149291"/>
          </a:xfrm>
          <a:prstGeom prst="ellipse">
            <a:avLst/>
          </a:prstGeom>
          <a:noFill/>
          <a:ln>
            <a:solidFill>
              <a:srgbClr val="3134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5" name="Immagine 4">
            <a:extLst>
              <a:ext uri="{FF2B5EF4-FFF2-40B4-BE49-F238E27FC236}">
                <a16:creationId xmlns:a16="http://schemas.microsoft.com/office/drawing/2014/main" id="{367903DE-989C-874E-D552-53A096B2CB21}"/>
              </a:ext>
            </a:extLst>
          </p:cNvPr>
          <p:cNvPicPr>
            <a:picLocks noChangeAspect="1"/>
          </p:cNvPicPr>
          <p:nvPr/>
        </p:nvPicPr>
        <p:blipFill>
          <a:blip r:embed="rId3"/>
          <a:srcRect l="18118" t="37569" r="70572" b="46276"/>
          <a:stretch>
            <a:fillRect/>
          </a:stretch>
        </p:blipFill>
        <p:spPr>
          <a:xfrm>
            <a:off x="1856755" y="3673771"/>
            <a:ext cx="3222780" cy="2267415"/>
          </a:xfrm>
          <a:prstGeom prst="rect">
            <a:avLst/>
          </a:prstGeom>
        </p:spPr>
      </p:pic>
      <p:pic>
        <p:nvPicPr>
          <p:cNvPr id="6" name="Immagine 5">
            <a:extLst>
              <a:ext uri="{FF2B5EF4-FFF2-40B4-BE49-F238E27FC236}">
                <a16:creationId xmlns:a16="http://schemas.microsoft.com/office/drawing/2014/main" id="{4F66E4D1-8513-5906-AF1B-4246A58EACD0}"/>
              </a:ext>
            </a:extLst>
          </p:cNvPr>
          <p:cNvPicPr>
            <a:picLocks noChangeAspect="1"/>
          </p:cNvPicPr>
          <p:nvPr/>
        </p:nvPicPr>
        <p:blipFill>
          <a:blip r:embed="rId2"/>
          <a:srcRect l="44322" t="12854" r="44322" b="71272"/>
          <a:stretch>
            <a:fillRect/>
          </a:stretch>
        </p:blipFill>
        <p:spPr>
          <a:xfrm>
            <a:off x="7064078" y="899437"/>
            <a:ext cx="3282384" cy="2267415"/>
          </a:xfrm>
          <a:prstGeom prst="rect">
            <a:avLst/>
          </a:prstGeom>
        </p:spPr>
      </p:pic>
      <p:sp>
        <p:nvSpPr>
          <p:cNvPr id="7" name="Ovale 6">
            <a:extLst>
              <a:ext uri="{FF2B5EF4-FFF2-40B4-BE49-F238E27FC236}">
                <a16:creationId xmlns:a16="http://schemas.microsoft.com/office/drawing/2014/main" id="{BF0AEDB7-FC80-4924-E06C-A07C11C61416}"/>
              </a:ext>
            </a:extLst>
          </p:cNvPr>
          <p:cNvSpPr/>
          <p:nvPr/>
        </p:nvSpPr>
        <p:spPr>
          <a:xfrm>
            <a:off x="6619424" y="4139692"/>
            <a:ext cx="1233182" cy="1149291"/>
          </a:xfrm>
          <a:prstGeom prst="ellipse">
            <a:avLst/>
          </a:prstGeom>
          <a:noFill/>
          <a:ln>
            <a:solidFill>
              <a:srgbClr val="37FF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9" name="Connettore 2 8">
            <a:extLst>
              <a:ext uri="{FF2B5EF4-FFF2-40B4-BE49-F238E27FC236}">
                <a16:creationId xmlns:a16="http://schemas.microsoft.com/office/drawing/2014/main" id="{375B97D7-5CF4-88E7-157F-BA5E42CD42D1}"/>
              </a:ext>
            </a:extLst>
          </p:cNvPr>
          <p:cNvCxnSpPr>
            <a:cxnSpLocks/>
            <a:stCxn id="7" idx="2"/>
            <a:endCxn id="5" idx="3"/>
          </p:cNvCxnSpPr>
          <p:nvPr/>
        </p:nvCxnSpPr>
        <p:spPr>
          <a:xfrm flipH="1">
            <a:off x="5079535" y="4714338"/>
            <a:ext cx="1539889" cy="93141"/>
          </a:xfrm>
          <a:prstGeom prst="straightConnector1">
            <a:avLst/>
          </a:prstGeom>
          <a:ln>
            <a:solidFill>
              <a:srgbClr val="37FF3A"/>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nettore 2 12">
            <a:extLst>
              <a:ext uri="{FF2B5EF4-FFF2-40B4-BE49-F238E27FC236}">
                <a16:creationId xmlns:a16="http://schemas.microsoft.com/office/drawing/2014/main" id="{BBC6DC13-DCAA-8A00-8CFC-34641A45FD19}"/>
              </a:ext>
            </a:extLst>
          </p:cNvPr>
          <p:cNvCxnSpPr>
            <a:cxnSpLocks/>
            <a:endCxn id="6" idx="1"/>
          </p:cNvCxnSpPr>
          <p:nvPr/>
        </p:nvCxnSpPr>
        <p:spPr>
          <a:xfrm>
            <a:off x="4085949" y="1233182"/>
            <a:ext cx="2978129" cy="799963"/>
          </a:xfrm>
          <a:prstGeom prst="straightConnector1">
            <a:avLst/>
          </a:prstGeom>
          <a:ln>
            <a:solidFill>
              <a:srgbClr val="3134FF"/>
            </a:solidFill>
            <a:tailEnd type="triangle"/>
          </a:ln>
        </p:spPr>
        <p:style>
          <a:lnRef idx="1">
            <a:schemeClr val="accent1"/>
          </a:lnRef>
          <a:fillRef idx="0">
            <a:schemeClr val="accent1"/>
          </a:fillRef>
          <a:effectRef idx="0">
            <a:schemeClr val="accent1"/>
          </a:effectRef>
          <a:fontRef idx="minor">
            <a:schemeClr val="tx1"/>
          </a:fontRef>
        </p:style>
      </p:cxnSp>
      <p:sp>
        <p:nvSpPr>
          <p:cNvPr id="18" name="CasellaDiTesto 17">
            <a:extLst>
              <a:ext uri="{FF2B5EF4-FFF2-40B4-BE49-F238E27FC236}">
                <a16:creationId xmlns:a16="http://schemas.microsoft.com/office/drawing/2014/main" id="{FCAF2104-C230-53E9-7B4C-486596825541}"/>
              </a:ext>
            </a:extLst>
          </p:cNvPr>
          <p:cNvSpPr txBox="1"/>
          <p:nvPr/>
        </p:nvSpPr>
        <p:spPr>
          <a:xfrm>
            <a:off x="5079535" y="973203"/>
            <a:ext cx="6115574" cy="369332"/>
          </a:xfrm>
          <a:prstGeom prst="rect">
            <a:avLst/>
          </a:prstGeom>
          <a:noFill/>
        </p:spPr>
        <p:txBody>
          <a:bodyPr wrap="square">
            <a:spAutoFit/>
          </a:bodyPr>
          <a:lstStyle/>
          <a:p>
            <a:r>
              <a:rPr lang="it-IT" b="1" i="1" dirty="0">
                <a:solidFill>
                  <a:srgbClr val="3134FF"/>
                </a:solidFill>
                <a:sym typeface="Libre Franklin"/>
              </a:rPr>
              <a:t>ingresso</a:t>
            </a:r>
            <a:endParaRPr lang="it-IT" b="1" dirty="0"/>
          </a:p>
        </p:txBody>
      </p:sp>
      <p:sp>
        <p:nvSpPr>
          <p:cNvPr id="20" name="CasellaDiTesto 19">
            <a:extLst>
              <a:ext uri="{FF2B5EF4-FFF2-40B4-BE49-F238E27FC236}">
                <a16:creationId xmlns:a16="http://schemas.microsoft.com/office/drawing/2014/main" id="{12C42E74-DC19-90DA-A598-335EEEEB4377}"/>
              </a:ext>
            </a:extLst>
          </p:cNvPr>
          <p:cNvSpPr txBox="1"/>
          <p:nvPr/>
        </p:nvSpPr>
        <p:spPr>
          <a:xfrm>
            <a:off x="6035879" y="5756520"/>
            <a:ext cx="6115574" cy="369332"/>
          </a:xfrm>
          <a:prstGeom prst="rect">
            <a:avLst/>
          </a:prstGeom>
          <a:noFill/>
        </p:spPr>
        <p:txBody>
          <a:bodyPr wrap="square">
            <a:spAutoFit/>
          </a:bodyPr>
          <a:lstStyle/>
          <a:p>
            <a:r>
              <a:rPr lang="it-IT" b="1" i="1" dirty="0">
                <a:solidFill>
                  <a:srgbClr val="37FF3A"/>
                </a:solidFill>
                <a:sym typeface="Libre Franklin"/>
              </a:rPr>
              <a:t>uscita</a:t>
            </a:r>
            <a:endParaRPr lang="it-IT" b="1" dirty="0"/>
          </a:p>
        </p:txBody>
      </p:sp>
    </p:spTree>
    <p:extLst>
      <p:ext uri="{BB962C8B-B14F-4D97-AF65-F5344CB8AC3E}">
        <p14:creationId xmlns:p14="http://schemas.microsoft.com/office/powerpoint/2010/main" val="39665096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2"/>
          <p:cNvSpPr txBox="1"/>
          <p:nvPr/>
        </p:nvSpPr>
        <p:spPr>
          <a:xfrm>
            <a:off x="1054250" y="1634641"/>
            <a:ext cx="3777017"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none">
                <a:latin typeface="Libre Franklin"/>
                <a:ea typeface="Libre Franklin"/>
                <a:cs typeface="Libre Franklin"/>
              </a:defRPr>
            </a:lvl1pPr>
          </a:lstStyle>
          <a:p>
            <a:r>
              <a:rPr lang="it-IT" dirty="0">
                <a:sym typeface="Libre Franklin"/>
              </a:rPr>
              <a:t>Lo sfasamento è calcolato mediante la relazione:</a:t>
            </a:r>
            <a:endParaRPr dirty="0">
              <a:sym typeface="Libre Franklin"/>
            </a:endParaRPr>
          </a:p>
        </p:txBody>
      </p:sp>
      <p:sp>
        <p:nvSpPr>
          <p:cNvPr id="196" name="Google Shape;196;p22"/>
          <p:cNvSpPr txBox="1"/>
          <p:nvPr/>
        </p:nvSpPr>
        <p:spPr>
          <a:xfrm>
            <a:off x="7084969" y="1634641"/>
            <a:ext cx="4156280"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none">
                <a:latin typeface="Libre Franklin"/>
                <a:ea typeface="Libre Franklin"/>
                <a:cs typeface="Libre Franklin"/>
              </a:defRPr>
            </a:lvl1pPr>
          </a:lstStyle>
          <a:p>
            <a:r>
              <a:rPr lang="it-IT" dirty="0">
                <a:sym typeface="Libre Franklin"/>
              </a:rPr>
              <a:t>dove “T” è il periodo del segnale.</a:t>
            </a:r>
            <a:endParaRPr dirty="0">
              <a:sym typeface="Libre Franklin"/>
            </a:endParaRPr>
          </a:p>
        </p:txBody>
      </p:sp>
      <p:sp>
        <p:nvSpPr>
          <p:cNvPr id="197" name="Google Shape;197;p22"/>
          <p:cNvSpPr txBox="1"/>
          <p:nvPr/>
        </p:nvSpPr>
        <p:spPr>
          <a:xfrm>
            <a:off x="1054250" y="2556005"/>
            <a:ext cx="5608800"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none">
                <a:latin typeface="Libre Franklin"/>
                <a:ea typeface="Libre Franklin"/>
                <a:cs typeface="Libre Franklin"/>
              </a:defRPr>
            </a:lvl1pPr>
          </a:lstStyle>
          <a:p>
            <a:r>
              <a:rPr lang="it-IT" dirty="0">
                <a:sym typeface="Libre Franklin"/>
              </a:rPr>
              <a:t>Applicando la formula ai valori misurati dalla simulazione si ottiene:</a:t>
            </a:r>
            <a:endParaRPr dirty="0">
              <a:sym typeface="Libre Franklin"/>
            </a:endParaRPr>
          </a:p>
        </p:txBody>
      </p:sp>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8A2DFD4E-2E42-411D-B7C7-DEC7E2DAC487}"/>
                  </a:ext>
                </a:extLst>
              </p:cNvPr>
              <p:cNvSpPr txBox="1"/>
              <p:nvPr/>
            </p:nvSpPr>
            <p:spPr>
              <a:xfrm>
                <a:off x="5106934" y="1642220"/>
                <a:ext cx="1297887" cy="345672"/>
              </a:xfrm>
              <a:prstGeom prst="rect">
                <a:avLst/>
              </a:prstGeom>
              <a:noFill/>
              <a:ln w="9525">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200" i="1" smtClean="0">
                          <a:latin typeface="Cambria Math" panose="02040503050406030204" pitchFamily="18" charset="0"/>
                        </a:rPr>
                        <m:t>𝜑</m:t>
                      </m:r>
                      <m:r>
                        <a:rPr lang="it-IT" sz="1200" i="0">
                          <a:latin typeface="Cambria Math" panose="02040503050406030204" pitchFamily="18" charset="0"/>
                        </a:rPr>
                        <m:t>=360°⋅</m:t>
                      </m:r>
                      <m:f>
                        <m:fPr>
                          <m:ctrlPr>
                            <a:rPr lang="it-IT" sz="1200" i="1">
                              <a:latin typeface="Cambria Math" panose="02040503050406030204" pitchFamily="18" charset="0"/>
                            </a:rPr>
                          </m:ctrlPr>
                        </m:fPr>
                        <m:num>
                          <m:r>
                            <m:rPr>
                              <m:sty m:val="p"/>
                            </m:rPr>
                            <a:rPr lang="it-IT" sz="1200" i="0">
                              <a:latin typeface="Cambria Math" panose="02040503050406030204" pitchFamily="18" charset="0"/>
                            </a:rPr>
                            <m:t>Δ</m:t>
                          </m:r>
                          <m:r>
                            <a:rPr lang="it-IT" sz="1200" i="1">
                              <a:latin typeface="Cambria Math" panose="02040503050406030204" pitchFamily="18" charset="0"/>
                            </a:rPr>
                            <m:t>𝑡</m:t>
                          </m:r>
                        </m:num>
                        <m:den>
                          <m:r>
                            <a:rPr lang="it-IT" sz="1200" i="1">
                              <a:latin typeface="Cambria Math" panose="02040503050406030204" pitchFamily="18" charset="0"/>
                            </a:rPr>
                            <m:t>𝑇</m:t>
                          </m:r>
                        </m:den>
                      </m:f>
                    </m:oMath>
                  </m:oMathPara>
                </a14:m>
                <a:endParaRPr lang="it-IT" sz="1200" dirty="0"/>
              </a:p>
            </p:txBody>
          </p:sp>
        </mc:Choice>
        <mc:Fallback xmlns="">
          <p:sp>
            <p:nvSpPr>
              <p:cNvPr id="3" name="CasellaDiTesto 2">
                <a:extLst>
                  <a:ext uri="{FF2B5EF4-FFF2-40B4-BE49-F238E27FC236}">
                    <a16:creationId xmlns:a16="http://schemas.microsoft.com/office/drawing/2014/main" id="{8A2DFD4E-2E42-411D-B7C7-DEC7E2DAC487}"/>
                  </a:ext>
                </a:extLst>
              </p:cNvPr>
              <p:cNvSpPr txBox="1">
                <a:spLocks noRot="1" noChangeAspect="1" noMove="1" noResize="1" noEditPoints="1" noAdjustHandles="1" noChangeArrowheads="1" noChangeShapeType="1" noTextEdit="1"/>
              </p:cNvSpPr>
              <p:nvPr/>
            </p:nvSpPr>
            <p:spPr>
              <a:xfrm>
                <a:off x="5106934" y="1642220"/>
                <a:ext cx="1297887" cy="345672"/>
              </a:xfrm>
              <a:prstGeom prst="rect">
                <a:avLst/>
              </a:prstGeom>
              <a:blipFill>
                <a:blip r:embed="rId3"/>
                <a:stretch>
                  <a:fillRect b="-11864"/>
                </a:stretch>
              </a:blipFill>
              <a:ln w="9525">
                <a:solidFill>
                  <a:schemeClr val="tx1"/>
                </a:solid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43B17D21-8DD9-0FB3-2690-5B7FDC1F6F2C}"/>
                  </a:ext>
                </a:extLst>
              </p:cNvPr>
              <p:cNvSpPr txBox="1"/>
              <p:nvPr/>
            </p:nvSpPr>
            <p:spPr>
              <a:xfrm>
                <a:off x="1373976" y="3243059"/>
                <a:ext cx="4900252" cy="5204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it-IT" b="0" i="0" smtClean="0">
                          <a:latin typeface="Cambria Math" panose="02040503050406030204" pitchFamily="18" charset="0"/>
                        </a:rPr>
                        <m:t>f</m:t>
                      </m:r>
                      <m:r>
                        <a:rPr lang="it-IT" b="0" i="0" smtClean="0">
                          <a:latin typeface="Cambria Math" panose="02040503050406030204" pitchFamily="18" charset="0"/>
                        </a:rPr>
                        <m:t>=159</m:t>
                      </m:r>
                      <m:r>
                        <m:rPr>
                          <m:sty m:val="p"/>
                        </m:rPr>
                        <a:rPr lang="it-IT" b="0" i="0" smtClean="0">
                          <a:latin typeface="Cambria Math" panose="02040503050406030204" pitchFamily="18" charset="0"/>
                        </a:rPr>
                        <m:t>Hz</m:t>
                      </m:r>
                      <m:r>
                        <a:rPr lang="it-IT" b="0" i="0" smtClean="0">
                          <a:latin typeface="Cambria Math" panose="02040503050406030204" pitchFamily="18" charset="0"/>
                        </a:rPr>
                        <m:t> →</m:t>
                      </m:r>
                      <m:r>
                        <m:rPr>
                          <m:sty m:val="p"/>
                        </m:rPr>
                        <a:rPr lang="it-IT" b="0" i="0" smtClean="0">
                          <a:latin typeface="Cambria Math" panose="02040503050406030204" pitchFamily="18" charset="0"/>
                        </a:rPr>
                        <m:t>T</m:t>
                      </m:r>
                      <m:r>
                        <a:rPr lang="it-IT" b="0" i="0" smtClean="0">
                          <a:latin typeface="Cambria Math" panose="02040503050406030204" pitchFamily="18" charset="0"/>
                        </a:rPr>
                        <m:t>=</m:t>
                      </m:r>
                      <m:f>
                        <m:fPr>
                          <m:ctrlPr>
                            <a:rPr lang="it-IT" i="1" smtClean="0">
                              <a:latin typeface="Cambria Math" panose="02040503050406030204" pitchFamily="18" charset="0"/>
                            </a:rPr>
                          </m:ctrlPr>
                        </m:fPr>
                        <m:num>
                          <m:r>
                            <a:rPr lang="it-IT">
                              <a:latin typeface="Cambria Math" panose="02040503050406030204" pitchFamily="18" charset="0"/>
                            </a:rPr>
                            <m:t>1</m:t>
                          </m:r>
                        </m:num>
                        <m:den>
                          <m:r>
                            <a:rPr lang="it-IT" i="0">
                              <a:latin typeface="Cambria Math" panose="02040503050406030204" pitchFamily="18" charset="0"/>
                            </a:rPr>
                            <m:t>159</m:t>
                          </m:r>
                        </m:den>
                      </m:f>
                      <m:r>
                        <a:rPr lang="it-IT" b="0" i="1" smtClean="0">
                          <a:latin typeface="Cambria Math" panose="02040503050406030204" pitchFamily="18" charset="0"/>
                        </a:rPr>
                        <m:t> </m:t>
                      </m:r>
                      <m:r>
                        <a:rPr lang="it-IT" b="0" i="1" smtClean="0">
                          <a:latin typeface="Cambria Math" panose="02040503050406030204" pitchFamily="18" charset="0"/>
                          <a:ea typeface="Cambria Math" panose="02040503050406030204" pitchFamily="18" charset="0"/>
                        </a:rPr>
                        <m:t>≈0.006289 </m:t>
                      </m:r>
                      <m:r>
                        <a:rPr lang="it-IT" b="0" i="1" smtClean="0">
                          <a:latin typeface="Cambria Math" panose="02040503050406030204" pitchFamily="18" charset="0"/>
                          <a:ea typeface="Cambria Math" panose="02040503050406030204" pitchFamily="18" charset="0"/>
                        </a:rPr>
                        <m:t>𝑠</m:t>
                      </m:r>
                      <m:r>
                        <a:rPr lang="it-IT" b="0" i="1" smtClean="0">
                          <a:latin typeface="Cambria Math" panose="02040503050406030204" pitchFamily="18" charset="0"/>
                          <a:ea typeface="Cambria Math" panose="02040503050406030204" pitchFamily="18" charset="0"/>
                        </a:rPr>
                        <m:t>=6,289</m:t>
                      </m:r>
                      <m:r>
                        <a:rPr lang="it-IT" b="0" i="1" smtClean="0">
                          <a:latin typeface="Cambria Math" panose="02040503050406030204" pitchFamily="18" charset="0"/>
                          <a:ea typeface="Cambria Math" panose="02040503050406030204" pitchFamily="18" charset="0"/>
                        </a:rPr>
                        <m:t>𝑚𝑠</m:t>
                      </m:r>
                    </m:oMath>
                  </m:oMathPara>
                </a14:m>
                <a:endParaRPr lang="it-IT" dirty="0"/>
              </a:p>
            </p:txBody>
          </p:sp>
        </mc:Choice>
        <mc:Fallback xmlns="">
          <p:sp>
            <p:nvSpPr>
              <p:cNvPr id="4" name="CasellaDiTesto 3">
                <a:extLst>
                  <a:ext uri="{FF2B5EF4-FFF2-40B4-BE49-F238E27FC236}">
                    <a16:creationId xmlns:a16="http://schemas.microsoft.com/office/drawing/2014/main" id="{43B17D21-8DD9-0FB3-2690-5B7FDC1F6F2C}"/>
                  </a:ext>
                </a:extLst>
              </p:cNvPr>
              <p:cNvSpPr txBox="1">
                <a:spLocks noRot="1" noChangeAspect="1" noMove="1" noResize="1" noEditPoints="1" noAdjustHandles="1" noChangeArrowheads="1" noChangeShapeType="1" noTextEdit="1"/>
              </p:cNvSpPr>
              <p:nvPr/>
            </p:nvSpPr>
            <p:spPr>
              <a:xfrm>
                <a:off x="1373976" y="3243059"/>
                <a:ext cx="4900252" cy="520463"/>
              </a:xfrm>
              <a:prstGeom prst="rect">
                <a:avLst/>
              </a:prstGeom>
              <a:blipFill>
                <a:blip r:embed="rId4"/>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F057BBD3-A715-D7E5-CE80-BA3D3B4B121F}"/>
                  </a:ext>
                </a:extLst>
              </p:cNvPr>
              <p:cNvSpPr txBox="1"/>
              <p:nvPr/>
            </p:nvSpPr>
            <p:spPr>
              <a:xfrm>
                <a:off x="1373976" y="3747233"/>
                <a:ext cx="198047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𝑡</m:t>
                          </m:r>
                        </m:e>
                        <m:sub>
                          <m:r>
                            <a:rPr lang="it-IT" b="0" i="1" smtClean="0">
                              <a:latin typeface="Cambria Math" panose="02040503050406030204" pitchFamily="18" charset="0"/>
                            </a:rPr>
                            <m:t>1</m:t>
                          </m:r>
                        </m:sub>
                      </m:sSub>
                      <m:r>
                        <a:rPr lang="it-IT" b="0" i="1" smtClean="0">
                          <a:latin typeface="Cambria Math" panose="02040503050406030204" pitchFamily="18" charset="0"/>
                        </a:rPr>
                        <m:t>=1.5817236 </m:t>
                      </m:r>
                      <m:r>
                        <a:rPr lang="it-IT" b="0" i="1" smtClean="0">
                          <a:latin typeface="Cambria Math" panose="02040503050406030204" pitchFamily="18" charset="0"/>
                        </a:rPr>
                        <m:t>𝑚𝑠</m:t>
                      </m:r>
                    </m:oMath>
                  </m:oMathPara>
                </a14:m>
                <a:endParaRPr lang="it-IT" dirty="0"/>
              </a:p>
            </p:txBody>
          </p:sp>
        </mc:Choice>
        <mc:Fallback xmlns="">
          <p:sp>
            <p:nvSpPr>
              <p:cNvPr id="5" name="CasellaDiTesto 4">
                <a:extLst>
                  <a:ext uri="{FF2B5EF4-FFF2-40B4-BE49-F238E27FC236}">
                    <a16:creationId xmlns:a16="http://schemas.microsoft.com/office/drawing/2014/main" id="{F057BBD3-A715-D7E5-CE80-BA3D3B4B121F}"/>
                  </a:ext>
                </a:extLst>
              </p:cNvPr>
              <p:cNvSpPr txBox="1">
                <a:spLocks noRot="1" noChangeAspect="1" noMove="1" noResize="1" noEditPoints="1" noAdjustHandles="1" noChangeArrowheads="1" noChangeShapeType="1" noTextEdit="1"/>
              </p:cNvSpPr>
              <p:nvPr/>
            </p:nvSpPr>
            <p:spPr>
              <a:xfrm>
                <a:off x="1373976" y="3747233"/>
                <a:ext cx="1980479" cy="276999"/>
              </a:xfrm>
              <a:prstGeom prst="rect">
                <a:avLst/>
              </a:prstGeom>
              <a:blipFill>
                <a:blip r:embed="rId5"/>
                <a:stretch>
                  <a:fillRect l="-1846" r="-1231" b="-1555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0114E6A7-7888-1B4E-9396-CD0B98159348}"/>
                  </a:ext>
                </a:extLst>
              </p:cNvPr>
              <p:cNvSpPr txBox="1"/>
              <p:nvPr/>
            </p:nvSpPr>
            <p:spPr>
              <a:xfrm>
                <a:off x="1373976" y="4097572"/>
                <a:ext cx="377949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𝑡</m:t>
                          </m:r>
                        </m:e>
                        <m:sub>
                          <m:r>
                            <a:rPr lang="it-IT" b="0" i="1" smtClean="0">
                              <a:latin typeface="Cambria Math" panose="02040503050406030204" pitchFamily="18" charset="0"/>
                            </a:rPr>
                            <m:t>2</m:t>
                          </m:r>
                        </m:sub>
                      </m:sSub>
                      <m:r>
                        <a:rPr lang="it-IT" b="0" i="1" smtClean="0">
                          <a:latin typeface="Cambria Math" panose="02040503050406030204" pitchFamily="18" charset="0"/>
                        </a:rPr>
                        <m:t>=784.97866 </m:t>
                      </m:r>
                      <m:r>
                        <a:rPr lang="it-IT" b="0" i="1" smtClean="0">
                          <a:latin typeface="Cambria Math" panose="02040503050406030204" pitchFamily="18" charset="0"/>
                          <a:ea typeface="Cambria Math" panose="02040503050406030204" pitchFamily="18" charset="0"/>
                        </a:rPr>
                        <m:t>𝜇</m:t>
                      </m:r>
                      <m:r>
                        <a:rPr lang="it-IT" b="0" i="1" smtClean="0">
                          <a:latin typeface="Cambria Math" panose="02040503050406030204" pitchFamily="18" charset="0"/>
                        </a:rPr>
                        <m:t>𝑠</m:t>
                      </m:r>
                      <m:r>
                        <a:rPr lang="it-IT" b="0" i="1" smtClean="0">
                          <a:latin typeface="Cambria Math" panose="02040503050406030204" pitchFamily="18" charset="0"/>
                        </a:rPr>
                        <m:t>=0.78497866 </m:t>
                      </m:r>
                      <m:r>
                        <a:rPr lang="it-IT" b="0" i="1" smtClean="0">
                          <a:latin typeface="Cambria Math" panose="02040503050406030204" pitchFamily="18" charset="0"/>
                        </a:rPr>
                        <m:t>𝑚𝑠</m:t>
                      </m:r>
                    </m:oMath>
                  </m:oMathPara>
                </a14:m>
                <a:endParaRPr lang="it-IT" dirty="0"/>
              </a:p>
            </p:txBody>
          </p:sp>
        </mc:Choice>
        <mc:Fallback xmlns="">
          <p:sp>
            <p:nvSpPr>
              <p:cNvPr id="6" name="CasellaDiTesto 5">
                <a:extLst>
                  <a:ext uri="{FF2B5EF4-FFF2-40B4-BE49-F238E27FC236}">
                    <a16:creationId xmlns:a16="http://schemas.microsoft.com/office/drawing/2014/main" id="{0114E6A7-7888-1B4E-9396-CD0B98159348}"/>
                  </a:ext>
                </a:extLst>
              </p:cNvPr>
              <p:cNvSpPr txBox="1">
                <a:spLocks noRot="1" noChangeAspect="1" noMove="1" noResize="1" noEditPoints="1" noAdjustHandles="1" noChangeArrowheads="1" noChangeShapeType="1" noTextEdit="1"/>
              </p:cNvSpPr>
              <p:nvPr/>
            </p:nvSpPr>
            <p:spPr>
              <a:xfrm>
                <a:off x="1373976" y="4097572"/>
                <a:ext cx="3779496" cy="276999"/>
              </a:xfrm>
              <a:prstGeom prst="rect">
                <a:avLst/>
              </a:prstGeom>
              <a:blipFill>
                <a:blip r:embed="rId6"/>
                <a:stretch>
                  <a:fillRect l="-645" r="-323" b="-21739"/>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D566BCD8-3BE6-70A2-DD26-1316DFA5E3B3}"/>
                  </a:ext>
                </a:extLst>
              </p:cNvPr>
              <p:cNvSpPr txBox="1"/>
              <p:nvPr/>
            </p:nvSpPr>
            <p:spPr>
              <a:xfrm>
                <a:off x="6748942" y="3380646"/>
                <a:ext cx="365080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ea typeface="Cambria Math" panose="02040503050406030204" pitchFamily="18" charset="0"/>
                        </a:rPr>
                        <m:t>∆</m:t>
                      </m:r>
                      <m:r>
                        <a:rPr lang="it-IT" b="0" i="1" smtClean="0">
                          <a:latin typeface="Cambria Math" panose="02040503050406030204" pitchFamily="18" charset="0"/>
                          <a:ea typeface="Cambria Math" panose="02040503050406030204" pitchFamily="18" charset="0"/>
                        </a:rPr>
                        <m:t>𝑡</m:t>
                      </m:r>
                      <m:r>
                        <a:rPr lang="it-IT" b="0" i="1" smtClean="0">
                          <a:latin typeface="Cambria Math" panose="02040503050406030204" pitchFamily="18" charset="0"/>
                        </a:rPr>
                        <m:t>=|1.5817236−0.78497866| </m:t>
                      </m:r>
                      <m:r>
                        <a:rPr lang="it-IT" b="0" i="1" smtClean="0">
                          <a:latin typeface="Cambria Math" panose="02040503050406030204" pitchFamily="18" charset="0"/>
                        </a:rPr>
                        <m:t>𝑚𝑠</m:t>
                      </m:r>
                    </m:oMath>
                  </m:oMathPara>
                </a14:m>
                <a:endParaRPr lang="it-IT" dirty="0"/>
              </a:p>
            </p:txBody>
          </p:sp>
        </mc:Choice>
        <mc:Fallback xmlns="">
          <p:sp>
            <p:nvSpPr>
              <p:cNvPr id="7" name="CasellaDiTesto 6">
                <a:extLst>
                  <a:ext uri="{FF2B5EF4-FFF2-40B4-BE49-F238E27FC236}">
                    <a16:creationId xmlns:a16="http://schemas.microsoft.com/office/drawing/2014/main" id="{D566BCD8-3BE6-70A2-DD26-1316DFA5E3B3}"/>
                  </a:ext>
                </a:extLst>
              </p:cNvPr>
              <p:cNvSpPr txBox="1">
                <a:spLocks noRot="1" noChangeAspect="1" noMove="1" noResize="1" noEditPoints="1" noAdjustHandles="1" noChangeArrowheads="1" noChangeShapeType="1" noTextEdit="1"/>
              </p:cNvSpPr>
              <p:nvPr/>
            </p:nvSpPr>
            <p:spPr>
              <a:xfrm>
                <a:off x="6748942" y="3380646"/>
                <a:ext cx="3650808" cy="276999"/>
              </a:xfrm>
              <a:prstGeom prst="rect">
                <a:avLst/>
              </a:prstGeom>
              <a:blipFill>
                <a:blip r:embed="rId7"/>
                <a:stretch>
                  <a:fillRect l="-1002" t="-4444" r="-334" b="-3555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CasellaDiTesto 7">
                <a:extLst>
                  <a:ext uri="{FF2B5EF4-FFF2-40B4-BE49-F238E27FC236}">
                    <a16:creationId xmlns:a16="http://schemas.microsoft.com/office/drawing/2014/main" id="{62986D26-E063-8788-0D93-BD94B8CB6270}"/>
                  </a:ext>
                </a:extLst>
              </p:cNvPr>
              <p:cNvSpPr txBox="1"/>
              <p:nvPr/>
            </p:nvSpPr>
            <p:spPr>
              <a:xfrm>
                <a:off x="6748942" y="3743982"/>
                <a:ext cx="215360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ea typeface="Cambria Math" panose="02040503050406030204" pitchFamily="18" charset="0"/>
                        </a:rPr>
                        <m:t>∆</m:t>
                      </m:r>
                      <m:r>
                        <a:rPr lang="it-IT" b="0" i="1" smtClean="0">
                          <a:latin typeface="Cambria Math" panose="02040503050406030204" pitchFamily="18" charset="0"/>
                          <a:ea typeface="Cambria Math" panose="02040503050406030204" pitchFamily="18" charset="0"/>
                        </a:rPr>
                        <m:t>𝑡</m:t>
                      </m:r>
                      <m:r>
                        <a:rPr lang="it-IT" b="0" i="1" smtClean="0">
                          <a:latin typeface="Cambria Math" panose="02040503050406030204" pitchFamily="18" charset="0"/>
                        </a:rPr>
                        <m:t>=0.79674494 </m:t>
                      </m:r>
                      <m:r>
                        <a:rPr lang="it-IT" b="0" i="1" smtClean="0">
                          <a:latin typeface="Cambria Math" panose="02040503050406030204" pitchFamily="18" charset="0"/>
                        </a:rPr>
                        <m:t>𝑚𝑠</m:t>
                      </m:r>
                    </m:oMath>
                  </m:oMathPara>
                </a14:m>
                <a:endParaRPr lang="it-IT" dirty="0"/>
              </a:p>
            </p:txBody>
          </p:sp>
        </mc:Choice>
        <mc:Fallback xmlns="">
          <p:sp>
            <p:nvSpPr>
              <p:cNvPr id="8" name="CasellaDiTesto 7">
                <a:extLst>
                  <a:ext uri="{FF2B5EF4-FFF2-40B4-BE49-F238E27FC236}">
                    <a16:creationId xmlns:a16="http://schemas.microsoft.com/office/drawing/2014/main" id="{62986D26-E063-8788-0D93-BD94B8CB6270}"/>
                  </a:ext>
                </a:extLst>
              </p:cNvPr>
              <p:cNvSpPr txBox="1">
                <a:spLocks noRot="1" noChangeAspect="1" noMove="1" noResize="1" noEditPoints="1" noAdjustHandles="1" noChangeArrowheads="1" noChangeShapeType="1" noTextEdit="1"/>
              </p:cNvSpPr>
              <p:nvPr/>
            </p:nvSpPr>
            <p:spPr>
              <a:xfrm>
                <a:off x="6748942" y="3743982"/>
                <a:ext cx="2153603" cy="276999"/>
              </a:xfrm>
              <a:prstGeom prst="rect">
                <a:avLst/>
              </a:prstGeom>
              <a:blipFill>
                <a:blip r:embed="rId8"/>
                <a:stretch>
                  <a:fillRect l="-1983" r="-1133" b="-6522"/>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CasellaDiTesto 9">
                <a:extLst>
                  <a:ext uri="{FF2B5EF4-FFF2-40B4-BE49-F238E27FC236}">
                    <a16:creationId xmlns:a16="http://schemas.microsoft.com/office/drawing/2014/main" id="{E2395805-48DF-EB92-A53B-5B75F5BA225E}"/>
                  </a:ext>
                </a:extLst>
              </p:cNvPr>
              <p:cNvSpPr txBox="1"/>
              <p:nvPr/>
            </p:nvSpPr>
            <p:spPr>
              <a:xfrm>
                <a:off x="4648463" y="4905591"/>
                <a:ext cx="3177280" cy="549702"/>
              </a:xfrm>
              <a:prstGeom prst="rect">
                <a:avLst/>
              </a:prstGeom>
              <a:noFill/>
            </p:spPr>
            <p:txBody>
              <a:bodyPr wrap="none" lIns="0" tIns="0" rIns="0" bIns="0" rtlCol="0">
                <a:spAutoFit/>
              </a:bodyPr>
              <a:lstStyle>
                <a:defPPr>
                  <a:defRPr lang="en-US"/>
                </a:defPPr>
                <a:lvl1pPr>
                  <a:defRPr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it-IT" smtClean="0">
                          <a:latin typeface="Cambria Math" panose="02040503050406030204" pitchFamily="18" charset="0"/>
                        </a:rPr>
                        <m:t>𝜑</m:t>
                      </m:r>
                      <m:r>
                        <a:rPr lang="it-IT" smtClean="0">
                          <a:latin typeface="Cambria Math" panose="02040503050406030204" pitchFamily="18" charset="0"/>
                        </a:rPr>
                        <m:t>=360°⋅</m:t>
                      </m:r>
                      <m:f>
                        <m:fPr>
                          <m:ctrlPr>
                            <a:rPr lang="it-IT" i="1">
                              <a:latin typeface="Cambria Math" panose="02040503050406030204" pitchFamily="18" charset="0"/>
                            </a:rPr>
                          </m:ctrlPr>
                        </m:fPr>
                        <m:num>
                          <m:r>
                            <a:rPr lang="it-IT">
                              <a:latin typeface="Cambria Math" panose="02040503050406030204" pitchFamily="18" charset="0"/>
                            </a:rPr>
                            <m:t>0.79674494</m:t>
                          </m:r>
                        </m:num>
                        <m:den>
                          <m:r>
                            <a:rPr lang="it-IT">
                              <a:latin typeface="Cambria Math" panose="02040503050406030204" pitchFamily="18" charset="0"/>
                            </a:rPr>
                            <m:t>6,289</m:t>
                          </m:r>
                        </m:den>
                      </m:f>
                      <m:r>
                        <a:rPr lang="it-IT" b="0" i="1" smtClean="0">
                          <a:latin typeface="Cambria Math" panose="02040503050406030204" pitchFamily="18" charset="0"/>
                        </a:rPr>
                        <m:t>=45.6</m:t>
                      </m:r>
                      <m:r>
                        <a:rPr lang="it-IT">
                          <a:latin typeface="Cambria Math" panose="02040503050406030204" pitchFamily="18" charset="0"/>
                        </a:rPr>
                        <m:t>°</m:t>
                      </m:r>
                    </m:oMath>
                  </m:oMathPara>
                </a14:m>
                <a:endParaRPr lang="it-IT" dirty="0"/>
              </a:p>
            </p:txBody>
          </p:sp>
        </mc:Choice>
        <mc:Fallback xmlns="">
          <p:sp>
            <p:nvSpPr>
              <p:cNvPr id="10" name="CasellaDiTesto 9">
                <a:extLst>
                  <a:ext uri="{FF2B5EF4-FFF2-40B4-BE49-F238E27FC236}">
                    <a16:creationId xmlns:a16="http://schemas.microsoft.com/office/drawing/2014/main" id="{E2395805-48DF-EB92-A53B-5B75F5BA225E}"/>
                  </a:ext>
                </a:extLst>
              </p:cNvPr>
              <p:cNvSpPr txBox="1">
                <a:spLocks noRot="1" noChangeAspect="1" noMove="1" noResize="1" noEditPoints="1" noAdjustHandles="1" noChangeArrowheads="1" noChangeShapeType="1" noTextEdit="1"/>
              </p:cNvSpPr>
              <p:nvPr/>
            </p:nvSpPr>
            <p:spPr>
              <a:xfrm>
                <a:off x="4648463" y="4905591"/>
                <a:ext cx="3177280" cy="549702"/>
              </a:xfrm>
              <a:prstGeom prst="rect">
                <a:avLst/>
              </a:prstGeom>
              <a:blipFill>
                <a:blip r:embed="rId9"/>
                <a:stretch>
                  <a:fillRect/>
                </a:stretch>
              </a:blipFill>
            </p:spPr>
            <p:txBody>
              <a:bodyPr/>
              <a:lstStyle/>
              <a:p>
                <a:r>
                  <a:rPr lang="it-IT">
                    <a:noFill/>
                  </a:rPr>
                  <a:t> </a:t>
                </a:r>
              </a:p>
            </p:txBody>
          </p:sp>
        </mc:Fallback>
      </mc:AlternateContent>
      <p:sp>
        <p:nvSpPr>
          <p:cNvPr id="11" name="Google Shape;174;p20">
            <a:extLst>
              <a:ext uri="{FF2B5EF4-FFF2-40B4-BE49-F238E27FC236}">
                <a16:creationId xmlns:a16="http://schemas.microsoft.com/office/drawing/2014/main" id="{A83AFE30-45EB-9D1A-CB12-FF5B18ADA67B}"/>
              </a:ext>
            </a:extLst>
          </p:cNvPr>
          <p:cNvSpPr txBox="1"/>
          <p:nvPr/>
        </p:nvSpPr>
        <p:spPr>
          <a:xfrm>
            <a:off x="1054250" y="712407"/>
            <a:ext cx="4968834" cy="569400"/>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Calcolando lo sfasamento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01;p22">
            <a:extLst>
              <a:ext uri="{FF2B5EF4-FFF2-40B4-BE49-F238E27FC236}">
                <a16:creationId xmlns:a16="http://schemas.microsoft.com/office/drawing/2014/main" id="{F87D337F-B65C-6805-D850-A26A8FA70A5F}"/>
              </a:ext>
            </a:extLst>
          </p:cNvPr>
          <p:cNvSpPr txBox="1"/>
          <p:nvPr/>
        </p:nvSpPr>
        <p:spPr>
          <a:xfrm>
            <a:off x="989215" y="959214"/>
            <a:ext cx="10556400" cy="1354187"/>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none">
                <a:latin typeface="Libre Franklin"/>
                <a:ea typeface="Libre Franklin"/>
                <a:cs typeface="Libre Franklin"/>
              </a:defRPr>
            </a:lvl1pPr>
          </a:lstStyle>
          <a:p>
            <a:r>
              <a:rPr lang="it-IT" sz="1400" b="1" dirty="0">
                <a:sym typeface="Libre Franklin"/>
              </a:rPr>
              <a:t>Osservazione:</a:t>
            </a:r>
          </a:p>
          <a:p>
            <a:endParaRPr sz="1400" b="1" dirty="0">
              <a:sym typeface="Libre Franklin"/>
            </a:endParaRPr>
          </a:p>
          <a:p>
            <a:r>
              <a:rPr lang="it-IT" dirty="0">
                <a:sym typeface="Libre Franklin"/>
              </a:rPr>
              <a:t>Alla frequenza di taglio </a:t>
            </a:r>
            <a:r>
              <a:rPr lang="it-IT" b="1" i="1" dirty="0">
                <a:sym typeface="Libre Franklin"/>
              </a:rPr>
              <a:t>f=</a:t>
            </a:r>
            <a:r>
              <a:rPr lang="it-IT" b="1" i="1" dirty="0" err="1">
                <a:sym typeface="Libre Franklin"/>
              </a:rPr>
              <a:t>ƒc</a:t>
            </a:r>
            <a:r>
              <a:rPr lang="it-IT" b="1" i="1" dirty="0">
                <a:sym typeface="Libre Franklin"/>
              </a:rPr>
              <a:t>=159 Hz</a:t>
            </a:r>
            <a:r>
              <a:rPr lang="it-IT" dirty="0">
                <a:sym typeface="Libre Franklin"/>
              </a:rPr>
              <a:t>, il filtro passa-alto RC </a:t>
            </a:r>
            <a:r>
              <a:rPr lang="it-IT" u="sng" dirty="0">
                <a:sym typeface="Libre Franklin"/>
              </a:rPr>
              <a:t>mostra un comportamento intermedio tra attenuazione e trasparenza del segnale</a:t>
            </a:r>
            <a:r>
              <a:rPr lang="it-IT" dirty="0">
                <a:sym typeface="Libre Franklin"/>
              </a:rPr>
              <a:t>. </a:t>
            </a:r>
            <a:br>
              <a:rPr lang="it-IT" dirty="0">
                <a:sym typeface="Libre Franklin"/>
              </a:rPr>
            </a:br>
            <a:endParaRPr lang="it-IT" dirty="0">
              <a:sym typeface="Libre Franklin"/>
            </a:endParaRPr>
          </a:p>
          <a:p>
            <a:r>
              <a:rPr lang="it-IT" i="1" dirty="0">
                <a:sym typeface="Libre Franklin"/>
              </a:rPr>
              <a:t>Lo sfasamento di circa 45° è coerente con la teoria, </a:t>
            </a:r>
            <a:r>
              <a:rPr lang="it-IT" b="1" i="1" dirty="0">
                <a:sym typeface="Libre Franklin"/>
              </a:rPr>
              <a:t>secondo cui alla frequenza di taglio l’uscita risulta attenuata di circa −3 dB </a:t>
            </a:r>
            <a:r>
              <a:rPr lang="it-IT" i="1" dirty="0">
                <a:sym typeface="Libre Franklin"/>
              </a:rPr>
              <a:t>e presenta uno sfasamento intermedio tra il regime a bassa e alta frequenza.</a:t>
            </a:r>
            <a:endParaRPr i="1" dirty="0">
              <a:sym typeface="Libre Franklin"/>
            </a:endParaRPr>
          </a:p>
        </p:txBody>
      </p:sp>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CD5E3325-AEF9-6E4B-E95A-E971A619EDC1}"/>
                  </a:ext>
                </a:extLst>
              </p:cNvPr>
              <p:cNvSpPr txBox="1"/>
              <p:nvPr/>
            </p:nvSpPr>
            <p:spPr>
              <a:xfrm>
                <a:off x="989215" y="2751652"/>
                <a:ext cx="1931105" cy="5689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rPr>
                        <m:t>𝐻</m:t>
                      </m:r>
                      <m:r>
                        <a:rPr lang="it-IT" b="0" i="1" smtClean="0">
                          <a:latin typeface="Cambria Math" panose="02040503050406030204" pitchFamily="18" charset="0"/>
                        </a:rPr>
                        <m:t>(</m:t>
                      </m:r>
                      <m:r>
                        <a:rPr lang="it-IT" b="0" i="1" smtClean="0">
                          <a:latin typeface="Cambria Math" panose="02040503050406030204" pitchFamily="18" charset="0"/>
                        </a:rPr>
                        <m:t>𝑗</m:t>
                      </m:r>
                      <m:r>
                        <a:rPr lang="it-IT" i="1">
                          <a:latin typeface="Cambria Math" panose="02040503050406030204" pitchFamily="18" charset="0"/>
                          <a:ea typeface="Cambria Math" panose="02040503050406030204" pitchFamily="18" charset="0"/>
                        </a:rPr>
                        <m:t>𝜔</m:t>
                      </m:r>
                      <m:r>
                        <a:rPr lang="it-IT" b="0" i="1" smtClean="0">
                          <a:latin typeface="Cambria Math" panose="02040503050406030204" pitchFamily="18" charset="0"/>
                        </a:rPr>
                        <m:t>)</m:t>
                      </m:r>
                      <m:r>
                        <a:rPr lang="it-IT" i="0">
                          <a:latin typeface="Cambria Math" panose="02040503050406030204" pitchFamily="18" charset="0"/>
                        </a:rPr>
                        <m:t>=</m:t>
                      </m:r>
                      <m:f>
                        <m:fPr>
                          <m:ctrlPr>
                            <a:rPr lang="it-IT" i="1" smtClean="0">
                              <a:latin typeface="Cambria Math" panose="02040503050406030204" pitchFamily="18" charset="0"/>
                            </a:rPr>
                          </m:ctrlPr>
                        </m:fPr>
                        <m:num>
                          <m:r>
                            <a:rPr lang="it-IT" b="0" i="1" smtClean="0">
                              <a:latin typeface="Cambria Math" panose="02040503050406030204" pitchFamily="18" charset="0"/>
                            </a:rPr>
                            <m:t>𝑗</m:t>
                          </m:r>
                          <m:r>
                            <a:rPr lang="it-IT" b="0" i="1" smtClean="0">
                              <a:latin typeface="Cambria Math" panose="02040503050406030204" pitchFamily="18" charset="0"/>
                              <a:ea typeface="Cambria Math" panose="02040503050406030204" pitchFamily="18" charset="0"/>
                            </a:rPr>
                            <m:t>𝜔</m:t>
                          </m:r>
                          <m:r>
                            <a:rPr lang="it-IT" i="1">
                              <a:latin typeface="Cambria Math" panose="02040503050406030204" pitchFamily="18" charset="0"/>
                            </a:rPr>
                            <m:t>𝑅</m:t>
                          </m:r>
                          <m:r>
                            <a:rPr lang="it-IT" b="0" i="1" smtClean="0">
                              <a:latin typeface="Cambria Math" panose="02040503050406030204" pitchFamily="18" charset="0"/>
                            </a:rPr>
                            <m:t>𝐶</m:t>
                          </m:r>
                        </m:num>
                        <m:den>
                          <m:r>
                            <a:rPr lang="it-IT" b="0" i="1" smtClean="0">
                              <a:latin typeface="Cambria Math" panose="02040503050406030204" pitchFamily="18" charset="0"/>
                            </a:rPr>
                            <m:t>1</m:t>
                          </m:r>
                          <m:r>
                            <a:rPr lang="it-IT" i="0">
                              <a:latin typeface="Cambria Math" panose="02040503050406030204" pitchFamily="18" charset="0"/>
                            </a:rPr>
                            <m:t>+</m:t>
                          </m:r>
                          <m:r>
                            <a:rPr lang="it-IT" i="1" smtClean="0">
                              <a:latin typeface="Cambria Math" panose="02040503050406030204" pitchFamily="18" charset="0"/>
                            </a:rPr>
                            <m:t>𝑗</m:t>
                          </m:r>
                          <m:r>
                            <a:rPr lang="it-IT" i="1">
                              <a:latin typeface="Cambria Math" panose="02040503050406030204" pitchFamily="18" charset="0"/>
                              <a:ea typeface="Cambria Math" panose="02040503050406030204" pitchFamily="18" charset="0"/>
                            </a:rPr>
                            <m:t>𝜔</m:t>
                          </m:r>
                          <m:r>
                            <a:rPr lang="it-IT" i="1">
                              <a:latin typeface="Cambria Math" panose="02040503050406030204" pitchFamily="18" charset="0"/>
                            </a:rPr>
                            <m:t>𝑅𝐶</m:t>
                          </m:r>
                        </m:den>
                      </m:f>
                    </m:oMath>
                  </m:oMathPara>
                </a14:m>
                <a:endParaRPr lang="it-IT" dirty="0"/>
              </a:p>
            </p:txBody>
          </p:sp>
        </mc:Choice>
        <mc:Fallback xmlns="">
          <p:sp>
            <p:nvSpPr>
              <p:cNvPr id="5" name="CasellaDiTesto 4">
                <a:extLst>
                  <a:ext uri="{FF2B5EF4-FFF2-40B4-BE49-F238E27FC236}">
                    <a16:creationId xmlns:a16="http://schemas.microsoft.com/office/drawing/2014/main" id="{CD5E3325-AEF9-6E4B-E95A-E971A619EDC1}"/>
                  </a:ext>
                </a:extLst>
              </p:cNvPr>
              <p:cNvSpPr txBox="1">
                <a:spLocks noRot="1" noChangeAspect="1" noMove="1" noResize="1" noEditPoints="1" noAdjustHandles="1" noChangeArrowheads="1" noChangeShapeType="1" noTextEdit="1"/>
              </p:cNvSpPr>
              <p:nvPr/>
            </p:nvSpPr>
            <p:spPr>
              <a:xfrm>
                <a:off x="989215" y="2751652"/>
                <a:ext cx="1931105" cy="568938"/>
              </a:xfrm>
              <a:prstGeom prst="rect">
                <a:avLst/>
              </a:prstGeom>
              <a:blipFill>
                <a:blip r:embed="rId2"/>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E7C54492-21B5-7899-19E0-CD8F32EB4572}"/>
                  </a:ext>
                </a:extLst>
              </p:cNvPr>
              <p:cNvSpPr txBox="1"/>
              <p:nvPr/>
            </p:nvSpPr>
            <p:spPr>
              <a:xfrm>
                <a:off x="989215" y="3947184"/>
                <a:ext cx="18878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rPr>
                        <m:t>𝑓</m:t>
                      </m:r>
                      <m:r>
                        <a:rPr lang="it-IT" i="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𝑓</m:t>
                          </m:r>
                        </m:e>
                        <m:sub>
                          <m:r>
                            <a:rPr lang="it-IT" i="1">
                              <a:latin typeface="Cambria Math" panose="02040503050406030204" pitchFamily="18" charset="0"/>
                            </a:rPr>
                            <m:t>𝑐</m:t>
                          </m:r>
                        </m:sub>
                      </m:sSub>
                      <m:r>
                        <a:rPr lang="it-IT" i="0">
                          <a:latin typeface="Cambria Math" panose="02040503050406030204" pitchFamily="18" charset="0"/>
                        </a:rPr>
                        <m:t>→</m:t>
                      </m:r>
                      <m:r>
                        <a:rPr lang="it-IT" i="1">
                          <a:latin typeface="Cambria Math" panose="02040503050406030204" pitchFamily="18" charset="0"/>
                        </a:rPr>
                        <m:t>𝜔</m:t>
                      </m:r>
                      <m:r>
                        <a:rPr lang="it-IT" i="1">
                          <a:latin typeface="Cambria Math" panose="02040503050406030204" pitchFamily="18" charset="0"/>
                        </a:rPr>
                        <m:t>𝑅𝐶</m:t>
                      </m:r>
                      <m:r>
                        <a:rPr lang="it-IT" i="0">
                          <a:latin typeface="Cambria Math" panose="02040503050406030204" pitchFamily="18" charset="0"/>
                        </a:rPr>
                        <m:t>=1</m:t>
                      </m:r>
                    </m:oMath>
                  </m:oMathPara>
                </a14:m>
                <a:endParaRPr lang="it-IT" dirty="0"/>
              </a:p>
            </p:txBody>
          </p:sp>
        </mc:Choice>
        <mc:Fallback xmlns="">
          <p:sp>
            <p:nvSpPr>
              <p:cNvPr id="6" name="CasellaDiTesto 5">
                <a:extLst>
                  <a:ext uri="{FF2B5EF4-FFF2-40B4-BE49-F238E27FC236}">
                    <a16:creationId xmlns:a16="http://schemas.microsoft.com/office/drawing/2014/main" id="{E7C54492-21B5-7899-19E0-CD8F32EB4572}"/>
                  </a:ext>
                </a:extLst>
              </p:cNvPr>
              <p:cNvSpPr txBox="1">
                <a:spLocks noRot="1" noChangeAspect="1" noMove="1" noResize="1" noEditPoints="1" noAdjustHandles="1" noChangeArrowheads="1" noChangeShapeType="1" noTextEdit="1"/>
              </p:cNvSpPr>
              <p:nvPr/>
            </p:nvSpPr>
            <p:spPr>
              <a:xfrm>
                <a:off x="989215" y="3947184"/>
                <a:ext cx="1887824" cy="276999"/>
              </a:xfrm>
              <a:prstGeom prst="rect">
                <a:avLst/>
              </a:prstGeom>
              <a:blipFill>
                <a:blip r:embed="rId3"/>
                <a:stretch>
                  <a:fillRect l="-3871" t="-4444" r="-2581" b="-3555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C4B9FFA6-773C-2C57-CCE1-2786483D5C3F}"/>
                  </a:ext>
                </a:extLst>
              </p:cNvPr>
              <p:cNvSpPr txBox="1"/>
              <p:nvPr/>
            </p:nvSpPr>
            <p:spPr>
              <a:xfrm>
                <a:off x="989215" y="4850777"/>
                <a:ext cx="2651495" cy="398122"/>
              </a:xfrm>
              <a:prstGeom prst="rect">
                <a:avLst/>
              </a:prstGeom>
              <a:noFill/>
            </p:spPr>
            <p:txBody>
              <a:bodyPr wrap="none" lIns="0" tIns="0" rIns="0" bIns="0" rtlCol="0">
                <a:spAutoFit/>
              </a:bodyPr>
              <a:lstStyle/>
              <a:p>
                <a14:m>
                  <m:oMath xmlns:m="http://schemas.openxmlformats.org/officeDocument/2006/math">
                    <m:r>
                      <a:rPr lang="it-IT" i="1">
                        <a:latin typeface="Cambria Math" panose="02040503050406030204" pitchFamily="18" charset="0"/>
                      </a:rPr>
                      <m:t>|</m:t>
                    </m:r>
                    <m:r>
                      <a:rPr lang="it-IT" i="1" smtClean="0">
                        <a:latin typeface="Cambria Math" panose="02040503050406030204" pitchFamily="18" charset="0"/>
                      </a:rPr>
                      <m:t>𝐻</m:t>
                    </m:r>
                    <m:r>
                      <a:rPr lang="it-IT" b="0" i="1" smtClean="0">
                        <a:latin typeface="Cambria Math" panose="02040503050406030204" pitchFamily="18" charset="0"/>
                      </a:rPr>
                      <m:t>|</m:t>
                    </m:r>
                    <m:r>
                      <a:rPr lang="it-IT" i="0">
                        <a:latin typeface="Cambria Math" panose="02040503050406030204" pitchFamily="18" charset="0"/>
                      </a:rPr>
                      <m:t>=</m:t>
                    </m:r>
                    <m:f>
                      <m:fPr>
                        <m:ctrlPr>
                          <a:rPr lang="it-IT" i="1" smtClean="0">
                            <a:latin typeface="Cambria Math" panose="02040503050406030204" pitchFamily="18" charset="0"/>
                          </a:rPr>
                        </m:ctrlPr>
                      </m:fPr>
                      <m:num>
                        <m:r>
                          <a:rPr lang="it-IT" b="0" i="1" smtClean="0">
                            <a:latin typeface="Cambria Math" panose="02040503050406030204" pitchFamily="18" charset="0"/>
                          </a:rPr>
                          <m:t>1</m:t>
                        </m:r>
                      </m:num>
                      <m:den>
                        <m:r>
                          <a:rPr lang="it-IT" i="1" smtClean="0">
                            <a:latin typeface="Cambria Math" panose="02040503050406030204" pitchFamily="18" charset="0"/>
                            <a:ea typeface="Cambria Math" panose="02040503050406030204" pitchFamily="18" charset="0"/>
                          </a:rPr>
                          <m:t>√</m:t>
                        </m:r>
                        <m:r>
                          <a:rPr lang="it-IT" b="0" i="1" smtClean="0">
                            <a:latin typeface="Cambria Math" panose="02040503050406030204" pitchFamily="18" charset="0"/>
                            <a:ea typeface="Cambria Math" panose="02040503050406030204" pitchFamily="18" charset="0"/>
                          </a:rPr>
                          <m:t>2</m:t>
                        </m:r>
                      </m:den>
                    </m:f>
                  </m:oMath>
                </a14:m>
                <a:r>
                  <a:rPr lang="it-IT" dirty="0"/>
                  <a:t> </a:t>
                </a:r>
                <a14:m>
                  <m:oMath xmlns:m="http://schemas.openxmlformats.org/officeDocument/2006/math">
                    <m:r>
                      <a:rPr lang="it-IT" i="1" dirty="0" smtClean="0">
                        <a:latin typeface="Cambria Math" panose="02040503050406030204" pitchFamily="18" charset="0"/>
                        <a:ea typeface="Cambria Math" panose="02040503050406030204" pitchFamily="18" charset="0"/>
                      </a:rPr>
                      <m:t>≈</m:t>
                    </m:r>
                    <m:r>
                      <a:rPr lang="it-IT" b="0" i="1" dirty="0" smtClean="0">
                        <a:latin typeface="Cambria Math" panose="02040503050406030204" pitchFamily="18" charset="0"/>
                        <a:ea typeface="Cambria Math" panose="02040503050406030204" pitchFamily="18" charset="0"/>
                      </a:rPr>
                      <m:t>0.707 →−3</m:t>
                    </m:r>
                    <m:r>
                      <a:rPr lang="it-IT" b="0" i="1" dirty="0" smtClean="0">
                        <a:latin typeface="Cambria Math" panose="02040503050406030204" pitchFamily="18" charset="0"/>
                        <a:ea typeface="Cambria Math" panose="02040503050406030204" pitchFamily="18" charset="0"/>
                      </a:rPr>
                      <m:t>𝑑𝐵</m:t>
                    </m:r>
                  </m:oMath>
                </a14:m>
                <a:endParaRPr lang="it-IT" dirty="0"/>
              </a:p>
            </p:txBody>
          </p:sp>
        </mc:Choice>
        <mc:Fallback xmlns="">
          <p:sp>
            <p:nvSpPr>
              <p:cNvPr id="7" name="CasellaDiTesto 6">
                <a:extLst>
                  <a:ext uri="{FF2B5EF4-FFF2-40B4-BE49-F238E27FC236}">
                    <a16:creationId xmlns:a16="http://schemas.microsoft.com/office/drawing/2014/main" id="{C4B9FFA6-773C-2C57-CCE1-2786483D5C3F}"/>
                  </a:ext>
                </a:extLst>
              </p:cNvPr>
              <p:cNvSpPr txBox="1">
                <a:spLocks noRot="1" noChangeAspect="1" noMove="1" noResize="1" noEditPoints="1" noAdjustHandles="1" noChangeArrowheads="1" noChangeShapeType="1" noTextEdit="1"/>
              </p:cNvSpPr>
              <p:nvPr/>
            </p:nvSpPr>
            <p:spPr>
              <a:xfrm>
                <a:off x="989215" y="4850777"/>
                <a:ext cx="2651495" cy="398122"/>
              </a:xfrm>
              <a:prstGeom prst="rect">
                <a:avLst/>
              </a:prstGeom>
              <a:blipFill>
                <a:blip r:embed="rId4"/>
                <a:stretch>
                  <a:fillRect l="-4138" r="-2069" b="-20000"/>
                </a:stretch>
              </a:blipFill>
            </p:spPr>
            <p:txBody>
              <a:bodyPr/>
              <a:lstStyle/>
              <a:p>
                <a:r>
                  <a:rPr lang="it-IT">
                    <a:noFill/>
                  </a:rPr>
                  <a:t> </a:t>
                </a:r>
              </a:p>
            </p:txBody>
          </p:sp>
        </mc:Fallback>
      </mc:AlternateContent>
      <p:pic>
        <p:nvPicPr>
          <p:cNvPr id="8" name="Immagine 7">
            <a:extLst>
              <a:ext uri="{FF2B5EF4-FFF2-40B4-BE49-F238E27FC236}">
                <a16:creationId xmlns:a16="http://schemas.microsoft.com/office/drawing/2014/main" id="{395CA270-48BB-6F96-4C65-053CFD1C1085}"/>
              </a:ext>
            </a:extLst>
          </p:cNvPr>
          <p:cNvPicPr/>
          <p:nvPr/>
        </p:nvPicPr>
        <p:blipFill>
          <a:blip r:embed="rId5"/>
          <a:stretch>
            <a:fillRect/>
          </a:stretch>
        </p:blipFill>
        <p:spPr>
          <a:xfrm>
            <a:off x="3695350" y="2313401"/>
            <a:ext cx="7789178" cy="3848313"/>
          </a:xfrm>
          <a:prstGeom prst="rect">
            <a:avLst/>
          </a:prstGeom>
        </p:spPr>
      </p:pic>
      <p:sp>
        <p:nvSpPr>
          <p:cNvPr id="9" name="Ovale 8">
            <a:extLst>
              <a:ext uri="{FF2B5EF4-FFF2-40B4-BE49-F238E27FC236}">
                <a16:creationId xmlns:a16="http://schemas.microsoft.com/office/drawing/2014/main" id="{58F3AD14-36CD-9533-9656-C06392473A6A}"/>
              </a:ext>
            </a:extLst>
          </p:cNvPr>
          <p:cNvSpPr/>
          <p:nvPr/>
        </p:nvSpPr>
        <p:spPr>
          <a:xfrm>
            <a:off x="7194070" y="3429000"/>
            <a:ext cx="1233182" cy="1149291"/>
          </a:xfrm>
          <a:prstGeom prst="ellipse">
            <a:avLst/>
          </a:prstGeom>
          <a:noFill/>
          <a:ln>
            <a:solidFill>
              <a:srgbClr val="37FF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0" name="Immagine 9">
            <a:extLst>
              <a:ext uri="{FF2B5EF4-FFF2-40B4-BE49-F238E27FC236}">
                <a16:creationId xmlns:a16="http://schemas.microsoft.com/office/drawing/2014/main" id="{60D4763F-81D4-5155-BD79-ECDFE21C5177}"/>
              </a:ext>
            </a:extLst>
          </p:cNvPr>
          <p:cNvPicPr/>
          <p:nvPr/>
        </p:nvPicPr>
        <p:blipFill>
          <a:blip r:embed="rId5"/>
          <a:srcRect l="47586" t="31229" r="40505" b="44071"/>
          <a:stretch>
            <a:fillRect/>
          </a:stretch>
        </p:blipFill>
        <p:spPr>
          <a:xfrm>
            <a:off x="8763497" y="2979691"/>
            <a:ext cx="2369890" cy="2428511"/>
          </a:xfrm>
          <a:prstGeom prst="rect">
            <a:avLst/>
          </a:prstGeom>
        </p:spPr>
      </p:pic>
      <p:cxnSp>
        <p:nvCxnSpPr>
          <p:cNvPr id="12" name="Connettore diritto 11">
            <a:extLst>
              <a:ext uri="{FF2B5EF4-FFF2-40B4-BE49-F238E27FC236}">
                <a16:creationId xmlns:a16="http://schemas.microsoft.com/office/drawing/2014/main" id="{4CEF9CD3-EA2F-68E6-1A8A-3755E223E580}"/>
              </a:ext>
            </a:extLst>
          </p:cNvPr>
          <p:cNvCxnSpPr/>
          <p:nvPr/>
        </p:nvCxnSpPr>
        <p:spPr>
          <a:xfrm>
            <a:off x="10091956" y="3628239"/>
            <a:ext cx="843094" cy="0"/>
          </a:xfrm>
          <a:prstGeom prst="line">
            <a:avLst/>
          </a:prstGeom>
          <a:ln w="28575">
            <a:solidFill>
              <a:srgbClr val="37FF3A"/>
            </a:solidFill>
          </a:ln>
        </p:spPr>
        <p:style>
          <a:lnRef idx="1">
            <a:schemeClr val="accent1"/>
          </a:lnRef>
          <a:fillRef idx="0">
            <a:schemeClr val="accent1"/>
          </a:fillRef>
          <a:effectRef idx="0">
            <a:schemeClr val="accent1"/>
          </a:effectRef>
          <a:fontRef idx="minor">
            <a:schemeClr val="tx1"/>
          </a:fontRef>
        </p:style>
      </p:cxnSp>
      <p:cxnSp>
        <p:nvCxnSpPr>
          <p:cNvPr id="13" name="Connettore diritto 12">
            <a:extLst>
              <a:ext uri="{FF2B5EF4-FFF2-40B4-BE49-F238E27FC236}">
                <a16:creationId xmlns:a16="http://schemas.microsoft.com/office/drawing/2014/main" id="{BBD3E6A9-19F3-7662-4471-484445D3F68B}"/>
              </a:ext>
            </a:extLst>
          </p:cNvPr>
          <p:cNvCxnSpPr/>
          <p:nvPr/>
        </p:nvCxnSpPr>
        <p:spPr>
          <a:xfrm>
            <a:off x="8942665" y="3598878"/>
            <a:ext cx="843094" cy="0"/>
          </a:xfrm>
          <a:prstGeom prst="line">
            <a:avLst/>
          </a:prstGeom>
          <a:ln w="28575">
            <a:solidFill>
              <a:srgbClr val="37FF3A"/>
            </a:solidFill>
          </a:ln>
        </p:spPr>
        <p:style>
          <a:lnRef idx="1">
            <a:schemeClr val="accent1"/>
          </a:lnRef>
          <a:fillRef idx="0">
            <a:schemeClr val="accent1"/>
          </a:fillRef>
          <a:effectRef idx="0">
            <a:schemeClr val="accent1"/>
          </a:effectRef>
          <a:fontRef idx="minor">
            <a:schemeClr val="tx1"/>
          </a:fontRef>
        </p:style>
      </p:cxnSp>
      <p:sp>
        <p:nvSpPr>
          <p:cNvPr id="14" name="Ovale 13">
            <a:extLst>
              <a:ext uri="{FF2B5EF4-FFF2-40B4-BE49-F238E27FC236}">
                <a16:creationId xmlns:a16="http://schemas.microsoft.com/office/drawing/2014/main" id="{B9DFB01B-EBDC-2C9D-F056-F562CF08E8CF}"/>
              </a:ext>
            </a:extLst>
          </p:cNvPr>
          <p:cNvSpPr/>
          <p:nvPr/>
        </p:nvSpPr>
        <p:spPr>
          <a:xfrm>
            <a:off x="7118059" y="2848341"/>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8567539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4"/>
          <p:cNvSpPr txBox="1"/>
          <p:nvPr/>
        </p:nvSpPr>
        <p:spPr>
          <a:xfrm>
            <a:off x="1050636" y="866638"/>
            <a:ext cx="10078916" cy="553968"/>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400" b="1" u="none">
                <a:latin typeface="Libre Franklin"/>
                <a:ea typeface="Libre Franklin"/>
                <a:cs typeface="Libre Franklin"/>
              </a:defRPr>
            </a:lvl1pPr>
          </a:lstStyle>
          <a:p>
            <a:r>
              <a:rPr lang="it-IT" sz="1200" b="0" dirty="0">
                <a:sym typeface="Libre Franklin"/>
              </a:rPr>
              <a:t>Ripetendo il calcolo per un segnale a 10 Hz si ottiene uno </a:t>
            </a:r>
            <a:r>
              <a:rPr lang="it-IT" sz="1200" b="0" u="sng" dirty="0">
                <a:sym typeface="Libre Franklin"/>
              </a:rPr>
              <a:t>sfasamento pari a circa 86,9°</a:t>
            </a:r>
            <a:r>
              <a:rPr lang="it-IT" sz="1200" b="0" dirty="0">
                <a:sym typeface="Libre Franklin"/>
              </a:rPr>
              <a:t>, valore prossimo a 90°, tipico delle frequenze molto inferiori alla frequenza di taglio.</a:t>
            </a:r>
            <a:endParaRPr sz="1200" b="0" dirty="0">
              <a:sym typeface="Libre Franklin"/>
            </a:endParaRPr>
          </a:p>
        </p:txBody>
      </p:sp>
      <p:sp>
        <p:nvSpPr>
          <p:cNvPr id="216" name="Google Shape;216;p24"/>
          <p:cNvSpPr txBox="1"/>
          <p:nvPr/>
        </p:nvSpPr>
        <p:spPr>
          <a:xfrm>
            <a:off x="1050636" y="3114156"/>
            <a:ext cx="10078916" cy="553968"/>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b="0" u="none">
                <a:latin typeface="Libre Franklin"/>
                <a:ea typeface="Libre Franklin"/>
                <a:cs typeface="Libre Franklin"/>
              </a:defRPr>
            </a:lvl1pPr>
          </a:lstStyle>
          <a:p>
            <a:r>
              <a:rPr lang="it-IT" dirty="0">
                <a:sym typeface="Libre Franklin"/>
              </a:rPr>
              <a:t>Ripetendo il calcolo per un segnale a 250 Hz si ottiene uno </a:t>
            </a:r>
            <a:r>
              <a:rPr lang="it-IT" u="sng" dirty="0">
                <a:sym typeface="Libre Franklin"/>
              </a:rPr>
              <a:t>sfasamento pari a circa 32,3°</a:t>
            </a:r>
            <a:r>
              <a:rPr lang="it-IT" dirty="0">
                <a:sym typeface="Libre Franklin"/>
              </a:rPr>
              <a:t>, tipico delle frequenze vicine alla frequenza di taglio.</a:t>
            </a:r>
            <a:endParaRPr dirty="0"/>
          </a:p>
        </p:txBody>
      </p:sp>
      <p:sp>
        <p:nvSpPr>
          <p:cNvPr id="223" name="Google Shape;223;p24"/>
          <p:cNvSpPr txBox="1"/>
          <p:nvPr/>
        </p:nvSpPr>
        <p:spPr>
          <a:xfrm>
            <a:off x="1050636" y="5293415"/>
            <a:ext cx="10078916" cy="553968"/>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b="0" u="none">
                <a:latin typeface="Libre Franklin"/>
                <a:ea typeface="Libre Franklin"/>
                <a:cs typeface="Libre Franklin"/>
              </a:defRPr>
            </a:lvl1pPr>
          </a:lstStyle>
          <a:p>
            <a:r>
              <a:rPr lang="it-IT" dirty="0">
                <a:sym typeface="Libre Franklin"/>
              </a:rPr>
              <a:t>Mentre per frequenze molto superiori a </a:t>
            </a:r>
            <a:r>
              <a:rPr lang="it-IT" dirty="0" err="1">
                <a:sym typeface="Libre Franklin"/>
              </a:rPr>
              <a:t>ƒc</a:t>
            </a:r>
            <a:r>
              <a:rPr lang="it-IT" dirty="0">
                <a:sym typeface="Libre Franklin"/>
              </a:rPr>
              <a:t>, </a:t>
            </a:r>
            <a:r>
              <a:rPr lang="it-IT" u="sng" dirty="0">
                <a:sym typeface="Libre Franklin"/>
              </a:rPr>
              <a:t>come nel caso del segnale a 3 kHz, lo sfasamento tende a 0°</a:t>
            </a:r>
            <a:r>
              <a:rPr lang="it-IT" dirty="0">
                <a:sym typeface="Libre Franklin"/>
              </a:rPr>
              <a:t>, indicando che il segnale viene trasferito quasi integralmente in uscita.</a:t>
            </a:r>
            <a:endParaRPr dirty="0"/>
          </a:p>
        </p:txBody>
      </p:sp>
      <p:grpSp>
        <p:nvGrpSpPr>
          <p:cNvPr id="15" name="Gruppo 14">
            <a:extLst>
              <a:ext uri="{FF2B5EF4-FFF2-40B4-BE49-F238E27FC236}">
                <a16:creationId xmlns:a16="http://schemas.microsoft.com/office/drawing/2014/main" id="{22846F4B-ECBC-B998-5236-128BAEFDB4AB}"/>
              </a:ext>
            </a:extLst>
          </p:cNvPr>
          <p:cNvGrpSpPr/>
          <p:nvPr/>
        </p:nvGrpSpPr>
        <p:grpSpPr>
          <a:xfrm>
            <a:off x="1617462" y="1723320"/>
            <a:ext cx="8040253" cy="1047568"/>
            <a:chOff x="1458894" y="1840488"/>
            <a:chExt cx="8040253" cy="1047568"/>
          </a:xfrm>
        </p:grpSpPr>
        <p:grpSp>
          <p:nvGrpSpPr>
            <p:cNvPr id="14" name="Gruppo 13">
              <a:extLst>
                <a:ext uri="{FF2B5EF4-FFF2-40B4-BE49-F238E27FC236}">
                  <a16:creationId xmlns:a16="http://schemas.microsoft.com/office/drawing/2014/main" id="{BBC03405-A296-262A-6043-0285B49D4A26}"/>
                </a:ext>
              </a:extLst>
            </p:cNvPr>
            <p:cNvGrpSpPr/>
            <p:nvPr/>
          </p:nvGrpSpPr>
          <p:grpSpPr>
            <a:xfrm>
              <a:off x="1458894" y="1840488"/>
              <a:ext cx="2031646" cy="1047568"/>
              <a:chOff x="1910773" y="1895047"/>
              <a:chExt cx="2031646" cy="1047568"/>
            </a:xfrm>
          </p:grpSpPr>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69B9C31A-D854-1B33-C702-6275097F7504}"/>
                      </a:ext>
                    </a:extLst>
                  </p:cNvPr>
                  <p:cNvSpPr txBox="1"/>
                  <p:nvPr/>
                </p:nvSpPr>
                <p:spPr>
                  <a:xfrm>
                    <a:off x="1910773" y="1895047"/>
                    <a:ext cx="2031646" cy="34689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it-IT" sz="1200" b="0" i="0" smtClean="0">
                              <a:latin typeface="Cambria Math" panose="02040503050406030204" pitchFamily="18" charset="0"/>
                            </a:rPr>
                            <m:t>f</m:t>
                          </m:r>
                          <m:r>
                            <a:rPr lang="it-IT" sz="1200" b="0" i="0" smtClean="0">
                              <a:latin typeface="Cambria Math" panose="02040503050406030204" pitchFamily="18" charset="0"/>
                            </a:rPr>
                            <m:t>=10</m:t>
                          </m:r>
                          <m:r>
                            <m:rPr>
                              <m:sty m:val="p"/>
                            </m:rPr>
                            <a:rPr lang="it-IT" sz="1200" b="0" i="0" smtClean="0">
                              <a:latin typeface="Cambria Math" panose="02040503050406030204" pitchFamily="18" charset="0"/>
                            </a:rPr>
                            <m:t>Hz</m:t>
                          </m:r>
                          <m:r>
                            <a:rPr lang="it-IT" sz="1200" b="0" i="0" smtClean="0">
                              <a:latin typeface="Cambria Math" panose="02040503050406030204" pitchFamily="18" charset="0"/>
                            </a:rPr>
                            <m:t> →</m:t>
                          </m:r>
                          <m:r>
                            <m:rPr>
                              <m:sty m:val="p"/>
                            </m:rPr>
                            <a:rPr lang="it-IT" sz="1200" b="0" i="0" smtClean="0">
                              <a:latin typeface="Cambria Math" panose="02040503050406030204" pitchFamily="18" charset="0"/>
                            </a:rPr>
                            <m:t>T</m:t>
                          </m:r>
                          <m:r>
                            <a:rPr lang="it-IT" sz="1200" b="0" i="0" smtClean="0">
                              <a:latin typeface="Cambria Math" panose="02040503050406030204" pitchFamily="18" charset="0"/>
                            </a:rPr>
                            <m:t>=</m:t>
                          </m:r>
                          <m:f>
                            <m:fPr>
                              <m:ctrlPr>
                                <a:rPr lang="it-IT" sz="1200" i="1" smtClean="0">
                                  <a:latin typeface="Cambria Math" panose="02040503050406030204" pitchFamily="18" charset="0"/>
                                </a:rPr>
                              </m:ctrlPr>
                            </m:fPr>
                            <m:num>
                              <m:r>
                                <a:rPr lang="it-IT" sz="1200">
                                  <a:latin typeface="Cambria Math" panose="02040503050406030204" pitchFamily="18" charset="0"/>
                                </a:rPr>
                                <m:t>1</m:t>
                              </m:r>
                            </m:num>
                            <m:den>
                              <m:r>
                                <a:rPr lang="it-IT" sz="1200" b="0" i="1" smtClean="0">
                                  <a:latin typeface="Cambria Math" panose="02040503050406030204" pitchFamily="18" charset="0"/>
                                </a:rPr>
                                <m:t>10</m:t>
                              </m:r>
                            </m:den>
                          </m:f>
                          <m:r>
                            <a:rPr lang="it-IT" sz="1200" b="0" i="1" smtClean="0">
                              <a:latin typeface="Cambria Math" panose="02040503050406030204" pitchFamily="18" charset="0"/>
                            </a:rPr>
                            <m:t> </m:t>
                          </m:r>
                          <m:r>
                            <a:rPr lang="it-IT" sz="1200" b="0" i="1" smtClean="0">
                              <a:latin typeface="Cambria Math" panose="02040503050406030204" pitchFamily="18" charset="0"/>
                              <a:ea typeface="Cambria Math" panose="02040503050406030204" pitchFamily="18" charset="0"/>
                            </a:rPr>
                            <m:t>≈100</m:t>
                          </m:r>
                          <m:r>
                            <a:rPr lang="it-IT" sz="1200" b="0" i="1" smtClean="0">
                              <a:latin typeface="Cambria Math" panose="02040503050406030204" pitchFamily="18" charset="0"/>
                              <a:ea typeface="Cambria Math" panose="02040503050406030204" pitchFamily="18" charset="0"/>
                            </a:rPr>
                            <m:t>𝑚𝑠</m:t>
                          </m:r>
                        </m:oMath>
                      </m:oMathPara>
                    </a14:m>
                    <a:endParaRPr lang="it-IT" sz="1200" dirty="0"/>
                  </a:p>
                </p:txBody>
              </p:sp>
            </mc:Choice>
            <mc:Fallback xmlns="">
              <p:sp>
                <p:nvSpPr>
                  <p:cNvPr id="2" name="CasellaDiTesto 1">
                    <a:extLst>
                      <a:ext uri="{FF2B5EF4-FFF2-40B4-BE49-F238E27FC236}">
                        <a16:creationId xmlns:a16="http://schemas.microsoft.com/office/drawing/2014/main" id="{69B9C31A-D854-1B33-C702-6275097F7504}"/>
                      </a:ext>
                    </a:extLst>
                  </p:cNvPr>
                  <p:cNvSpPr txBox="1">
                    <a:spLocks noRot="1" noChangeAspect="1" noMove="1" noResize="1" noEditPoints="1" noAdjustHandles="1" noChangeArrowheads="1" noChangeShapeType="1" noTextEdit="1"/>
                  </p:cNvSpPr>
                  <p:nvPr/>
                </p:nvSpPr>
                <p:spPr>
                  <a:xfrm>
                    <a:off x="1910773" y="1895047"/>
                    <a:ext cx="2031646" cy="346890"/>
                  </a:xfrm>
                  <a:prstGeom prst="rect">
                    <a:avLst/>
                  </a:prstGeom>
                  <a:blipFill>
                    <a:blip r:embed="rId3"/>
                    <a:stretch>
                      <a:fillRect l="-1198" t="-3509" r="-1198" b="-14035"/>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9DCE05E7-5C01-64ED-F154-830AAF3C037E}"/>
                      </a:ext>
                    </a:extLst>
                  </p:cNvPr>
                  <p:cNvSpPr txBox="1"/>
                  <p:nvPr/>
                </p:nvSpPr>
                <p:spPr>
                  <a:xfrm>
                    <a:off x="1910773" y="2407610"/>
                    <a:ext cx="1313949"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1200" i="1" smtClean="0">
                                  <a:latin typeface="Cambria Math" panose="02040503050406030204" pitchFamily="18" charset="0"/>
                                </a:rPr>
                              </m:ctrlPr>
                            </m:sSubPr>
                            <m:e>
                              <m:r>
                                <a:rPr lang="it-IT" sz="1200" b="0" i="1" smtClean="0">
                                  <a:latin typeface="Cambria Math" panose="02040503050406030204" pitchFamily="18" charset="0"/>
                                </a:rPr>
                                <m:t>𝑡</m:t>
                              </m:r>
                            </m:e>
                            <m:sub>
                              <m:r>
                                <a:rPr lang="it-IT" sz="1200" b="0" i="1" smtClean="0">
                                  <a:latin typeface="Cambria Math" panose="02040503050406030204" pitchFamily="18" charset="0"/>
                                </a:rPr>
                                <m:t>1</m:t>
                              </m:r>
                            </m:sub>
                          </m:sSub>
                          <m:r>
                            <a:rPr lang="it-IT" sz="1200" b="0" i="1" smtClean="0">
                              <a:latin typeface="Cambria Math" panose="02040503050406030204" pitchFamily="18" charset="0"/>
                            </a:rPr>
                            <m:t>=75.166889 </m:t>
                          </m:r>
                          <m:r>
                            <a:rPr lang="it-IT" sz="1200" b="0" i="1" smtClean="0">
                              <a:latin typeface="Cambria Math" panose="02040503050406030204" pitchFamily="18" charset="0"/>
                            </a:rPr>
                            <m:t>𝑚𝑠</m:t>
                          </m:r>
                        </m:oMath>
                      </m:oMathPara>
                    </a14:m>
                    <a:endParaRPr lang="it-IT" sz="1200" dirty="0"/>
                  </a:p>
                </p:txBody>
              </p:sp>
            </mc:Choice>
            <mc:Fallback xmlns="">
              <p:sp>
                <p:nvSpPr>
                  <p:cNvPr id="3" name="CasellaDiTesto 2">
                    <a:extLst>
                      <a:ext uri="{FF2B5EF4-FFF2-40B4-BE49-F238E27FC236}">
                        <a16:creationId xmlns:a16="http://schemas.microsoft.com/office/drawing/2014/main" id="{9DCE05E7-5C01-64ED-F154-830AAF3C037E}"/>
                      </a:ext>
                    </a:extLst>
                  </p:cNvPr>
                  <p:cNvSpPr txBox="1">
                    <a:spLocks noRot="1" noChangeAspect="1" noMove="1" noResize="1" noEditPoints="1" noAdjustHandles="1" noChangeArrowheads="1" noChangeShapeType="1" noTextEdit="1"/>
                  </p:cNvSpPr>
                  <p:nvPr/>
                </p:nvSpPr>
                <p:spPr>
                  <a:xfrm>
                    <a:off x="1910773" y="2407610"/>
                    <a:ext cx="1313949" cy="184666"/>
                  </a:xfrm>
                  <a:prstGeom prst="rect">
                    <a:avLst/>
                  </a:prstGeom>
                  <a:blipFill>
                    <a:blip r:embed="rId4"/>
                    <a:stretch>
                      <a:fillRect l="-1852" r="-1389" b="-13333"/>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A74E4AF4-76CB-8899-054A-B7735CF44672}"/>
                      </a:ext>
                    </a:extLst>
                  </p:cNvPr>
                  <p:cNvSpPr txBox="1"/>
                  <p:nvPr/>
                </p:nvSpPr>
                <p:spPr>
                  <a:xfrm>
                    <a:off x="1910773" y="2757949"/>
                    <a:ext cx="1317540"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1200" i="1" smtClean="0">
                                  <a:latin typeface="Cambria Math" panose="02040503050406030204" pitchFamily="18" charset="0"/>
                                </a:rPr>
                              </m:ctrlPr>
                            </m:sSubPr>
                            <m:e>
                              <m:r>
                                <a:rPr lang="it-IT" sz="1200" b="0" i="1" smtClean="0">
                                  <a:latin typeface="Cambria Math" panose="02040503050406030204" pitchFamily="18" charset="0"/>
                                </a:rPr>
                                <m:t>𝑡</m:t>
                              </m:r>
                            </m:e>
                            <m:sub>
                              <m:r>
                                <a:rPr lang="it-IT" sz="1200" b="0" i="1" smtClean="0">
                                  <a:latin typeface="Cambria Math" panose="02040503050406030204" pitchFamily="18" charset="0"/>
                                </a:rPr>
                                <m:t>2</m:t>
                              </m:r>
                            </m:sub>
                          </m:sSub>
                          <m:r>
                            <a:rPr lang="it-IT" sz="1200" b="0" i="1" smtClean="0">
                              <a:latin typeface="Cambria Math" panose="02040503050406030204" pitchFamily="18" charset="0"/>
                            </a:rPr>
                            <m:t>=51.028037 </m:t>
                          </m:r>
                          <m:r>
                            <a:rPr lang="it-IT" sz="1200" b="0" i="1" smtClean="0">
                              <a:latin typeface="Cambria Math" panose="02040503050406030204" pitchFamily="18" charset="0"/>
                            </a:rPr>
                            <m:t>𝑚𝑠</m:t>
                          </m:r>
                        </m:oMath>
                      </m:oMathPara>
                    </a14:m>
                    <a:endParaRPr lang="it-IT" sz="1200" dirty="0"/>
                  </a:p>
                </p:txBody>
              </p:sp>
            </mc:Choice>
            <mc:Fallback xmlns="">
              <p:sp>
                <p:nvSpPr>
                  <p:cNvPr id="4" name="CasellaDiTesto 3">
                    <a:extLst>
                      <a:ext uri="{FF2B5EF4-FFF2-40B4-BE49-F238E27FC236}">
                        <a16:creationId xmlns:a16="http://schemas.microsoft.com/office/drawing/2014/main" id="{A74E4AF4-76CB-8899-054A-B7735CF44672}"/>
                      </a:ext>
                    </a:extLst>
                  </p:cNvPr>
                  <p:cNvSpPr txBox="1">
                    <a:spLocks noRot="1" noChangeAspect="1" noMove="1" noResize="1" noEditPoints="1" noAdjustHandles="1" noChangeArrowheads="1" noChangeShapeType="1" noTextEdit="1"/>
                  </p:cNvSpPr>
                  <p:nvPr/>
                </p:nvSpPr>
                <p:spPr>
                  <a:xfrm>
                    <a:off x="1910773" y="2757949"/>
                    <a:ext cx="1317540" cy="184666"/>
                  </a:xfrm>
                  <a:prstGeom prst="rect">
                    <a:avLst/>
                  </a:prstGeom>
                  <a:blipFill>
                    <a:blip r:embed="rId5"/>
                    <a:stretch>
                      <a:fillRect l="-1852" r="-1389" b="-9677"/>
                    </a:stretch>
                  </a:blipFill>
                </p:spPr>
                <p:txBody>
                  <a:bodyPr/>
                  <a:lstStyle/>
                  <a:p>
                    <a:r>
                      <a:rPr lang="it-IT">
                        <a:noFill/>
                      </a:rPr>
                      <a:t> </a:t>
                    </a:r>
                  </a:p>
                </p:txBody>
              </p:sp>
            </mc:Fallback>
          </mc:AlternateContent>
        </p:grpSp>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344B45F9-8458-DF57-2E84-54AE84258557}"/>
                    </a:ext>
                  </a:extLst>
                </p:cNvPr>
                <p:cNvSpPr txBox="1"/>
                <p:nvPr/>
              </p:nvSpPr>
              <p:spPr>
                <a:xfrm>
                  <a:off x="4887421" y="2271822"/>
                  <a:ext cx="134280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200" i="1" smtClean="0">
                            <a:latin typeface="Cambria Math" panose="02040503050406030204" pitchFamily="18" charset="0"/>
                            <a:ea typeface="Cambria Math" panose="02040503050406030204" pitchFamily="18" charset="0"/>
                          </a:rPr>
                          <m:t>∆</m:t>
                        </m:r>
                        <m:r>
                          <a:rPr lang="it-IT" sz="1200" b="0" i="1" smtClean="0">
                            <a:latin typeface="Cambria Math" panose="02040503050406030204" pitchFamily="18" charset="0"/>
                            <a:ea typeface="Cambria Math" panose="02040503050406030204" pitchFamily="18" charset="0"/>
                          </a:rPr>
                          <m:t>𝑡</m:t>
                        </m:r>
                        <m:r>
                          <a:rPr lang="it-IT" sz="1200" b="0" i="1" smtClean="0">
                            <a:latin typeface="Cambria Math" panose="02040503050406030204" pitchFamily="18" charset="0"/>
                          </a:rPr>
                          <m:t>=24.138852 </m:t>
                        </m:r>
                        <m:r>
                          <a:rPr lang="it-IT" sz="1200" b="0" i="1" smtClean="0">
                            <a:latin typeface="Cambria Math" panose="02040503050406030204" pitchFamily="18" charset="0"/>
                          </a:rPr>
                          <m:t>𝑚𝑠</m:t>
                        </m:r>
                      </m:oMath>
                    </m:oMathPara>
                  </a14:m>
                  <a:endParaRPr lang="it-IT" sz="1200" dirty="0"/>
                </a:p>
              </p:txBody>
            </p:sp>
          </mc:Choice>
          <mc:Fallback xmlns="">
            <p:sp>
              <p:nvSpPr>
                <p:cNvPr id="6" name="CasellaDiTesto 5">
                  <a:extLst>
                    <a:ext uri="{FF2B5EF4-FFF2-40B4-BE49-F238E27FC236}">
                      <a16:creationId xmlns:a16="http://schemas.microsoft.com/office/drawing/2014/main" id="{344B45F9-8458-DF57-2E84-54AE84258557}"/>
                    </a:ext>
                  </a:extLst>
                </p:cNvPr>
                <p:cNvSpPr txBox="1">
                  <a:spLocks noRot="1" noChangeAspect="1" noMove="1" noResize="1" noEditPoints="1" noAdjustHandles="1" noChangeArrowheads="1" noChangeShapeType="1" noTextEdit="1"/>
                </p:cNvSpPr>
                <p:nvPr/>
              </p:nvSpPr>
              <p:spPr>
                <a:xfrm>
                  <a:off x="4887421" y="2271822"/>
                  <a:ext cx="1342803" cy="184666"/>
                </a:xfrm>
                <a:prstGeom prst="rect">
                  <a:avLst/>
                </a:prstGeom>
                <a:blipFill>
                  <a:blip r:embed="rId6"/>
                  <a:stretch>
                    <a:fillRect l="-2273" r="-909" b="-6452"/>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15E1514B-CB2D-D173-4AA6-6A6198824B58}"/>
                    </a:ext>
                  </a:extLst>
                </p:cNvPr>
                <p:cNvSpPr txBox="1"/>
                <p:nvPr/>
              </p:nvSpPr>
              <p:spPr>
                <a:xfrm>
                  <a:off x="7475451" y="2177714"/>
                  <a:ext cx="2023696" cy="350673"/>
                </a:xfrm>
                <a:prstGeom prst="rect">
                  <a:avLst/>
                </a:prstGeom>
                <a:noFill/>
              </p:spPr>
              <p:txBody>
                <a:bodyPr wrap="none" lIns="0" tIns="0" rIns="0" bIns="0" rtlCol="0">
                  <a:spAutoFit/>
                </a:bodyPr>
                <a:lstStyle>
                  <a:defPPr>
                    <a:defRPr lang="en-US"/>
                  </a:defPPr>
                  <a:lvl1pPr>
                    <a:defRPr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it-IT" sz="1200" smtClean="0">
                            <a:latin typeface="Cambria Math" panose="02040503050406030204" pitchFamily="18" charset="0"/>
                          </a:rPr>
                          <m:t>𝜑</m:t>
                        </m:r>
                        <m:r>
                          <a:rPr lang="it-IT" sz="1200" smtClean="0">
                            <a:latin typeface="Cambria Math" panose="02040503050406030204" pitchFamily="18" charset="0"/>
                          </a:rPr>
                          <m:t>=360°⋅</m:t>
                        </m:r>
                        <m:f>
                          <m:fPr>
                            <m:ctrlPr>
                              <a:rPr lang="it-IT" sz="1200" i="1">
                                <a:latin typeface="Cambria Math" panose="02040503050406030204" pitchFamily="18" charset="0"/>
                              </a:rPr>
                            </m:ctrlPr>
                          </m:fPr>
                          <m:num>
                            <m:r>
                              <a:rPr lang="it-IT" sz="1200">
                                <a:latin typeface="Cambria Math" panose="02040503050406030204" pitchFamily="18" charset="0"/>
                              </a:rPr>
                              <m:t>24.138852</m:t>
                            </m:r>
                          </m:num>
                          <m:den>
                            <m:r>
                              <a:rPr lang="it-IT" sz="1200" b="0" i="1" smtClean="0">
                                <a:latin typeface="Cambria Math" panose="02040503050406030204" pitchFamily="18" charset="0"/>
                              </a:rPr>
                              <m:t>100</m:t>
                            </m:r>
                          </m:den>
                        </m:f>
                        <m:r>
                          <a:rPr lang="it-IT" sz="1200" b="0" i="1" smtClean="0">
                            <a:latin typeface="Cambria Math" panose="02040503050406030204" pitchFamily="18" charset="0"/>
                          </a:rPr>
                          <m:t>=86.9</m:t>
                        </m:r>
                        <m:r>
                          <a:rPr lang="it-IT" sz="1200">
                            <a:latin typeface="Cambria Math" panose="02040503050406030204" pitchFamily="18" charset="0"/>
                          </a:rPr>
                          <m:t>°</m:t>
                        </m:r>
                      </m:oMath>
                    </m:oMathPara>
                  </a14:m>
                  <a:endParaRPr lang="it-IT" sz="1200" dirty="0"/>
                </a:p>
              </p:txBody>
            </p:sp>
          </mc:Choice>
          <mc:Fallback xmlns="">
            <p:sp>
              <p:nvSpPr>
                <p:cNvPr id="7" name="CasellaDiTesto 6">
                  <a:extLst>
                    <a:ext uri="{FF2B5EF4-FFF2-40B4-BE49-F238E27FC236}">
                      <a16:creationId xmlns:a16="http://schemas.microsoft.com/office/drawing/2014/main" id="{15E1514B-CB2D-D173-4AA6-6A6198824B58}"/>
                    </a:ext>
                  </a:extLst>
                </p:cNvPr>
                <p:cNvSpPr txBox="1">
                  <a:spLocks noRot="1" noChangeAspect="1" noMove="1" noResize="1" noEditPoints="1" noAdjustHandles="1" noChangeArrowheads="1" noChangeShapeType="1" noTextEdit="1"/>
                </p:cNvSpPr>
                <p:nvPr/>
              </p:nvSpPr>
              <p:spPr>
                <a:xfrm>
                  <a:off x="7475451" y="2177714"/>
                  <a:ext cx="2023696" cy="350673"/>
                </a:xfrm>
                <a:prstGeom prst="rect">
                  <a:avLst/>
                </a:prstGeom>
                <a:blipFill>
                  <a:blip r:embed="rId7"/>
                  <a:stretch>
                    <a:fillRect l="-1506" t="-3448" r="-1506" b="-13793"/>
                  </a:stretch>
                </a:blipFill>
              </p:spPr>
              <p:txBody>
                <a:bodyPr/>
                <a:lstStyle/>
                <a:p>
                  <a:r>
                    <a:rPr lang="it-IT">
                      <a:noFill/>
                    </a:rPr>
                    <a:t> </a:t>
                  </a:r>
                </a:p>
              </p:txBody>
            </p:sp>
          </mc:Fallback>
        </mc:AlternateContent>
      </p:grpSp>
      <p:grpSp>
        <p:nvGrpSpPr>
          <p:cNvPr id="16" name="Gruppo 15">
            <a:extLst>
              <a:ext uri="{FF2B5EF4-FFF2-40B4-BE49-F238E27FC236}">
                <a16:creationId xmlns:a16="http://schemas.microsoft.com/office/drawing/2014/main" id="{61921A0B-433D-2931-46F2-44B9A4039F11}"/>
              </a:ext>
            </a:extLst>
          </p:cNvPr>
          <p:cNvGrpSpPr/>
          <p:nvPr/>
        </p:nvGrpSpPr>
        <p:grpSpPr>
          <a:xfrm>
            <a:off x="1565061" y="3943288"/>
            <a:ext cx="8145056" cy="1106216"/>
            <a:chOff x="1439049" y="3916683"/>
            <a:chExt cx="8145056" cy="1106216"/>
          </a:xfrm>
        </p:grpSpPr>
        <p:grpSp>
          <p:nvGrpSpPr>
            <p:cNvPr id="13" name="Gruppo 12">
              <a:extLst>
                <a:ext uri="{FF2B5EF4-FFF2-40B4-BE49-F238E27FC236}">
                  <a16:creationId xmlns:a16="http://schemas.microsoft.com/office/drawing/2014/main" id="{A18B3AA9-6066-B3AE-B246-DB4580B9866B}"/>
                </a:ext>
              </a:extLst>
            </p:cNvPr>
            <p:cNvGrpSpPr/>
            <p:nvPr/>
          </p:nvGrpSpPr>
          <p:grpSpPr>
            <a:xfrm>
              <a:off x="1439049" y="3916683"/>
              <a:ext cx="2051491" cy="1106216"/>
              <a:chOff x="1736859" y="4289515"/>
              <a:chExt cx="2051491" cy="1106216"/>
            </a:xfrm>
          </p:grpSpPr>
          <mc:AlternateContent xmlns:mc="http://schemas.openxmlformats.org/markup-compatibility/2006" xmlns:a14="http://schemas.microsoft.com/office/drawing/2010/main">
            <mc:Choice Requires="a14">
              <p:sp>
                <p:nvSpPr>
                  <p:cNvPr id="8" name="CasellaDiTesto 7">
                    <a:extLst>
                      <a:ext uri="{FF2B5EF4-FFF2-40B4-BE49-F238E27FC236}">
                        <a16:creationId xmlns:a16="http://schemas.microsoft.com/office/drawing/2014/main" id="{CE901262-4DE8-70E2-D934-6EBBE0426B46}"/>
                      </a:ext>
                    </a:extLst>
                  </p:cNvPr>
                  <p:cNvSpPr txBox="1"/>
                  <p:nvPr/>
                </p:nvSpPr>
                <p:spPr>
                  <a:xfrm>
                    <a:off x="1756704" y="4289515"/>
                    <a:ext cx="2031646" cy="34689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it-IT" sz="1200" b="0" i="0" smtClean="0">
                              <a:latin typeface="Cambria Math" panose="02040503050406030204" pitchFamily="18" charset="0"/>
                            </a:rPr>
                            <m:t>f</m:t>
                          </m:r>
                          <m:r>
                            <a:rPr lang="it-IT" sz="1200" b="0" i="0" smtClean="0">
                              <a:latin typeface="Cambria Math" panose="02040503050406030204" pitchFamily="18" charset="0"/>
                            </a:rPr>
                            <m:t>=250</m:t>
                          </m:r>
                          <m:r>
                            <m:rPr>
                              <m:sty m:val="p"/>
                            </m:rPr>
                            <a:rPr lang="it-IT" sz="1200" b="0" i="0" smtClean="0">
                              <a:latin typeface="Cambria Math" panose="02040503050406030204" pitchFamily="18" charset="0"/>
                            </a:rPr>
                            <m:t>Hz</m:t>
                          </m:r>
                          <m:r>
                            <a:rPr lang="it-IT" sz="1200" b="0" i="0" smtClean="0">
                              <a:latin typeface="Cambria Math" panose="02040503050406030204" pitchFamily="18" charset="0"/>
                            </a:rPr>
                            <m:t> →</m:t>
                          </m:r>
                          <m:r>
                            <m:rPr>
                              <m:sty m:val="p"/>
                            </m:rPr>
                            <a:rPr lang="it-IT" sz="1200" b="0" i="0" smtClean="0">
                              <a:latin typeface="Cambria Math" panose="02040503050406030204" pitchFamily="18" charset="0"/>
                            </a:rPr>
                            <m:t>T</m:t>
                          </m:r>
                          <m:r>
                            <a:rPr lang="it-IT" sz="1200" b="0" i="0" smtClean="0">
                              <a:latin typeface="Cambria Math" panose="02040503050406030204" pitchFamily="18" charset="0"/>
                            </a:rPr>
                            <m:t>=</m:t>
                          </m:r>
                          <m:f>
                            <m:fPr>
                              <m:ctrlPr>
                                <a:rPr lang="it-IT" sz="1200" i="1" smtClean="0">
                                  <a:latin typeface="Cambria Math" panose="02040503050406030204" pitchFamily="18" charset="0"/>
                                </a:rPr>
                              </m:ctrlPr>
                            </m:fPr>
                            <m:num>
                              <m:r>
                                <a:rPr lang="it-IT" sz="1200">
                                  <a:latin typeface="Cambria Math" panose="02040503050406030204" pitchFamily="18" charset="0"/>
                                </a:rPr>
                                <m:t>1</m:t>
                              </m:r>
                            </m:num>
                            <m:den>
                              <m:r>
                                <a:rPr lang="it-IT" sz="1200" b="0" i="1" smtClean="0">
                                  <a:latin typeface="Cambria Math" panose="02040503050406030204" pitchFamily="18" charset="0"/>
                                </a:rPr>
                                <m:t>250</m:t>
                              </m:r>
                            </m:den>
                          </m:f>
                          <m:r>
                            <a:rPr lang="it-IT" sz="1200" b="0" i="1" smtClean="0">
                              <a:latin typeface="Cambria Math" panose="02040503050406030204" pitchFamily="18" charset="0"/>
                            </a:rPr>
                            <m:t> </m:t>
                          </m:r>
                          <m:r>
                            <a:rPr lang="it-IT" sz="1200" b="0" i="1" smtClean="0">
                              <a:latin typeface="Cambria Math" panose="02040503050406030204" pitchFamily="18" charset="0"/>
                              <a:ea typeface="Cambria Math" panose="02040503050406030204" pitchFamily="18" charset="0"/>
                            </a:rPr>
                            <m:t>≈4</m:t>
                          </m:r>
                          <m:r>
                            <a:rPr lang="it-IT" sz="1200" b="0" i="1" smtClean="0">
                              <a:latin typeface="Cambria Math" panose="02040503050406030204" pitchFamily="18" charset="0"/>
                              <a:ea typeface="Cambria Math" panose="02040503050406030204" pitchFamily="18" charset="0"/>
                            </a:rPr>
                            <m:t>𝑚𝑠</m:t>
                          </m:r>
                        </m:oMath>
                      </m:oMathPara>
                    </a14:m>
                    <a:endParaRPr lang="it-IT" sz="1200" dirty="0"/>
                  </a:p>
                </p:txBody>
              </p:sp>
            </mc:Choice>
            <mc:Fallback xmlns="">
              <p:sp>
                <p:nvSpPr>
                  <p:cNvPr id="8" name="CasellaDiTesto 7">
                    <a:extLst>
                      <a:ext uri="{FF2B5EF4-FFF2-40B4-BE49-F238E27FC236}">
                        <a16:creationId xmlns:a16="http://schemas.microsoft.com/office/drawing/2014/main" id="{CE901262-4DE8-70E2-D934-6EBBE0426B46}"/>
                      </a:ext>
                    </a:extLst>
                  </p:cNvPr>
                  <p:cNvSpPr txBox="1">
                    <a:spLocks noRot="1" noChangeAspect="1" noMove="1" noResize="1" noEditPoints="1" noAdjustHandles="1" noChangeArrowheads="1" noChangeShapeType="1" noTextEdit="1"/>
                  </p:cNvSpPr>
                  <p:nvPr/>
                </p:nvSpPr>
                <p:spPr>
                  <a:xfrm>
                    <a:off x="1756704" y="4289515"/>
                    <a:ext cx="2031646" cy="346890"/>
                  </a:xfrm>
                  <a:prstGeom prst="rect">
                    <a:avLst/>
                  </a:prstGeom>
                  <a:blipFill>
                    <a:blip r:embed="rId8"/>
                    <a:stretch>
                      <a:fillRect l="-1502" t="-3509" r="-1502" b="-14035"/>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CasellaDiTesto 8">
                    <a:extLst>
                      <a:ext uri="{FF2B5EF4-FFF2-40B4-BE49-F238E27FC236}">
                        <a16:creationId xmlns:a16="http://schemas.microsoft.com/office/drawing/2014/main" id="{AE6ABA1E-8579-A0B2-5C5F-6C3A3445E576}"/>
                      </a:ext>
                    </a:extLst>
                  </p:cNvPr>
                  <p:cNvSpPr txBox="1"/>
                  <p:nvPr/>
                </p:nvSpPr>
                <p:spPr>
                  <a:xfrm>
                    <a:off x="1736859" y="4831402"/>
                    <a:ext cx="1313949"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1200" i="1" smtClean="0">
                                  <a:latin typeface="Cambria Math" panose="02040503050406030204" pitchFamily="18" charset="0"/>
                                </a:rPr>
                              </m:ctrlPr>
                            </m:sSubPr>
                            <m:e>
                              <m:r>
                                <a:rPr lang="it-IT" sz="1200" b="0" i="1" smtClean="0">
                                  <a:latin typeface="Cambria Math" panose="02040503050406030204" pitchFamily="18" charset="0"/>
                                </a:rPr>
                                <m:t>𝑡</m:t>
                              </m:r>
                            </m:e>
                            <m:sub>
                              <m:r>
                                <a:rPr lang="it-IT" sz="1200" b="0" i="1" smtClean="0">
                                  <a:latin typeface="Cambria Math" panose="02040503050406030204" pitchFamily="18" charset="0"/>
                                </a:rPr>
                                <m:t>1</m:t>
                              </m:r>
                            </m:sub>
                          </m:sSub>
                          <m:r>
                            <a:rPr lang="it-IT" sz="1200" b="0" i="1" smtClean="0">
                              <a:latin typeface="Cambria Math" panose="02040503050406030204" pitchFamily="18" charset="0"/>
                            </a:rPr>
                            <m:t>=995.73106 </m:t>
                          </m:r>
                          <m:r>
                            <a:rPr lang="it-IT" sz="1200" b="0" i="1" smtClean="0">
                              <a:latin typeface="Cambria Math" panose="02040503050406030204" pitchFamily="18" charset="0"/>
                              <a:ea typeface="Cambria Math" panose="02040503050406030204" pitchFamily="18" charset="0"/>
                            </a:rPr>
                            <m:t>𝜇</m:t>
                          </m:r>
                          <m:r>
                            <a:rPr lang="it-IT" sz="1200" b="0" i="1" smtClean="0">
                              <a:latin typeface="Cambria Math" panose="02040503050406030204" pitchFamily="18" charset="0"/>
                            </a:rPr>
                            <m:t>𝑠</m:t>
                          </m:r>
                        </m:oMath>
                      </m:oMathPara>
                    </a14:m>
                    <a:endParaRPr lang="it-IT" sz="1200" dirty="0"/>
                  </a:p>
                </p:txBody>
              </p:sp>
            </mc:Choice>
            <mc:Fallback xmlns="">
              <p:sp>
                <p:nvSpPr>
                  <p:cNvPr id="9" name="CasellaDiTesto 8">
                    <a:extLst>
                      <a:ext uri="{FF2B5EF4-FFF2-40B4-BE49-F238E27FC236}">
                        <a16:creationId xmlns:a16="http://schemas.microsoft.com/office/drawing/2014/main" id="{AE6ABA1E-8579-A0B2-5C5F-6C3A3445E576}"/>
                      </a:ext>
                    </a:extLst>
                  </p:cNvPr>
                  <p:cNvSpPr txBox="1">
                    <a:spLocks noRot="1" noChangeAspect="1" noMove="1" noResize="1" noEditPoints="1" noAdjustHandles="1" noChangeArrowheads="1" noChangeShapeType="1" noTextEdit="1"/>
                  </p:cNvSpPr>
                  <p:nvPr/>
                </p:nvSpPr>
                <p:spPr>
                  <a:xfrm>
                    <a:off x="1736859" y="4831402"/>
                    <a:ext cx="1313949" cy="184666"/>
                  </a:xfrm>
                  <a:prstGeom prst="rect">
                    <a:avLst/>
                  </a:prstGeom>
                  <a:blipFill>
                    <a:blip r:embed="rId9"/>
                    <a:stretch>
                      <a:fillRect b="-23333"/>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CasellaDiTesto 9">
                    <a:extLst>
                      <a:ext uri="{FF2B5EF4-FFF2-40B4-BE49-F238E27FC236}">
                        <a16:creationId xmlns:a16="http://schemas.microsoft.com/office/drawing/2014/main" id="{1E240E01-F863-4BE1-12EA-D2BAD9143D11}"/>
                      </a:ext>
                    </a:extLst>
                  </p:cNvPr>
                  <p:cNvSpPr txBox="1"/>
                  <p:nvPr/>
                </p:nvSpPr>
                <p:spPr>
                  <a:xfrm>
                    <a:off x="1756704" y="5211065"/>
                    <a:ext cx="1274260"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1200" i="1" smtClean="0">
                                  <a:latin typeface="Cambria Math" panose="02040503050406030204" pitchFamily="18" charset="0"/>
                                </a:rPr>
                              </m:ctrlPr>
                            </m:sSubPr>
                            <m:e>
                              <m:r>
                                <a:rPr lang="it-IT" sz="1200" b="0" i="1" smtClean="0">
                                  <a:latin typeface="Cambria Math" panose="02040503050406030204" pitchFamily="18" charset="0"/>
                                </a:rPr>
                                <m:t>𝑡</m:t>
                              </m:r>
                            </m:e>
                            <m:sub>
                              <m:r>
                                <a:rPr lang="it-IT" sz="1200" b="0" i="1" smtClean="0">
                                  <a:latin typeface="Cambria Math" panose="02040503050406030204" pitchFamily="18" charset="0"/>
                                </a:rPr>
                                <m:t>2</m:t>
                              </m:r>
                            </m:sub>
                          </m:sSub>
                          <m:r>
                            <a:rPr lang="it-IT" sz="1200" b="0" i="1" smtClean="0">
                              <a:latin typeface="Cambria Math" panose="02040503050406030204" pitchFamily="18" charset="0"/>
                            </a:rPr>
                            <m:t>=638.20704 </m:t>
                          </m:r>
                          <m:r>
                            <a:rPr lang="it-IT" sz="1200" i="1">
                              <a:latin typeface="Cambria Math" panose="02040503050406030204" pitchFamily="18" charset="0"/>
                              <a:ea typeface="Cambria Math" panose="02040503050406030204" pitchFamily="18" charset="0"/>
                            </a:rPr>
                            <m:t>𝜇</m:t>
                          </m:r>
                          <m:r>
                            <a:rPr lang="it-IT" sz="1200" b="0" i="1" smtClean="0">
                              <a:latin typeface="Cambria Math" panose="02040503050406030204" pitchFamily="18" charset="0"/>
                            </a:rPr>
                            <m:t>𝑠</m:t>
                          </m:r>
                        </m:oMath>
                      </m:oMathPara>
                    </a14:m>
                    <a:endParaRPr lang="it-IT" sz="1200" dirty="0"/>
                  </a:p>
                </p:txBody>
              </p:sp>
            </mc:Choice>
            <mc:Fallback xmlns="">
              <p:sp>
                <p:nvSpPr>
                  <p:cNvPr id="10" name="CasellaDiTesto 9">
                    <a:extLst>
                      <a:ext uri="{FF2B5EF4-FFF2-40B4-BE49-F238E27FC236}">
                        <a16:creationId xmlns:a16="http://schemas.microsoft.com/office/drawing/2014/main" id="{1E240E01-F863-4BE1-12EA-D2BAD9143D11}"/>
                      </a:ext>
                    </a:extLst>
                  </p:cNvPr>
                  <p:cNvSpPr txBox="1">
                    <a:spLocks noRot="1" noChangeAspect="1" noMove="1" noResize="1" noEditPoints="1" noAdjustHandles="1" noChangeArrowheads="1" noChangeShapeType="1" noTextEdit="1"/>
                  </p:cNvSpPr>
                  <p:nvPr/>
                </p:nvSpPr>
                <p:spPr>
                  <a:xfrm>
                    <a:off x="1756704" y="5211065"/>
                    <a:ext cx="1274260" cy="184666"/>
                  </a:xfrm>
                  <a:prstGeom prst="rect">
                    <a:avLst/>
                  </a:prstGeom>
                  <a:blipFill>
                    <a:blip r:embed="rId10"/>
                    <a:stretch>
                      <a:fillRect l="-1914" r="-957" b="-23333"/>
                    </a:stretch>
                  </a:blipFill>
                </p:spPr>
                <p:txBody>
                  <a:bodyPr/>
                  <a:lstStyle/>
                  <a:p>
                    <a:r>
                      <a:rPr lang="it-IT">
                        <a:noFill/>
                      </a:rPr>
                      <a:t> </a:t>
                    </a:r>
                  </a:p>
                </p:txBody>
              </p:sp>
            </mc:Fallback>
          </mc:AlternateContent>
        </p:grpSp>
        <mc:AlternateContent xmlns:mc="http://schemas.openxmlformats.org/markup-compatibility/2006" xmlns:a14="http://schemas.microsoft.com/office/drawing/2010/main">
          <mc:Choice Requires="a14">
            <p:sp>
              <p:nvSpPr>
                <p:cNvPr id="11" name="CasellaDiTesto 10">
                  <a:extLst>
                    <a:ext uri="{FF2B5EF4-FFF2-40B4-BE49-F238E27FC236}">
                      <a16:creationId xmlns:a16="http://schemas.microsoft.com/office/drawing/2014/main" id="{CFFC697F-4226-C720-6987-C760E899F0D8}"/>
                    </a:ext>
                  </a:extLst>
                </p:cNvPr>
                <p:cNvSpPr txBox="1"/>
                <p:nvPr/>
              </p:nvSpPr>
              <p:spPr>
                <a:xfrm>
                  <a:off x="4974034" y="4377458"/>
                  <a:ext cx="142776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200" i="1" smtClean="0">
                            <a:latin typeface="Cambria Math" panose="02040503050406030204" pitchFamily="18" charset="0"/>
                            <a:ea typeface="Cambria Math" panose="02040503050406030204" pitchFamily="18" charset="0"/>
                          </a:rPr>
                          <m:t>∆</m:t>
                        </m:r>
                        <m:r>
                          <a:rPr lang="it-IT" sz="1200" b="0" i="1" smtClean="0">
                            <a:latin typeface="Cambria Math" panose="02040503050406030204" pitchFamily="18" charset="0"/>
                            <a:ea typeface="Cambria Math" panose="02040503050406030204" pitchFamily="18" charset="0"/>
                          </a:rPr>
                          <m:t>𝑡</m:t>
                        </m:r>
                        <m:r>
                          <a:rPr lang="it-IT" sz="1200" b="0" i="1" smtClean="0">
                            <a:latin typeface="Cambria Math" panose="02040503050406030204" pitchFamily="18" charset="0"/>
                          </a:rPr>
                          <m:t>=0.35752402 </m:t>
                        </m:r>
                        <m:r>
                          <a:rPr lang="it-IT" sz="1200" b="0" i="1" smtClean="0">
                            <a:latin typeface="Cambria Math" panose="02040503050406030204" pitchFamily="18" charset="0"/>
                          </a:rPr>
                          <m:t>𝑚𝑠</m:t>
                        </m:r>
                      </m:oMath>
                    </m:oMathPara>
                  </a14:m>
                  <a:endParaRPr lang="it-IT" sz="1200" dirty="0"/>
                </a:p>
              </p:txBody>
            </p:sp>
          </mc:Choice>
          <mc:Fallback xmlns="">
            <p:sp>
              <p:nvSpPr>
                <p:cNvPr id="11" name="CasellaDiTesto 10">
                  <a:extLst>
                    <a:ext uri="{FF2B5EF4-FFF2-40B4-BE49-F238E27FC236}">
                      <a16:creationId xmlns:a16="http://schemas.microsoft.com/office/drawing/2014/main" id="{CFFC697F-4226-C720-6987-C760E899F0D8}"/>
                    </a:ext>
                  </a:extLst>
                </p:cNvPr>
                <p:cNvSpPr txBox="1">
                  <a:spLocks noRot="1" noChangeAspect="1" noMove="1" noResize="1" noEditPoints="1" noAdjustHandles="1" noChangeArrowheads="1" noChangeShapeType="1" noTextEdit="1"/>
                </p:cNvSpPr>
                <p:nvPr/>
              </p:nvSpPr>
              <p:spPr>
                <a:xfrm>
                  <a:off x="4974034" y="4377458"/>
                  <a:ext cx="1427763" cy="184666"/>
                </a:xfrm>
                <a:prstGeom prst="rect">
                  <a:avLst/>
                </a:prstGeom>
                <a:blipFill>
                  <a:blip r:embed="rId11"/>
                  <a:stretch>
                    <a:fillRect l="-2137" r="-855" b="-6452"/>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 name="CasellaDiTesto 11">
                  <a:extLst>
                    <a:ext uri="{FF2B5EF4-FFF2-40B4-BE49-F238E27FC236}">
                      <a16:creationId xmlns:a16="http://schemas.microsoft.com/office/drawing/2014/main" id="{3C780B0E-9AE1-293D-46F3-2F4BB18F8F25}"/>
                    </a:ext>
                  </a:extLst>
                </p:cNvPr>
                <p:cNvSpPr txBox="1"/>
                <p:nvPr/>
              </p:nvSpPr>
              <p:spPr>
                <a:xfrm>
                  <a:off x="7475451" y="4294455"/>
                  <a:ext cx="2108654" cy="350673"/>
                </a:xfrm>
                <a:prstGeom prst="rect">
                  <a:avLst/>
                </a:prstGeom>
                <a:noFill/>
              </p:spPr>
              <p:txBody>
                <a:bodyPr wrap="none" lIns="0" tIns="0" rIns="0" bIns="0" rtlCol="0">
                  <a:spAutoFit/>
                </a:bodyPr>
                <a:lstStyle>
                  <a:defPPr>
                    <a:defRPr lang="en-US"/>
                  </a:defPPr>
                  <a:lvl1pPr>
                    <a:defRPr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it-IT" sz="1200" smtClean="0">
                            <a:latin typeface="Cambria Math" panose="02040503050406030204" pitchFamily="18" charset="0"/>
                          </a:rPr>
                          <m:t>𝜑</m:t>
                        </m:r>
                        <m:r>
                          <a:rPr lang="it-IT" sz="1200" smtClean="0">
                            <a:latin typeface="Cambria Math" panose="02040503050406030204" pitchFamily="18" charset="0"/>
                          </a:rPr>
                          <m:t>=360°⋅</m:t>
                        </m:r>
                        <m:f>
                          <m:fPr>
                            <m:ctrlPr>
                              <a:rPr lang="it-IT" sz="1200" i="1">
                                <a:latin typeface="Cambria Math" panose="02040503050406030204" pitchFamily="18" charset="0"/>
                              </a:rPr>
                            </m:ctrlPr>
                          </m:fPr>
                          <m:num>
                            <m:r>
                              <a:rPr lang="it-IT" sz="1200">
                                <a:latin typeface="Cambria Math" panose="02040503050406030204" pitchFamily="18" charset="0"/>
                              </a:rPr>
                              <m:t>0.35752402</m:t>
                            </m:r>
                          </m:num>
                          <m:den>
                            <m:r>
                              <a:rPr lang="it-IT" sz="1200" b="0" i="1" smtClean="0">
                                <a:latin typeface="Cambria Math" panose="02040503050406030204" pitchFamily="18" charset="0"/>
                              </a:rPr>
                              <m:t>4</m:t>
                            </m:r>
                          </m:den>
                        </m:f>
                        <m:r>
                          <a:rPr lang="it-IT" sz="1200" b="0" i="1" smtClean="0">
                            <a:latin typeface="Cambria Math" panose="02040503050406030204" pitchFamily="18" charset="0"/>
                          </a:rPr>
                          <m:t>=32.2</m:t>
                        </m:r>
                        <m:r>
                          <a:rPr lang="it-IT" sz="1200">
                            <a:latin typeface="Cambria Math" panose="02040503050406030204" pitchFamily="18" charset="0"/>
                          </a:rPr>
                          <m:t>°</m:t>
                        </m:r>
                      </m:oMath>
                    </m:oMathPara>
                  </a14:m>
                  <a:endParaRPr lang="it-IT" sz="1200" dirty="0"/>
                </a:p>
              </p:txBody>
            </p:sp>
          </mc:Choice>
          <mc:Fallback xmlns="">
            <p:sp>
              <p:nvSpPr>
                <p:cNvPr id="12" name="CasellaDiTesto 11">
                  <a:extLst>
                    <a:ext uri="{FF2B5EF4-FFF2-40B4-BE49-F238E27FC236}">
                      <a16:creationId xmlns:a16="http://schemas.microsoft.com/office/drawing/2014/main" id="{3C780B0E-9AE1-293D-46F3-2F4BB18F8F25}"/>
                    </a:ext>
                  </a:extLst>
                </p:cNvPr>
                <p:cNvSpPr txBox="1">
                  <a:spLocks noRot="1" noChangeAspect="1" noMove="1" noResize="1" noEditPoints="1" noAdjustHandles="1" noChangeArrowheads="1" noChangeShapeType="1" noTextEdit="1"/>
                </p:cNvSpPr>
                <p:nvPr/>
              </p:nvSpPr>
              <p:spPr>
                <a:xfrm>
                  <a:off x="7475451" y="4294455"/>
                  <a:ext cx="2108654" cy="350673"/>
                </a:xfrm>
                <a:prstGeom prst="rect">
                  <a:avLst/>
                </a:prstGeom>
                <a:blipFill>
                  <a:blip r:embed="rId12"/>
                  <a:stretch>
                    <a:fillRect l="-1445" t="-3509" r="-1156" b="-15789"/>
                  </a:stretch>
                </a:blipFill>
              </p:spPr>
              <p:txBody>
                <a:bodyPr/>
                <a:lstStyle/>
                <a:p>
                  <a:r>
                    <a:rPr lang="it-IT">
                      <a:noFill/>
                    </a:rPr>
                    <a:t> </a:t>
                  </a:r>
                </a:p>
              </p:txBody>
            </p:sp>
          </mc:Fallback>
        </mc:AlternateContent>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sellaDiTesto 6">
            <a:extLst>
              <a:ext uri="{FF2B5EF4-FFF2-40B4-BE49-F238E27FC236}">
                <a16:creationId xmlns:a16="http://schemas.microsoft.com/office/drawing/2014/main" id="{1EA8E5F0-EC57-D933-7E60-4490AF2BA27E}"/>
              </a:ext>
            </a:extLst>
          </p:cNvPr>
          <p:cNvSpPr txBox="1"/>
          <p:nvPr/>
        </p:nvSpPr>
        <p:spPr>
          <a:xfrm>
            <a:off x="1042099" y="1500459"/>
            <a:ext cx="10107802" cy="553968"/>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400" b="0" u="none">
                <a:latin typeface="Libre Franklin"/>
                <a:ea typeface="Libre Franklin"/>
                <a:cs typeface="Libre Franklin"/>
              </a:defRPr>
            </a:lvl1pPr>
          </a:lstStyle>
          <a:p>
            <a:r>
              <a:rPr lang="it-IT" sz="1200" dirty="0"/>
              <a:t>Ora possiamo spiegare che, conoscendo la frequenza del segnale da analizzare, è possibile ricavare direttamente il comportamento del filtro.</a:t>
            </a:r>
          </a:p>
        </p:txBody>
      </p:sp>
      <p:sp>
        <p:nvSpPr>
          <p:cNvPr id="10" name="CasellaDiTesto 9">
            <a:extLst>
              <a:ext uri="{FF2B5EF4-FFF2-40B4-BE49-F238E27FC236}">
                <a16:creationId xmlns:a16="http://schemas.microsoft.com/office/drawing/2014/main" id="{66BFD964-EBC2-5BA8-9664-7CCF5369B475}"/>
              </a:ext>
            </a:extLst>
          </p:cNvPr>
          <p:cNvSpPr txBox="1"/>
          <p:nvPr/>
        </p:nvSpPr>
        <p:spPr>
          <a:xfrm>
            <a:off x="1042099" y="2083452"/>
            <a:ext cx="10107802"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400" b="0" u="none">
                <a:latin typeface="Libre Franklin"/>
                <a:ea typeface="Libre Franklin"/>
                <a:cs typeface="Libre Franklin"/>
              </a:defRPr>
            </a:lvl1pPr>
          </a:lstStyle>
          <a:p>
            <a:r>
              <a:rPr lang="it-IT" sz="1200" dirty="0"/>
              <a:t>Infatti f si calcola come: </a:t>
            </a:r>
          </a:p>
        </p:txBody>
      </p:sp>
      <mc:AlternateContent xmlns:mc="http://schemas.openxmlformats.org/markup-compatibility/2006" xmlns:a14="http://schemas.microsoft.com/office/drawing/2010/main">
        <mc:Choice Requires="a14">
          <p:sp>
            <p:nvSpPr>
              <p:cNvPr id="11" name="CasellaDiTesto 10">
                <a:extLst>
                  <a:ext uri="{FF2B5EF4-FFF2-40B4-BE49-F238E27FC236}">
                    <a16:creationId xmlns:a16="http://schemas.microsoft.com/office/drawing/2014/main" id="{58BC91AB-7A24-7E55-8CFA-89D0890B53E8}"/>
                  </a:ext>
                </a:extLst>
              </p:cNvPr>
              <p:cNvSpPr txBox="1"/>
              <p:nvPr/>
            </p:nvSpPr>
            <p:spPr>
              <a:xfrm>
                <a:off x="3020036" y="2175770"/>
                <a:ext cx="72295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i="1" smtClean="0">
                          <a:latin typeface="Cambria Math" panose="02040503050406030204" pitchFamily="18" charset="0"/>
                        </a:rPr>
                        <m:t>𝜔</m:t>
                      </m:r>
                      <m:r>
                        <a:rPr lang="it-IT" sz="1400" i="0">
                          <a:latin typeface="Cambria Math" panose="02040503050406030204" pitchFamily="18" charset="0"/>
                        </a:rPr>
                        <m:t>=2</m:t>
                      </m:r>
                      <m:r>
                        <a:rPr lang="it-IT" sz="1400" i="1">
                          <a:latin typeface="Cambria Math" panose="02040503050406030204" pitchFamily="18" charset="0"/>
                        </a:rPr>
                        <m:t>𝜋</m:t>
                      </m:r>
                      <m:r>
                        <a:rPr lang="it-IT" sz="1400" i="1">
                          <a:latin typeface="Cambria Math" panose="02040503050406030204" pitchFamily="18" charset="0"/>
                        </a:rPr>
                        <m:t>𝑓</m:t>
                      </m:r>
                    </m:oMath>
                  </m:oMathPara>
                </a14:m>
                <a:endParaRPr lang="it-IT" sz="1400" dirty="0"/>
              </a:p>
            </p:txBody>
          </p:sp>
        </mc:Choice>
        <mc:Fallback xmlns="">
          <p:sp>
            <p:nvSpPr>
              <p:cNvPr id="11" name="CasellaDiTesto 10">
                <a:extLst>
                  <a:ext uri="{FF2B5EF4-FFF2-40B4-BE49-F238E27FC236}">
                    <a16:creationId xmlns:a16="http://schemas.microsoft.com/office/drawing/2014/main" id="{58BC91AB-7A24-7E55-8CFA-89D0890B53E8}"/>
                  </a:ext>
                </a:extLst>
              </p:cNvPr>
              <p:cNvSpPr txBox="1">
                <a:spLocks noRot="1" noChangeAspect="1" noMove="1" noResize="1" noEditPoints="1" noAdjustHandles="1" noChangeArrowheads="1" noChangeShapeType="1" noTextEdit="1"/>
              </p:cNvSpPr>
              <p:nvPr/>
            </p:nvSpPr>
            <p:spPr>
              <a:xfrm>
                <a:off x="3020036" y="2175770"/>
                <a:ext cx="722955" cy="215444"/>
              </a:xfrm>
              <a:prstGeom prst="rect">
                <a:avLst/>
              </a:prstGeom>
              <a:blipFill>
                <a:blip r:embed="rId2"/>
                <a:stretch>
                  <a:fillRect l="-2521" r="-6723" b="-31429"/>
                </a:stretch>
              </a:blipFill>
            </p:spPr>
            <p:txBody>
              <a:bodyPr/>
              <a:lstStyle/>
              <a:p>
                <a:r>
                  <a:rPr lang="it-IT">
                    <a:noFill/>
                  </a:rPr>
                  <a:t> </a:t>
                </a:r>
              </a:p>
            </p:txBody>
          </p:sp>
        </mc:Fallback>
      </mc:AlternateContent>
      <p:sp>
        <p:nvSpPr>
          <p:cNvPr id="12" name="Google Shape;174;p20">
            <a:extLst>
              <a:ext uri="{FF2B5EF4-FFF2-40B4-BE49-F238E27FC236}">
                <a16:creationId xmlns:a16="http://schemas.microsoft.com/office/drawing/2014/main" id="{A1D8CD0A-7066-1F4B-67C7-3DE9ACEC8283}"/>
              </a:ext>
            </a:extLst>
          </p:cNvPr>
          <p:cNvSpPr txBox="1"/>
          <p:nvPr/>
        </p:nvSpPr>
        <p:spPr>
          <a:xfrm>
            <a:off x="1054250" y="712407"/>
            <a:ext cx="10107802" cy="569356"/>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Studio tramite guadagno e calcolo della fase</a:t>
            </a:r>
          </a:p>
        </p:txBody>
      </p:sp>
      <mc:AlternateContent xmlns:mc="http://schemas.openxmlformats.org/markup-compatibility/2006" xmlns:a14="http://schemas.microsoft.com/office/drawing/2010/main">
        <mc:Choice Requires="a14">
          <p:sp>
            <p:nvSpPr>
              <p:cNvPr id="13" name="CasellaDiTesto 12">
                <a:extLst>
                  <a:ext uri="{FF2B5EF4-FFF2-40B4-BE49-F238E27FC236}">
                    <a16:creationId xmlns:a16="http://schemas.microsoft.com/office/drawing/2014/main" id="{FA748080-75E7-7344-1DBB-A722396E821A}"/>
                  </a:ext>
                </a:extLst>
              </p:cNvPr>
              <p:cNvSpPr txBox="1"/>
              <p:nvPr/>
            </p:nvSpPr>
            <p:spPr>
              <a:xfrm>
                <a:off x="2786359" y="3174443"/>
                <a:ext cx="1588063" cy="353110"/>
              </a:xfrm>
              <a:prstGeom prst="rect">
                <a:avLst/>
              </a:prstGeom>
              <a:noFill/>
            </p:spPr>
            <p:txBody>
              <a:bodyPr wrap="none" lIns="0" tIns="0" rIns="0" bIns="0" rtlCol="0">
                <a:spAutoFit/>
              </a:bodyPr>
              <a:lstStyle/>
              <a:p>
                <a:r>
                  <a:rPr lang="it-IT" sz="1400" dirty="0"/>
                  <a:t>|</a:t>
                </a:r>
                <a14:m>
                  <m:oMath xmlns:m="http://schemas.openxmlformats.org/officeDocument/2006/math">
                    <m:r>
                      <a:rPr lang="it-IT" sz="1400" i="1" smtClean="0">
                        <a:latin typeface="Cambria Math" panose="02040503050406030204" pitchFamily="18" charset="0"/>
                      </a:rPr>
                      <m:t>𝐻</m:t>
                    </m:r>
                    <m:d>
                      <m:dPr>
                        <m:ctrlPr>
                          <a:rPr lang="it-IT" sz="1400" b="0" i="1" smtClean="0">
                            <a:latin typeface="Cambria Math" panose="02040503050406030204" pitchFamily="18" charset="0"/>
                          </a:rPr>
                        </m:ctrlPr>
                      </m:dPr>
                      <m:e>
                        <m:r>
                          <a:rPr lang="it-IT" sz="1400" b="0" i="1" smtClean="0">
                            <a:latin typeface="Cambria Math" panose="02040503050406030204" pitchFamily="18" charset="0"/>
                          </a:rPr>
                          <m:t>𝑗</m:t>
                        </m:r>
                        <m:r>
                          <a:rPr lang="it-IT" sz="1400" i="1">
                            <a:latin typeface="Cambria Math" panose="02040503050406030204" pitchFamily="18" charset="0"/>
                            <a:ea typeface="Cambria Math" panose="02040503050406030204" pitchFamily="18" charset="0"/>
                          </a:rPr>
                          <m:t>𝜔</m:t>
                        </m:r>
                      </m:e>
                    </m:d>
                    <m:r>
                      <a:rPr lang="it-IT" sz="1400" b="0" i="1" smtClean="0">
                        <a:latin typeface="Cambria Math" panose="02040503050406030204" pitchFamily="18" charset="0"/>
                        <a:ea typeface="Cambria Math" panose="02040503050406030204" pitchFamily="18" charset="0"/>
                      </a:rPr>
                      <m:t>|</m:t>
                    </m:r>
                    <m:r>
                      <a:rPr lang="it-IT" sz="1400" i="0">
                        <a:latin typeface="Cambria Math" panose="02040503050406030204" pitchFamily="18" charset="0"/>
                      </a:rPr>
                      <m:t>=</m:t>
                    </m:r>
                    <m:f>
                      <m:fPr>
                        <m:ctrlPr>
                          <a:rPr lang="it-IT" sz="1400" i="1" smtClean="0">
                            <a:latin typeface="Cambria Math" panose="02040503050406030204" pitchFamily="18" charset="0"/>
                          </a:rPr>
                        </m:ctrlPr>
                      </m:fPr>
                      <m:num>
                        <m:r>
                          <a:rPr lang="it-IT" sz="1400" b="0" i="1" smtClean="0">
                            <a:latin typeface="Cambria Math" panose="02040503050406030204" pitchFamily="18" charset="0"/>
                            <a:ea typeface="Cambria Math" panose="02040503050406030204" pitchFamily="18" charset="0"/>
                          </a:rPr>
                          <m:t>𝜔</m:t>
                        </m:r>
                        <m:r>
                          <a:rPr lang="it-IT" sz="1400" i="1">
                            <a:latin typeface="Cambria Math" panose="02040503050406030204" pitchFamily="18" charset="0"/>
                          </a:rPr>
                          <m:t>𝑅</m:t>
                        </m:r>
                        <m:r>
                          <a:rPr lang="it-IT" sz="1400" b="0" i="1" smtClean="0">
                            <a:latin typeface="Cambria Math" panose="02040503050406030204" pitchFamily="18" charset="0"/>
                          </a:rPr>
                          <m:t>𝐶</m:t>
                        </m:r>
                      </m:num>
                      <m:den>
                        <m:rad>
                          <m:radPr>
                            <m:degHide m:val="on"/>
                            <m:ctrlPr>
                              <a:rPr lang="it-IT" sz="1400" i="1" smtClean="0">
                                <a:latin typeface="Cambria Math" panose="02040503050406030204" pitchFamily="18" charset="0"/>
                              </a:rPr>
                            </m:ctrlPr>
                          </m:radPr>
                          <m:deg/>
                          <m:e>
                            <m:r>
                              <a:rPr lang="it-IT" sz="1400" i="1">
                                <a:latin typeface="Cambria Math" panose="02040503050406030204" pitchFamily="18" charset="0"/>
                              </a:rPr>
                              <m:t>1</m:t>
                            </m:r>
                            <m:r>
                              <a:rPr lang="it-IT" sz="1400">
                                <a:latin typeface="Cambria Math" panose="02040503050406030204" pitchFamily="18" charset="0"/>
                              </a:rPr>
                              <m:t>+</m:t>
                            </m:r>
                            <m:sSup>
                              <m:sSupPr>
                                <m:ctrlPr>
                                  <a:rPr lang="it-IT" sz="1400" i="1" smtClean="0">
                                    <a:latin typeface="Cambria Math" panose="02040503050406030204" pitchFamily="18" charset="0"/>
                                  </a:rPr>
                                </m:ctrlPr>
                              </m:sSupPr>
                              <m:e>
                                <m:r>
                                  <a:rPr lang="it-IT" sz="1400" b="0" i="1" smtClean="0">
                                    <a:latin typeface="Cambria Math" panose="02040503050406030204" pitchFamily="18" charset="0"/>
                                  </a:rPr>
                                  <m:t>(</m:t>
                                </m:r>
                                <m:r>
                                  <a:rPr lang="it-IT" sz="1400" i="1">
                                    <a:latin typeface="Cambria Math" panose="02040503050406030204" pitchFamily="18" charset="0"/>
                                    <a:ea typeface="Cambria Math" panose="02040503050406030204" pitchFamily="18" charset="0"/>
                                  </a:rPr>
                                  <m:t>𝜔</m:t>
                                </m:r>
                                <m:r>
                                  <a:rPr lang="it-IT" sz="1400" i="1">
                                    <a:latin typeface="Cambria Math" panose="02040503050406030204" pitchFamily="18" charset="0"/>
                                  </a:rPr>
                                  <m:t>𝑅𝐶</m:t>
                                </m:r>
                                <m:r>
                                  <a:rPr lang="it-IT" sz="1400" b="0" i="1" smtClean="0">
                                    <a:latin typeface="Cambria Math" panose="02040503050406030204" pitchFamily="18" charset="0"/>
                                  </a:rPr>
                                  <m:t>)</m:t>
                                </m:r>
                              </m:e>
                              <m:sup>
                                <m:r>
                                  <a:rPr lang="it-IT" sz="1400" b="0" i="1" smtClean="0">
                                    <a:latin typeface="Cambria Math" panose="02040503050406030204" pitchFamily="18" charset="0"/>
                                  </a:rPr>
                                  <m:t>2</m:t>
                                </m:r>
                              </m:sup>
                            </m:sSup>
                          </m:e>
                        </m:rad>
                      </m:den>
                    </m:f>
                  </m:oMath>
                </a14:m>
                <a:endParaRPr lang="it-IT" sz="1400" dirty="0"/>
              </a:p>
            </p:txBody>
          </p:sp>
        </mc:Choice>
        <mc:Fallback xmlns="">
          <p:sp>
            <p:nvSpPr>
              <p:cNvPr id="13" name="CasellaDiTesto 12">
                <a:extLst>
                  <a:ext uri="{FF2B5EF4-FFF2-40B4-BE49-F238E27FC236}">
                    <a16:creationId xmlns:a16="http://schemas.microsoft.com/office/drawing/2014/main" id="{FA748080-75E7-7344-1DBB-A722396E821A}"/>
                  </a:ext>
                </a:extLst>
              </p:cNvPr>
              <p:cNvSpPr txBox="1">
                <a:spLocks noRot="1" noChangeAspect="1" noMove="1" noResize="1" noEditPoints="1" noAdjustHandles="1" noChangeArrowheads="1" noChangeShapeType="1" noTextEdit="1"/>
              </p:cNvSpPr>
              <p:nvPr/>
            </p:nvSpPr>
            <p:spPr>
              <a:xfrm>
                <a:off x="2786359" y="3174443"/>
                <a:ext cx="1588063" cy="353110"/>
              </a:xfrm>
              <a:prstGeom prst="rect">
                <a:avLst/>
              </a:prstGeom>
              <a:blipFill>
                <a:blip r:embed="rId3"/>
                <a:stretch>
                  <a:fillRect l="-6897" t="-3448" r="-1149" b="-15517"/>
                </a:stretch>
              </a:blipFill>
            </p:spPr>
            <p:txBody>
              <a:bodyPr/>
              <a:lstStyle/>
              <a:p>
                <a:r>
                  <a:rPr lang="it-IT">
                    <a:noFill/>
                  </a:rPr>
                  <a:t> </a:t>
                </a:r>
              </a:p>
            </p:txBody>
          </p:sp>
        </mc:Fallback>
      </mc:AlternateContent>
      <p:sp>
        <p:nvSpPr>
          <p:cNvPr id="14" name="CasellaDiTesto 13">
            <a:extLst>
              <a:ext uri="{FF2B5EF4-FFF2-40B4-BE49-F238E27FC236}">
                <a16:creationId xmlns:a16="http://schemas.microsoft.com/office/drawing/2014/main" id="{DEED4A1F-69DE-86AC-C79D-85716F5C2675}"/>
              </a:ext>
            </a:extLst>
          </p:cNvPr>
          <p:cNvSpPr txBox="1"/>
          <p:nvPr/>
        </p:nvSpPr>
        <p:spPr>
          <a:xfrm>
            <a:off x="1042099" y="2616845"/>
            <a:ext cx="5053901"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400" b="0" u="none">
                <a:latin typeface="Libre Franklin"/>
                <a:ea typeface="Libre Franklin"/>
                <a:cs typeface="Libre Franklin"/>
              </a:defRPr>
            </a:lvl1pPr>
          </a:lstStyle>
          <a:p>
            <a:pPr algn="ctr"/>
            <a:r>
              <a:rPr lang="it-IT" sz="1200" b="1" dirty="0"/>
              <a:t>Guadagno</a:t>
            </a:r>
          </a:p>
        </p:txBody>
      </p:sp>
      <mc:AlternateContent xmlns:mc="http://schemas.openxmlformats.org/markup-compatibility/2006" xmlns:a14="http://schemas.microsoft.com/office/drawing/2010/main">
        <mc:Choice Requires="a14">
          <p:sp>
            <p:nvSpPr>
              <p:cNvPr id="15" name="CasellaDiTesto 14">
                <a:extLst>
                  <a:ext uri="{FF2B5EF4-FFF2-40B4-BE49-F238E27FC236}">
                    <a16:creationId xmlns:a16="http://schemas.microsoft.com/office/drawing/2014/main" id="{27779710-6C89-6A37-75A5-12BF673DADB9}"/>
                  </a:ext>
                </a:extLst>
              </p:cNvPr>
              <p:cNvSpPr txBox="1"/>
              <p:nvPr/>
            </p:nvSpPr>
            <p:spPr>
              <a:xfrm>
                <a:off x="2786359" y="3719344"/>
                <a:ext cx="158857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1400" i="1" smtClean="0">
                              <a:latin typeface="Cambria Math" panose="02040503050406030204" pitchFamily="18" charset="0"/>
                            </a:rPr>
                          </m:ctrlPr>
                        </m:sSubPr>
                        <m:e>
                          <m:r>
                            <a:rPr lang="it-IT" sz="1400" i="1">
                              <a:latin typeface="Cambria Math" panose="02040503050406030204" pitchFamily="18" charset="0"/>
                            </a:rPr>
                            <m:t>𝐺</m:t>
                          </m:r>
                        </m:e>
                        <m:sub>
                          <m:r>
                            <a:rPr lang="it-IT" sz="1400" i="0">
                              <a:latin typeface="Cambria Math" panose="02040503050406030204" pitchFamily="18" charset="0"/>
                            </a:rPr>
                            <m:t>ⅆ</m:t>
                          </m:r>
                          <m:r>
                            <a:rPr lang="it-IT" sz="1400" i="1">
                              <a:latin typeface="Cambria Math" panose="02040503050406030204" pitchFamily="18" charset="0"/>
                            </a:rPr>
                            <m:t>𝐵</m:t>
                          </m:r>
                        </m:sub>
                      </m:sSub>
                      <m:r>
                        <a:rPr lang="it-IT" sz="1400" i="0">
                          <a:latin typeface="Cambria Math" panose="02040503050406030204" pitchFamily="18" charset="0"/>
                        </a:rPr>
                        <m:t>=20</m:t>
                      </m:r>
                      <m:func>
                        <m:funcPr>
                          <m:ctrlPr>
                            <a:rPr lang="it-IT" sz="1400" i="1">
                              <a:latin typeface="Cambria Math" panose="02040503050406030204" pitchFamily="18" charset="0"/>
                            </a:rPr>
                          </m:ctrlPr>
                        </m:funcPr>
                        <m:fName>
                          <m:sSub>
                            <m:sSubPr>
                              <m:ctrlPr>
                                <a:rPr lang="it-IT" sz="1400" i="1">
                                  <a:latin typeface="Cambria Math" panose="02040503050406030204" pitchFamily="18" charset="0"/>
                                </a:rPr>
                              </m:ctrlPr>
                            </m:sSubPr>
                            <m:e>
                              <m:r>
                                <m:rPr>
                                  <m:sty m:val="p"/>
                                </m:rPr>
                                <a:rPr lang="it-IT" sz="1400" i="0">
                                  <a:latin typeface="Cambria Math" panose="02040503050406030204" pitchFamily="18" charset="0"/>
                                </a:rPr>
                                <m:t>log</m:t>
                              </m:r>
                            </m:e>
                            <m:sub>
                              <m:r>
                                <a:rPr lang="it-IT" sz="1400" i="0">
                                  <a:latin typeface="Cambria Math" panose="02040503050406030204" pitchFamily="18" charset="0"/>
                                </a:rPr>
                                <m:t>10</m:t>
                              </m:r>
                            </m:sub>
                          </m:sSub>
                        </m:fName>
                        <m:e>
                          <m:d>
                            <m:dPr>
                              <m:ctrlPr>
                                <a:rPr lang="it-IT" sz="1400" i="1">
                                  <a:latin typeface="Cambria Math" panose="02040503050406030204" pitchFamily="18" charset="0"/>
                                </a:rPr>
                              </m:ctrlPr>
                            </m:dPr>
                            <m:e>
                              <m:d>
                                <m:dPr>
                                  <m:begChr m:val="|"/>
                                  <m:endChr m:val="|"/>
                                  <m:ctrlPr>
                                    <a:rPr lang="it-IT" sz="1400" i="1">
                                      <a:latin typeface="Cambria Math" panose="02040503050406030204" pitchFamily="18" charset="0"/>
                                    </a:rPr>
                                  </m:ctrlPr>
                                </m:dPr>
                                <m:e>
                                  <m:r>
                                    <a:rPr lang="it-IT" sz="1400" i="1">
                                      <a:latin typeface="Cambria Math" panose="02040503050406030204" pitchFamily="18" charset="0"/>
                                    </a:rPr>
                                    <m:t>𝐻</m:t>
                                  </m:r>
                                </m:e>
                              </m:d>
                            </m:e>
                          </m:d>
                        </m:e>
                      </m:func>
                    </m:oMath>
                  </m:oMathPara>
                </a14:m>
                <a:endParaRPr lang="it-IT" sz="1400" dirty="0"/>
              </a:p>
            </p:txBody>
          </p:sp>
        </mc:Choice>
        <mc:Fallback xmlns="">
          <p:sp>
            <p:nvSpPr>
              <p:cNvPr id="15" name="CasellaDiTesto 14">
                <a:extLst>
                  <a:ext uri="{FF2B5EF4-FFF2-40B4-BE49-F238E27FC236}">
                    <a16:creationId xmlns:a16="http://schemas.microsoft.com/office/drawing/2014/main" id="{27779710-6C89-6A37-75A5-12BF673DADB9}"/>
                  </a:ext>
                </a:extLst>
              </p:cNvPr>
              <p:cNvSpPr txBox="1">
                <a:spLocks noRot="1" noChangeAspect="1" noMove="1" noResize="1" noEditPoints="1" noAdjustHandles="1" noChangeArrowheads="1" noChangeShapeType="1" noTextEdit="1"/>
              </p:cNvSpPr>
              <p:nvPr/>
            </p:nvSpPr>
            <p:spPr>
              <a:xfrm>
                <a:off x="2786359" y="3719344"/>
                <a:ext cx="1588575" cy="215444"/>
              </a:xfrm>
              <a:prstGeom prst="rect">
                <a:avLst/>
              </a:prstGeom>
              <a:blipFill>
                <a:blip r:embed="rId4"/>
                <a:stretch>
                  <a:fillRect l="-1916" b="-3428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6" name="CasellaDiTesto 15">
                <a:extLst>
                  <a:ext uri="{FF2B5EF4-FFF2-40B4-BE49-F238E27FC236}">
                    <a16:creationId xmlns:a16="http://schemas.microsoft.com/office/drawing/2014/main" id="{68C85F09-1329-4C20-8574-BFC088F4DE8B}"/>
                  </a:ext>
                </a:extLst>
              </p:cNvPr>
              <p:cNvSpPr txBox="1"/>
              <p:nvPr/>
            </p:nvSpPr>
            <p:spPr>
              <a:xfrm>
                <a:off x="7679311" y="3275844"/>
                <a:ext cx="189943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i="1" smtClean="0">
                          <a:latin typeface="Cambria Math" panose="02040503050406030204" pitchFamily="18" charset="0"/>
                        </a:rPr>
                        <m:t>𝜑</m:t>
                      </m:r>
                      <m:r>
                        <a:rPr lang="it-IT" sz="1400" i="0">
                          <a:latin typeface="Cambria Math" panose="02040503050406030204" pitchFamily="18" charset="0"/>
                        </a:rPr>
                        <m:t>=</m:t>
                      </m:r>
                      <m:sSup>
                        <m:sSupPr>
                          <m:ctrlPr>
                            <a:rPr lang="it-IT" sz="1400" i="1">
                              <a:latin typeface="Cambria Math" panose="02040503050406030204" pitchFamily="18" charset="0"/>
                            </a:rPr>
                          </m:ctrlPr>
                        </m:sSupPr>
                        <m:e>
                          <m:r>
                            <a:rPr lang="it-IT" sz="1400" i="0">
                              <a:latin typeface="Cambria Math" panose="02040503050406030204" pitchFamily="18" charset="0"/>
                            </a:rPr>
                            <m:t>90</m:t>
                          </m:r>
                        </m:e>
                        <m:sup>
                          <m:r>
                            <a:rPr lang="it-IT" sz="1400" i="0">
                              <a:latin typeface="Cambria Math" panose="02040503050406030204" pitchFamily="18" charset="0"/>
                            </a:rPr>
                            <m:t>0</m:t>
                          </m:r>
                        </m:sup>
                      </m:sSup>
                      <m:r>
                        <a:rPr lang="it-IT" sz="1400" i="0">
                          <a:latin typeface="Cambria Math" panose="02040503050406030204" pitchFamily="18" charset="0"/>
                        </a:rPr>
                        <m:t>−</m:t>
                      </m:r>
                      <m:func>
                        <m:funcPr>
                          <m:ctrlPr>
                            <a:rPr lang="it-IT" sz="1400" i="1">
                              <a:latin typeface="Cambria Math" panose="02040503050406030204" pitchFamily="18" charset="0"/>
                            </a:rPr>
                          </m:ctrlPr>
                        </m:funcPr>
                        <m:fName>
                          <m:r>
                            <m:rPr>
                              <m:sty m:val="p"/>
                            </m:rPr>
                            <a:rPr lang="it-IT" sz="1400" i="0">
                              <a:latin typeface="Cambria Math" panose="02040503050406030204" pitchFamily="18" charset="0"/>
                            </a:rPr>
                            <m:t>arctan</m:t>
                          </m:r>
                        </m:fName>
                        <m:e>
                          <m:d>
                            <m:dPr>
                              <m:ctrlPr>
                                <a:rPr lang="it-IT" sz="1400" i="1">
                                  <a:latin typeface="Cambria Math" panose="02040503050406030204" pitchFamily="18" charset="0"/>
                                </a:rPr>
                              </m:ctrlPr>
                            </m:dPr>
                            <m:e>
                              <m:r>
                                <a:rPr lang="it-IT" sz="1400" i="1">
                                  <a:latin typeface="Cambria Math" panose="02040503050406030204" pitchFamily="18" charset="0"/>
                                </a:rPr>
                                <m:t>𝜔</m:t>
                              </m:r>
                              <m:r>
                                <a:rPr lang="it-IT" sz="1400" i="1">
                                  <a:latin typeface="Cambria Math" panose="02040503050406030204" pitchFamily="18" charset="0"/>
                                </a:rPr>
                                <m:t>𝑅𝐶</m:t>
                              </m:r>
                            </m:e>
                          </m:d>
                        </m:e>
                      </m:func>
                    </m:oMath>
                  </m:oMathPara>
                </a14:m>
                <a:endParaRPr lang="it-IT" sz="1400" dirty="0"/>
              </a:p>
            </p:txBody>
          </p:sp>
        </mc:Choice>
        <mc:Fallback xmlns="">
          <p:sp>
            <p:nvSpPr>
              <p:cNvPr id="16" name="CasellaDiTesto 15">
                <a:extLst>
                  <a:ext uri="{FF2B5EF4-FFF2-40B4-BE49-F238E27FC236}">
                    <a16:creationId xmlns:a16="http://schemas.microsoft.com/office/drawing/2014/main" id="{68C85F09-1329-4C20-8574-BFC088F4DE8B}"/>
                  </a:ext>
                </a:extLst>
              </p:cNvPr>
              <p:cNvSpPr txBox="1">
                <a:spLocks noRot="1" noChangeAspect="1" noMove="1" noResize="1" noEditPoints="1" noAdjustHandles="1" noChangeArrowheads="1" noChangeShapeType="1" noTextEdit="1"/>
              </p:cNvSpPr>
              <p:nvPr/>
            </p:nvSpPr>
            <p:spPr>
              <a:xfrm>
                <a:off x="7679311" y="3275844"/>
                <a:ext cx="1899430" cy="215444"/>
              </a:xfrm>
              <a:prstGeom prst="rect">
                <a:avLst/>
              </a:prstGeom>
              <a:blipFill>
                <a:blip r:embed="rId5"/>
                <a:stretch>
                  <a:fillRect l="-1929" b="-22222"/>
                </a:stretch>
              </a:blipFill>
            </p:spPr>
            <p:txBody>
              <a:bodyPr/>
              <a:lstStyle/>
              <a:p>
                <a:r>
                  <a:rPr lang="it-IT">
                    <a:noFill/>
                  </a:rPr>
                  <a:t> </a:t>
                </a:r>
              </a:p>
            </p:txBody>
          </p:sp>
        </mc:Fallback>
      </mc:AlternateContent>
      <p:sp>
        <p:nvSpPr>
          <p:cNvPr id="17" name="CasellaDiTesto 16">
            <a:extLst>
              <a:ext uri="{FF2B5EF4-FFF2-40B4-BE49-F238E27FC236}">
                <a16:creationId xmlns:a16="http://schemas.microsoft.com/office/drawing/2014/main" id="{79F44430-1BF5-D1D1-36C2-DFEC8F05C0C9}"/>
              </a:ext>
            </a:extLst>
          </p:cNvPr>
          <p:cNvSpPr txBox="1"/>
          <p:nvPr/>
        </p:nvSpPr>
        <p:spPr>
          <a:xfrm>
            <a:off x="6096000" y="2612317"/>
            <a:ext cx="5066052"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400" b="0" u="none">
                <a:latin typeface="Libre Franklin"/>
                <a:ea typeface="Libre Franklin"/>
                <a:cs typeface="Libre Franklin"/>
              </a:defRPr>
            </a:lvl1pPr>
          </a:lstStyle>
          <a:p>
            <a:pPr algn="ctr"/>
            <a:r>
              <a:rPr lang="it-IT" sz="1200" b="1" dirty="0"/>
              <a:t>Fase</a:t>
            </a:r>
          </a:p>
        </p:txBody>
      </p:sp>
      <p:sp>
        <p:nvSpPr>
          <p:cNvPr id="18" name="CasellaDiTesto 17">
            <a:extLst>
              <a:ext uri="{FF2B5EF4-FFF2-40B4-BE49-F238E27FC236}">
                <a16:creationId xmlns:a16="http://schemas.microsoft.com/office/drawing/2014/main" id="{2C5B4EEB-C00C-2D18-58EE-3FF629604CB4}"/>
              </a:ext>
            </a:extLst>
          </p:cNvPr>
          <p:cNvSpPr txBox="1">
            <a:spLocks noGrp="1" noRot="1" noMove="1" noResize="1" noEditPoints="1" noAdjustHandles="1" noChangeArrowheads="1" noChangeShapeType="1"/>
          </p:cNvSpPr>
          <p:nvPr/>
        </p:nvSpPr>
        <p:spPr>
          <a:xfrm>
            <a:off x="1054250" y="4220596"/>
            <a:ext cx="10107802" cy="369302"/>
          </a:xfrm>
          <a:prstGeom prst="rect">
            <a:avLst/>
          </a:prstGeom>
          <a:noFill/>
          <a:ln w="9525">
            <a:solidFill>
              <a:schemeClr val="tx1"/>
            </a:solid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400" b="0" u="none">
                <a:latin typeface="Libre Franklin"/>
                <a:ea typeface="Libre Franklin"/>
                <a:cs typeface="Libre Franklin"/>
              </a:defRPr>
            </a:lvl1pPr>
          </a:lstStyle>
          <a:p>
            <a:pPr algn="ctr"/>
            <a:r>
              <a:rPr lang="it-IT" sz="1200" b="1" dirty="0"/>
              <a:t>Esempio: </a:t>
            </a:r>
          </a:p>
        </p:txBody>
      </p:sp>
      <mc:AlternateContent xmlns:mc="http://schemas.openxmlformats.org/markup-compatibility/2006" xmlns:a14="http://schemas.microsoft.com/office/drawing/2010/main">
        <mc:Choice Requires="a14">
          <p:sp>
            <p:nvSpPr>
              <p:cNvPr id="21" name="CasellaDiTesto 20">
                <a:extLst>
                  <a:ext uri="{FF2B5EF4-FFF2-40B4-BE49-F238E27FC236}">
                    <a16:creationId xmlns:a16="http://schemas.microsoft.com/office/drawing/2014/main" id="{4190F69F-A77A-FC96-F253-6527C5616AC7}"/>
                  </a:ext>
                </a:extLst>
              </p:cNvPr>
              <p:cNvSpPr txBox="1"/>
              <p:nvPr/>
            </p:nvSpPr>
            <p:spPr>
              <a:xfrm>
                <a:off x="1645674" y="4826365"/>
                <a:ext cx="108311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𝑓</m:t>
                      </m:r>
                      <m:r>
                        <a:rPr lang="it-IT" b="0" i="1" smtClean="0">
                          <a:latin typeface="Cambria Math" panose="02040503050406030204" pitchFamily="18" charset="0"/>
                        </a:rPr>
                        <m:t>=3</m:t>
                      </m:r>
                      <m:r>
                        <a:rPr lang="it-IT" b="0" i="1" smtClean="0">
                          <a:latin typeface="Cambria Math" panose="02040503050406030204" pitchFamily="18" charset="0"/>
                        </a:rPr>
                        <m:t>𝑘𝐻𝑧</m:t>
                      </m:r>
                      <m:r>
                        <a:rPr lang="it-IT" b="0" i="1" smtClean="0">
                          <a:latin typeface="Cambria Math" panose="02040503050406030204" pitchFamily="18" charset="0"/>
                        </a:rPr>
                        <m:t> </m:t>
                      </m:r>
                    </m:oMath>
                  </m:oMathPara>
                </a14:m>
                <a:endParaRPr lang="it-IT" dirty="0"/>
              </a:p>
            </p:txBody>
          </p:sp>
        </mc:Choice>
        <mc:Fallback xmlns="">
          <p:sp>
            <p:nvSpPr>
              <p:cNvPr id="21" name="CasellaDiTesto 20">
                <a:extLst>
                  <a:ext uri="{FF2B5EF4-FFF2-40B4-BE49-F238E27FC236}">
                    <a16:creationId xmlns:a16="http://schemas.microsoft.com/office/drawing/2014/main" id="{4190F69F-A77A-FC96-F253-6527C5616AC7}"/>
                  </a:ext>
                </a:extLst>
              </p:cNvPr>
              <p:cNvSpPr txBox="1">
                <a:spLocks noRot="1" noChangeAspect="1" noMove="1" noResize="1" noEditPoints="1" noAdjustHandles="1" noChangeArrowheads="1" noChangeShapeType="1" noTextEdit="1"/>
              </p:cNvSpPr>
              <p:nvPr/>
            </p:nvSpPr>
            <p:spPr>
              <a:xfrm>
                <a:off x="1645674" y="4826365"/>
                <a:ext cx="1083117" cy="276999"/>
              </a:xfrm>
              <a:prstGeom prst="rect">
                <a:avLst/>
              </a:prstGeom>
              <a:blipFill>
                <a:blip r:embed="rId6"/>
                <a:stretch>
                  <a:fillRect l="-6742" t="-4444" b="-3555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2" name="CasellaDiTesto 21">
                <a:extLst>
                  <a:ext uri="{FF2B5EF4-FFF2-40B4-BE49-F238E27FC236}">
                    <a16:creationId xmlns:a16="http://schemas.microsoft.com/office/drawing/2014/main" id="{B65F7BEF-CD6F-B39E-11EA-27DC6F05805C}"/>
                  </a:ext>
                </a:extLst>
              </p:cNvPr>
              <p:cNvSpPr txBox="1"/>
              <p:nvPr/>
            </p:nvSpPr>
            <p:spPr>
              <a:xfrm>
                <a:off x="1645674" y="5296149"/>
                <a:ext cx="252614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ea typeface="Cambria Math" panose="02040503050406030204" pitchFamily="18" charset="0"/>
                        </a:rPr>
                        <m:t>𝜔</m:t>
                      </m:r>
                      <m:r>
                        <a:rPr lang="it-IT" b="0" i="1" smtClean="0">
                          <a:latin typeface="Cambria Math" panose="02040503050406030204" pitchFamily="18" charset="0"/>
                        </a:rPr>
                        <m:t>=2</m:t>
                      </m:r>
                      <m:r>
                        <a:rPr lang="it-IT" b="0" i="1" smtClean="0">
                          <a:latin typeface="Cambria Math" panose="02040503050406030204" pitchFamily="18" charset="0"/>
                          <a:ea typeface="Cambria Math" panose="02040503050406030204" pitchFamily="18" charset="0"/>
                        </a:rPr>
                        <m:t>𝜋</m:t>
                      </m:r>
                      <m:r>
                        <a:rPr lang="it-IT" b="0" i="1" smtClean="0">
                          <a:latin typeface="Cambria Math" panose="02040503050406030204" pitchFamily="18" charset="0"/>
                          <a:ea typeface="Cambria Math" panose="02040503050406030204" pitchFamily="18" charset="0"/>
                        </a:rPr>
                        <m:t>𝑓</m:t>
                      </m:r>
                      <m:r>
                        <a:rPr lang="it-IT" b="0" i="1" smtClean="0">
                          <a:latin typeface="Cambria Math" panose="02040503050406030204" pitchFamily="18" charset="0"/>
                          <a:ea typeface="Cambria Math" panose="02040503050406030204" pitchFamily="18" charset="0"/>
                        </a:rPr>
                        <m:t>=18850 </m:t>
                      </m:r>
                      <m:r>
                        <a:rPr lang="it-IT" b="0" i="1" smtClean="0">
                          <a:latin typeface="Cambria Math" panose="02040503050406030204" pitchFamily="18" charset="0"/>
                          <a:ea typeface="Cambria Math" panose="02040503050406030204" pitchFamily="18" charset="0"/>
                        </a:rPr>
                        <m:t>𝑟𝑎𝑑</m:t>
                      </m:r>
                      <m:r>
                        <a:rPr lang="it-IT" b="0" i="1" smtClean="0">
                          <a:latin typeface="Cambria Math" panose="02040503050406030204" pitchFamily="18" charset="0"/>
                          <a:ea typeface="Cambria Math" panose="02040503050406030204" pitchFamily="18" charset="0"/>
                        </a:rPr>
                        <m:t>/</m:t>
                      </m:r>
                      <m:r>
                        <a:rPr lang="it-IT" b="0" i="1" smtClean="0">
                          <a:latin typeface="Cambria Math" panose="02040503050406030204" pitchFamily="18" charset="0"/>
                          <a:ea typeface="Cambria Math" panose="02040503050406030204" pitchFamily="18" charset="0"/>
                        </a:rPr>
                        <m:t>𝑠</m:t>
                      </m:r>
                    </m:oMath>
                  </m:oMathPara>
                </a14:m>
                <a:endParaRPr lang="it-IT" dirty="0"/>
              </a:p>
            </p:txBody>
          </p:sp>
        </mc:Choice>
        <mc:Fallback xmlns="">
          <p:sp>
            <p:nvSpPr>
              <p:cNvPr id="22" name="CasellaDiTesto 21">
                <a:extLst>
                  <a:ext uri="{FF2B5EF4-FFF2-40B4-BE49-F238E27FC236}">
                    <a16:creationId xmlns:a16="http://schemas.microsoft.com/office/drawing/2014/main" id="{B65F7BEF-CD6F-B39E-11EA-27DC6F05805C}"/>
                  </a:ext>
                </a:extLst>
              </p:cNvPr>
              <p:cNvSpPr txBox="1">
                <a:spLocks noRot="1" noChangeAspect="1" noMove="1" noResize="1" noEditPoints="1" noAdjustHandles="1" noChangeArrowheads="1" noChangeShapeType="1" noTextEdit="1"/>
              </p:cNvSpPr>
              <p:nvPr/>
            </p:nvSpPr>
            <p:spPr>
              <a:xfrm>
                <a:off x="1645674" y="5296149"/>
                <a:ext cx="2526141" cy="276999"/>
              </a:xfrm>
              <a:prstGeom prst="rect">
                <a:avLst/>
              </a:prstGeom>
              <a:blipFill>
                <a:blip r:embed="rId7"/>
                <a:stretch>
                  <a:fillRect l="-725" t="-2222" r="-966" b="-3555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4" name="CasellaDiTesto 23">
                <a:extLst>
                  <a:ext uri="{FF2B5EF4-FFF2-40B4-BE49-F238E27FC236}">
                    <a16:creationId xmlns:a16="http://schemas.microsoft.com/office/drawing/2014/main" id="{173F6AAB-77EE-93BA-9616-0AD046DF6733}"/>
                  </a:ext>
                </a:extLst>
              </p:cNvPr>
              <p:cNvSpPr txBox="1"/>
              <p:nvPr/>
            </p:nvSpPr>
            <p:spPr>
              <a:xfrm>
                <a:off x="5672146" y="4783137"/>
                <a:ext cx="6115574" cy="369332"/>
              </a:xfrm>
              <a:prstGeom prst="rect">
                <a:avLst/>
              </a:prstGeom>
              <a:noFill/>
            </p:spPr>
            <p:txBody>
              <a:bodyPr wrap="square">
                <a:spAutoFit/>
              </a:bodyPr>
              <a:lstStyle/>
              <a:p>
                <a:r>
                  <a:rPr lang="it-IT" sz="1800" dirty="0"/>
                  <a:t>|</a:t>
                </a:r>
                <a14:m>
                  <m:oMath xmlns:m="http://schemas.openxmlformats.org/officeDocument/2006/math">
                    <m:r>
                      <a:rPr lang="it-IT" i="1">
                        <a:latin typeface="Cambria Math" panose="02040503050406030204" pitchFamily="18" charset="0"/>
                      </a:rPr>
                      <m:t>𝐻</m:t>
                    </m:r>
                    <m:d>
                      <m:dPr>
                        <m:ctrlPr>
                          <a:rPr lang="it-IT" i="1">
                            <a:latin typeface="Cambria Math" panose="02040503050406030204" pitchFamily="18" charset="0"/>
                          </a:rPr>
                        </m:ctrlPr>
                      </m:dPr>
                      <m:e>
                        <m:r>
                          <a:rPr lang="it-IT" i="1">
                            <a:latin typeface="Cambria Math" panose="02040503050406030204" pitchFamily="18" charset="0"/>
                          </a:rPr>
                          <m:t>𝑗</m:t>
                        </m:r>
                        <m:r>
                          <a:rPr lang="it-IT" i="1">
                            <a:latin typeface="Cambria Math" panose="02040503050406030204" pitchFamily="18" charset="0"/>
                          </a:rPr>
                          <m:t>𝜔</m:t>
                        </m:r>
                      </m:e>
                    </m:d>
                    <m:r>
                      <a:rPr lang="it-IT" i="1">
                        <a:latin typeface="Cambria Math" panose="02040503050406030204" pitchFamily="18" charset="0"/>
                      </a:rPr>
                      <m:t>|=</m:t>
                    </m:r>
                    <m:r>
                      <m:rPr>
                        <m:nor/>
                      </m:rPr>
                      <a:rPr lang="it-IT">
                        <a:latin typeface="Cambria Math" panose="02040503050406030204" pitchFamily="18" charset="0"/>
                      </a:rPr>
                      <m:t>0.9986</m:t>
                    </m:r>
                  </m:oMath>
                </a14:m>
                <a:endParaRPr lang="it-IT" dirty="0">
                  <a:latin typeface="Cambria Math" panose="02040503050406030204" pitchFamily="18" charset="0"/>
                </a:endParaRPr>
              </a:p>
            </p:txBody>
          </p:sp>
        </mc:Choice>
        <mc:Fallback xmlns="">
          <p:sp>
            <p:nvSpPr>
              <p:cNvPr id="24" name="CasellaDiTesto 23">
                <a:extLst>
                  <a:ext uri="{FF2B5EF4-FFF2-40B4-BE49-F238E27FC236}">
                    <a16:creationId xmlns:a16="http://schemas.microsoft.com/office/drawing/2014/main" id="{173F6AAB-77EE-93BA-9616-0AD046DF6733}"/>
                  </a:ext>
                </a:extLst>
              </p:cNvPr>
              <p:cNvSpPr txBox="1">
                <a:spLocks noRot="1" noChangeAspect="1" noMove="1" noResize="1" noEditPoints="1" noAdjustHandles="1" noChangeArrowheads="1" noChangeShapeType="1" noTextEdit="1"/>
              </p:cNvSpPr>
              <p:nvPr/>
            </p:nvSpPr>
            <p:spPr>
              <a:xfrm>
                <a:off x="5672146" y="4783137"/>
                <a:ext cx="6115574" cy="369332"/>
              </a:xfrm>
              <a:prstGeom prst="rect">
                <a:avLst/>
              </a:prstGeom>
              <a:blipFill>
                <a:blip r:embed="rId8"/>
                <a:stretch>
                  <a:fillRect l="-797" t="-8333" b="-28333"/>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26" name="CasellaDiTesto 25">
                <a:extLst>
                  <a:ext uri="{FF2B5EF4-FFF2-40B4-BE49-F238E27FC236}">
                    <a16:creationId xmlns:a16="http://schemas.microsoft.com/office/drawing/2014/main" id="{901B4927-FCF6-AF91-30E6-47E58F9ED508}"/>
                  </a:ext>
                </a:extLst>
              </p:cNvPr>
              <p:cNvSpPr txBox="1"/>
              <p:nvPr/>
            </p:nvSpPr>
            <p:spPr>
              <a:xfrm>
                <a:off x="3091343" y="5252921"/>
                <a:ext cx="611557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it-IT" sz="1800" i="1" smtClean="0">
                          <a:latin typeface="Cambria Math" panose="02040503050406030204" pitchFamily="18" charset="0"/>
                        </a:rPr>
                        <m:t>𝜑</m:t>
                      </m:r>
                      <m:r>
                        <a:rPr lang="it-IT" sz="1800" i="0">
                          <a:latin typeface="Cambria Math" panose="02040503050406030204" pitchFamily="18" charset="0"/>
                        </a:rPr>
                        <m:t>=</m:t>
                      </m:r>
                      <m:sSup>
                        <m:sSupPr>
                          <m:ctrlPr>
                            <a:rPr lang="it-IT" sz="1800" i="1">
                              <a:latin typeface="Cambria Math" panose="02040503050406030204" pitchFamily="18" charset="0"/>
                            </a:rPr>
                          </m:ctrlPr>
                        </m:sSupPr>
                        <m:e>
                          <m:r>
                            <a:rPr lang="it-IT" sz="1800" b="0" i="0" smtClean="0">
                              <a:latin typeface="Cambria Math" panose="02040503050406030204" pitchFamily="18" charset="0"/>
                            </a:rPr>
                            <m:t>3</m:t>
                          </m:r>
                        </m:e>
                        <m:sup>
                          <m:r>
                            <a:rPr lang="it-IT" sz="1800" i="0">
                              <a:latin typeface="Cambria Math" panose="02040503050406030204" pitchFamily="18" charset="0"/>
                            </a:rPr>
                            <m:t>0</m:t>
                          </m:r>
                        </m:sup>
                      </m:sSup>
                    </m:oMath>
                  </m:oMathPara>
                </a14:m>
                <a:endParaRPr lang="it-IT" dirty="0"/>
              </a:p>
            </p:txBody>
          </p:sp>
        </mc:Choice>
        <mc:Fallback>
          <p:sp>
            <p:nvSpPr>
              <p:cNvPr id="26" name="CasellaDiTesto 25">
                <a:extLst>
                  <a:ext uri="{FF2B5EF4-FFF2-40B4-BE49-F238E27FC236}">
                    <a16:creationId xmlns:a16="http://schemas.microsoft.com/office/drawing/2014/main" id="{901B4927-FCF6-AF91-30E6-47E58F9ED508}"/>
                  </a:ext>
                </a:extLst>
              </p:cNvPr>
              <p:cNvSpPr txBox="1">
                <a:spLocks noRot="1" noChangeAspect="1" noMove="1" noResize="1" noEditPoints="1" noAdjustHandles="1" noChangeArrowheads="1" noChangeShapeType="1" noTextEdit="1"/>
              </p:cNvSpPr>
              <p:nvPr/>
            </p:nvSpPr>
            <p:spPr>
              <a:xfrm>
                <a:off x="3091343" y="5252921"/>
                <a:ext cx="6115574" cy="369332"/>
              </a:xfrm>
              <a:prstGeom prst="rect">
                <a:avLst/>
              </a:prstGeom>
              <a:blipFill>
                <a:blip r:embed="rId9"/>
                <a:stretch>
                  <a:fillRect b="-6667"/>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8" name="CasellaDiTesto 27">
                <a:extLst>
                  <a:ext uri="{FF2B5EF4-FFF2-40B4-BE49-F238E27FC236}">
                    <a16:creationId xmlns:a16="http://schemas.microsoft.com/office/drawing/2014/main" id="{BD074636-AEB3-C826-A35E-1D58C5F7DCC4}"/>
                  </a:ext>
                </a:extLst>
              </p:cNvPr>
              <p:cNvSpPr txBox="1"/>
              <p:nvPr/>
            </p:nvSpPr>
            <p:spPr>
              <a:xfrm>
                <a:off x="4401928" y="5028543"/>
                <a:ext cx="108311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m:t>
                      </m:r>
                    </m:oMath>
                  </m:oMathPara>
                </a14:m>
                <a:endParaRPr lang="it-IT" dirty="0"/>
              </a:p>
            </p:txBody>
          </p:sp>
        </mc:Choice>
        <mc:Fallback xmlns="">
          <p:sp>
            <p:nvSpPr>
              <p:cNvPr id="28" name="CasellaDiTesto 27">
                <a:extLst>
                  <a:ext uri="{FF2B5EF4-FFF2-40B4-BE49-F238E27FC236}">
                    <a16:creationId xmlns:a16="http://schemas.microsoft.com/office/drawing/2014/main" id="{BD074636-AEB3-C826-A35E-1D58C5F7DCC4}"/>
                  </a:ext>
                </a:extLst>
              </p:cNvPr>
              <p:cNvSpPr txBox="1">
                <a:spLocks noRot="1" noChangeAspect="1" noMove="1" noResize="1" noEditPoints="1" noAdjustHandles="1" noChangeArrowheads="1" noChangeShapeType="1" noTextEdit="1"/>
              </p:cNvSpPr>
              <p:nvPr/>
            </p:nvSpPr>
            <p:spPr>
              <a:xfrm>
                <a:off x="4401928" y="5028543"/>
                <a:ext cx="1083116" cy="276999"/>
              </a:xfrm>
              <a:prstGeom prst="rect">
                <a:avLst/>
              </a:prstGeom>
              <a:blipFill>
                <a:blip r:embed="rId10"/>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1" name="CasellaDiTesto 30">
                <a:extLst>
                  <a:ext uri="{FF2B5EF4-FFF2-40B4-BE49-F238E27FC236}">
                    <a16:creationId xmlns:a16="http://schemas.microsoft.com/office/drawing/2014/main" id="{6CB8AB5C-813E-3268-AA04-2B823E0627F4}"/>
                  </a:ext>
                </a:extLst>
              </p:cNvPr>
              <p:cNvSpPr txBox="1"/>
              <p:nvPr/>
            </p:nvSpPr>
            <p:spPr>
              <a:xfrm>
                <a:off x="8126169" y="4829304"/>
                <a:ext cx="1758110" cy="276999"/>
              </a:xfrm>
              <a:prstGeom prst="rect">
                <a:avLst/>
              </a:prstGeom>
              <a:noFill/>
            </p:spPr>
            <p:txBody>
              <a:bodyPr wrap="none" lIns="0" tIns="0" rIns="0" bIns="0" rtlCol="0">
                <a:spAutoFit/>
              </a:bodyPr>
              <a:lstStyle>
                <a:defPPr>
                  <a:defRPr lang="en-US"/>
                </a:defPPr>
                <a:lvl1pPr>
                  <a:defRPr b="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it-IT" i="1">
                              <a:latin typeface="Cambria Math" panose="02040503050406030204" pitchFamily="18" charset="0"/>
                            </a:rPr>
                          </m:ctrlPr>
                        </m:sSubPr>
                        <m:e>
                          <m:r>
                            <a:rPr lang="it-IT">
                              <a:latin typeface="Cambria Math" panose="02040503050406030204" pitchFamily="18" charset="0"/>
                            </a:rPr>
                            <m:t>𝐺</m:t>
                          </m:r>
                        </m:e>
                        <m:sub>
                          <m:r>
                            <a:rPr lang="it-IT">
                              <a:latin typeface="Cambria Math" panose="02040503050406030204" pitchFamily="18" charset="0"/>
                            </a:rPr>
                            <m:t>ⅆ</m:t>
                          </m:r>
                          <m:r>
                            <a:rPr lang="it-IT">
                              <a:latin typeface="Cambria Math" panose="02040503050406030204" pitchFamily="18" charset="0"/>
                            </a:rPr>
                            <m:t>𝐵</m:t>
                          </m:r>
                        </m:sub>
                      </m:sSub>
                      <m:r>
                        <a:rPr lang="it-IT">
                          <a:latin typeface="Cambria Math" panose="02040503050406030204" pitchFamily="18" charset="0"/>
                        </a:rPr>
                        <m:t>=−0.012</m:t>
                      </m:r>
                      <m:r>
                        <a:rPr lang="it-IT">
                          <a:latin typeface="Cambria Math" panose="02040503050406030204" pitchFamily="18" charset="0"/>
                        </a:rPr>
                        <m:t>𝑑𝐵</m:t>
                      </m:r>
                    </m:oMath>
                  </m:oMathPara>
                </a14:m>
                <a:endParaRPr lang="it-IT" dirty="0"/>
              </a:p>
            </p:txBody>
          </p:sp>
        </mc:Choice>
        <mc:Fallback xmlns="">
          <p:sp>
            <p:nvSpPr>
              <p:cNvPr id="31" name="CasellaDiTesto 30">
                <a:extLst>
                  <a:ext uri="{FF2B5EF4-FFF2-40B4-BE49-F238E27FC236}">
                    <a16:creationId xmlns:a16="http://schemas.microsoft.com/office/drawing/2014/main" id="{6CB8AB5C-813E-3268-AA04-2B823E0627F4}"/>
                  </a:ext>
                </a:extLst>
              </p:cNvPr>
              <p:cNvSpPr txBox="1">
                <a:spLocks noRot="1" noChangeAspect="1" noMove="1" noResize="1" noEditPoints="1" noAdjustHandles="1" noChangeArrowheads="1" noChangeShapeType="1" noTextEdit="1"/>
              </p:cNvSpPr>
              <p:nvPr/>
            </p:nvSpPr>
            <p:spPr>
              <a:xfrm>
                <a:off x="8126169" y="4829304"/>
                <a:ext cx="1758110" cy="276999"/>
              </a:xfrm>
              <a:prstGeom prst="rect">
                <a:avLst/>
              </a:prstGeom>
              <a:blipFill>
                <a:blip r:embed="rId11"/>
                <a:stretch>
                  <a:fillRect l="-2431" r="-3125" b="-17391"/>
                </a:stretch>
              </a:blipFill>
            </p:spPr>
            <p:txBody>
              <a:bodyPr/>
              <a:lstStyle/>
              <a:p>
                <a:r>
                  <a:rPr lang="it-IT">
                    <a:noFill/>
                  </a:rPr>
                  <a:t> </a:t>
                </a:r>
              </a:p>
            </p:txBody>
          </p:sp>
        </mc:Fallback>
      </mc:AlternateContent>
    </p:spTree>
    <p:extLst>
      <p:ext uri="{BB962C8B-B14F-4D97-AF65-F5344CB8AC3E}">
        <p14:creationId xmlns:p14="http://schemas.microsoft.com/office/powerpoint/2010/main" val="7733527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5"/>
          <p:cNvSpPr txBox="1"/>
          <p:nvPr/>
        </p:nvSpPr>
        <p:spPr>
          <a:xfrm>
            <a:off x="1355275" y="1651675"/>
            <a:ext cx="10659900" cy="1947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dirty="0">
                <a:latin typeface="Libre Franklin"/>
                <a:ea typeface="Libre Franklin"/>
                <a:cs typeface="Libre Franklin"/>
                <a:sym typeface="Libre Franklin"/>
              </a:rPr>
              <a:t>Dopo aver analizzato il comportamento del filtro nel dominio del tempo, è possibile studiarne la risposta nel dominio della frequenza mediante il diagramma di Bode.</a:t>
            </a:r>
            <a:endParaRPr dirty="0">
              <a:latin typeface="Libre Franklin"/>
              <a:ea typeface="Libre Franklin"/>
              <a:cs typeface="Libre Franklin"/>
              <a:sym typeface="Libre Franklin"/>
            </a:endParaRPr>
          </a:p>
          <a:p>
            <a:pPr marL="0" lvl="0" indent="0" algn="l" rtl="0">
              <a:lnSpc>
                <a:spcPct val="115000"/>
              </a:lnSpc>
              <a:spcBef>
                <a:spcPts val="1200"/>
              </a:spcBef>
              <a:spcAft>
                <a:spcPts val="0"/>
              </a:spcAft>
              <a:buNone/>
            </a:pPr>
            <a:r>
              <a:rPr lang="it-IT" dirty="0">
                <a:latin typeface="Libre Franklin"/>
                <a:ea typeface="Libre Franklin"/>
                <a:cs typeface="Libre Franklin"/>
                <a:sym typeface="Libre Franklin"/>
              </a:rPr>
              <a:t>La figura confronta le risposte in frequenza delle configurazioni RC e RL, entrambe progettate con una frequenza di taglio pari a 159 Hz.</a:t>
            </a:r>
            <a:endParaRPr dirty="0">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dirty="0">
                <a:latin typeface="Libre Franklin"/>
                <a:ea typeface="Libre Franklin"/>
                <a:cs typeface="Libre Franklin"/>
                <a:sym typeface="Libre Franklin"/>
              </a:rPr>
              <a:t>Come già osservato nell'analisi transitoria, le due configurazioni presentano una risposta praticamente coincidente, confermando che entrambe realizzano lo stesso comportamento di filtro passa-alto del primo ordine.</a:t>
            </a:r>
            <a:endParaRPr dirty="0">
              <a:latin typeface="Libre Franklin"/>
              <a:ea typeface="Libre Franklin"/>
              <a:cs typeface="Libre Franklin"/>
              <a:sym typeface="Libre Franklin"/>
            </a:endParaRPr>
          </a:p>
        </p:txBody>
      </p:sp>
      <p:pic>
        <p:nvPicPr>
          <p:cNvPr id="230" name="Google Shape;230;p25"/>
          <p:cNvPicPr preferRelativeResize="0"/>
          <p:nvPr/>
        </p:nvPicPr>
        <p:blipFill rotWithShape="1">
          <a:blip r:embed="rId3">
            <a:alphaModFix/>
          </a:blip>
          <a:srcRect/>
          <a:stretch/>
        </p:blipFill>
        <p:spPr>
          <a:xfrm>
            <a:off x="3434504" y="4605255"/>
            <a:ext cx="5846723" cy="2865451"/>
          </a:xfrm>
          <a:prstGeom prst="rect">
            <a:avLst/>
          </a:prstGeom>
          <a:noFill/>
          <a:ln>
            <a:noFill/>
          </a:ln>
        </p:spPr>
      </p:pic>
      <p:sp>
        <p:nvSpPr>
          <p:cNvPr id="231" name="Google Shape;231;p25"/>
          <p:cNvSpPr txBox="1"/>
          <p:nvPr/>
        </p:nvSpPr>
        <p:spPr>
          <a:xfrm>
            <a:off x="4729550" y="4357875"/>
            <a:ext cx="5309700" cy="150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IT" sz="2800">
                <a:solidFill>
                  <a:schemeClr val="dk1"/>
                </a:solidFill>
                <a:latin typeface="Open Sans"/>
                <a:ea typeface="Open Sans"/>
                <a:cs typeface="Open Sans"/>
                <a:sym typeface="Open Sans"/>
              </a:rPr>
              <a:t>Foto</a:t>
            </a:r>
            <a:endParaRPr sz="2800">
              <a:solidFill>
                <a:schemeClr val="dk1"/>
              </a:solidFill>
              <a:latin typeface="Open Sans"/>
              <a:ea typeface="Open Sans"/>
              <a:cs typeface="Open Sans"/>
              <a:sym typeface="Open Sans"/>
            </a:endParaRPr>
          </a:p>
        </p:txBody>
      </p:sp>
      <p:sp>
        <p:nvSpPr>
          <p:cNvPr id="232" name="Google Shape;232;p25"/>
          <p:cNvSpPr txBox="1"/>
          <p:nvPr/>
        </p:nvSpPr>
        <p:spPr>
          <a:xfrm>
            <a:off x="1355275" y="756125"/>
            <a:ext cx="47844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500">
                <a:solidFill>
                  <a:srgbClr val="073763"/>
                </a:solidFill>
                <a:latin typeface="Libre Franklin SemiBold"/>
                <a:ea typeface="Libre Franklin SemiBold"/>
                <a:cs typeface="Libre Franklin SemiBold"/>
                <a:sym typeface="Libre Franklin SemiBold"/>
              </a:rPr>
              <a:t>Diagramma di Bode (RC vs RL)</a:t>
            </a:r>
            <a:endParaRPr sz="2500">
              <a:solidFill>
                <a:srgbClr val="073763"/>
              </a:solidFill>
              <a:latin typeface="Libre Franklin SemiBold"/>
              <a:ea typeface="Libre Franklin SemiBold"/>
              <a:cs typeface="Libre Franklin SemiBold"/>
              <a:sym typeface="Libre Franklin SemiBo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26"/>
          <p:cNvSpPr txBox="1"/>
          <p:nvPr/>
        </p:nvSpPr>
        <p:spPr>
          <a:xfrm>
            <a:off x="911975" y="597850"/>
            <a:ext cx="10920900" cy="1947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a:latin typeface="Libre Franklin"/>
                <a:ea typeface="Libre Franklin"/>
                <a:cs typeface="Libre Franklin"/>
                <a:sym typeface="Libre Franklin"/>
              </a:rPr>
              <a:t>Considerando la sola configurazione RC, il diagramma di Bode mostra l'andamento del guadagno del filtro al variare della frequenza.</a:t>
            </a:r>
            <a:endParaRPr>
              <a:latin typeface="Libre Franklin"/>
              <a:ea typeface="Libre Franklin"/>
              <a:cs typeface="Libre Franklin"/>
              <a:sym typeface="Libre Franklin"/>
            </a:endParaRPr>
          </a:p>
          <a:p>
            <a:pPr marL="0" lvl="0" indent="0" algn="l" rtl="0">
              <a:lnSpc>
                <a:spcPct val="115000"/>
              </a:lnSpc>
              <a:spcBef>
                <a:spcPts val="1200"/>
              </a:spcBef>
              <a:spcAft>
                <a:spcPts val="0"/>
              </a:spcAft>
              <a:buNone/>
            </a:pPr>
            <a:r>
              <a:rPr lang="it-IT">
                <a:latin typeface="Libre Franklin"/>
                <a:ea typeface="Libre Franklin"/>
                <a:cs typeface="Libre Franklin"/>
                <a:sym typeface="Libre Franklin"/>
              </a:rPr>
              <a:t>Per frequenze inferiori alla frequenza di taglio il segnale risulta attenuato. Superata la frequenza di taglio (</a:t>
            </a:r>
            <a:r>
              <a:rPr lang="it-IT" sz="1200" b="1">
                <a:solidFill>
                  <a:schemeClr val="dk1"/>
                </a:solidFill>
                <a:latin typeface="Libre Franklin"/>
                <a:ea typeface="Libre Franklin"/>
                <a:cs typeface="Libre Franklin"/>
                <a:sym typeface="Libre Franklin"/>
              </a:rPr>
              <a:t>ƒc​</a:t>
            </a:r>
            <a:r>
              <a:rPr lang="it-IT">
                <a:latin typeface="Libre Franklin"/>
                <a:ea typeface="Libre Franklin"/>
                <a:cs typeface="Libre Franklin"/>
                <a:sym typeface="Libre Franklin"/>
              </a:rPr>
              <a:t> = 159 Hz), il guadagno tende a 0 dB: il segnale di uscita assume quindi un'ampiezza praticamente uguale a quella del segnale di ingresso.</a:t>
            </a:r>
            <a:endParaRPr>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a:latin typeface="Libre Franklin"/>
                <a:ea typeface="Libre Franklin"/>
                <a:cs typeface="Libre Franklin"/>
                <a:sym typeface="Libre Franklin"/>
              </a:rPr>
              <a:t>Come evidenziato dal grafico, per frequenze elevate le curve di (Vout) e (Vin) risultano pressoché sovrapposte, indicando che il filtro lascia passare quasi interamente il segnale.</a:t>
            </a:r>
            <a:endParaRPr>
              <a:latin typeface="Libre Franklin"/>
              <a:ea typeface="Libre Franklin"/>
              <a:cs typeface="Libre Franklin"/>
              <a:sym typeface="Libre Franklin"/>
            </a:endParaRPr>
          </a:p>
        </p:txBody>
      </p:sp>
      <p:pic>
        <p:nvPicPr>
          <p:cNvPr id="239" name="Google Shape;239;p26"/>
          <p:cNvPicPr preferRelativeResize="0"/>
          <p:nvPr/>
        </p:nvPicPr>
        <p:blipFill rotWithShape="1">
          <a:blip r:embed="rId3">
            <a:alphaModFix/>
          </a:blip>
          <a:srcRect/>
          <a:stretch/>
        </p:blipFill>
        <p:spPr>
          <a:xfrm>
            <a:off x="2565199" y="2964100"/>
            <a:ext cx="6622874" cy="3245826"/>
          </a:xfrm>
          <a:prstGeom prst="rect">
            <a:avLst/>
          </a:prstGeom>
          <a:noFill/>
          <a:ln>
            <a:noFill/>
          </a:ln>
        </p:spPr>
      </p:pic>
      <p:sp>
        <p:nvSpPr>
          <p:cNvPr id="240" name="Google Shape;240;p26"/>
          <p:cNvSpPr txBox="1"/>
          <p:nvPr/>
        </p:nvSpPr>
        <p:spPr>
          <a:xfrm>
            <a:off x="4729550" y="4357875"/>
            <a:ext cx="5309700" cy="150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IT" sz="2800">
                <a:solidFill>
                  <a:schemeClr val="dk1"/>
                </a:solidFill>
                <a:latin typeface="Open Sans"/>
                <a:ea typeface="Open Sans"/>
                <a:cs typeface="Open Sans"/>
                <a:sym typeface="Open Sans"/>
              </a:rPr>
              <a:t>Foto</a:t>
            </a:r>
            <a:endParaRPr sz="2800">
              <a:solidFill>
                <a:schemeClr val="dk1"/>
              </a:solidFill>
              <a:latin typeface="Open Sans"/>
              <a:ea typeface="Open Sans"/>
              <a:cs typeface="Open Sans"/>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7"/>
          <p:cNvSpPr txBox="1"/>
          <p:nvPr/>
        </p:nvSpPr>
        <p:spPr>
          <a:xfrm>
            <a:off x="1023425" y="1601025"/>
            <a:ext cx="10865100" cy="1459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Dopo aver analizzato il filtro passa-alto passivo nel dominio del tempo e tramite il diagramma di Bode, si studia ora l’effetto della variazione della resistenza R sulla risposta in frequenza del circuito.</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300">
                <a:solidFill>
                  <a:schemeClr val="dk1"/>
                </a:solidFill>
                <a:latin typeface="Libre Franklin"/>
                <a:ea typeface="Libre Franklin"/>
                <a:cs typeface="Libre Franklin"/>
                <a:sym typeface="Libre Franklin"/>
              </a:rPr>
              <a:t>Nella simulazione la capacità viene mantenuta costante a C = 100 nF, mentre la resistenza viene variata su tre valori: 1 kΩ, 10 kΩ e 100 kΩ. Nel grafico di Bode sono rappresentate le tre risposte: la curva rossa corrisponde al circuito con R = 1 kΩ; la curva blu corrisponde al circuito con R = 10 kΩ; la curva verde corrisponde a quello con R = 100 kΩ.</a:t>
            </a:r>
            <a:endParaRPr sz="1300">
              <a:solidFill>
                <a:schemeClr val="dk1"/>
              </a:solidFill>
              <a:latin typeface="Libre Franklin"/>
              <a:ea typeface="Libre Franklin"/>
              <a:cs typeface="Libre Franklin"/>
              <a:sym typeface="Libre Franklin"/>
            </a:endParaRPr>
          </a:p>
        </p:txBody>
      </p:sp>
      <p:sp>
        <p:nvSpPr>
          <p:cNvPr id="246" name="Google Shape;246;p27"/>
          <p:cNvSpPr txBox="1"/>
          <p:nvPr/>
        </p:nvSpPr>
        <p:spPr>
          <a:xfrm>
            <a:off x="1355275" y="756125"/>
            <a:ext cx="47844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500">
                <a:solidFill>
                  <a:srgbClr val="073763"/>
                </a:solidFill>
                <a:latin typeface="Libre Franklin SemiBold"/>
                <a:ea typeface="Libre Franklin SemiBold"/>
                <a:cs typeface="Libre Franklin SemiBold"/>
                <a:sym typeface="Libre Franklin SemiBold"/>
              </a:rPr>
              <a:t>Variazione del parametro R </a:t>
            </a:r>
            <a:endParaRPr sz="2500">
              <a:solidFill>
                <a:srgbClr val="073763"/>
              </a:solidFill>
              <a:latin typeface="Libre Franklin SemiBold"/>
              <a:ea typeface="Libre Franklin SemiBold"/>
              <a:cs typeface="Libre Franklin SemiBold"/>
              <a:sym typeface="Libre Franklin SemiBold"/>
            </a:endParaRPr>
          </a:p>
        </p:txBody>
      </p:sp>
      <p:pic>
        <p:nvPicPr>
          <p:cNvPr id="247" name="Google Shape;247;p27"/>
          <p:cNvPicPr preferRelativeResize="0"/>
          <p:nvPr/>
        </p:nvPicPr>
        <p:blipFill rotWithShape="1">
          <a:blip r:embed="rId3">
            <a:alphaModFix/>
          </a:blip>
          <a:srcRect/>
          <a:stretch/>
        </p:blipFill>
        <p:spPr>
          <a:xfrm>
            <a:off x="1469274" y="3422700"/>
            <a:ext cx="5422851" cy="2657699"/>
          </a:xfrm>
          <a:prstGeom prst="rect">
            <a:avLst/>
          </a:prstGeom>
          <a:noFill/>
          <a:ln>
            <a:noFill/>
          </a:ln>
        </p:spPr>
      </p:pic>
      <p:sp>
        <p:nvSpPr>
          <p:cNvPr id="248" name="Google Shape;248;p27"/>
          <p:cNvSpPr txBox="1"/>
          <p:nvPr/>
        </p:nvSpPr>
        <p:spPr>
          <a:xfrm>
            <a:off x="7498400" y="3800100"/>
            <a:ext cx="4258500" cy="615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it-IT" sz="1300">
                <a:solidFill>
                  <a:schemeClr val="dk1"/>
                </a:solidFill>
                <a:latin typeface="Libre Franklin"/>
                <a:ea typeface="Libre Franklin"/>
                <a:cs typeface="Libre Franklin"/>
                <a:sym typeface="Libre Franklin"/>
              </a:rPr>
              <a:t>La frequenza di taglio del filtro è definita dalla relazione:</a:t>
            </a:r>
            <a:endParaRPr/>
          </a:p>
        </p:txBody>
      </p:sp>
      <p:pic>
        <p:nvPicPr>
          <p:cNvPr id="249" name="Google Shape;249;p27"/>
          <p:cNvPicPr preferRelativeResize="0"/>
          <p:nvPr/>
        </p:nvPicPr>
        <p:blipFill>
          <a:blip r:embed="rId4">
            <a:alphaModFix/>
          </a:blip>
          <a:stretch>
            <a:fillRect/>
          </a:stretch>
        </p:blipFill>
        <p:spPr>
          <a:xfrm>
            <a:off x="8761050" y="4506725"/>
            <a:ext cx="1881100" cy="9807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pic>
        <p:nvPicPr>
          <p:cNvPr id="255" name="Google Shape;255;p28"/>
          <p:cNvPicPr preferRelativeResize="0"/>
          <p:nvPr/>
        </p:nvPicPr>
        <p:blipFill rotWithShape="1">
          <a:blip r:embed="rId3">
            <a:alphaModFix/>
          </a:blip>
          <a:srcRect/>
          <a:stretch/>
        </p:blipFill>
        <p:spPr>
          <a:xfrm>
            <a:off x="6022775" y="2736525"/>
            <a:ext cx="5954523" cy="2918301"/>
          </a:xfrm>
          <a:prstGeom prst="rect">
            <a:avLst/>
          </a:prstGeom>
          <a:noFill/>
          <a:ln>
            <a:noFill/>
          </a:ln>
        </p:spPr>
      </p:pic>
      <p:pic>
        <p:nvPicPr>
          <p:cNvPr id="256" name="Google Shape;256;p28"/>
          <p:cNvPicPr preferRelativeResize="0"/>
          <p:nvPr/>
        </p:nvPicPr>
        <p:blipFill rotWithShape="1">
          <a:blip r:embed="rId4">
            <a:alphaModFix/>
          </a:blip>
          <a:srcRect/>
          <a:stretch/>
        </p:blipFill>
        <p:spPr>
          <a:xfrm>
            <a:off x="1248900" y="2075325"/>
            <a:ext cx="4590225" cy="4303575"/>
          </a:xfrm>
          <a:prstGeom prst="rect">
            <a:avLst/>
          </a:prstGeom>
          <a:noFill/>
          <a:ln>
            <a:noFill/>
          </a:ln>
        </p:spPr>
      </p:pic>
      <p:sp>
        <p:nvSpPr>
          <p:cNvPr id="257" name="Google Shape;257;p28"/>
          <p:cNvSpPr txBox="1"/>
          <p:nvPr/>
        </p:nvSpPr>
        <p:spPr>
          <a:xfrm>
            <a:off x="1056375" y="374900"/>
            <a:ext cx="10984200" cy="1459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Quindi, aumentando il valore di R, aumenta il prodotto RC e la frequenza di taglio diminuisce. Per questo motivo la curva relativa a R = 100 kΩ risulta spostata verso frequenze più basse, mentre quella relativa a R = 1 kΩ è spostata verso frequenze più alte.</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300">
                <a:solidFill>
                  <a:schemeClr val="dk1"/>
                </a:solidFill>
                <a:latin typeface="Libre Franklin"/>
                <a:ea typeface="Libre Franklin"/>
                <a:cs typeface="Libre Franklin"/>
                <a:sym typeface="Libre Franklin"/>
              </a:rPr>
              <a:t>Il confronto tra le tre curve mostra quindi che la resistenza R determina direttamente la posizione della frequenza di taglio: valori più alti di R anticipano il passaggio del segnale a frequenze inferiori, mentre valori più bassi richiedono frequenze più elevate prima che il filtro lasci passare il segnale con attenuazione ridotta.</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pic>
        <p:nvPicPr>
          <p:cNvPr id="262" name="Google Shape;262;p29"/>
          <p:cNvPicPr preferRelativeResize="0"/>
          <p:nvPr/>
        </p:nvPicPr>
        <p:blipFill rotWithShape="1">
          <a:blip r:embed="rId3">
            <a:alphaModFix/>
          </a:blip>
          <a:srcRect/>
          <a:stretch/>
        </p:blipFill>
        <p:spPr>
          <a:xfrm>
            <a:off x="1088301" y="3586300"/>
            <a:ext cx="5605950" cy="2747450"/>
          </a:xfrm>
          <a:prstGeom prst="rect">
            <a:avLst/>
          </a:prstGeom>
          <a:noFill/>
          <a:ln>
            <a:noFill/>
          </a:ln>
        </p:spPr>
      </p:pic>
      <p:sp>
        <p:nvSpPr>
          <p:cNvPr id="263" name="Google Shape;263;p29"/>
          <p:cNvSpPr txBox="1"/>
          <p:nvPr/>
        </p:nvSpPr>
        <p:spPr>
          <a:xfrm>
            <a:off x="1355275" y="756125"/>
            <a:ext cx="47844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500">
                <a:solidFill>
                  <a:srgbClr val="073763"/>
                </a:solidFill>
                <a:latin typeface="Libre Franklin SemiBold"/>
                <a:ea typeface="Libre Franklin SemiBold"/>
                <a:cs typeface="Libre Franklin SemiBold"/>
                <a:sym typeface="Libre Franklin SemiBold"/>
              </a:rPr>
              <a:t>Variazione del parametro C </a:t>
            </a:r>
            <a:endParaRPr sz="2500">
              <a:solidFill>
                <a:srgbClr val="073763"/>
              </a:solidFill>
              <a:latin typeface="Libre Franklin SemiBold"/>
              <a:ea typeface="Libre Franklin SemiBold"/>
              <a:cs typeface="Libre Franklin SemiBold"/>
              <a:sym typeface="Libre Franklin SemiBold"/>
            </a:endParaRPr>
          </a:p>
        </p:txBody>
      </p:sp>
      <p:sp>
        <p:nvSpPr>
          <p:cNvPr id="264" name="Google Shape;264;p29"/>
          <p:cNvSpPr txBox="1"/>
          <p:nvPr/>
        </p:nvSpPr>
        <p:spPr>
          <a:xfrm>
            <a:off x="985425" y="1777500"/>
            <a:ext cx="11034600" cy="1459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Dopo aver analizzato l’effetto della variazione della resistenza R, si passa ora allo studio della variazione della capacità C nel filtro passa-alto passivo.</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300">
                <a:solidFill>
                  <a:schemeClr val="dk1"/>
                </a:solidFill>
                <a:latin typeface="Libre Franklin"/>
                <a:ea typeface="Libre Franklin"/>
                <a:cs typeface="Libre Franklin"/>
                <a:sym typeface="Libre Franklin"/>
              </a:rPr>
              <a:t>In questa simulazione la resistenza viene mantenuta costante a R = 10 kΩ, mentre il condensatore assume tre valori diversi: 1 nF, 100 nF e 1 µF. Nel grafico di Bode sono rappresentate le tre risposte: la curva rossa corrisponde al circuito con C = 1 nF; la curva blu corrisponde al circuito con C = 100 nF; la curva verde corrisponde a quello con C = 1 µF.</a:t>
            </a:r>
            <a:endParaRPr sz="1300">
              <a:solidFill>
                <a:schemeClr val="dk1"/>
              </a:solidFill>
              <a:latin typeface="Libre Franklin"/>
              <a:ea typeface="Libre Franklin"/>
              <a:cs typeface="Libre Franklin"/>
              <a:sym typeface="Libre Franklin"/>
            </a:endParaRPr>
          </a:p>
        </p:txBody>
      </p:sp>
      <p:sp>
        <p:nvSpPr>
          <p:cNvPr id="265" name="Google Shape;265;p29"/>
          <p:cNvSpPr txBox="1"/>
          <p:nvPr/>
        </p:nvSpPr>
        <p:spPr>
          <a:xfrm>
            <a:off x="7498400" y="3800100"/>
            <a:ext cx="4258500" cy="615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it-IT" sz="1300">
                <a:solidFill>
                  <a:schemeClr val="dk1"/>
                </a:solidFill>
                <a:latin typeface="Libre Franklin"/>
                <a:ea typeface="Libre Franklin"/>
                <a:cs typeface="Libre Franklin"/>
                <a:sym typeface="Libre Franklin"/>
              </a:rPr>
              <a:t>La frequenza di taglio del filtro è sempre definita dalla relazione:</a:t>
            </a:r>
            <a:endParaRPr/>
          </a:p>
        </p:txBody>
      </p:sp>
      <p:pic>
        <p:nvPicPr>
          <p:cNvPr id="266" name="Google Shape;266;p29"/>
          <p:cNvPicPr preferRelativeResize="0"/>
          <p:nvPr/>
        </p:nvPicPr>
        <p:blipFill>
          <a:blip r:embed="rId4">
            <a:alphaModFix/>
          </a:blip>
          <a:stretch>
            <a:fillRect/>
          </a:stretch>
        </p:blipFill>
        <p:spPr>
          <a:xfrm>
            <a:off x="8761050" y="4506725"/>
            <a:ext cx="1881100" cy="9807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pic>
        <p:nvPicPr>
          <p:cNvPr id="272" name="Google Shape;272;p30"/>
          <p:cNvPicPr preferRelativeResize="0"/>
          <p:nvPr/>
        </p:nvPicPr>
        <p:blipFill rotWithShape="1">
          <a:blip r:embed="rId3">
            <a:alphaModFix/>
          </a:blip>
          <a:srcRect/>
          <a:stretch/>
        </p:blipFill>
        <p:spPr>
          <a:xfrm>
            <a:off x="1210224" y="1808852"/>
            <a:ext cx="5970500" cy="2926077"/>
          </a:xfrm>
          <a:prstGeom prst="rect">
            <a:avLst/>
          </a:prstGeom>
          <a:noFill/>
          <a:ln>
            <a:noFill/>
          </a:ln>
        </p:spPr>
      </p:pic>
      <p:pic>
        <p:nvPicPr>
          <p:cNvPr id="273" name="Google Shape;273;p30"/>
          <p:cNvPicPr preferRelativeResize="0"/>
          <p:nvPr/>
        </p:nvPicPr>
        <p:blipFill rotWithShape="1">
          <a:blip r:embed="rId4">
            <a:alphaModFix/>
          </a:blip>
          <a:srcRect/>
          <a:stretch/>
        </p:blipFill>
        <p:spPr>
          <a:xfrm>
            <a:off x="8011170" y="2071098"/>
            <a:ext cx="3395065" cy="2604247"/>
          </a:xfrm>
          <a:prstGeom prst="rect">
            <a:avLst/>
          </a:prstGeom>
          <a:noFill/>
          <a:ln>
            <a:noFill/>
          </a:ln>
        </p:spPr>
      </p:pic>
      <p:sp>
        <p:nvSpPr>
          <p:cNvPr id="274" name="Google Shape;274;p30"/>
          <p:cNvSpPr txBox="1"/>
          <p:nvPr/>
        </p:nvSpPr>
        <p:spPr>
          <a:xfrm>
            <a:off x="1210225" y="1074100"/>
            <a:ext cx="10597500" cy="615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it-IT" sz="1300">
                <a:solidFill>
                  <a:schemeClr val="dk1"/>
                </a:solidFill>
                <a:latin typeface="Libre Franklin"/>
                <a:ea typeface="Libre Franklin"/>
                <a:cs typeface="Libre Franklin"/>
                <a:sym typeface="Libre Franklin"/>
              </a:rPr>
              <a:t>Quindi aumentando il valore di C aumenta il prodotto RC e la frequenza di taglio diminuisce. Il comportamento è quindi analogo a quello osservato variando R: aumentando uno dei due parametri del prodotto RC, la curva di Bode si sposta verso frequenze più basse.</a:t>
            </a:r>
            <a:endParaRPr sz="1300">
              <a:solidFill>
                <a:schemeClr val="dk1"/>
              </a:solidFill>
              <a:latin typeface="Libre Franklin"/>
              <a:ea typeface="Libre Franklin"/>
              <a:cs typeface="Libre Franklin"/>
              <a:sym typeface="Libre Franklin"/>
            </a:endParaRPr>
          </a:p>
        </p:txBody>
      </p:sp>
      <p:sp>
        <p:nvSpPr>
          <p:cNvPr id="275" name="Google Shape;275;p30"/>
          <p:cNvSpPr txBox="1"/>
          <p:nvPr/>
        </p:nvSpPr>
        <p:spPr>
          <a:xfrm>
            <a:off x="1388125" y="5383850"/>
            <a:ext cx="10419600" cy="1185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300" b="1">
                <a:solidFill>
                  <a:schemeClr val="dk1"/>
                </a:solidFill>
                <a:latin typeface="Libre Franklin"/>
                <a:ea typeface="Libre Franklin"/>
                <a:cs typeface="Libre Franklin"/>
                <a:sym typeface="Libre Franklin"/>
              </a:rPr>
              <a:t>Osservazione:</a:t>
            </a:r>
            <a:endParaRPr sz="1300" b="1">
              <a:solidFill>
                <a:schemeClr val="dk1"/>
              </a:solidFill>
              <a:latin typeface="Libre Franklin"/>
              <a:ea typeface="Libre Franklin"/>
              <a:cs typeface="Libre Franklin"/>
              <a:sym typeface="Libre Franklin"/>
            </a:endParaRPr>
          </a:p>
          <a:p>
            <a:pPr marL="0" lvl="0" indent="0" algn="l" rtl="0">
              <a:spcBef>
                <a:spcPts val="0"/>
              </a:spcBef>
              <a:spcAft>
                <a:spcPts val="0"/>
              </a:spcAft>
              <a:buNone/>
            </a:pPr>
            <a:endParaRPr sz="1300">
              <a:solidFill>
                <a:schemeClr val="dk1"/>
              </a:solidFill>
              <a:latin typeface="Libre Franklin"/>
              <a:ea typeface="Libre Franklin"/>
              <a:cs typeface="Libre Franklin"/>
              <a:sym typeface="Libre Franklin"/>
            </a:endParaRPr>
          </a:p>
          <a:p>
            <a:pPr marL="0" lvl="0" indent="0" algn="l" rtl="0">
              <a:spcBef>
                <a:spcPts val="0"/>
              </a:spcBef>
              <a:spcAft>
                <a:spcPts val="0"/>
              </a:spcAft>
              <a:buNone/>
            </a:pPr>
            <a:r>
              <a:rPr lang="it-IT" sz="1300">
                <a:solidFill>
                  <a:schemeClr val="dk1"/>
                </a:solidFill>
                <a:latin typeface="Libre Franklin"/>
                <a:ea typeface="Libre Franklin"/>
                <a:cs typeface="Libre Franklin"/>
                <a:sym typeface="Libre Franklin"/>
              </a:rPr>
              <a:t>Dal punto di vista pratico, però, è più conveniente rendere variabile la resistenza, ad esempio tramite un trimmer, piuttosto che utilizzare un condensatore variabile. Nelle applicazioni reali, infatti, regolare una resistenza è generalmente più semplice, economico e preciso rispetto alla variazione della capacità del condensatore.</a:t>
            </a:r>
            <a:endParaRPr sz="1300">
              <a:latin typeface="Libre Franklin"/>
              <a:ea typeface="Libre Franklin"/>
              <a:cs typeface="Libre Franklin"/>
              <a:sym typeface="Libre Frankli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pic>
        <p:nvPicPr>
          <p:cNvPr id="281" name="Google Shape;281;p31"/>
          <p:cNvPicPr preferRelativeResize="0"/>
          <p:nvPr/>
        </p:nvPicPr>
        <p:blipFill>
          <a:blip r:embed="rId3">
            <a:alphaModFix/>
          </a:blip>
          <a:stretch>
            <a:fillRect/>
          </a:stretch>
        </p:blipFill>
        <p:spPr>
          <a:xfrm>
            <a:off x="1951612" y="508950"/>
            <a:ext cx="8288777" cy="4664899"/>
          </a:xfrm>
          <a:prstGeom prst="rect">
            <a:avLst/>
          </a:prstGeom>
          <a:noFill/>
          <a:ln>
            <a:noFill/>
          </a:ln>
        </p:spPr>
      </p:pic>
      <p:sp>
        <p:nvSpPr>
          <p:cNvPr id="282" name="Google Shape;282;p31"/>
          <p:cNvSpPr txBox="1"/>
          <p:nvPr/>
        </p:nvSpPr>
        <p:spPr>
          <a:xfrm>
            <a:off x="891675" y="5542750"/>
            <a:ext cx="11189400" cy="78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300">
                <a:latin typeface="Libre Franklin"/>
                <a:ea typeface="Libre Franklin"/>
                <a:cs typeface="Libre Franklin"/>
                <a:sym typeface="Libre Franklin"/>
              </a:rPr>
              <a:t>Il grafico mostra la relazione tra la frequenza di taglio fc​ e il valore 1/R, mantenendo costante la capacità a C=100nF. Si osserva un andamento lineare: quando la resistenza diminuisce, 1/R aumenta e di conseguenza aumenta anche la frequenza di taglio. Questo conferma che, a capacità costante, il filtro passa-alto può essere regolato agendo direttamente sul valore della resistenza.</a:t>
            </a:r>
            <a:endParaRPr sz="1300">
              <a:latin typeface="Libre Franklin"/>
              <a:ea typeface="Libre Franklin"/>
              <a:cs typeface="Libre Franklin"/>
              <a:sym typeface="Libre Frankli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pic>
        <p:nvPicPr>
          <p:cNvPr id="288" name="Google Shape;288;p32"/>
          <p:cNvPicPr preferRelativeResize="0"/>
          <p:nvPr/>
        </p:nvPicPr>
        <p:blipFill rotWithShape="1">
          <a:blip r:embed="rId3">
            <a:alphaModFix/>
          </a:blip>
          <a:srcRect/>
          <a:stretch/>
        </p:blipFill>
        <p:spPr>
          <a:xfrm>
            <a:off x="5937130" y="2809000"/>
            <a:ext cx="5749220" cy="1327925"/>
          </a:xfrm>
          <a:prstGeom prst="rect">
            <a:avLst/>
          </a:prstGeom>
          <a:noFill/>
          <a:ln>
            <a:noFill/>
          </a:ln>
        </p:spPr>
      </p:pic>
      <p:pic>
        <p:nvPicPr>
          <p:cNvPr id="289" name="Google Shape;289;p32"/>
          <p:cNvPicPr preferRelativeResize="0"/>
          <p:nvPr/>
        </p:nvPicPr>
        <p:blipFill rotWithShape="1">
          <a:blip r:embed="rId4">
            <a:alphaModFix/>
          </a:blip>
          <a:srcRect/>
          <a:stretch/>
        </p:blipFill>
        <p:spPr>
          <a:xfrm>
            <a:off x="1119608" y="2530408"/>
            <a:ext cx="4445228" cy="1778091"/>
          </a:xfrm>
          <a:prstGeom prst="rect">
            <a:avLst/>
          </a:prstGeom>
          <a:noFill/>
          <a:ln>
            <a:noFill/>
          </a:ln>
        </p:spPr>
      </p:pic>
      <p:sp>
        <p:nvSpPr>
          <p:cNvPr id="290" name="Google Shape;290;p32"/>
          <p:cNvSpPr txBox="1"/>
          <p:nvPr/>
        </p:nvSpPr>
        <p:spPr>
          <a:xfrm>
            <a:off x="968075" y="1609975"/>
            <a:ext cx="11053800" cy="615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it-IT" sz="1300">
                <a:solidFill>
                  <a:schemeClr val="dk1"/>
                </a:solidFill>
                <a:latin typeface="Libre Franklin"/>
                <a:ea typeface="Libre Franklin"/>
                <a:cs typeface="Libre Franklin"/>
                <a:sym typeface="Libre Franklin"/>
              </a:rPr>
              <a:t>In questa prova il circuito RC viene alimentato con un segnale impulsivo Vin che commuta tra -1 V e +1 V. Nel grafico, la curva rossa rappresenta Vin, mentre la curva blu mostra l’andamento della tensione legata alla carica e scarica del condensatore.</a:t>
            </a:r>
            <a:endParaRPr/>
          </a:p>
        </p:txBody>
      </p:sp>
      <p:sp>
        <p:nvSpPr>
          <p:cNvPr id="291" name="Google Shape;291;p32"/>
          <p:cNvSpPr txBox="1"/>
          <p:nvPr/>
        </p:nvSpPr>
        <p:spPr>
          <a:xfrm>
            <a:off x="1359400" y="4720950"/>
            <a:ext cx="10473000" cy="615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it-IT" sz="1300">
                <a:solidFill>
                  <a:schemeClr val="dk1"/>
                </a:solidFill>
                <a:latin typeface="Libre Franklin"/>
                <a:ea typeface="Libre Franklin"/>
                <a:cs typeface="Libre Franklin"/>
                <a:sym typeface="Libre Franklin"/>
              </a:rPr>
              <a:t> Il condensatore si oppone alle variazioni brusche di tensione: per questo non segue istantaneamente i salti della curva rossa, ma passa gradualmente da un livello all’altro. La velocità di carica e scarica dipende dalla costante di tempo:</a:t>
            </a:r>
            <a:endParaRPr/>
          </a:p>
        </p:txBody>
      </p:sp>
      <p:pic>
        <p:nvPicPr>
          <p:cNvPr id="292" name="Google Shape;292;p32"/>
          <p:cNvPicPr preferRelativeResize="0"/>
          <p:nvPr/>
        </p:nvPicPr>
        <p:blipFill>
          <a:blip r:embed="rId5">
            <a:alphaModFix/>
          </a:blip>
          <a:stretch>
            <a:fillRect/>
          </a:stretch>
        </p:blipFill>
        <p:spPr>
          <a:xfrm>
            <a:off x="4925875" y="5485775"/>
            <a:ext cx="800100" cy="342900"/>
          </a:xfrm>
          <a:prstGeom prst="rect">
            <a:avLst/>
          </a:prstGeom>
          <a:noFill/>
          <a:ln>
            <a:noFill/>
          </a:ln>
        </p:spPr>
      </p:pic>
      <p:sp>
        <p:nvSpPr>
          <p:cNvPr id="293" name="Google Shape;293;p32"/>
          <p:cNvSpPr txBox="1"/>
          <p:nvPr/>
        </p:nvSpPr>
        <p:spPr>
          <a:xfrm>
            <a:off x="2034475" y="5978500"/>
            <a:ext cx="63024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300">
                <a:latin typeface="Libre Franklin"/>
                <a:ea typeface="Libre Franklin"/>
                <a:cs typeface="Libre Franklin"/>
                <a:sym typeface="Libre Franklin"/>
              </a:rPr>
              <a:t>maggiore è </a:t>
            </a:r>
            <a:r>
              <a:rPr lang="it-IT" sz="1500" b="1">
                <a:latin typeface="Libre Franklin"/>
                <a:ea typeface="Libre Franklin"/>
                <a:cs typeface="Libre Franklin"/>
                <a:sym typeface="Libre Franklin"/>
              </a:rPr>
              <a:t>τ</a:t>
            </a:r>
            <a:r>
              <a:rPr lang="it-IT" sz="1300">
                <a:latin typeface="Libre Franklin"/>
                <a:ea typeface="Libre Franklin"/>
                <a:cs typeface="Libre Franklin"/>
                <a:sym typeface="Libre Franklin"/>
              </a:rPr>
              <a:t>, più lenta sarà la risposta del condensatore.</a:t>
            </a:r>
            <a:endParaRPr sz="1300">
              <a:latin typeface="Libre Franklin"/>
              <a:ea typeface="Libre Franklin"/>
              <a:cs typeface="Libre Franklin"/>
              <a:sym typeface="Libre Franklin"/>
            </a:endParaRPr>
          </a:p>
        </p:txBody>
      </p:sp>
      <p:sp>
        <p:nvSpPr>
          <p:cNvPr id="294" name="Google Shape;294;p32"/>
          <p:cNvSpPr txBox="1"/>
          <p:nvPr/>
        </p:nvSpPr>
        <p:spPr>
          <a:xfrm>
            <a:off x="1355275" y="756125"/>
            <a:ext cx="77583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500">
                <a:solidFill>
                  <a:srgbClr val="073763"/>
                </a:solidFill>
                <a:latin typeface="Libre Franklin SemiBold"/>
                <a:ea typeface="Libre Franklin SemiBold"/>
                <a:cs typeface="Libre Franklin SemiBold"/>
                <a:sym typeface="Libre Franklin SemiBold"/>
              </a:rPr>
              <a:t>Risposta al gradino (circuito RC)</a:t>
            </a:r>
            <a:endParaRPr sz="2500">
              <a:solidFill>
                <a:srgbClr val="073763"/>
              </a:solidFill>
              <a:latin typeface="Libre Franklin SemiBold"/>
              <a:ea typeface="Libre Franklin SemiBold"/>
              <a:cs typeface="Libre Franklin SemiBold"/>
              <a:sym typeface="Libre Franklin SemiBo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33"/>
          <p:cNvSpPr txBox="1"/>
          <p:nvPr/>
        </p:nvSpPr>
        <p:spPr>
          <a:xfrm>
            <a:off x="1271650" y="1325525"/>
            <a:ext cx="11134200" cy="1229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Carica del condensatore</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br>
              <a:rPr lang="it-IT" sz="1300">
                <a:solidFill>
                  <a:schemeClr val="dk1"/>
                </a:solidFill>
                <a:latin typeface="Libre Franklin"/>
                <a:ea typeface="Libre Franklin"/>
                <a:cs typeface="Libre Franklin"/>
                <a:sym typeface="Libre Franklin"/>
              </a:rPr>
            </a:br>
            <a:r>
              <a:rPr lang="it-IT" sz="1300">
                <a:solidFill>
                  <a:schemeClr val="dk1"/>
                </a:solidFill>
                <a:latin typeface="Libre Franklin"/>
                <a:ea typeface="Libre Franklin"/>
                <a:cs typeface="Libre Franklin"/>
                <a:sym typeface="Libre Franklin"/>
              </a:rPr>
              <a:t> Quando Vin passa da -1 V a +1 V, il condensatore inizia a caricarsi. La tensione non cambia istantaneamente, ma cresce con andamento esponenziale:</a:t>
            </a:r>
            <a:endParaRPr sz="1300">
              <a:solidFill>
                <a:schemeClr val="dk1"/>
              </a:solidFill>
              <a:latin typeface="Libre Franklin"/>
              <a:ea typeface="Libre Franklin"/>
              <a:cs typeface="Libre Franklin"/>
              <a:sym typeface="Libre Franklin"/>
            </a:endParaRPr>
          </a:p>
        </p:txBody>
      </p:sp>
      <p:pic>
        <p:nvPicPr>
          <p:cNvPr id="301" name="Google Shape;301;p33"/>
          <p:cNvPicPr preferRelativeResize="0"/>
          <p:nvPr/>
        </p:nvPicPr>
        <p:blipFill>
          <a:blip r:embed="rId3">
            <a:alphaModFix/>
          </a:blip>
          <a:stretch>
            <a:fillRect/>
          </a:stretch>
        </p:blipFill>
        <p:spPr>
          <a:xfrm>
            <a:off x="4128850" y="2835400"/>
            <a:ext cx="2486025" cy="381000"/>
          </a:xfrm>
          <a:prstGeom prst="rect">
            <a:avLst/>
          </a:prstGeom>
          <a:noFill/>
          <a:ln>
            <a:noFill/>
          </a:ln>
        </p:spPr>
      </p:pic>
      <p:sp>
        <p:nvSpPr>
          <p:cNvPr id="302" name="Google Shape;302;p33"/>
          <p:cNvSpPr txBox="1"/>
          <p:nvPr/>
        </p:nvSpPr>
        <p:spPr>
          <a:xfrm>
            <a:off x="1054225" y="3270513"/>
            <a:ext cx="10917000" cy="1843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dove ViV_iVi​ è il valore iniziale, VfV_fVf​ il valore finale e RCRCRC è la costante di tempo del circuito. Nel grafico la curva blu sale rapidamente all’inizio e poi rallenta avvicinandosi al nuovo valore positivo.</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Scarica del condensatore</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br>
              <a:rPr lang="it-IT" sz="1300">
                <a:solidFill>
                  <a:schemeClr val="dk1"/>
                </a:solidFill>
                <a:latin typeface="Libre Franklin"/>
                <a:ea typeface="Libre Franklin"/>
                <a:cs typeface="Libre Franklin"/>
                <a:sym typeface="Libre Franklin"/>
              </a:rPr>
            </a:br>
            <a:r>
              <a:rPr lang="it-IT" sz="1300">
                <a:solidFill>
                  <a:schemeClr val="dk1"/>
                </a:solidFill>
                <a:latin typeface="Libre Franklin"/>
                <a:ea typeface="Libre Franklin"/>
                <a:cs typeface="Libre Franklin"/>
                <a:sym typeface="Libre Franklin"/>
              </a:rPr>
              <a:t> Quando Vin passa da +1 V a -1 V, il condensatore si scarica e poi si porta verso il nuovo livello negativo. Anche in questo caso l’andamento è esponenziale:</a:t>
            </a:r>
            <a:endParaRPr sz="1300">
              <a:solidFill>
                <a:schemeClr val="dk1"/>
              </a:solidFill>
              <a:latin typeface="Libre Franklin"/>
              <a:ea typeface="Libre Franklin"/>
              <a:cs typeface="Libre Franklin"/>
              <a:sym typeface="Libre Franklin"/>
            </a:endParaRPr>
          </a:p>
        </p:txBody>
      </p:sp>
      <p:pic>
        <p:nvPicPr>
          <p:cNvPr id="303" name="Google Shape;303;p33"/>
          <p:cNvPicPr preferRelativeResize="0"/>
          <p:nvPr/>
        </p:nvPicPr>
        <p:blipFill>
          <a:blip r:embed="rId3">
            <a:alphaModFix/>
          </a:blip>
          <a:stretch>
            <a:fillRect/>
          </a:stretch>
        </p:blipFill>
        <p:spPr>
          <a:xfrm>
            <a:off x="4446000" y="4937950"/>
            <a:ext cx="2486025" cy="381000"/>
          </a:xfrm>
          <a:prstGeom prst="rect">
            <a:avLst/>
          </a:prstGeom>
          <a:noFill/>
          <a:ln>
            <a:noFill/>
          </a:ln>
        </p:spPr>
      </p:pic>
      <p:sp>
        <p:nvSpPr>
          <p:cNvPr id="304" name="Google Shape;304;p33"/>
          <p:cNvSpPr txBox="1"/>
          <p:nvPr/>
        </p:nvSpPr>
        <p:spPr>
          <a:xfrm>
            <a:off x="1114450" y="5662375"/>
            <a:ext cx="10625400" cy="768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Nel grafico la curva blu scende velocemente subito dopo il fronte di discesa di Vin e poi rallenta progressivamente.</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endParaRPr sz="1300">
              <a:solidFill>
                <a:schemeClr val="dk1"/>
              </a:solidFill>
              <a:latin typeface="Libre Franklin"/>
              <a:ea typeface="Libre Franklin"/>
              <a:cs typeface="Libre Franklin"/>
              <a:sym typeface="Libre Frankli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34"/>
          <p:cNvSpPr txBox="1"/>
          <p:nvPr/>
        </p:nvSpPr>
        <p:spPr>
          <a:xfrm>
            <a:off x="6730225" y="703475"/>
            <a:ext cx="4621500" cy="78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300">
                <a:solidFill>
                  <a:schemeClr val="dk1"/>
                </a:solidFill>
                <a:latin typeface="Libre Franklin"/>
                <a:ea typeface="Libre Franklin"/>
                <a:cs typeface="Libre Franklin"/>
                <a:sym typeface="Libre Franklin"/>
              </a:rPr>
              <a:t>ll circuito RC passa-alto è alimentato con un segnale Vin a gradino, rappresentato in rosso, che commuta tra -1 V e +1 V. La variazione applicata è quindi:</a:t>
            </a:r>
            <a:endParaRPr sz="1300">
              <a:latin typeface="Libre Franklin"/>
              <a:ea typeface="Libre Franklin"/>
              <a:cs typeface="Libre Franklin"/>
              <a:sym typeface="Libre Franklin"/>
            </a:endParaRPr>
          </a:p>
        </p:txBody>
      </p:sp>
      <p:pic>
        <p:nvPicPr>
          <p:cNvPr id="311" name="Google Shape;311;p34"/>
          <p:cNvPicPr preferRelativeResize="0"/>
          <p:nvPr/>
        </p:nvPicPr>
        <p:blipFill>
          <a:blip r:embed="rId3">
            <a:alphaModFix/>
          </a:blip>
          <a:stretch>
            <a:fillRect/>
          </a:stretch>
        </p:blipFill>
        <p:spPr>
          <a:xfrm>
            <a:off x="7835450" y="1983138"/>
            <a:ext cx="2028825" cy="447675"/>
          </a:xfrm>
          <a:prstGeom prst="rect">
            <a:avLst/>
          </a:prstGeom>
          <a:noFill/>
          <a:ln>
            <a:noFill/>
          </a:ln>
        </p:spPr>
      </p:pic>
      <p:sp>
        <p:nvSpPr>
          <p:cNvPr id="312" name="Google Shape;312;p34"/>
          <p:cNvSpPr txBox="1"/>
          <p:nvPr/>
        </p:nvSpPr>
        <p:spPr>
          <a:xfrm>
            <a:off x="1234725" y="2925400"/>
            <a:ext cx="10469700" cy="1383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Il condensatore non può variare istantaneamente la tensione ai suoi capi; per questo, a ogni fronte del segnale, entra in una fase di carica o scarica.</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Quando Vin passa da -1 V a +1 V, il condensatore si carica: la curva blu cresce progressivamente con andamento esponenziale. </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300">
                <a:solidFill>
                  <a:schemeClr val="dk1"/>
                </a:solidFill>
                <a:latin typeface="Libre Franklin"/>
                <a:ea typeface="Libre Franklin"/>
                <a:cs typeface="Libre Franklin"/>
                <a:sym typeface="Libre Franklin"/>
              </a:rPr>
              <a:t>Quando invece Vin passa da +1 V a -1 V, il condensatore si scarica: la curva blu decresce gradualmente verso il nuovo valore.</a:t>
            </a:r>
            <a:endParaRPr sz="1300">
              <a:solidFill>
                <a:schemeClr val="dk1"/>
              </a:solidFill>
              <a:latin typeface="Libre Franklin"/>
              <a:ea typeface="Libre Franklin"/>
              <a:cs typeface="Libre Franklin"/>
              <a:sym typeface="Libre Franklin"/>
            </a:endParaRPr>
          </a:p>
        </p:txBody>
      </p:sp>
      <p:sp>
        <p:nvSpPr>
          <p:cNvPr id="313" name="Google Shape;313;p34"/>
          <p:cNvSpPr txBox="1"/>
          <p:nvPr/>
        </p:nvSpPr>
        <p:spPr>
          <a:xfrm>
            <a:off x="1317050" y="4374425"/>
            <a:ext cx="91998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300">
                <a:solidFill>
                  <a:schemeClr val="dk1"/>
                </a:solidFill>
                <a:latin typeface="Libre Franklin"/>
                <a:ea typeface="Libre Franklin"/>
                <a:cs typeface="Libre Franklin"/>
                <a:sym typeface="Libre Franklin"/>
              </a:rPr>
              <a:t>La curva verde evidenzia invece i picchi generati nei fronti del segnale: il condensatore trasferisce inizialmente la variazione rapida, poi il valore decade verso 0 V attraverso la resistenza.</a:t>
            </a:r>
            <a:endParaRPr sz="1300">
              <a:latin typeface="Libre Franklin"/>
              <a:ea typeface="Libre Franklin"/>
              <a:cs typeface="Libre Franklin"/>
              <a:sym typeface="Libre Franklin"/>
            </a:endParaRPr>
          </a:p>
        </p:txBody>
      </p:sp>
      <p:sp>
        <p:nvSpPr>
          <p:cNvPr id="314" name="Google Shape;314;p34"/>
          <p:cNvSpPr txBox="1"/>
          <p:nvPr/>
        </p:nvSpPr>
        <p:spPr>
          <a:xfrm>
            <a:off x="1317050" y="5179350"/>
            <a:ext cx="65184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it-IT" sz="1300">
                <a:solidFill>
                  <a:schemeClr val="dk1"/>
                </a:solidFill>
                <a:latin typeface="Libre Franklin"/>
                <a:ea typeface="Libre Franklin"/>
                <a:cs typeface="Libre Franklin"/>
                <a:sym typeface="Libre Franklin"/>
              </a:rPr>
              <a:t>Con R = 10 kΩ e C = 100 nF si ottiene: </a:t>
            </a:r>
            <a:endParaRPr sz="1300">
              <a:latin typeface="Libre Franklin"/>
              <a:ea typeface="Libre Franklin"/>
              <a:cs typeface="Libre Franklin"/>
              <a:sym typeface="Libre Franklin"/>
            </a:endParaRPr>
          </a:p>
        </p:txBody>
      </p:sp>
      <p:pic>
        <p:nvPicPr>
          <p:cNvPr id="315" name="Google Shape;315;p34"/>
          <p:cNvPicPr preferRelativeResize="0"/>
          <p:nvPr/>
        </p:nvPicPr>
        <p:blipFill>
          <a:blip r:embed="rId4">
            <a:alphaModFix/>
          </a:blip>
          <a:stretch>
            <a:fillRect/>
          </a:stretch>
        </p:blipFill>
        <p:spPr>
          <a:xfrm>
            <a:off x="5349975" y="5214625"/>
            <a:ext cx="857250" cy="314325"/>
          </a:xfrm>
          <a:prstGeom prst="rect">
            <a:avLst/>
          </a:prstGeom>
          <a:noFill/>
          <a:ln>
            <a:noFill/>
          </a:ln>
        </p:spPr>
      </p:pic>
      <p:sp>
        <p:nvSpPr>
          <p:cNvPr id="316" name="Google Shape;316;p34"/>
          <p:cNvSpPr txBox="1"/>
          <p:nvPr/>
        </p:nvSpPr>
        <p:spPr>
          <a:xfrm>
            <a:off x="1234725" y="5867875"/>
            <a:ext cx="98580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300">
                <a:solidFill>
                  <a:schemeClr val="dk1"/>
                </a:solidFill>
                <a:latin typeface="Libre Franklin"/>
                <a:ea typeface="Libre Franklin"/>
                <a:cs typeface="Libre Franklin"/>
                <a:sym typeface="Libre Franklin"/>
              </a:rPr>
              <a:t>Quindi il grafico mostra che il condensatore reagisce ai salti di Vin caricandosi e scaricandosi in modo esponenziale, con una rapidità determinata dal prodotto RC.</a:t>
            </a:r>
            <a:endParaRPr sz="1300">
              <a:latin typeface="Libre Franklin"/>
              <a:ea typeface="Libre Franklin"/>
              <a:cs typeface="Libre Franklin"/>
              <a:sym typeface="Libre Franklin"/>
            </a:endParaRPr>
          </a:p>
        </p:txBody>
      </p:sp>
      <p:pic>
        <p:nvPicPr>
          <p:cNvPr id="317" name="Google Shape;317;p34"/>
          <p:cNvPicPr preferRelativeResize="0"/>
          <p:nvPr/>
        </p:nvPicPr>
        <p:blipFill rotWithShape="1">
          <a:blip r:embed="rId5">
            <a:alphaModFix/>
          </a:blip>
          <a:srcRect/>
          <a:stretch/>
        </p:blipFill>
        <p:spPr>
          <a:xfrm>
            <a:off x="1477500" y="362450"/>
            <a:ext cx="4780769" cy="234302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35"/>
          <p:cNvSpPr txBox="1"/>
          <p:nvPr/>
        </p:nvSpPr>
        <p:spPr>
          <a:xfrm>
            <a:off x="1378800" y="650275"/>
            <a:ext cx="95496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500">
                <a:solidFill>
                  <a:srgbClr val="073763"/>
                </a:solidFill>
                <a:latin typeface="Libre Franklin SemiBold"/>
                <a:ea typeface="Libre Franklin SemiBold"/>
                <a:cs typeface="Libre Franklin SemiBold"/>
                <a:sym typeface="Libre Franklin SemiBold"/>
              </a:rPr>
              <a:t>Effetto della resistenza sulla carica e scarica del condensatore</a:t>
            </a:r>
            <a:endParaRPr sz="2500">
              <a:solidFill>
                <a:srgbClr val="073763"/>
              </a:solidFill>
              <a:latin typeface="Libre Franklin SemiBold"/>
              <a:ea typeface="Libre Franklin SemiBold"/>
              <a:cs typeface="Libre Franklin SemiBold"/>
              <a:sym typeface="Libre Franklin SemiBold"/>
            </a:endParaRPr>
          </a:p>
        </p:txBody>
      </p:sp>
      <p:sp>
        <p:nvSpPr>
          <p:cNvPr id="324" name="Google Shape;324;p35"/>
          <p:cNvSpPr txBox="1"/>
          <p:nvPr/>
        </p:nvSpPr>
        <p:spPr>
          <a:xfrm>
            <a:off x="1378800" y="1480200"/>
            <a:ext cx="9811200" cy="1459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Nel grafico viene confrontata la risposta del condensatore quando il segnale Vin commuta tra -1 V e +1 V. La curva rossa rappresenta il segnale di ingresso, mentre le curve blu e verde mostrano la risposta del condensatore con due valori diversi di resistenza.</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300">
                <a:solidFill>
                  <a:schemeClr val="dk1"/>
                </a:solidFill>
                <a:latin typeface="Libre Franklin"/>
                <a:ea typeface="Libre Franklin"/>
                <a:cs typeface="Libre Franklin"/>
                <a:sym typeface="Libre Franklin"/>
              </a:rPr>
              <a:t>Nel circuito principale è presente una resistenza R = 10 kΩ, mentre nel circuito modificato viene usata una resistenza più bassa, pari a R = 1 kΩ. La capacità rimane costante a C = 100 nF.</a:t>
            </a:r>
            <a:endParaRPr sz="1300">
              <a:solidFill>
                <a:schemeClr val="dk1"/>
              </a:solidFill>
              <a:latin typeface="Libre Franklin"/>
              <a:ea typeface="Libre Franklin"/>
              <a:cs typeface="Libre Franklin"/>
              <a:sym typeface="Libre Franklin"/>
            </a:endParaRPr>
          </a:p>
        </p:txBody>
      </p:sp>
      <p:pic>
        <p:nvPicPr>
          <p:cNvPr id="325" name="Google Shape;325;p35"/>
          <p:cNvPicPr preferRelativeResize="0"/>
          <p:nvPr/>
        </p:nvPicPr>
        <p:blipFill rotWithShape="1">
          <a:blip r:embed="rId3">
            <a:alphaModFix/>
          </a:blip>
          <a:srcRect/>
          <a:stretch/>
        </p:blipFill>
        <p:spPr>
          <a:xfrm>
            <a:off x="1378800" y="3199925"/>
            <a:ext cx="4156691" cy="1829275"/>
          </a:xfrm>
          <a:prstGeom prst="rect">
            <a:avLst/>
          </a:prstGeom>
          <a:noFill/>
          <a:ln>
            <a:noFill/>
          </a:ln>
        </p:spPr>
      </p:pic>
      <p:pic>
        <p:nvPicPr>
          <p:cNvPr id="326" name="Google Shape;326;p35"/>
          <p:cNvPicPr preferRelativeResize="0"/>
          <p:nvPr/>
        </p:nvPicPr>
        <p:blipFill rotWithShape="1">
          <a:blip r:embed="rId4">
            <a:alphaModFix/>
          </a:blip>
          <a:srcRect r="52272" b="14727"/>
          <a:stretch/>
        </p:blipFill>
        <p:spPr>
          <a:xfrm>
            <a:off x="5464950" y="3199937"/>
            <a:ext cx="3223515" cy="1829275"/>
          </a:xfrm>
          <a:prstGeom prst="rect">
            <a:avLst/>
          </a:prstGeom>
          <a:noFill/>
          <a:ln>
            <a:noFill/>
          </a:ln>
        </p:spPr>
      </p:pic>
      <p:pic>
        <p:nvPicPr>
          <p:cNvPr id="327" name="Google Shape;327;p35"/>
          <p:cNvPicPr preferRelativeResize="0"/>
          <p:nvPr/>
        </p:nvPicPr>
        <p:blipFill rotWithShape="1">
          <a:blip r:embed="rId5">
            <a:alphaModFix/>
          </a:blip>
          <a:srcRect/>
          <a:stretch/>
        </p:blipFill>
        <p:spPr>
          <a:xfrm>
            <a:off x="1378792" y="5195684"/>
            <a:ext cx="6909461" cy="159588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pic>
        <p:nvPicPr>
          <p:cNvPr id="333" name="Google Shape;333;p36"/>
          <p:cNvPicPr preferRelativeResize="0"/>
          <p:nvPr/>
        </p:nvPicPr>
        <p:blipFill rotWithShape="1">
          <a:blip r:embed="rId3">
            <a:alphaModFix/>
          </a:blip>
          <a:srcRect/>
          <a:stretch/>
        </p:blipFill>
        <p:spPr>
          <a:xfrm>
            <a:off x="1435425" y="2642231"/>
            <a:ext cx="4255387" cy="1872717"/>
          </a:xfrm>
          <a:prstGeom prst="rect">
            <a:avLst/>
          </a:prstGeom>
          <a:noFill/>
          <a:ln>
            <a:noFill/>
          </a:ln>
        </p:spPr>
      </p:pic>
      <p:pic>
        <p:nvPicPr>
          <p:cNvPr id="334" name="Google Shape;334;p36"/>
          <p:cNvPicPr preferRelativeResize="0"/>
          <p:nvPr/>
        </p:nvPicPr>
        <p:blipFill rotWithShape="1">
          <a:blip r:embed="rId4">
            <a:alphaModFix/>
          </a:blip>
          <a:srcRect l="50345" b="17136"/>
          <a:stretch/>
        </p:blipFill>
        <p:spPr>
          <a:xfrm>
            <a:off x="5690804" y="2642225"/>
            <a:ext cx="3533397" cy="1872725"/>
          </a:xfrm>
          <a:prstGeom prst="rect">
            <a:avLst/>
          </a:prstGeom>
          <a:noFill/>
          <a:ln>
            <a:noFill/>
          </a:ln>
        </p:spPr>
      </p:pic>
      <p:pic>
        <p:nvPicPr>
          <p:cNvPr id="335" name="Google Shape;335;p36"/>
          <p:cNvPicPr preferRelativeResize="0"/>
          <p:nvPr/>
        </p:nvPicPr>
        <p:blipFill rotWithShape="1">
          <a:blip r:embed="rId5">
            <a:alphaModFix/>
          </a:blip>
          <a:srcRect/>
          <a:stretch/>
        </p:blipFill>
        <p:spPr>
          <a:xfrm>
            <a:off x="1435426" y="5044174"/>
            <a:ext cx="7853074" cy="1813825"/>
          </a:xfrm>
          <a:prstGeom prst="rect">
            <a:avLst/>
          </a:prstGeom>
          <a:noFill/>
          <a:ln>
            <a:noFill/>
          </a:ln>
        </p:spPr>
      </p:pic>
      <p:sp>
        <p:nvSpPr>
          <p:cNvPr id="336" name="Google Shape;336;p36"/>
          <p:cNvSpPr txBox="1"/>
          <p:nvPr/>
        </p:nvSpPr>
        <p:spPr>
          <a:xfrm>
            <a:off x="1164175" y="752575"/>
            <a:ext cx="10605600" cy="999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Nel grafico viene confrontata la risposta del condensatore quando il segnale Vin, rappresentato in rosso, commuta tra -1 V e +1 V. La capacità rimane costante a C = 100 nF, mentre viene variato il valore della resistenza.</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300">
                <a:solidFill>
                  <a:schemeClr val="dk1"/>
                </a:solidFill>
                <a:latin typeface="Libre Franklin"/>
                <a:ea typeface="Libre Franklin"/>
                <a:cs typeface="Libre Franklin"/>
                <a:sym typeface="Libre Franklin"/>
              </a:rPr>
              <a:t>La curva blu rappresenta il circuito di riferimento con R = 10 kΩ, mentre la curva verde rappresenta il circuito modificato con R = 30 kΩ.</a:t>
            </a:r>
            <a:endParaRPr sz="1300">
              <a:solidFill>
                <a:schemeClr val="dk1"/>
              </a:solidFill>
              <a:latin typeface="Libre Franklin"/>
              <a:ea typeface="Libre Franklin"/>
              <a:cs typeface="Libre Franklin"/>
              <a:sym typeface="Libre Franklin"/>
            </a:endParaRPr>
          </a:p>
        </p:txBody>
      </p:sp>
      <p:sp>
        <p:nvSpPr>
          <p:cNvPr id="337" name="Google Shape;337;p36"/>
          <p:cNvSpPr txBox="1"/>
          <p:nvPr/>
        </p:nvSpPr>
        <p:spPr>
          <a:xfrm>
            <a:off x="1164175" y="1855800"/>
            <a:ext cx="106761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300">
                <a:solidFill>
                  <a:schemeClr val="dk1"/>
                </a:solidFill>
                <a:latin typeface="Libre Franklin"/>
                <a:ea typeface="Libre Franklin"/>
                <a:cs typeface="Libre Franklin"/>
                <a:sym typeface="Libre Franklin"/>
              </a:rPr>
              <a:t>Aumentando la resistenza da 10 kΩ a 30 kΩ, aumenta anche la costante di tempo. Per questo motivo la curva verde mostra una carica e una scarica più lente rispetto alla curva blu.</a:t>
            </a:r>
            <a:endParaRPr sz="1300">
              <a:latin typeface="Libre Franklin"/>
              <a:ea typeface="Libre Franklin"/>
              <a:cs typeface="Libre Franklin"/>
              <a:sym typeface="Libre Frankli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37"/>
          <p:cNvSpPr txBox="1"/>
          <p:nvPr/>
        </p:nvSpPr>
        <p:spPr>
          <a:xfrm>
            <a:off x="1221850" y="1430100"/>
            <a:ext cx="11042100" cy="1767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300" b="1">
                <a:solidFill>
                  <a:schemeClr val="dk1"/>
                </a:solidFill>
                <a:latin typeface="Libre Franklin"/>
                <a:ea typeface="Libre Franklin"/>
                <a:cs typeface="Libre Franklin"/>
                <a:sym typeface="Libre Franklin"/>
              </a:rPr>
              <a:t>Conclusione:</a:t>
            </a:r>
            <a:endParaRPr sz="1300" b="1">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Con R = 10 kΩ si ha una costante di tempo maggiore, quindi la curva blu mostra una carica e una scarica più lente. </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Con R = 1 kΩ, invece, la costante di tempo è più piccola e la curva verde raggiunge molto più rapidamente il valore finale.</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300">
                <a:solidFill>
                  <a:schemeClr val="dk1"/>
                </a:solidFill>
                <a:latin typeface="Libre Franklin"/>
                <a:ea typeface="Libre Franklin"/>
                <a:cs typeface="Libre Franklin"/>
                <a:sym typeface="Libre Franklin"/>
              </a:rPr>
              <a:t>Quindi, diminuendo R, il condensatore si carica e si scarica più velocemente. Questo dimostra che R controlla direttamente la rapidità della risposta transitoria del circuito RC.</a:t>
            </a:r>
            <a:endParaRPr sz="1300">
              <a:solidFill>
                <a:schemeClr val="dk1"/>
              </a:solidFill>
              <a:latin typeface="Libre Franklin"/>
              <a:ea typeface="Libre Franklin"/>
              <a:cs typeface="Libre Franklin"/>
              <a:sym typeface="Libre Franklin"/>
            </a:endParaRPr>
          </a:p>
        </p:txBody>
      </p:sp>
      <p:sp>
        <p:nvSpPr>
          <p:cNvPr id="344" name="Google Shape;344;p37"/>
          <p:cNvSpPr txBox="1"/>
          <p:nvPr/>
        </p:nvSpPr>
        <p:spPr>
          <a:xfrm>
            <a:off x="1221850" y="3382150"/>
            <a:ext cx="10418400" cy="1229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con R = 30 kΩ, il condensatore non riesce a raggiungere completamente il valore finale prima che Vin cambi nuovamente stato. La sua tensione cresce e decresce più lentamente, rimanendo più “smussata” rispetto alla risposta con R = 10 kΩ.</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300">
                <a:solidFill>
                  <a:schemeClr val="dk1"/>
                </a:solidFill>
                <a:latin typeface="Libre Franklin"/>
                <a:ea typeface="Libre Franklin"/>
                <a:cs typeface="Libre Franklin"/>
                <a:sym typeface="Libre Franklin"/>
              </a:rPr>
              <a:t>Quindi, aumentando R, il condensatore impiega più tempo a caricarsi e scaricarsi. Questo dimostra che una resistenza maggiore rende la risposta transitoria del circuito RC più lenta.</a:t>
            </a:r>
            <a:endParaRPr sz="1300">
              <a:solidFill>
                <a:schemeClr val="dk1"/>
              </a:solidFill>
              <a:latin typeface="Libre Franklin"/>
              <a:ea typeface="Libre Franklin"/>
              <a:cs typeface="Libre Franklin"/>
              <a:sym typeface="Libre Frankli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38"/>
          <p:cNvSpPr txBox="1"/>
          <p:nvPr/>
        </p:nvSpPr>
        <p:spPr>
          <a:xfrm>
            <a:off x="1355275" y="756125"/>
            <a:ext cx="77583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500">
                <a:solidFill>
                  <a:srgbClr val="073763"/>
                </a:solidFill>
                <a:latin typeface="Libre Franklin SemiBold"/>
                <a:ea typeface="Libre Franklin SemiBold"/>
                <a:cs typeface="Libre Franklin SemiBold"/>
                <a:sym typeface="Libre Franklin SemiBold"/>
              </a:rPr>
              <a:t>Risposta al gradino (circuito RL)</a:t>
            </a:r>
            <a:endParaRPr sz="2500">
              <a:solidFill>
                <a:srgbClr val="073763"/>
              </a:solidFill>
              <a:latin typeface="Libre Franklin SemiBold"/>
              <a:ea typeface="Libre Franklin SemiBold"/>
              <a:cs typeface="Libre Franklin SemiBold"/>
              <a:sym typeface="Libre Franklin SemiBold"/>
            </a:endParaRPr>
          </a:p>
        </p:txBody>
      </p:sp>
      <p:sp>
        <p:nvSpPr>
          <p:cNvPr id="351" name="Google Shape;351;p38"/>
          <p:cNvSpPr txBox="1"/>
          <p:nvPr/>
        </p:nvSpPr>
        <p:spPr>
          <a:xfrm>
            <a:off x="1355275" y="1493425"/>
            <a:ext cx="10098300" cy="999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In questa prova il circuito RL viene alimentato con un segnale impulsivo Vin che commuta tra -1 V e +1 V.</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300">
                <a:solidFill>
                  <a:schemeClr val="dk1"/>
                </a:solidFill>
                <a:latin typeface="Libre Franklin"/>
                <a:ea typeface="Libre Franklin"/>
                <a:cs typeface="Libre Franklin"/>
                <a:sym typeface="Libre Franklin"/>
              </a:rPr>
              <a:t>Nel grafico, la curva rossa rappresenta Vin, mentre la curva blu mostra l’andamento della corrente nell’induttore I(L1) durante le fasi di energizzazione e de-energizzazione.</a:t>
            </a:r>
            <a:endParaRPr sz="1300">
              <a:solidFill>
                <a:schemeClr val="dk1"/>
              </a:solidFill>
              <a:latin typeface="Libre Franklin"/>
              <a:ea typeface="Libre Franklin"/>
              <a:cs typeface="Libre Franklin"/>
              <a:sym typeface="Libre Franklin"/>
            </a:endParaRPr>
          </a:p>
        </p:txBody>
      </p:sp>
      <p:sp>
        <p:nvSpPr>
          <p:cNvPr id="352" name="Google Shape;352;p38"/>
          <p:cNvSpPr txBox="1"/>
          <p:nvPr/>
        </p:nvSpPr>
        <p:spPr>
          <a:xfrm>
            <a:off x="1330375" y="4777000"/>
            <a:ext cx="10148100" cy="999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L’induttore si oppone alle variazioni brusche di corrente: per questo I(L1) non segue immediatamente i salti di Vin, ma passa gradualmente da un valore positivo a uno negativo.</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300">
                <a:solidFill>
                  <a:schemeClr val="dk1"/>
                </a:solidFill>
                <a:latin typeface="Libre Franklin"/>
                <a:ea typeface="Libre Franklin"/>
                <a:cs typeface="Libre Franklin"/>
                <a:sym typeface="Libre Franklin"/>
              </a:rPr>
              <a:t>La velocità di energizzazione e de-energizzazione dipende dalla costante di tempo:</a:t>
            </a:r>
            <a:endParaRPr sz="1300">
              <a:solidFill>
                <a:schemeClr val="dk1"/>
              </a:solidFill>
              <a:latin typeface="Libre Franklin"/>
              <a:ea typeface="Libre Franklin"/>
              <a:cs typeface="Libre Franklin"/>
              <a:sym typeface="Libre Franklin"/>
            </a:endParaRPr>
          </a:p>
        </p:txBody>
      </p:sp>
      <p:pic>
        <p:nvPicPr>
          <p:cNvPr id="353" name="Google Shape;353;p38"/>
          <p:cNvPicPr preferRelativeResize="0"/>
          <p:nvPr/>
        </p:nvPicPr>
        <p:blipFill>
          <a:blip r:embed="rId3">
            <a:alphaModFix/>
          </a:blip>
          <a:stretch>
            <a:fillRect/>
          </a:stretch>
        </p:blipFill>
        <p:spPr>
          <a:xfrm>
            <a:off x="5575000" y="5943900"/>
            <a:ext cx="733425" cy="428625"/>
          </a:xfrm>
          <a:prstGeom prst="rect">
            <a:avLst/>
          </a:prstGeom>
          <a:noFill/>
          <a:ln>
            <a:noFill/>
          </a:ln>
        </p:spPr>
      </p:pic>
      <p:grpSp>
        <p:nvGrpSpPr>
          <p:cNvPr id="354" name="Google Shape;354;p38"/>
          <p:cNvGrpSpPr/>
          <p:nvPr/>
        </p:nvGrpSpPr>
        <p:grpSpPr>
          <a:xfrm>
            <a:off x="1088027" y="2519079"/>
            <a:ext cx="4650609" cy="1906132"/>
            <a:chOff x="1702130" y="3530930"/>
            <a:chExt cx="5099352" cy="2090057"/>
          </a:xfrm>
        </p:grpSpPr>
        <p:pic>
          <p:nvPicPr>
            <p:cNvPr id="355" name="Google Shape;355;p38"/>
            <p:cNvPicPr preferRelativeResize="0"/>
            <p:nvPr/>
          </p:nvPicPr>
          <p:blipFill rotWithShape="1">
            <a:blip r:embed="rId4">
              <a:alphaModFix/>
            </a:blip>
            <a:srcRect r="64503"/>
            <a:stretch/>
          </p:blipFill>
          <p:spPr>
            <a:xfrm>
              <a:off x="1702130" y="3530930"/>
              <a:ext cx="2770909" cy="2090057"/>
            </a:xfrm>
            <a:prstGeom prst="rect">
              <a:avLst/>
            </a:prstGeom>
            <a:noFill/>
            <a:ln>
              <a:noFill/>
            </a:ln>
          </p:spPr>
        </p:pic>
        <p:pic>
          <p:nvPicPr>
            <p:cNvPr id="356" name="Google Shape;356;p38"/>
            <p:cNvPicPr preferRelativeResize="0"/>
            <p:nvPr/>
          </p:nvPicPr>
          <p:blipFill rotWithShape="1">
            <a:blip r:embed="rId4">
              <a:alphaModFix/>
            </a:blip>
            <a:srcRect l="69168" r="1002"/>
            <a:stretch/>
          </p:blipFill>
          <p:spPr>
            <a:xfrm>
              <a:off x="4473040" y="3530930"/>
              <a:ext cx="2328442" cy="2090057"/>
            </a:xfrm>
            <a:prstGeom prst="rect">
              <a:avLst/>
            </a:prstGeom>
            <a:noFill/>
            <a:ln>
              <a:noFill/>
            </a:ln>
          </p:spPr>
        </p:pic>
      </p:grpSp>
      <p:pic>
        <p:nvPicPr>
          <p:cNvPr id="357" name="Google Shape;357;p38"/>
          <p:cNvPicPr preferRelativeResize="0"/>
          <p:nvPr/>
        </p:nvPicPr>
        <p:blipFill rotWithShape="1">
          <a:blip r:embed="rId5">
            <a:alphaModFix/>
          </a:blip>
          <a:srcRect/>
          <a:stretch/>
        </p:blipFill>
        <p:spPr>
          <a:xfrm>
            <a:off x="6103048" y="2838787"/>
            <a:ext cx="5484251" cy="12667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p:nvPr/>
        </p:nvSpPr>
        <p:spPr>
          <a:xfrm>
            <a:off x="1599250" y="1317050"/>
            <a:ext cx="102660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r>
              <a:rPr lang="it-IT" sz="1300">
                <a:solidFill>
                  <a:schemeClr val="dk1"/>
                </a:solidFill>
                <a:latin typeface="Libre Franklin"/>
                <a:ea typeface="Libre Franklin"/>
                <a:cs typeface="Libre Franklin"/>
                <a:sym typeface="Libre Franklin"/>
              </a:rPr>
              <a:t>Energizzazione dell’induttore</a:t>
            </a:r>
            <a:endParaRPr sz="1300">
              <a:solidFill>
                <a:schemeClr val="dk1"/>
              </a:solidFill>
              <a:latin typeface="Libre Franklin"/>
              <a:ea typeface="Libre Franklin"/>
              <a:cs typeface="Libre Franklin"/>
              <a:sym typeface="Libre Franklin"/>
            </a:endParaRPr>
          </a:p>
        </p:txBody>
      </p:sp>
      <p:sp>
        <p:nvSpPr>
          <p:cNvPr id="364" name="Google Shape;364;p39"/>
          <p:cNvSpPr txBox="1"/>
          <p:nvPr/>
        </p:nvSpPr>
        <p:spPr>
          <a:xfrm>
            <a:off x="1810925" y="1822675"/>
            <a:ext cx="83961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300">
                <a:solidFill>
                  <a:schemeClr val="dk1"/>
                </a:solidFill>
                <a:latin typeface="Libre Franklin"/>
                <a:ea typeface="Libre Franklin"/>
                <a:cs typeface="Libre Franklin"/>
                <a:sym typeface="Libre Franklin"/>
              </a:rPr>
              <a:t>L’induttore si oppone alle variazioni improvvise di corrente, quindi I(L1) non cambia istantaneamente. La corrente aumenta gradualmente con andamento esponenziale:</a:t>
            </a:r>
            <a:endParaRPr sz="1300">
              <a:latin typeface="Libre Franklin"/>
              <a:ea typeface="Libre Franklin"/>
              <a:cs typeface="Libre Franklin"/>
              <a:sym typeface="Libre Franklin"/>
            </a:endParaRPr>
          </a:p>
        </p:txBody>
      </p:sp>
      <p:pic>
        <p:nvPicPr>
          <p:cNvPr id="365" name="Google Shape;365;p39"/>
          <p:cNvPicPr preferRelativeResize="0"/>
          <p:nvPr/>
        </p:nvPicPr>
        <p:blipFill>
          <a:blip r:embed="rId3">
            <a:alphaModFix/>
          </a:blip>
          <a:stretch>
            <a:fillRect/>
          </a:stretch>
        </p:blipFill>
        <p:spPr>
          <a:xfrm>
            <a:off x="4913600" y="2607125"/>
            <a:ext cx="2190750" cy="400050"/>
          </a:xfrm>
          <a:prstGeom prst="rect">
            <a:avLst/>
          </a:prstGeom>
          <a:noFill/>
          <a:ln>
            <a:noFill/>
          </a:ln>
        </p:spPr>
      </p:pic>
      <p:sp>
        <p:nvSpPr>
          <p:cNvPr id="366" name="Google Shape;366;p39"/>
          <p:cNvSpPr txBox="1"/>
          <p:nvPr/>
        </p:nvSpPr>
        <p:spPr>
          <a:xfrm>
            <a:off x="1552200" y="3007175"/>
            <a:ext cx="10266000" cy="2176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dove Ii è il valore iniziale, If  il valore finale e τ è la costante di tempo del circuito.</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Nel grafico la curva blu sale rapidamente all’inizio e poi rallenta, avvicinandosi al nuovo valore positivo.</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400"/>
              </a:spcBef>
              <a:spcAft>
                <a:spcPts val="0"/>
              </a:spcAft>
              <a:buNone/>
            </a:pPr>
            <a:r>
              <a:rPr lang="it-IT" sz="1300">
                <a:solidFill>
                  <a:schemeClr val="dk1"/>
                </a:solidFill>
                <a:latin typeface="Libre Franklin"/>
                <a:ea typeface="Libre Franklin"/>
                <a:cs typeface="Libre Franklin"/>
                <a:sym typeface="Libre Franklin"/>
              </a:rPr>
              <a:t>De-energizzazione dell’induttore</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Quando Vin passa da +1 V a -1 V, l’induttore entra nella fase opposta. La corrente I(L1) non si inverte istantaneamente, ma diminuisce gradualmente e si porta verso il nuovo valore negativo.</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300">
                <a:solidFill>
                  <a:schemeClr val="dk1"/>
                </a:solidFill>
                <a:latin typeface="Libre Franklin"/>
                <a:ea typeface="Libre Franklin"/>
                <a:cs typeface="Libre Franklin"/>
                <a:sym typeface="Libre Franklin"/>
              </a:rPr>
              <a:t>Anche in questo caso l’andamento è esponenziale:</a:t>
            </a:r>
            <a:endParaRPr sz="1300">
              <a:solidFill>
                <a:schemeClr val="dk1"/>
              </a:solidFill>
              <a:latin typeface="Libre Franklin"/>
              <a:ea typeface="Libre Franklin"/>
              <a:cs typeface="Libre Franklin"/>
              <a:sym typeface="Libre Franklin"/>
            </a:endParaRPr>
          </a:p>
        </p:txBody>
      </p:sp>
      <p:pic>
        <p:nvPicPr>
          <p:cNvPr id="367" name="Google Shape;367;p39"/>
          <p:cNvPicPr preferRelativeResize="0"/>
          <p:nvPr/>
        </p:nvPicPr>
        <p:blipFill>
          <a:blip r:embed="rId3">
            <a:alphaModFix/>
          </a:blip>
          <a:stretch>
            <a:fillRect/>
          </a:stretch>
        </p:blipFill>
        <p:spPr>
          <a:xfrm>
            <a:off x="5054225" y="5240725"/>
            <a:ext cx="2190750" cy="400050"/>
          </a:xfrm>
          <a:prstGeom prst="rect">
            <a:avLst/>
          </a:prstGeom>
          <a:noFill/>
          <a:ln>
            <a:noFill/>
          </a:ln>
        </p:spPr>
      </p:pic>
      <p:sp>
        <p:nvSpPr>
          <p:cNvPr id="368" name="Google Shape;368;p39"/>
          <p:cNvSpPr txBox="1"/>
          <p:nvPr/>
        </p:nvSpPr>
        <p:spPr>
          <a:xfrm>
            <a:off x="1646300" y="5783475"/>
            <a:ext cx="1007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300">
                <a:solidFill>
                  <a:schemeClr val="dk1"/>
                </a:solidFill>
                <a:latin typeface="Libre Franklin"/>
                <a:ea typeface="Libre Franklin"/>
                <a:cs typeface="Libre Franklin"/>
                <a:sym typeface="Libre Franklin"/>
              </a:rPr>
              <a:t>Nel grafico la curva blu scende subito dopo il fronte di discesa della curva rossa, ma lo fa in modo progressivo, non istantaneo.</a:t>
            </a:r>
            <a:endParaRPr sz="1300">
              <a:latin typeface="Libre Franklin"/>
              <a:ea typeface="Libre Franklin"/>
              <a:cs typeface="Libre Franklin"/>
              <a:sym typeface="Libre Frankli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40"/>
          <p:cNvSpPr txBox="1"/>
          <p:nvPr/>
        </p:nvSpPr>
        <p:spPr>
          <a:xfrm>
            <a:off x="820800" y="1458150"/>
            <a:ext cx="10903200" cy="2227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it-IT" sz="1300" b="1">
                <a:solidFill>
                  <a:schemeClr val="dk1"/>
                </a:solidFill>
                <a:latin typeface="Libre Franklin"/>
                <a:ea typeface="Libre Franklin"/>
                <a:cs typeface="Libre Franklin"/>
                <a:sym typeface="Libre Franklin"/>
              </a:rPr>
              <a:t>Conclusione</a:t>
            </a:r>
            <a:endParaRPr sz="1300" b="1">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Il comportamento dell’induttore è analogo a quello del condensatore per quanto riguarda l’accumulo e il rilascio di energia.</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Il condensatore si carica accumulando energia nel campo elettrico e si scarica rilasciandola nel circuito. Allo stesso modo, l’induttore si energizza accumulando energia nel campo magnetico e si de-energizza rilasciandola gradualmente.</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300">
                <a:solidFill>
                  <a:schemeClr val="dk1"/>
                </a:solidFill>
                <a:latin typeface="Libre Franklin"/>
                <a:ea typeface="Libre Franklin"/>
                <a:cs typeface="Libre Franklin"/>
                <a:sym typeface="Libre Franklin"/>
              </a:rPr>
              <a:t>In entrambi i casi, la variazione non è istantanea ma avviene con andamento esponenziale: il condensatore si oppone alle variazioni brusche di tensione, mentre l’induttore si oppone alle variazioni brusche di corrente. Quindi entrambi mostrano una risposta transitoria governata dalla propria costante di tempo.</a:t>
            </a:r>
            <a:endParaRPr sz="1300">
              <a:solidFill>
                <a:schemeClr val="dk1"/>
              </a:solidFill>
              <a:latin typeface="Libre Franklin"/>
              <a:ea typeface="Libre Franklin"/>
              <a:cs typeface="Libre Franklin"/>
              <a:sym typeface="Libre Franklin"/>
            </a:endParaRPr>
          </a:p>
        </p:txBody>
      </p:sp>
      <p:pic>
        <p:nvPicPr>
          <p:cNvPr id="375" name="Google Shape;375;p40"/>
          <p:cNvPicPr preferRelativeResize="0"/>
          <p:nvPr/>
        </p:nvPicPr>
        <p:blipFill rotWithShape="1">
          <a:blip r:embed="rId3">
            <a:alphaModFix/>
          </a:blip>
          <a:srcRect/>
          <a:stretch/>
        </p:blipFill>
        <p:spPr>
          <a:xfrm>
            <a:off x="1868430" y="3685350"/>
            <a:ext cx="5749220" cy="1327925"/>
          </a:xfrm>
          <a:prstGeom prst="rect">
            <a:avLst/>
          </a:prstGeom>
          <a:noFill/>
          <a:ln>
            <a:noFill/>
          </a:ln>
        </p:spPr>
      </p:pic>
      <p:pic>
        <p:nvPicPr>
          <p:cNvPr id="376" name="Google Shape;376;p40"/>
          <p:cNvPicPr preferRelativeResize="0"/>
          <p:nvPr/>
        </p:nvPicPr>
        <p:blipFill rotWithShape="1">
          <a:blip r:embed="rId4">
            <a:alphaModFix/>
          </a:blip>
          <a:srcRect/>
          <a:stretch/>
        </p:blipFill>
        <p:spPr>
          <a:xfrm>
            <a:off x="1952023" y="5249437"/>
            <a:ext cx="5484251" cy="1266700"/>
          </a:xfrm>
          <a:prstGeom prst="rect">
            <a:avLst/>
          </a:prstGeom>
          <a:noFill/>
          <a:ln>
            <a:noFill/>
          </a:ln>
        </p:spPr>
      </p:pic>
      <p:sp>
        <p:nvSpPr>
          <p:cNvPr id="377" name="Google Shape;377;p40"/>
          <p:cNvSpPr txBox="1"/>
          <p:nvPr/>
        </p:nvSpPr>
        <p:spPr>
          <a:xfrm>
            <a:off x="8019825" y="4265225"/>
            <a:ext cx="1693200" cy="67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IT" sz="2800">
                <a:solidFill>
                  <a:schemeClr val="dk1"/>
                </a:solidFill>
                <a:latin typeface="Open Sans"/>
                <a:ea typeface="Open Sans"/>
                <a:cs typeface="Open Sans"/>
                <a:sym typeface="Open Sans"/>
              </a:rPr>
              <a:t>RC</a:t>
            </a:r>
            <a:endParaRPr sz="2800">
              <a:solidFill>
                <a:schemeClr val="dk1"/>
              </a:solidFill>
              <a:latin typeface="Open Sans"/>
              <a:ea typeface="Open Sans"/>
              <a:cs typeface="Open Sans"/>
              <a:sym typeface="Open Sans"/>
            </a:endParaRPr>
          </a:p>
        </p:txBody>
      </p:sp>
      <p:sp>
        <p:nvSpPr>
          <p:cNvPr id="378" name="Google Shape;378;p40"/>
          <p:cNvSpPr txBox="1"/>
          <p:nvPr/>
        </p:nvSpPr>
        <p:spPr>
          <a:xfrm>
            <a:off x="7866475" y="5452425"/>
            <a:ext cx="1693200" cy="67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IT" sz="2800">
                <a:solidFill>
                  <a:schemeClr val="dk1"/>
                </a:solidFill>
                <a:latin typeface="Open Sans"/>
                <a:ea typeface="Open Sans"/>
                <a:cs typeface="Open Sans"/>
                <a:sym typeface="Open Sans"/>
              </a:rPr>
              <a:t>RL</a:t>
            </a:r>
            <a:endParaRPr sz="2800">
              <a:solidFill>
                <a:schemeClr val="dk1"/>
              </a:solidFill>
              <a:latin typeface="Open Sans"/>
              <a:ea typeface="Open Sans"/>
              <a:cs typeface="Open Sans"/>
              <a:sym typeface="Open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A80FFA5B-9475-30CC-75A6-2E944FCDF350}"/>
              </a:ext>
            </a:extLst>
          </p:cNvPr>
          <p:cNvPicPr>
            <a:picLocks noChangeAspect="1"/>
          </p:cNvPicPr>
          <p:nvPr/>
        </p:nvPicPr>
        <p:blipFill>
          <a:blip r:embed="rId2"/>
          <a:stretch>
            <a:fillRect/>
          </a:stretch>
        </p:blipFill>
        <p:spPr>
          <a:xfrm>
            <a:off x="1121549" y="3429000"/>
            <a:ext cx="3816546" cy="1816193"/>
          </a:xfrm>
          <a:prstGeom prst="rect">
            <a:avLst/>
          </a:prstGeom>
        </p:spPr>
      </p:pic>
      <p:pic>
        <p:nvPicPr>
          <p:cNvPr id="5" name="Immagine 4">
            <a:extLst>
              <a:ext uri="{FF2B5EF4-FFF2-40B4-BE49-F238E27FC236}">
                <a16:creationId xmlns:a16="http://schemas.microsoft.com/office/drawing/2014/main" id="{28583F32-F378-469A-EF7C-0981E3968FFB}"/>
              </a:ext>
            </a:extLst>
          </p:cNvPr>
          <p:cNvPicPr>
            <a:picLocks noChangeAspect="1"/>
          </p:cNvPicPr>
          <p:nvPr/>
        </p:nvPicPr>
        <p:blipFill>
          <a:blip r:embed="rId3"/>
          <a:stretch>
            <a:fillRect/>
          </a:stretch>
        </p:blipFill>
        <p:spPr>
          <a:xfrm>
            <a:off x="8514826" y="2098637"/>
            <a:ext cx="3266114" cy="1600702"/>
          </a:xfrm>
          <a:prstGeom prst="rect">
            <a:avLst/>
          </a:prstGeom>
        </p:spPr>
      </p:pic>
      <p:pic>
        <p:nvPicPr>
          <p:cNvPr id="7" name="Immagine 6">
            <a:extLst>
              <a:ext uri="{FF2B5EF4-FFF2-40B4-BE49-F238E27FC236}">
                <a16:creationId xmlns:a16="http://schemas.microsoft.com/office/drawing/2014/main" id="{7F170AD3-BFB8-D13B-DFDF-2DC656895930}"/>
              </a:ext>
            </a:extLst>
          </p:cNvPr>
          <p:cNvPicPr>
            <a:picLocks noChangeAspect="1"/>
          </p:cNvPicPr>
          <p:nvPr/>
        </p:nvPicPr>
        <p:blipFill>
          <a:blip r:embed="rId4"/>
          <a:stretch>
            <a:fillRect/>
          </a:stretch>
        </p:blipFill>
        <p:spPr>
          <a:xfrm>
            <a:off x="5415911" y="3820634"/>
            <a:ext cx="2333313" cy="1702884"/>
          </a:xfrm>
          <a:prstGeom prst="rect">
            <a:avLst/>
          </a:prstGeom>
        </p:spPr>
      </p:pic>
      <p:pic>
        <p:nvPicPr>
          <p:cNvPr id="9" name="Immagine 8">
            <a:extLst>
              <a:ext uri="{FF2B5EF4-FFF2-40B4-BE49-F238E27FC236}">
                <a16:creationId xmlns:a16="http://schemas.microsoft.com/office/drawing/2014/main" id="{120992DD-F6D4-94EA-F26A-188718CF9994}"/>
              </a:ext>
            </a:extLst>
          </p:cNvPr>
          <p:cNvPicPr>
            <a:picLocks noChangeAspect="1"/>
          </p:cNvPicPr>
          <p:nvPr/>
        </p:nvPicPr>
        <p:blipFill>
          <a:blip r:embed="rId5"/>
          <a:stretch>
            <a:fillRect/>
          </a:stretch>
        </p:blipFill>
        <p:spPr>
          <a:xfrm>
            <a:off x="8644854" y="4048008"/>
            <a:ext cx="3412921" cy="1672651"/>
          </a:xfrm>
          <a:prstGeom prst="rect">
            <a:avLst/>
          </a:prstGeom>
        </p:spPr>
      </p:pic>
      <p:sp>
        <p:nvSpPr>
          <p:cNvPr id="10" name="CasellaDiTesto 9">
            <a:extLst>
              <a:ext uri="{FF2B5EF4-FFF2-40B4-BE49-F238E27FC236}">
                <a16:creationId xmlns:a16="http://schemas.microsoft.com/office/drawing/2014/main" id="{3D7CDBE9-0DF7-4A2C-985B-105313504F6F}"/>
              </a:ext>
            </a:extLst>
          </p:cNvPr>
          <p:cNvSpPr txBox="1"/>
          <p:nvPr/>
        </p:nvSpPr>
        <p:spPr>
          <a:xfrm>
            <a:off x="1077986" y="6128157"/>
            <a:ext cx="5490594" cy="307777"/>
          </a:xfrm>
          <a:prstGeom prst="rect">
            <a:avLst/>
          </a:prstGeom>
          <a:noFill/>
        </p:spPr>
        <p:txBody>
          <a:bodyPr wrap="square" rtlCol="0">
            <a:spAutoFit/>
          </a:bodyPr>
          <a:lstStyle/>
          <a:p>
            <a:r>
              <a:rPr lang="it-IT" dirty="0"/>
              <a:t>Alte frequenze ci sono ste cose</a:t>
            </a:r>
          </a:p>
        </p:txBody>
      </p:sp>
      <p:pic>
        <p:nvPicPr>
          <p:cNvPr id="11" name="Immagine 10">
            <a:extLst>
              <a:ext uri="{FF2B5EF4-FFF2-40B4-BE49-F238E27FC236}">
                <a16:creationId xmlns:a16="http://schemas.microsoft.com/office/drawing/2014/main" id="{EC73A1EE-31FB-3D42-68A8-370ED85EB1E8}"/>
              </a:ext>
            </a:extLst>
          </p:cNvPr>
          <p:cNvPicPr>
            <a:picLocks noChangeAspect="1"/>
          </p:cNvPicPr>
          <p:nvPr/>
        </p:nvPicPr>
        <p:blipFill>
          <a:blip r:embed="rId6"/>
          <a:stretch>
            <a:fillRect/>
          </a:stretch>
        </p:blipFill>
        <p:spPr>
          <a:xfrm>
            <a:off x="6036090" y="1778241"/>
            <a:ext cx="2034119" cy="1266757"/>
          </a:xfrm>
          <a:prstGeom prst="rect">
            <a:avLst/>
          </a:prstGeom>
        </p:spPr>
      </p:pic>
      <p:sp>
        <p:nvSpPr>
          <p:cNvPr id="12" name="CasellaDiTesto 11">
            <a:extLst>
              <a:ext uri="{FF2B5EF4-FFF2-40B4-BE49-F238E27FC236}">
                <a16:creationId xmlns:a16="http://schemas.microsoft.com/office/drawing/2014/main" id="{DE8185B1-EF20-DABE-0C82-7487AFB8A236}"/>
              </a:ext>
            </a:extLst>
          </p:cNvPr>
          <p:cNvSpPr txBox="1"/>
          <p:nvPr/>
        </p:nvSpPr>
        <p:spPr>
          <a:xfrm>
            <a:off x="1275128" y="465589"/>
            <a:ext cx="5649985" cy="523220"/>
          </a:xfrm>
          <a:prstGeom prst="rect">
            <a:avLst/>
          </a:prstGeom>
          <a:noFill/>
        </p:spPr>
        <p:txBody>
          <a:bodyPr wrap="square" rtlCol="0">
            <a:spAutoFit/>
          </a:bodyPr>
          <a:lstStyle/>
          <a:p>
            <a:r>
              <a:rPr lang="it-IT" dirty="0"/>
              <a:t>A basse frequenze con le stesso con cui abbiamo studiato la carica e scarica i parassiti sono superflui</a:t>
            </a:r>
          </a:p>
        </p:txBody>
      </p:sp>
      <p:sp>
        <p:nvSpPr>
          <p:cNvPr id="13" name="CasellaDiTesto 12">
            <a:extLst>
              <a:ext uri="{FF2B5EF4-FFF2-40B4-BE49-F238E27FC236}">
                <a16:creationId xmlns:a16="http://schemas.microsoft.com/office/drawing/2014/main" id="{768E8918-0941-B219-BF94-277DB3B88758}"/>
              </a:ext>
            </a:extLst>
          </p:cNvPr>
          <p:cNvSpPr txBox="1"/>
          <p:nvPr/>
        </p:nvSpPr>
        <p:spPr>
          <a:xfrm>
            <a:off x="1413545" y="1266738"/>
            <a:ext cx="5566095" cy="307777"/>
          </a:xfrm>
          <a:prstGeom prst="rect">
            <a:avLst/>
          </a:prstGeom>
          <a:noFill/>
        </p:spPr>
        <p:txBody>
          <a:bodyPr wrap="square" rtlCol="0">
            <a:spAutoFit/>
          </a:bodyPr>
          <a:lstStyle/>
          <a:p>
            <a:r>
              <a:rPr lang="it-IT" dirty="0"/>
              <a:t>Aumentiamo la frequenza:</a:t>
            </a:r>
          </a:p>
        </p:txBody>
      </p:sp>
      <p:pic>
        <p:nvPicPr>
          <p:cNvPr id="14" name="Immagine 13">
            <a:extLst>
              <a:ext uri="{FF2B5EF4-FFF2-40B4-BE49-F238E27FC236}">
                <a16:creationId xmlns:a16="http://schemas.microsoft.com/office/drawing/2014/main" id="{CF1EA53F-77CD-B985-E5D3-FACA94218EB3}"/>
              </a:ext>
            </a:extLst>
          </p:cNvPr>
          <p:cNvPicPr>
            <a:picLocks noChangeAspect="1"/>
          </p:cNvPicPr>
          <p:nvPr/>
        </p:nvPicPr>
        <p:blipFill>
          <a:blip r:embed="rId7"/>
          <a:stretch>
            <a:fillRect/>
          </a:stretch>
        </p:blipFill>
        <p:spPr>
          <a:xfrm>
            <a:off x="8070209" y="284010"/>
            <a:ext cx="3146307" cy="1541985"/>
          </a:xfrm>
          <a:prstGeom prst="rect">
            <a:avLst/>
          </a:prstGeom>
        </p:spPr>
      </p:pic>
    </p:spTree>
    <p:extLst>
      <p:ext uri="{BB962C8B-B14F-4D97-AF65-F5344CB8AC3E}">
        <p14:creationId xmlns:p14="http://schemas.microsoft.com/office/powerpoint/2010/main" val="29371320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41"/>
          <p:cNvSpPr txBox="1"/>
          <p:nvPr/>
        </p:nvSpPr>
        <p:spPr>
          <a:xfrm>
            <a:off x="999500" y="1588500"/>
            <a:ext cx="10936200" cy="2457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In questa slide si confronta la risposta del filtro passa-alto quando al nodo outRC vengono collegati due carichi resistivi da 10 kΩ: uno in serie e uno in parallelo verso massa.</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Nel grafico di Bode la curva verde rappresenta V(outRC), cioè l’uscita originale del filtro. La curva rossa rappresenta V(outSerie), ottenuta con il carico in serie, mentre la curva blu rappresenta V(outParallelo), ottenuta con il carico in parallelo.</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Tutte le curve mantengono il comportamento da filtro passa-alto: alle basse frequenze il segnale è attenuato, mentre alle alte frequenze il guadagno tende a 0 dB.</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300">
                <a:solidFill>
                  <a:schemeClr val="dk1"/>
                </a:solidFill>
                <a:latin typeface="Libre Franklin"/>
                <a:ea typeface="Libre Franklin"/>
                <a:cs typeface="Libre Franklin"/>
                <a:sym typeface="Libre Franklin"/>
              </a:rPr>
              <a:t>Il carico in parallelo modifica maggiormente la risposta perché cambia la resistenza equivalente vista dal condensatore, influenzando quindi la frequenza di taglio</a:t>
            </a:r>
            <a:endParaRPr sz="1300">
              <a:solidFill>
                <a:schemeClr val="dk1"/>
              </a:solidFill>
              <a:latin typeface="Libre Franklin"/>
              <a:ea typeface="Libre Franklin"/>
              <a:cs typeface="Libre Franklin"/>
              <a:sym typeface="Libre Franklin"/>
            </a:endParaRPr>
          </a:p>
        </p:txBody>
      </p:sp>
      <p:sp>
        <p:nvSpPr>
          <p:cNvPr id="385" name="Google Shape;385;p41"/>
          <p:cNvSpPr txBox="1"/>
          <p:nvPr/>
        </p:nvSpPr>
        <p:spPr>
          <a:xfrm>
            <a:off x="1355275" y="756125"/>
            <a:ext cx="77583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500">
                <a:solidFill>
                  <a:srgbClr val="073763"/>
                </a:solidFill>
                <a:latin typeface="Libre Franklin SemiBold"/>
                <a:ea typeface="Libre Franklin SemiBold"/>
                <a:cs typeface="Libre Franklin SemiBold"/>
                <a:sym typeface="Libre Franklin SemiBold"/>
              </a:rPr>
              <a:t>Confronto tra carico in serie e in parallelo</a:t>
            </a:r>
            <a:endParaRPr sz="2500">
              <a:solidFill>
                <a:srgbClr val="073763"/>
              </a:solidFill>
              <a:latin typeface="Libre Franklin SemiBold"/>
              <a:ea typeface="Libre Franklin SemiBold"/>
              <a:cs typeface="Libre Franklin SemiBold"/>
              <a:sym typeface="Libre Franklin SemiBold"/>
            </a:endParaRPr>
          </a:p>
        </p:txBody>
      </p:sp>
      <p:sp>
        <p:nvSpPr>
          <p:cNvPr id="386" name="Google Shape;386;p41"/>
          <p:cNvSpPr txBox="1"/>
          <p:nvPr/>
        </p:nvSpPr>
        <p:spPr>
          <a:xfrm>
            <a:off x="1070100" y="4221550"/>
            <a:ext cx="10254000" cy="999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Il carico in serie, invece, non scarica direttamente il nodo verso massa e quindi ha un effetto meno evidente sulla frequenza di taglio.</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300">
                <a:solidFill>
                  <a:schemeClr val="dk1"/>
                </a:solidFill>
                <a:latin typeface="Libre Franklin"/>
                <a:ea typeface="Libre Franklin"/>
                <a:cs typeface="Libre Franklin"/>
                <a:sym typeface="Libre Franklin"/>
              </a:rPr>
              <a:t>In conclusione, il collegamento del carico è importante: un carico in parallelo altera direttamente il comportamento del filtro, mentre un carico in serie incide soprattutto sul trasferimento del segnale.</a:t>
            </a:r>
            <a:endParaRPr sz="1300">
              <a:solidFill>
                <a:schemeClr val="dk1"/>
              </a:solidFill>
              <a:latin typeface="Libre Franklin"/>
              <a:ea typeface="Libre Franklin"/>
              <a:cs typeface="Libre Franklin"/>
              <a:sym typeface="Libre Frankli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pic>
        <p:nvPicPr>
          <p:cNvPr id="391" name="Google Shape;391;p42"/>
          <p:cNvPicPr preferRelativeResize="0"/>
          <p:nvPr/>
        </p:nvPicPr>
        <p:blipFill rotWithShape="1">
          <a:blip r:embed="rId3">
            <a:alphaModFix/>
          </a:blip>
          <a:srcRect/>
          <a:stretch/>
        </p:blipFill>
        <p:spPr>
          <a:xfrm>
            <a:off x="1046578" y="1702221"/>
            <a:ext cx="3281551" cy="3055975"/>
          </a:xfrm>
          <a:prstGeom prst="rect">
            <a:avLst/>
          </a:prstGeom>
          <a:noFill/>
          <a:ln>
            <a:noFill/>
          </a:ln>
        </p:spPr>
      </p:pic>
      <p:pic>
        <p:nvPicPr>
          <p:cNvPr id="392" name="Google Shape;392;p42"/>
          <p:cNvPicPr preferRelativeResize="0"/>
          <p:nvPr/>
        </p:nvPicPr>
        <p:blipFill rotWithShape="1">
          <a:blip r:embed="rId4">
            <a:alphaModFix/>
          </a:blip>
          <a:srcRect/>
          <a:stretch/>
        </p:blipFill>
        <p:spPr>
          <a:xfrm>
            <a:off x="4685642" y="1702225"/>
            <a:ext cx="7385254" cy="361946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43"/>
          <p:cNvSpPr txBox="1"/>
          <p:nvPr/>
        </p:nvSpPr>
        <p:spPr>
          <a:xfrm>
            <a:off x="1355275" y="756125"/>
            <a:ext cx="77583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500">
                <a:solidFill>
                  <a:srgbClr val="073763"/>
                </a:solidFill>
                <a:latin typeface="Libre Franklin SemiBold"/>
                <a:ea typeface="Libre Franklin SemiBold"/>
                <a:cs typeface="Libre Franklin SemiBold"/>
                <a:sym typeface="Libre Franklin SemiBold"/>
              </a:rPr>
              <a:t>Condensatore reale con parassiti</a:t>
            </a:r>
            <a:endParaRPr sz="2500">
              <a:solidFill>
                <a:srgbClr val="073763"/>
              </a:solidFill>
              <a:latin typeface="Libre Franklin SemiBold"/>
              <a:ea typeface="Libre Franklin SemiBold"/>
              <a:cs typeface="Libre Franklin SemiBold"/>
              <a:sym typeface="Libre Franklin SemiBold"/>
            </a:endParaRPr>
          </a:p>
        </p:txBody>
      </p:sp>
      <p:sp>
        <p:nvSpPr>
          <p:cNvPr id="399" name="Google Shape;399;p43"/>
          <p:cNvSpPr txBox="1"/>
          <p:nvPr/>
        </p:nvSpPr>
        <p:spPr>
          <a:xfrm>
            <a:off x="764350" y="1693325"/>
            <a:ext cx="8349300" cy="1459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Nella realtà un condensatore non si comporta come un componente ideale. Oltre alla capacità nominale C = 100 nF, sono sempre presenti elementi parassiti interni, principalmente una resistenza serie equivalente e una induttanza serie equivalente.</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300">
                <a:solidFill>
                  <a:schemeClr val="dk1"/>
                </a:solidFill>
                <a:latin typeface="Libre Franklin"/>
                <a:ea typeface="Libre Franklin"/>
                <a:cs typeface="Libre Franklin"/>
                <a:sym typeface="Libre Franklin"/>
              </a:rPr>
              <a:t>Nell’immagine dei parametri del condensatore si vede infatti che, oltre alla capacità, vengono inseriti valori realistici come:</a:t>
            </a:r>
            <a:endParaRPr sz="1300">
              <a:latin typeface="Libre Franklin"/>
              <a:ea typeface="Libre Franklin"/>
              <a:cs typeface="Libre Franklin"/>
              <a:sym typeface="Libre Franklin"/>
            </a:endParaRPr>
          </a:p>
        </p:txBody>
      </p:sp>
      <p:pic>
        <p:nvPicPr>
          <p:cNvPr id="400" name="Google Shape;400;p43"/>
          <p:cNvPicPr preferRelativeResize="0"/>
          <p:nvPr/>
        </p:nvPicPr>
        <p:blipFill>
          <a:blip r:embed="rId3">
            <a:alphaModFix/>
          </a:blip>
          <a:stretch>
            <a:fillRect/>
          </a:stretch>
        </p:blipFill>
        <p:spPr>
          <a:xfrm>
            <a:off x="3997700" y="3152525"/>
            <a:ext cx="1171575" cy="666750"/>
          </a:xfrm>
          <a:prstGeom prst="rect">
            <a:avLst/>
          </a:prstGeom>
          <a:noFill/>
          <a:ln>
            <a:noFill/>
          </a:ln>
        </p:spPr>
      </p:pic>
      <p:sp>
        <p:nvSpPr>
          <p:cNvPr id="401" name="Google Shape;401;p43"/>
          <p:cNvSpPr txBox="1"/>
          <p:nvPr/>
        </p:nvSpPr>
        <p:spPr>
          <a:xfrm>
            <a:off x="964375" y="4112925"/>
            <a:ext cx="8149200" cy="845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it-IT" sz="1300">
                <a:solidFill>
                  <a:schemeClr val="dk1"/>
                </a:solidFill>
                <a:latin typeface="Libre Franklin"/>
                <a:ea typeface="Libre Franklin"/>
                <a:cs typeface="Libre Franklin"/>
                <a:sym typeface="Libre Franklin"/>
              </a:rPr>
              <a:t>Questi valori rappresentano il comportamento reale di un condensatore MLCC ceramico SMD, molto usato nei filtri. Per un condensatore tipico da 100 nF X7R in package 0603 / 0805, valori realistici sono circa:</a:t>
            </a:r>
            <a:endParaRPr/>
          </a:p>
        </p:txBody>
      </p:sp>
      <p:pic>
        <p:nvPicPr>
          <p:cNvPr id="402" name="Google Shape;402;p43"/>
          <p:cNvPicPr preferRelativeResize="0"/>
          <p:nvPr/>
        </p:nvPicPr>
        <p:blipFill>
          <a:blip r:embed="rId4">
            <a:alphaModFix/>
          </a:blip>
          <a:stretch>
            <a:fillRect/>
          </a:stretch>
        </p:blipFill>
        <p:spPr>
          <a:xfrm>
            <a:off x="3759575" y="5327150"/>
            <a:ext cx="1647825" cy="695325"/>
          </a:xfrm>
          <a:prstGeom prst="rect">
            <a:avLst/>
          </a:prstGeom>
          <a:noFill/>
          <a:ln>
            <a:noFill/>
          </a:ln>
        </p:spPr>
      </p:pic>
      <p:pic>
        <p:nvPicPr>
          <p:cNvPr id="403" name="Google Shape;403;p43"/>
          <p:cNvPicPr preferRelativeResize="0"/>
          <p:nvPr/>
        </p:nvPicPr>
        <p:blipFill rotWithShape="1">
          <a:blip r:embed="rId5">
            <a:alphaModFix/>
          </a:blip>
          <a:srcRect/>
          <a:stretch/>
        </p:blipFill>
        <p:spPr>
          <a:xfrm>
            <a:off x="9161525" y="2082050"/>
            <a:ext cx="2640900" cy="30294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44"/>
          <p:cNvSpPr txBox="1"/>
          <p:nvPr/>
        </p:nvSpPr>
        <p:spPr>
          <a:xfrm>
            <a:off x="1164175" y="611475"/>
            <a:ext cx="10606800" cy="2646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it-IT" sz="1500" b="1">
                <a:solidFill>
                  <a:schemeClr val="dk1"/>
                </a:solidFill>
                <a:latin typeface="Libre Franklin"/>
                <a:ea typeface="Libre Franklin"/>
                <a:cs typeface="Libre Franklin"/>
                <a:sym typeface="Libre Franklin"/>
              </a:rPr>
              <a:t>Modello equivalente</a:t>
            </a:r>
            <a:endParaRPr sz="1500" b="1">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Nello schema vengono confrontati due modi di rappresentare il condensatore reale.</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Nel circuito a sinistra, i parassiti sono disegnati esplicitamente in serie al condensatore: la resistenza R11 = 0.2 Ω rappresenta l’ESR, mentre l’induttanza L2 = 3 nH rappresenta l’ESL.</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Nel circuito a destra, invece, gli stessi parassiti sono inseriti direttamente nel modello interno del condensatore C6, come mostrato nella finestra dei parametri di LTspice.</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300">
                <a:solidFill>
                  <a:schemeClr val="dk1"/>
                </a:solidFill>
                <a:latin typeface="Libre Franklin"/>
                <a:ea typeface="Libre Franklin"/>
                <a:cs typeface="Libre Franklin"/>
                <a:sym typeface="Libre Franklin"/>
              </a:rPr>
              <a:t>In entrambi i casi il significato fisico è lo stesso: il condensatore reale è composto da una capacità ideale più piccole componenti resistive e induttive inevitabili.</a:t>
            </a:r>
            <a:endParaRPr sz="1300">
              <a:solidFill>
                <a:schemeClr val="dk1"/>
              </a:solidFill>
              <a:latin typeface="Libre Franklin"/>
              <a:ea typeface="Libre Franklin"/>
              <a:cs typeface="Libre Franklin"/>
              <a:sym typeface="Libre Franklin"/>
            </a:endParaRPr>
          </a:p>
        </p:txBody>
      </p:sp>
      <p:pic>
        <p:nvPicPr>
          <p:cNvPr id="410" name="Google Shape;410;p44"/>
          <p:cNvPicPr preferRelativeResize="0"/>
          <p:nvPr/>
        </p:nvPicPr>
        <p:blipFill rotWithShape="1">
          <a:blip r:embed="rId3">
            <a:alphaModFix/>
          </a:blip>
          <a:srcRect/>
          <a:stretch/>
        </p:blipFill>
        <p:spPr>
          <a:xfrm>
            <a:off x="2681097" y="3453179"/>
            <a:ext cx="8455475" cy="256812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45"/>
          <p:cNvSpPr txBox="1"/>
          <p:nvPr/>
        </p:nvSpPr>
        <p:spPr>
          <a:xfrm>
            <a:off x="1046575" y="740850"/>
            <a:ext cx="10794900" cy="2032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it-IT" sz="1500" b="1">
                <a:solidFill>
                  <a:schemeClr val="dk1"/>
                </a:solidFill>
              </a:rPr>
              <a:t>Effetto risonante</a:t>
            </a:r>
            <a:endParaRPr sz="1500" b="1">
              <a:solidFill>
                <a:schemeClr val="dk1"/>
              </a:solidFill>
            </a:endParaRPr>
          </a:p>
          <a:p>
            <a:pPr marL="0" lvl="0" indent="0" algn="l" rtl="0">
              <a:lnSpc>
                <a:spcPct val="115000"/>
              </a:lnSpc>
              <a:spcBef>
                <a:spcPts val="1200"/>
              </a:spcBef>
              <a:spcAft>
                <a:spcPts val="0"/>
              </a:spcAft>
              <a:buNone/>
            </a:pPr>
            <a:r>
              <a:rPr lang="it-IT" sz="1300">
                <a:solidFill>
                  <a:schemeClr val="dk1"/>
                </a:solidFill>
              </a:rPr>
              <a:t>La presenza dell’</a:t>
            </a:r>
            <a:r>
              <a:rPr lang="it-IT" sz="1300" b="1">
                <a:solidFill>
                  <a:schemeClr val="dk1"/>
                </a:solidFill>
              </a:rPr>
              <a:t>ESL</a:t>
            </a:r>
            <a:r>
              <a:rPr lang="it-IT" sz="1300">
                <a:solidFill>
                  <a:schemeClr val="dk1"/>
                </a:solidFill>
              </a:rPr>
              <a:t> introduce un comportamento risonante. A basse frequenze il componente si comporta principalmente come un condensatore, quindi la sua impedenza diminuisce all’aumentare della frequenza.</a:t>
            </a:r>
            <a:endParaRPr sz="1300">
              <a:solidFill>
                <a:schemeClr val="dk1"/>
              </a:solidFill>
            </a:endParaRPr>
          </a:p>
          <a:p>
            <a:pPr marL="0" lvl="0" indent="0" algn="l" rtl="0">
              <a:lnSpc>
                <a:spcPct val="115000"/>
              </a:lnSpc>
              <a:spcBef>
                <a:spcPts val="1200"/>
              </a:spcBef>
              <a:spcAft>
                <a:spcPts val="0"/>
              </a:spcAft>
              <a:buNone/>
            </a:pPr>
            <a:r>
              <a:rPr lang="it-IT" sz="1300">
                <a:solidFill>
                  <a:schemeClr val="dk1"/>
                </a:solidFill>
              </a:rPr>
              <a:t>Tuttavia, arrivati alla frequenza di autorisonanza, la capacità e l’induttanza parassita si compensano. Oltre questa frequenza, il componente non si comporta più come un condensatore ideale, ma tende ad assumere un comportamento induttivo.</a:t>
            </a:r>
            <a:endParaRPr sz="1300">
              <a:solidFill>
                <a:schemeClr val="dk1"/>
              </a:solidFill>
            </a:endParaRPr>
          </a:p>
          <a:p>
            <a:pPr marL="0" lvl="0" indent="0" algn="l" rtl="0">
              <a:lnSpc>
                <a:spcPct val="115000"/>
              </a:lnSpc>
              <a:spcBef>
                <a:spcPts val="1200"/>
              </a:spcBef>
              <a:spcAft>
                <a:spcPts val="1200"/>
              </a:spcAft>
              <a:buNone/>
            </a:pPr>
            <a:r>
              <a:rPr lang="it-IT" sz="1300">
                <a:solidFill>
                  <a:schemeClr val="dk1"/>
                </a:solidFill>
              </a:rPr>
              <a:t>La frequenza di autorisonanza può essere stimata con:</a:t>
            </a:r>
            <a:endParaRPr sz="1300">
              <a:solidFill>
                <a:schemeClr val="dk1"/>
              </a:solidFill>
            </a:endParaRPr>
          </a:p>
        </p:txBody>
      </p:sp>
      <p:pic>
        <p:nvPicPr>
          <p:cNvPr id="417" name="Google Shape;417;p45"/>
          <p:cNvPicPr preferRelativeResize="0"/>
          <p:nvPr/>
        </p:nvPicPr>
        <p:blipFill>
          <a:blip r:embed="rId3">
            <a:alphaModFix/>
          </a:blip>
          <a:stretch>
            <a:fillRect/>
          </a:stretch>
        </p:blipFill>
        <p:spPr>
          <a:xfrm>
            <a:off x="5420550" y="2655300"/>
            <a:ext cx="1543050" cy="657225"/>
          </a:xfrm>
          <a:prstGeom prst="rect">
            <a:avLst/>
          </a:prstGeom>
          <a:noFill/>
          <a:ln>
            <a:noFill/>
          </a:ln>
        </p:spPr>
      </p:pic>
      <p:pic>
        <p:nvPicPr>
          <p:cNvPr id="418" name="Google Shape;418;p45"/>
          <p:cNvPicPr preferRelativeResize="0"/>
          <p:nvPr/>
        </p:nvPicPr>
        <p:blipFill rotWithShape="1">
          <a:blip r:embed="rId4">
            <a:alphaModFix/>
          </a:blip>
          <a:srcRect/>
          <a:stretch/>
        </p:blipFill>
        <p:spPr>
          <a:xfrm>
            <a:off x="2375375" y="4219475"/>
            <a:ext cx="4821299" cy="2362900"/>
          </a:xfrm>
          <a:prstGeom prst="rect">
            <a:avLst/>
          </a:prstGeom>
          <a:noFill/>
          <a:ln>
            <a:noFill/>
          </a:ln>
        </p:spPr>
      </p:pic>
      <p:sp>
        <p:nvSpPr>
          <p:cNvPr id="419" name="Google Shape;419;p45"/>
          <p:cNvSpPr txBox="1"/>
          <p:nvPr/>
        </p:nvSpPr>
        <p:spPr>
          <a:xfrm>
            <a:off x="1294425" y="3458200"/>
            <a:ext cx="106284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300">
                <a:latin typeface="Libre Franklin"/>
                <a:ea typeface="Libre Franklin"/>
                <a:cs typeface="Libre Franklin"/>
                <a:sym typeface="Libre Franklin"/>
              </a:rPr>
              <a:t>si ottiene una risonanza nell’ordine di alcuni MHz. Questo significa che, ad alte frequenze, i parassiti diventano importanti e possono modificare la risposta del filtro.</a:t>
            </a:r>
            <a:endParaRPr sz="1300">
              <a:latin typeface="Libre Franklin"/>
              <a:ea typeface="Libre Franklin"/>
              <a:cs typeface="Libre Franklin"/>
              <a:sym typeface="Libre Franklin"/>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46"/>
          <p:cNvSpPr txBox="1"/>
          <p:nvPr/>
        </p:nvSpPr>
        <p:spPr>
          <a:xfrm>
            <a:off x="928075" y="765275"/>
            <a:ext cx="10769700" cy="999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it-IT" sz="1300" b="1">
                <a:solidFill>
                  <a:schemeClr val="dk1"/>
                </a:solidFill>
                <a:latin typeface="Libre Franklin"/>
                <a:ea typeface="Libre Franklin"/>
                <a:cs typeface="Libre Franklin"/>
                <a:sym typeface="Libre Franklin"/>
              </a:rPr>
              <a:t>Comportamento da filtro passa-basso dovuto ai parassiti</a:t>
            </a:r>
            <a:endParaRPr sz="1300" b="1">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300">
                <a:solidFill>
                  <a:schemeClr val="dk1"/>
                </a:solidFill>
                <a:latin typeface="Libre Franklin"/>
                <a:ea typeface="Libre Franklin"/>
                <a:cs typeface="Libre Franklin"/>
                <a:sym typeface="Libre Franklin"/>
              </a:rPr>
              <a:t>Nel modello reale, il condensatore non è più solo una capacità ideale: la presenza dell’ESL introduce un comportamento risonante. La frequenza di risonanza è:</a:t>
            </a:r>
            <a:endParaRPr sz="1300">
              <a:solidFill>
                <a:schemeClr val="dk1"/>
              </a:solidFill>
              <a:latin typeface="Libre Franklin"/>
              <a:ea typeface="Libre Franklin"/>
              <a:cs typeface="Libre Franklin"/>
              <a:sym typeface="Libre Franklin"/>
            </a:endParaRPr>
          </a:p>
        </p:txBody>
      </p:sp>
      <p:pic>
        <p:nvPicPr>
          <p:cNvPr id="426" name="Google Shape;426;p46"/>
          <p:cNvPicPr preferRelativeResize="0"/>
          <p:nvPr/>
        </p:nvPicPr>
        <p:blipFill>
          <a:blip r:embed="rId3">
            <a:alphaModFix/>
          </a:blip>
          <a:stretch>
            <a:fillRect/>
          </a:stretch>
        </p:blipFill>
        <p:spPr>
          <a:xfrm>
            <a:off x="10719450" y="1550325"/>
            <a:ext cx="1390650" cy="2590800"/>
          </a:xfrm>
          <a:prstGeom prst="rect">
            <a:avLst/>
          </a:prstGeom>
          <a:noFill/>
          <a:ln>
            <a:noFill/>
          </a:ln>
        </p:spPr>
      </p:pic>
      <p:sp>
        <p:nvSpPr>
          <p:cNvPr id="427" name="Google Shape;427;p46"/>
          <p:cNvSpPr txBox="1"/>
          <p:nvPr/>
        </p:nvSpPr>
        <p:spPr>
          <a:xfrm>
            <a:off x="968800" y="2334488"/>
            <a:ext cx="9605700" cy="999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Sotto la frequenza di risonanza, il componente si comporta prevalentemente da condensatore. In questa zona la risposta cresce e il circuito lascia passare sempre meglio il segnale.</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300">
                <a:solidFill>
                  <a:schemeClr val="dk1"/>
                </a:solidFill>
                <a:latin typeface="Libre Franklin"/>
                <a:ea typeface="Libre Franklin"/>
                <a:cs typeface="Libre Franklin"/>
                <a:sym typeface="Libre Franklin"/>
              </a:rPr>
              <a:t>Intorno a:</a:t>
            </a:r>
            <a:endParaRPr sz="1300">
              <a:solidFill>
                <a:schemeClr val="dk1"/>
              </a:solidFill>
              <a:latin typeface="Libre Franklin"/>
              <a:ea typeface="Libre Franklin"/>
              <a:cs typeface="Libre Franklin"/>
              <a:sym typeface="Libre Franklin"/>
            </a:endParaRPr>
          </a:p>
        </p:txBody>
      </p:sp>
      <p:pic>
        <p:nvPicPr>
          <p:cNvPr id="428" name="Google Shape;428;p46"/>
          <p:cNvPicPr preferRelativeResize="0"/>
          <p:nvPr/>
        </p:nvPicPr>
        <p:blipFill>
          <a:blip r:embed="rId4">
            <a:alphaModFix/>
          </a:blip>
          <a:stretch>
            <a:fillRect/>
          </a:stretch>
        </p:blipFill>
        <p:spPr>
          <a:xfrm>
            <a:off x="2651700" y="3009163"/>
            <a:ext cx="1409700" cy="381000"/>
          </a:xfrm>
          <a:prstGeom prst="rect">
            <a:avLst/>
          </a:prstGeom>
          <a:noFill/>
          <a:ln>
            <a:noFill/>
          </a:ln>
        </p:spPr>
      </p:pic>
      <p:sp>
        <p:nvSpPr>
          <p:cNvPr id="429" name="Google Shape;429;p46"/>
          <p:cNvSpPr txBox="1"/>
          <p:nvPr/>
        </p:nvSpPr>
        <p:spPr>
          <a:xfrm>
            <a:off x="1115325" y="3571938"/>
            <a:ext cx="88077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300">
                <a:latin typeface="Libre Franklin"/>
                <a:ea typeface="Libre Franklin"/>
                <a:cs typeface="Libre Franklin"/>
                <a:sym typeface="Libre Franklin"/>
              </a:rPr>
              <a:t>si ha il punto di risonanza: la reattanza capacitiva e quella induttiva si compensano:</a:t>
            </a:r>
            <a:endParaRPr sz="1300">
              <a:latin typeface="Libre Franklin"/>
              <a:ea typeface="Libre Franklin"/>
              <a:cs typeface="Libre Franklin"/>
              <a:sym typeface="Libre Franklin"/>
            </a:endParaRPr>
          </a:p>
        </p:txBody>
      </p:sp>
      <p:pic>
        <p:nvPicPr>
          <p:cNvPr id="430" name="Google Shape;430;p46"/>
          <p:cNvPicPr preferRelativeResize="0"/>
          <p:nvPr/>
        </p:nvPicPr>
        <p:blipFill>
          <a:blip r:embed="rId5">
            <a:alphaModFix/>
          </a:blip>
          <a:stretch>
            <a:fillRect/>
          </a:stretch>
        </p:blipFill>
        <p:spPr>
          <a:xfrm>
            <a:off x="7918975" y="3597700"/>
            <a:ext cx="962025" cy="333375"/>
          </a:xfrm>
          <a:prstGeom prst="rect">
            <a:avLst/>
          </a:prstGeom>
          <a:noFill/>
          <a:ln>
            <a:noFill/>
          </a:ln>
        </p:spPr>
      </p:pic>
      <p:sp>
        <p:nvSpPr>
          <p:cNvPr id="431" name="Google Shape;431;p46"/>
          <p:cNvSpPr txBox="1"/>
          <p:nvPr/>
        </p:nvSpPr>
        <p:spPr>
          <a:xfrm>
            <a:off x="1856550" y="4138613"/>
            <a:ext cx="69594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it-IT" sz="1300">
                <a:latin typeface="Libre Franklin"/>
                <a:ea typeface="Libre Franklin"/>
                <a:cs typeface="Libre Franklin"/>
                <a:sym typeface="Libre Franklin"/>
              </a:rPr>
              <a:t>In questa zona la risposta raggiunge il valore massimo.</a:t>
            </a:r>
            <a:endParaRPr sz="1300">
              <a:latin typeface="Libre Franklin"/>
              <a:ea typeface="Libre Franklin"/>
              <a:cs typeface="Libre Franklin"/>
              <a:sym typeface="Libre Franklin"/>
            </a:endParaRPr>
          </a:p>
        </p:txBody>
      </p:sp>
      <p:pic>
        <p:nvPicPr>
          <p:cNvPr id="432" name="Google Shape;432;p46"/>
          <p:cNvPicPr preferRelativeResize="0"/>
          <p:nvPr/>
        </p:nvPicPr>
        <p:blipFill rotWithShape="1">
          <a:blip r:embed="rId6">
            <a:alphaModFix/>
          </a:blip>
          <a:srcRect/>
          <a:stretch/>
        </p:blipFill>
        <p:spPr>
          <a:xfrm>
            <a:off x="7297149" y="4228826"/>
            <a:ext cx="3609398" cy="1776026"/>
          </a:xfrm>
          <a:prstGeom prst="rect">
            <a:avLst/>
          </a:prstGeom>
          <a:noFill/>
          <a:ln>
            <a:noFill/>
          </a:ln>
        </p:spPr>
      </p:pic>
      <p:sp>
        <p:nvSpPr>
          <p:cNvPr id="433" name="Google Shape;433;p46"/>
          <p:cNvSpPr txBox="1"/>
          <p:nvPr/>
        </p:nvSpPr>
        <p:spPr>
          <a:xfrm>
            <a:off x="8066900" y="4612750"/>
            <a:ext cx="2556300" cy="153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IT" sz="2800">
                <a:solidFill>
                  <a:schemeClr val="dk1"/>
                </a:solidFill>
                <a:latin typeface="Open Sans"/>
                <a:ea typeface="Open Sans"/>
                <a:cs typeface="Open Sans"/>
                <a:sym typeface="Open Sans"/>
              </a:rPr>
              <a:t>fotoooo</a:t>
            </a:r>
            <a:endParaRPr sz="2800">
              <a:solidFill>
                <a:schemeClr val="dk1"/>
              </a:solidFill>
              <a:latin typeface="Open Sans"/>
              <a:ea typeface="Open Sans"/>
              <a:cs typeface="Open Sans"/>
              <a:sym typeface="Open San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47"/>
          <p:cNvSpPr txBox="1"/>
          <p:nvPr/>
        </p:nvSpPr>
        <p:spPr>
          <a:xfrm>
            <a:off x="1074625" y="944350"/>
            <a:ext cx="10574400" cy="1613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it-IT" sz="1300" b="1">
                <a:solidFill>
                  <a:schemeClr val="dk1"/>
                </a:solidFill>
                <a:latin typeface="Libre Franklin"/>
                <a:ea typeface="Libre Franklin"/>
                <a:cs typeface="Libre Franklin"/>
                <a:sym typeface="Libre Franklin"/>
              </a:rPr>
              <a:t>Dopo la risonanza: effetto passa-basso</a:t>
            </a:r>
            <a:endParaRPr sz="1300" b="1">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Superata la frequenza di risonanza, domina l’induttanza parassita ESL. Il condensatore reale non si comporta più come un condensatore ideale, ma tende a comportarsi come una piccola induttanza.</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300">
                <a:solidFill>
                  <a:schemeClr val="dk1"/>
                </a:solidFill>
                <a:latin typeface="Libre Franklin"/>
                <a:ea typeface="Libre Franklin"/>
                <a:cs typeface="Libre Franklin"/>
                <a:sym typeface="Libre Franklin"/>
              </a:rPr>
              <a:t>Di conseguenza, alle frequenze più alte il guadagno inizia a diminuire. Questo genera un comportamento simile a un filtro passa-basso: dopo la risonanza, le alte frequenze vengono progressivamente attenuate.</a:t>
            </a:r>
            <a:endParaRPr sz="1300">
              <a:solidFill>
                <a:schemeClr val="dk1"/>
              </a:solidFill>
              <a:latin typeface="Libre Franklin"/>
              <a:ea typeface="Libre Franklin"/>
              <a:cs typeface="Libre Franklin"/>
              <a:sym typeface="Libre Franklin"/>
            </a:endParaRPr>
          </a:p>
        </p:txBody>
      </p:sp>
      <p:pic>
        <p:nvPicPr>
          <p:cNvPr id="440" name="Google Shape;440;p47"/>
          <p:cNvPicPr preferRelativeResize="0"/>
          <p:nvPr/>
        </p:nvPicPr>
        <p:blipFill rotWithShape="1">
          <a:blip r:embed="rId3">
            <a:alphaModFix/>
          </a:blip>
          <a:srcRect/>
          <a:stretch/>
        </p:blipFill>
        <p:spPr>
          <a:xfrm>
            <a:off x="3059225" y="2916925"/>
            <a:ext cx="4821299" cy="23629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8"/>
          <p:cNvSpPr txBox="1"/>
          <p:nvPr/>
        </p:nvSpPr>
        <p:spPr>
          <a:xfrm>
            <a:off x="1278125" y="521025"/>
            <a:ext cx="10370700" cy="1383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it-IT" sz="1300" b="1">
                <a:solidFill>
                  <a:schemeClr val="dk1"/>
                </a:solidFill>
                <a:latin typeface="Libre Franklin"/>
                <a:ea typeface="Libre Franklin"/>
                <a:cs typeface="Libre Franklin"/>
                <a:sym typeface="Libre Franklin"/>
              </a:rPr>
              <a:t>Effetto di R: cambia Fc, ma non cambia Fr</a:t>
            </a:r>
            <a:endParaRPr sz="1300" b="1">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Nel circuito reale il condensatore non è ideale: oltre alla capacità C = 100 nF, sono presenti i parassiti ESR = 0,2 Ω ed ESL = 3 nH. Questi parassiti introducono una frequenza di risonanza propria del componente.</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300">
                <a:solidFill>
                  <a:schemeClr val="dk1"/>
                </a:solidFill>
                <a:latin typeface="Libre Franklin"/>
                <a:ea typeface="Libre Franklin"/>
                <a:cs typeface="Libre Franklin"/>
                <a:sym typeface="Libre Franklin"/>
              </a:rPr>
              <a:t>La frequenza di taglio del filtro passa-alto dipende dalla resistenza del circuito:</a:t>
            </a:r>
            <a:endParaRPr sz="1300">
              <a:solidFill>
                <a:schemeClr val="dk1"/>
              </a:solidFill>
              <a:latin typeface="Libre Franklin"/>
              <a:ea typeface="Libre Franklin"/>
              <a:cs typeface="Libre Franklin"/>
              <a:sym typeface="Libre Franklin"/>
            </a:endParaRPr>
          </a:p>
        </p:txBody>
      </p:sp>
      <p:pic>
        <p:nvPicPr>
          <p:cNvPr id="447" name="Google Shape;447;p48"/>
          <p:cNvPicPr preferRelativeResize="0"/>
          <p:nvPr/>
        </p:nvPicPr>
        <p:blipFill>
          <a:blip r:embed="rId3">
            <a:alphaModFix/>
          </a:blip>
          <a:stretch>
            <a:fillRect/>
          </a:stretch>
        </p:blipFill>
        <p:spPr>
          <a:xfrm>
            <a:off x="7959650" y="1405125"/>
            <a:ext cx="1181100" cy="600075"/>
          </a:xfrm>
          <a:prstGeom prst="rect">
            <a:avLst/>
          </a:prstGeom>
          <a:noFill/>
          <a:ln>
            <a:noFill/>
          </a:ln>
        </p:spPr>
      </p:pic>
      <p:sp>
        <p:nvSpPr>
          <p:cNvPr id="448" name="Google Shape;448;p48"/>
          <p:cNvSpPr txBox="1"/>
          <p:nvPr/>
        </p:nvSpPr>
        <p:spPr>
          <a:xfrm>
            <a:off x="1628200" y="2344625"/>
            <a:ext cx="10094100" cy="1152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Quindi, cambiando R, cambia il prodotto RC e di conseguenza si sposta la frequenza di taglio. Se R aumenta, Fc diminuisce; </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se R diminuisce, Fc  aumenta. Questo spiega lo spostamento laterale della parte iniziale della curva di Bode.</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300">
                <a:solidFill>
                  <a:schemeClr val="dk1"/>
                </a:solidFill>
                <a:latin typeface="Libre Franklin"/>
                <a:ea typeface="Libre Franklin"/>
                <a:cs typeface="Libre Franklin"/>
                <a:sym typeface="Libre Franklin"/>
              </a:rPr>
              <a:t>La frequenza di risonanza, invece, dipende principalmente dalla capacità C e dall’induttanza parassita ESL:</a:t>
            </a:r>
            <a:endParaRPr sz="1300">
              <a:solidFill>
                <a:schemeClr val="dk1"/>
              </a:solidFill>
              <a:latin typeface="Libre Franklin"/>
              <a:ea typeface="Libre Franklin"/>
              <a:cs typeface="Libre Franklin"/>
              <a:sym typeface="Libre Franklin"/>
            </a:endParaRPr>
          </a:p>
        </p:txBody>
      </p:sp>
      <p:pic>
        <p:nvPicPr>
          <p:cNvPr id="449" name="Google Shape;449;p48"/>
          <p:cNvPicPr preferRelativeResize="0"/>
          <p:nvPr/>
        </p:nvPicPr>
        <p:blipFill>
          <a:blip r:embed="rId4">
            <a:alphaModFix/>
          </a:blip>
          <a:stretch>
            <a:fillRect/>
          </a:stretch>
        </p:blipFill>
        <p:spPr>
          <a:xfrm>
            <a:off x="10174025" y="3071925"/>
            <a:ext cx="1200150" cy="476250"/>
          </a:xfrm>
          <a:prstGeom prst="rect">
            <a:avLst/>
          </a:prstGeom>
          <a:noFill/>
          <a:ln>
            <a:noFill/>
          </a:ln>
        </p:spPr>
      </p:pic>
      <p:pic>
        <p:nvPicPr>
          <p:cNvPr id="450" name="Google Shape;450;p48"/>
          <p:cNvPicPr preferRelativeResize="0"/>
          <p:nvPr/>
        </p:nvPicPr>
        <p:blipFill rotWithShape="1">
          <a:blip r:embed="rId5">
            <a:alphaModFix/>
          </a:blip>
          <a:srcRect/>
          <a:stretch/>
        </p:blipFill>
        <p:spPr>
          <a:xfrm>
            <a:off x="3457499" y="3619525"/>
            <a:ext cx="5528573" cy="270952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49"/>
          <p:cNvSpPr txBox="1"/>
          <p:nvPr/>
        </p:nvSpPr>
        <p:spPr>
          <a:xfrm>
            <a:off x="2161450" y="1994550"/>
            <a:ext cx="8734500" cy="2457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300" b="1">
                <a:solidFill>
                  <a:schemeClr val="dk1"/>
                </a:solidFill>
                <a:latin typeface="Libre Franklin"/>
                <a:ea typeface="Libre Franklin"/>
                <a:cs typeface="Libre Franklin"/>
                <a:sym typeface="Libre Franklin"/>
              </a:rPr>
              <a:t>Conclusioni:</a:t>
            </a:r>
            <a:endParaRPr sz="1300" b="1">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0"/>
              </a:spcAft>
              <a:buNone/>
            </a:pP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Poiché cambiando R non vengono modificati né C né ESL, la frequenza di risonanza rimane praticamente nella stessa posizione. Cambia la forma della curva e cambia la frequenza di taglio, ma il punto in cui il condensatore entra in risonanza resta fissato dal componente reale.</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300">
                <a:solidFill>
                  <a:schemeClr val="dk1"/>
                </a:solidFill>
                <a:latin typeface="Libre Franklin"/>
                <a:ea typeface="Libre Franklin"/>
                <a:cs typeface="Libre Franklin"/>
                <a:sym typeface="Libre Franklin"/>
              </a:rPr>
              <a:t>Nel grafico si vede quindi che la parte passa-alto si sposta con R, mentre la caduta ad alta frequenza dovuta alla risonanza/parassiti resta centrata circa nella stessa zona. In sintesi: R regola fcf_cfc​, mentre C ed ESL fissano frf_rfr​.</a:t>
            </a:r>
            <a:endParaRPr sz="1300">
              <a:solidFill>
                <a:schemeClr val="dk1"/>
              </a:solidFill>
              <a:latin typeface="Libre Franklin"/>
              <a:ea typeface="Libre Franklin"/>
              <a:cs typeface="Libre Franklin"/>
              <a:sym typeface="Libre Franklin"/>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50"/>
          <p:cNvSpPr txBox="1"/>
          <p:nvPr/>
        </p:nvSpPr>
        <p:spPr>
          <a:xfrm>
            <a:off x="1355275" y="756125"/>
            <a:ext cx="77583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500">
                <a:solidFill>
                  <a:srgbClr val="073763"/>
                </a:solidFill>
                <a:latin typeface="Libre Franklin SemiBold"/>
                <a:ea typeface="Libre Franklin SemiBold"/>
                <a:cs typeface="Libre Franklin SemiBold"/>
                <a:sym typeface="Libre Franklin SemiBold"/>
              </a:rPr>
              <a:t>Dal filtro HP passivo al filtro HP attivo ideale</a:t>
            </a:r>
            <a:endParaRPr sz="2500">
              <a:solidFill>
                <a:srgbClr val="073763"/>
              </a:solidFill>
              <a:latin typeface="Libre Franklin SemiBold"/>
              <a:ea typeface="Libre Franklin SemiBold"/>
              <a:cs typeface="Libre Franklin SemiBold"/>
              <a:sym typeface="Libre Franklin SemiBold"/>
            </a:endParaRPr>
          </a:p>
        </p:txBody>
      </p:sp>
      <p:sp>
        <p:nvSpPr>
          <p:cNvPr id="463" name="Google Shape;463;p50"/>
          <p:cNvSpPr txBox="1"/>
          <p:nvPr/>
        </p:nvSpPr>
        <p:spPr>
          <a:xfrm>
            <a:off x="1424675" y="1514225"/>
            <a:ext cx="10549800" cy="999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Dopo aver concluso l’analisi del filtro passa-alto passivo, passiamo ora allo studio del filtro passa-alto attivo con operazionale ideale.</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300">
                <a:solidFill>
                  <a:schemeClr val="dk1"/>
                </a:solidFill>
                <a:latin typeface="Libre Franklin"/>
                <a:ea typeface="Libre Franklin"/>
                <a:cs typeface="Libre Franklin"/>
                <a:sym typeface="Libre Franklin"/>
              </a:rPr>
              <a:t>Nel filtro passivo abbiamo visto che il comportamento principale dipende dalla rete RC: il condensatore blocca le basse frequenze e lascia passare progressivamente le alte frequenze. La frequenza di taglio è determinata dalla relazione:</a:t>
            </a:r>
            <a:endParaRPr sz="1300">
              <a:solidFill>
                <a:schemeClr val="dk1"/>
              </a:solidFill>
              <a:latin typeface="Libre Franklin"/>
              <a:ea typeface="Libre Franklin"/>
              <a:cs typeface="Libre Franklin"/>
              <a:sym typeface="Libre Franklin"/>
            </a:endParaRPr>
          </a:p>
        </p:txBody>
      </p:sp>
      <p:pic>
        <p:nvPicPr>
          <p:cNvPr id="464" name="Google Shape;464;p50"/>
          <p:cNvPicPr preferRelativeResize="0"/>
          <p:nvPr/>
        </p:nvPicPr>
        <p:blipFill>
          <a:blip r:embed="rId3">
            <a:alphaModFix/>
          </a:blip>
          <a:stretch>
            <a:fillRect/>
          </a:stretch>
        </p:blipFill>
        <p:spPr>
          <a:xfrm>
            <a:off x="5883675" y="2618150"/>
            <a:ext cx="1181100" cy="600075"/>
          </a:xfrm>
          <a:prstGeom prst="rect">
            <a:avLst/>
          </a:prstGeom>
          <a:noFill/>
          <a:ln>
            <a:noFill/>
          </a:ln>
        </p:spPr>
      </p:pic>
      <p:sp>
        <p:nvSpPr>
          <p:cNvPr id="465" name="Google Shape;465;p50"/>
          <p:cNvSpPr txBox="1"/>
          <p:nvPr/>
        </p:nvSpPr>
        <p:spPr>
          <a:xfrm>
            <a:off x="1660750" y="3393900"/>
            <a:ext cx="9801000" cy="2303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Questo concetto rimane valido anche nel filtro attivo, perché la parte selettiva del circuito è ancora basata sul prodotto RC.</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La differenza principale è che nel filtro attivo viene introdotto un amplificatore operazionale, che permette non solo di filtrare il segnale, ma anche di controllarne il guadagno. Quindi, mentre il filtro passivo può solo attenuare o al massimo arrivare a un guadagno unitario, il filtro attivo può fornire anche amplificazione.</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300">
                <a:solidFill>
                  <a:schemeClr val="dk1"/>
                </a:solidFill>
                <a:latin typeface="Libre Franklin"/>
                <a:ea typeface="Libre Franklin"/>
                <a:cs typeface="Libre Franklin"/>
                <a:sym typeface="Libre Franklin"/>
              </a:rPr>
              <a:t>Ritroveremo quindi gli stessi concetti già osservati nel passivo: frequenza di taglio, andamento del Bode, effetto della variazione di R e C, risposta transitoria e influenza dei componenti reali. La differenza è che ora il comportamento del filtro sarà combinato con l’azione dell’operazionale, che migliora il controllo del segnale e permette una risposta più adatta alle applicazioni pratiche.</a:t>
            </a:r>
            <a:endParaRPr sz="1300">
              <a:solidFill>
                <a:schemeClr val="dk1"/>
              </a:solidFill>
              <a:latin typeface="Libre Franklin"/>
              <a:ea typeface="Libre Franklin"/>
              <a:cs typeface="Libre Franklin"/>
              <a:sym typeface="Libre Franklin"/>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51"/>
          <p:cNvSpPr txBox="1"/>
          <p:nvPr/>
        </p:nvSpPr>
        <p:spPr>
          <a:xfrm>
            <a:off x="1147050" y="411999"/>
            <a:ext cx="6946200" cy="1569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9600">
                <a:solidFill>
                  <a:schemeClr val="dk1"/>
                </a:solidFill>
                <a:latin typeface="Open Sans"/>
                <a:ea typeface="Open Sans"/>
                <a:cs typeface="Open Sans"/>
                <a:sym typeface="Open Sans"/>
              </a:rPr>
              <a:t>IDEALE</a:t>
            </a:r>
            <a:endParaRPr sz="9600"/>
          </a:p>
        </p:txBody>
      </p:sp>
      <p:sp>
        <p:nvSpPr>
          <p:cNvPr id="471" name="Google Shape;471;p51"/>
          <p:cNvSpPr txBox="1"/>
          <p:nvPr/>
        </p:nvSpPr>
        <p:spPr>
          <a:xfrm>
            <a:off x="1408400" y="2149225"/>
            <a:ext cx="10151100" cy="1229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Prima di analizzare il filtro passa-alto attivo, è utile richiamare il comportamento generale dell’amplificatore operazionale ideale. L’opamp confronta la tensione presente all’ingresso non invertente (+) con quella presente all’ingresso invertente (−) e genera una tensione di uscita Vout. </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endParaRPr sz="1300">
              <a:solidFill>
                <a:schemeClr val="dk1"/>
              </a:solidFill>
              <a:latin typeface="Libre Franklin"/>
              <a:ea typeface="Libre Franklin"/>
              <a:cs typeface="Libre Franklin"/>
              <a:sym typeface="Libre Franklin"/>
            </a:endParaRPr>
          </a:p>
        </p:txBody>
      </p:sp>
      <p:pic>
        <p:nvPicPr>
          <p:cNvPr id="472" name="Google Shape;472;p51"/>
          <p:cNvPicPr preferRelativeResize="0"/>
          <p:nvPr/>
        </p:nvPicPr>
        <p:blipFill rotWithShape="1">
          <a:blip r:embed="rId3">
            <a:alphaModFix/>
          </a:blip>
          <a:srcRect/>
          <a:stretch/>
        </p:blipFill>
        <p:spPr>
          <a:xfrm>
            <a:off x="1481025" y="3152050"/>
            <a:ext cx="1937350" cy="2975225"/>
          </a:xfrm>
          <a:prstGeom prst="rect">
            <a:avLst/>
          </a:prstGeom>
          <a:noFill/>
          <a:ln>
            <a:noFill/>
          </a:ln>
        </p:spPr>
      </p:pic>
      <p:pic>
        <p:nvPicPr>
          <p:cNvPr id="473" name="Google Shape;473;p51"/>
          <p:cNvPicPr preferRelativeResize="0"/>
          <p:nvPr/>
        </p:nvPicPr>
        <p:blipFill rotWithShape="1">
          <a:blip r:embed="rId4">
            <a:alphaModFix/>
          </a:blip>
          <a:srcRect r="67542" b="30512"/>
          <a:stretch/>
        </p:blipFill>
        <p:spPr>
          <a:xfrm>
            <a:off x="3719850" y="3152050"/>
            <a:ext cx="1800611" cy="2748950"/>
          </a:xfrm>
          <a:prstGeom prst="rect">
            <a:avLst/>
          </a:prstGeom>
          <a:noFill/>
          <a:ln>
            <a:noFill/>
          </a:ln>
        </p:spPr>
      </p:pic>
      <p:sp>
        <p:nvSpPr>
          <p:cNvPr id="474" name="Google Shape;474;p51"/>
          <p:cNvSpPr txBox="1"/>
          <p:nvPr/>
        </p:nvSpPr>
        <p:spPr>
          <a:xfrm>
            <a:off x="5788275" y="3036600"/>
            <a:ext cx="6251400" cy="1286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100">
                <a:solidFill>
                  <a:schemeClr val="dk1"/>
                </a:solidFill>
              </a:rPr>
              <a:t>L’operazionale utilizzato è impostato come </a:t>
            </a:r>
            <a:r>
              <a:rPr lang="it-IT" sz="1100" b="1">
                <a:solidFill>
                  <a:schemeClr val="dk1"/>
                </a:solidFill>
              </a:rPr>
              <a:t>opamp ideale</a:t>
            </a:r>
            <a:r>
              <a:rPr lang="it-IT" sz="1100">
                <a:solidFill>
                  <a:schemeClr val="dk1"/>
                </a:solidFill>
              </a:rPr>
              <a:t>, cioè un componente che si avvicina al comportamento teorico: amplifica la differenza tra ingresso non invertente (+) e ingresso invertente (−), senza introdurre limiti significativi nella simulazione.</a:t>
            </a:r>
            <a:endParaRPr sz="1100">
              <a:solidFill>
                <a:schemeClr val="dk1"/>
              </a:solidFill>
            </a:endParaRPr>
          </a:p>
          <a:p>
            <a:pPr marL="0" lvl="0" indent="0" algn="l" rtl="0">
              <a:lnSpc>
                <a:spcPct val="115000"/>
              </a:lnSpc>
              <a:spcBef>
                <a:spcPts val="1200"/>
              </a:spcBef>
              <a:spcAft>
                <a:spcPts val="1200"/>
              </a:spcAft>
              <a:buNone/>
            </a:pPr>
            <a:r>
              <a:rPr lang="it-IT" sz="1100">
                <a:solidFill>
                  <a:schemeClr val="dk1"/>
                </a:solidFill>
              </a:rPr>
              <a:t>Nella finestra dei parametri sono stati usati valori molto elevati, come </a:t>
            </a:r>
            <a:r>
              <a:rPr lang="it-IT" sz="1100" b="1">
                <a:solidFill>
                  <a:schemeClr val="dk1"/>
                </a:solidFill>
              </a:rPr>
              <a:t>Avol = 1T</a:t>
            </a:r>
            <a:r>
              <a:rPr lang="it-IT" sz="1100">
                <a:solidFill>
                  <a:schemeClr val="dk1"/>
                </a:solidFill>
              </a:rPr>
              <a:t>, </a:t>
            </a:r>
            <a:r>
              <a:rPr lang="it-IT" sz="1100" b="1">
                <a:solidFill>
                  <a:schemeClr val="dk1"/>
                </a:solidFill>
              </a:rPr>
              <a:t>GBW = 1T</a:t>
            </a:r>
            <a:r>
              <a:rPr lang="it-IT" sz="1100">
                <a:solidFill>
                  <a:schemeClr val="dk1"/>
                </a:solidFill>
              </a:rPr>
              <a:t>, </a:t>
            </a:r>
            <a:r>
              <a:rPr lang="it-IT" sz="1100" b="1">
                <a:solidFill>
                  <a:schemeClr val="dk1"/>
                </a:solidFill>
              </a:rPr>
              <a:t>Slew = 1T</a:t>
            </a:r>
            <a:r>
              <a:rPr lang="it-IT" sz="1100">
                <a:solidFill>
                  <a:schemeClr val="dk1"/>
                </a:solidFill>
              </a:rPr>
              <a:t> e </a:t>
            </a:r>
            <a:r>
              <a:rPr lang="it-IT" sz="1100" b="1">
                <a:solidFill>
                  <a:schemeClr val="dk1"/>
                </a:solidFill>
              </a:rPr>
              <a:t>Rin = 1T</a:t>
            </a:r>
            <a:r>
              <a:rPr lang="it-IT" sz="1100">
                <a:solidFill>
                  <a:schemeClr val="dk1"/>
                </a:solidFill>
              </a:rPr>
              <a:t>. Questi valori servono a rendere quasi ideali le caratteristiche principali dell’opamp:</a:t>
            </a:r>
            <a:endParaRPr sz="1100">
              <a:solidFill>
                <a:schemeClr val="dk1"/>
              </a:solidFill>
            </a:endParaRPr>
          </a:p>
        </p:txBody>
      </p:sp>
      <p:pic>
        <p:nvPicPr>
          <p:cNvPr id="475" name="Google Shape;475;p51"/>
          <p:cNvPicPr preferRelativeResize="0"/>
          <p:nvPr/>
        </p:nvPicPr>
        <p:blipFill>
          <a:blip r:embed="rId5">
            <a:alphaModFix/>
          </a:blip>
          <a:stretch>
            <a:fillRect/>
          </a:stretch>
        </p:blipFill>
        <p:spPr>
          <a:xfrm>
            <a:off x="5925236" y="4605950"/>
            <a:ext cx="1009650" cy="1066800"/>
          </a:xfrm>
          <a:prstGeom prst="rect">
            <a:avLst/>
          </a:prstGeom>
          <a:noFill/>
          <a:ln>
            <a:noFill/>
          </a:ln>
        </p:spPr>
      </p:pic>
      <p:sp>
        <p:nvSpPr>
          <p:cNvPr id="476" name="Google Shape;476;p51"/>
          <p:cNvSpPr txBox="1"/>
          <p:nvPr/>
        </p:nvSpPr>
        <p:spPr>
          <a:xfrm>
            <a:off x="7388500" y="4524550"/>
            <a:ext cx="4333800" cy="1870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100">
                <a:solidFill>
                  <a:schemeClr val="dk1"/>
                </a:solidFill>
              </a:rPr>
              <a:t>In questo modo l’operazionale non limita il guadagno, non carica il circuito in ingresso e non introduce ritardi o attenuazioni dovute alla banda passante.</a:t>
            </a:r>
            <a:endParaRPr sz="1100">
              <a:solidFill>
                <a:schemeClr val="dk1"/>
              </a:solidFill>
            </a:endParaRPr>
          </a:p>
          <a:p>
            <a:pPr marL="0" lvl="0" indent="0" algn="l" rtl="0">
              <a:lnSpc>
                <a:spcPct val="115000"/>
              </a:lnSpc>
              <a:spcBef>
                <a:spcPts val="1200"/>
              </a:spcBef>
              <a:spcAft>
                <a:spcPts val="1200"/>
              </a:spcAft>
              <a:buNone/>
            </a:pPr>
            <a:r>
              <a:rPr lang="it-IT" sz="1100">
                <a:solidFill>
                  <a:schemeClr val="dk1"/>
                </a:solidFill>
              </a:rPr>
              <a:t>L’obiettivo è isolare il comportamento del </a:t>
            </a:r>
            <a:r>
              <a:rPr lang="it-IT" sz="1100" b="1">
                <a:solidFill>
                  <a:schemeClr val="dk1"/>
                </a:solidFill>
              </a:rPr>
              <a:t>filtro attivo</a:t>
            </a:r>
            <a:r>
              <a:rPr lang="it-IT" sz="1100">
                <a:solidFill>
                  <a:schemeClr val="dk1"/>
                </a:solidFill>
              </a:rPr>
              <a:t> senza far intervenire gli effetti non ideali dell’opamp reale. Così la risposta osservata dipende principalmente dalla rete esterna di resistori e condensatori, cioè dalla configurazione scelta e dalla frequenza di taglio del filtro.</a:t>
            </a:r>
            <a:endParaRPr sz="1100">
              <a:solidFill>
                <a:schemeClr val="dk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52"/>
          <p:cNvSpPr txBox="1"/>
          <p:nvPr/>
        </p:nvSpPr>
        <p:spPr>
          <a:xfrm>
            <a:off x="968800" y="1709600"/>
            <a:ext cx="11152500" cy="1292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100">
                <a:solidFill>
                  <a:schemeClr val="dk1"/>
                </a:solidFill>
                <a:latin typeface="Libre Franklin"/>
                <a:ea typeface="Libre Franklin"/>
                <a:cs typeface="Libre Franklin"/>
                <a:sym typeface="Libre Franklin"/>
              </a:rPr>
              <a:t>Prima di analizzare il filtro passa-alto attivo, è utile richiamare il comportamento generale dell’amplificatore operazionale ideale. L’opamp confronta la tensione presente all’ingresso non invertente (+) con quella presente all’ingresso invertente (−) e genera una tensione di uscita Vout</a:t>
            </a:r>
            <a:endParaRPr sz="11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0"/>
              </a:spcAft>
              <a:buNone/>
            </a:pPr>
            <a:r>
              <a:rPr lang="it-IT" sz="1100">
                <a:solidFill>
                  <a:schemeClr val="dk1"/>
                </a:solidFill>
                <a:latin typeface="Libre Franklin"/>
                <a:ea typeface="Libre Franklin"/>
                <a:cs typeface="Libre Franklin"/>
                <a:sym typeface="Libre Franklin"/>
              </a:rPr>
              <a:t>In condizioni ideali, con retroazione negativa, l’opamp tende a mantenere i due ingressi alla stessa tensione:</a:t>
            </a:r>
            <a:endParaRPr sz="1100">
              <a:solidFill>
                <a:schemeClr val="dk1"/>
              </a:solidFill>
              <a:latin typeface="Libre Franklin"/>
              <a:ea typeface="Libre Franklin"/>
              <a:cs typeface="Libre Franklin"/>
              <a:sym typeface="Libre Franklin"/>
            </a:endParaRPr>
          </a:p>
          <a:p>
            <a:pPr marL="0" lvl="0" indent="0" algn="l" rtl="0">
              <a:spcBef>
                <a:spcPts val="1200"/>
              </a:spcBef>
              <a:spcAft>
                <a:spcPts val="0"/>
              </a:spcAft>
              <a:buNone/>
            </a:pPr>
            <a:endParaRPr>
              <a:latin typeface="Libre Franklin"/>
              <a:ea typeface="Libre Franklin"/>
              <a:cs typeface="Libre Franklin"/>
              <a:sym typeface="Libre Franklin"/>
            </a:endParaRPr>
          </a:p>
        </p:txBody>
      </p:sp>
      <p:pic>
        <p:nvPicPr>
          <p:cNvPr id="483" name="Google Shape;483;p52"/>
          <p:cNvPicPr preferRelativeResize="0"/>
          <p:nvPr/>
        </p:nvPicPr>
        <p:blipFill>
          <a:blip r:embed="rId3">
            <a:alphaModFix/>
          </a:blip>
          <a:stretch>
            <a:fillRect/>
          </a:stretch>
        </p:blipFill>
        <p:spPr>
          <a:xfrm>
            <a:off x="8228300" y="2291150"/>
            <a:ext cx="847725" cy="352425"/>
          </a:xfrm>
          <a:prstGeom prst="rect">
            <a:avLst/>
          </a:prstGeom>
          <a:noFill/>
          <a:ln>
            <a:noFill/>
          </a:ln>
        </p:spPr>
      </p:pic>
      <p:sp>
        <p:nvSpPr>
          <p:cNvPr id="484" name="Google Shape;484;p52"/>
          <p:cNvSpPr txBox="1"/>
          <p:nvPr/>
        </p:nvSpPr>
        <p:spPr>
          <a:xfrm>
            <a:off x="1042050" y="2686525"/>
            <a:ext cx="10143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a:latin typeface="Libre Franklin"/>
                <a:ea typeface="Libre Franklin"/>
                <a:cs typeface="Libre Franklin"/>
                <a:sym typeface="Libre Franklin"/>
              </a:rPr>
              <a:t>Questo principio permette di costruire circuiti con guadagno controllato tramite resistenze esterne.</a:t>
            </a:r>
            <a:endParaRPr sz="1200">
              <a:latin typeface="Libre Franklin"/>
              <a:ea typeface="Libre Franklin"/>
              <a:cs typeface="Libre Franklin"/>
              <a:sym typeface="Libre Franklin"/>
            </a:endParaRPr>
          </a:p>
        </p:txBody>
      </p:sp>
      <p:sp>
        <p:nvSpPr>
          <p:cNvPr id="485" name="Google Shape;485;p52"/>
          <p:cNvSpPr txBox="1"/>
          <p:nvPr/>
        </p:nvSpPr>
        <p:spPr>
          <a:xfrm>
            <a:off x="1139750" y="3183150"/>
            <a:ext cx="109245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300">
                <a:latin typeface="Libre Franklin"/>
                <a:ea typeface="Libre Franklin"/>
                <a:cs typeface="Libre Franklin"/>
                <a:sym typeface="Libre Franklin"/>
              </a:rPr>
              <a:t>Un filtro attivo con operazionale può essere realizzato in due configurazioni principali: non invertente e invertente. </a:t>
            </a:r>
            <a:endParaRPr sz="1300">
              <a:latin typeface="Libre Franklin"/>
              <a:ea typeface="Libre Franklin"/>
              <a:cs typeface="Libre Franklin"/>
              <a:sym typeface="Libre Franklin"/>
            </a:endParaRPr>
          </a:p>
          <a:p>
            <a:pPr marL="0" lvl="0" indent="0" algn="l" rtl="0">
              <a:spcBef>
                <a:spcPts val="0"/>
              </a:spcBef>
              <a:spcAft>
                <a:spcPts val="0"/>
              </a:spcAft>
              <a:buNone/>
            </a:pPr>
            <a:r>
              <a:rPr lang="it-IT" sz="1300">
                <a:latin typeface="Libre Franklin"/>
                <a:ea typeface="Libre Franklin"/>
                <a:cs typeface="Libre Franklin"/>
                <a:sym typeface="Libre Franklin"/>
              </a:rPr>
              <a:t>In entrambi i casi la rete RC determina la frequenza di taglio, mentre l’operazionale definisce il guadagno e la fase del segnale in uscita.</a:t>
            </a:r>
            <a:endParaRPr sz="1300">
              <a:latin typeface="Libre Franklin"/>
              <a:ea typeface="Libre Franklin"/>
              <a:cs typeface="Libre Franklin"/>
              <a:sym typeface="Libre Franklin"/>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53"/>
          <p:cNvSpPr txBox="1"/>
          <p:nvPr/>
        </p:nvSpPr>
        <p:spPr>
          <a:xfrm>
            <a:off x="1196750" y="944375"/>
            <a:ext cx="9898500" cy="1383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it-IT" sz="1300" b="1">
                <a:solidFill>
                  <a:schemeClr val="dk1"/>
                </a:solidFill>
                <a:latin typeface="Libre Franklin"/>
                <a:ea typeface="Libre Franklin"/>
                <a:cs typeface="Libre Franklin"/>
                <a:sym typeface="Libre Franklin"/>
              </a:rPr>
              <a:t>Configurazione non invertente</a:t>
            </a:r>
            <a:endParaRPr sz="1300" b="1">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Nella configurazione non invertente, il segnale viene applicato all’ingresso (+)(+)(+). In questo caso l’uscita mantiene la stessa fase del segnale di ingresso: se VinV_{in}Vin​ aumenta, anche VoutV_{out}Vout​ aumenta.</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300">
                <a:solidFill>
                  <a:schemeClr val="dk1"/>
                </a:solidFill>
                <a:latin typeface="Libre Franklin"/>
                <a:ea typeface="Libre Franklin"/>
                <a:cs typeface="Libre Franklin"/>
                <a:sym typeface="Libre Franklin"/>
              </a:rPr>
              <a:t>Il guadagno è:</a:t>
            </a:r>
            <a:endParaRPr sz="1300">
              <a:solidFill>
                <a:schemeClr val="dk1"/>
              </a:solidFill>
              <a:latin typeface="Libre Franklin"/>
              <a:ea typeface="Libre Franklin"/>
              <a:cs typeface="Libre Franklin"/>
              <a:sym typeface="Libre Franklin"/>
            </a:endParaRPr>
          </a:p>
        </p:txBody>
      </p:sp>
      <p:pic>
        <p:nvPicPr>
          <p:cNvPr id="492" name="Google Shape;492;p53"/>
          <p:cNvPicPr preferRelativeResize="0"/>
          <p:nvPr/>
        </p:nvPicPr>
        <p:blipFill>
          <a:blip r:embed="rId3">
            <a:alphaModFix/>
          </a:blip>
          <a:stretch>
            <a:fillRect/>
          </a:stretch>
        </p:blipFill>
        <p:spPr>
          <a:xfrm>
            <a:off x="3693750" y="2243700"/>
            <a:ext cx="1943100" cy="1685925"/>
          </a:xfrm>
          <a:prstGeom prst="rect">
            <a:avLst/>
          </a:prstGeom>
          <a:noFill/>
          <a:ln>
            <a:noFill/>
          </a:ln>
        </p:spPr>
      </p:pic>
      <p:sp>
        <p:nvSpPr>
          <p:cNvPr id="493" name="Google Shape;493;p53"/>
          <p:cNvSpPr txBox="1"/>
          <p:nvPr/>
        </p:nvSpPr>
        <p:spPr>
          <a:xfrm>
            <a:off x="2083250" y="2829825"/>
            <a:ext cx="1734000" cy="35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IT" sz="1300">
                <a:solidFill>
                  <a:schemeClr val="dk1"/>
                </a:solidFill>
                <a:latin typeface="Libre Franklin"/>
                <a:ea typeface="Libre Franklin"/>
                <a:cs typeface="Libre Franklin"/>
                <a:sym typeface="Libre Franklin"/>
              </a:rPr>
              <a:t>Quindi</a:t>
            </a:r>
            <a:endParaRPr sz="1300">
              <a:solidFill>
                <a:schemeClr val="dk1"/>
              </a:solidFill>
              <a:latin typeface="Libre Franklin"/>
              <a:ea typeface="Libre Franklin"/>
              <a:cs typeface="Libre Franklin"/>
              <a:sym typeface="Libre Franklin"/>
            </a:endParaRPr>
          </a:p>
        </p:txBody>
      </p:sp>
      <p:sp>
        <p:nvSpPr>
          <p:cNvPr id="494" name="Google Shape;494;p53"/>
          <p:cNvSpPr txBox="1"/>
          <p:nvPr/>
        </p:nvSpPr>
        <p:spPr>
          <a:xfrm>
            <a:off x="2170525" y="4081250"/>
            <a:ext cx="5131200" cy="474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IT" sz="1300">
                <a:solidFill>
                  <a:schemeClr val="dk1"/>
                </a:solidFill>
                <a:latin typeface="Libre Franklin"/>
                <a:ea typeface="Libre Franklin"/>
                <a:cs typeface="Libre Franklin"/>
                <a:sym typeface="Libre Franklin"/>
              </a:rPr>
              <a:t>Questa configurazione amplifica il segnale senza invertirlo.</a:t>
            </a:r>
            <a:endParaRPr sz="1300">
              <a:solidFill>
                <a:schemeClr val="dk1"/>
              </a:solidFill>
              <a:latin typeface="Libre Franklin"/>
              <a:ea typeface="Libre Franklin"/>
              <a:cs typeface="Libre Franklin"/>
              <a:sym typeface="Libre Franklin"/>
            </a:endParaRPr>
          </a:p>
        </p:txBody>
      </p:sp>
      <p:pic>
        <p:nvPicPr>
          <p:cNvPr id="495" name="Google Shape;495;p53"/>
          <p:cNvPicPr preferRelativeResize="0"/>
          <p:nvPr/>
        </p:nvPicPr>
        <p:blipFill>
          <a:blip r:embed="rId4">
            <a:alphaModFix/>
          </a:blip>
          <a:stretch>
            <a:fillRect/>
          </a:stretch>
        </p:blipFill>
        <p:spPr>
          <a:xfrm>
            <a:off x="7023425" y="2209800"/>
            <a:ext cx="4476900" cy="2657524"/>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pic>
        <p:nvPicPr>
          <p:cNvPr id="501" name="Google Shape;501;p54"/>
          <p:cNvPicPr preferRelativeResize="0"/>
          <p:nvPr/>
        </p:nvPicPr>
        <p:blipFill>
          <a:blip r:embed="rId3">
            <a:alphaModFix/>
          </a:blip>
          <a:stretch>
            <a:fillRect/>
          </a:stretch>
        </p:blipFill>
        <p:spPr>
          <a:xfrm>
            <a:off x="7049275" y="2657550"/>
            <a:ext cx="4941476" cy="1992024"/>
          </a:xfrm>
          <a:prstGeom prst="rect">
            <a:avLst/>
          </a:prstGeom>
          <a:noFill/>
          <a:ln>
            <a:noFill/>
          </a:ln>
        </p:spPr>
      </p:pic>
      <p:sp>
        <p:nvSpPr>
          <p:cNvPr id="502" name="Google Shape;502;p54"/>
          <p:cNvSpPr txBox="1"/>
          <p:nvPr/>
        </p:nvSpPr>
        <p:spPr>
          <a:xfrm>
            <a:off x="1359575" y="1139750"/>
            <a:ext cx="10492800" cy="1767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it-IT" sz="1300" b="1">
                <a:solidFill>
                  <a:schemeClr val="dk1"/>
                </a:solidFill>
                <a:latin typeface="Libre Franklin"/>
                <a:ea typeface="Libre Franklin"/>
                <a:cs typeface="Libre Franklin"/>
                <a:sym typeface="Libre Franklin"/>
              </a:rPr>
              <a:t>Configurazione invertente</a:t>
            </a:r>
            <a:endParaRPr sz="1300" b="1">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Nella configurazione invertente, il segnale viene applicato all’ingresso (−)(-)(−), mentre l’ingresso (+)(+)(+) è collegato a massa o a un riferimento.</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In questo caso l’uscita è invertita di fase rispetto all’ingresso: se VinV_{in}Vin​ aumenta, VoutV_{out}Vout​ diminuisce.</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300">
                <a:solidFill>
                  <a:schemeClr val="dk1"/>
                </a:solidFill>
                <a:latin typeface="Libre Franklin"/>
                <a:ea typeface="Libre Franklin"/>
                <a:cs typeface="Libre Franklin"/>
                <a:sym typeface="Libre Franklin"/>
              </a:rPr>
              <a:t>Il guadagno è:</a:t>
            </a:r>
            <a:endParaRPr sz="1300">
              <a:solidFill>
                <a:schemeClr val="dk1"/>
              </a:solidFill>
              <a:latin typeface="Libre Franklin"/>
              <a:ea typeface="Libre Franklin"/>
              <a:cs typeface="Libre Franklin"/>
              <a:sym typeface="Libre Franklin"/>
            </a:endParaRPr>
          </a:p>
        </p:txBody>
      </p:sp>
      <p:pic>
        <p:nvPicPr>
          <p:cNvPr id="503" name="Google Shape;503;p54"/>
          <p:cNvPicPr preferRelativeResize="0"/>
          <p:nvPr/>
        </p:nvPicPr>
        <p:blipFill>
          <a:blip r:embed="rId4">
            <a:alphaModFix/>
          </a:blip>
          <a:stretch>
            <a:fillRect/>
          </a:stretch>
        </p:blipFill>
        <p:spPr>
          <a:xfrm>
            <a:off x="3335550" y="3059150"/>
            <a:ext cx="1543050" cy="1552575"/>
          </a:xfrm>
          <a:prstGeom prst="rect">
            <a:avLst/>
          </a:prstGeom>
          <a:noFill/>
          <a:ln>
            <a:noFill/>
          </a:ln>
        </p:spPr>
      </p:pic>
      <p:sp>
        <p:nvSpPr>
          <p:cNvPr id="504" name="Google Shape;504;p54"/>
          <p:cNvSpPr txBox="1"/>
          <p:nvPr/>
        </p:nvSpPr>
        <p:spPr>
          <a:xfrm>
            <a:off x="1755325" y="4764125"/>
            <a:ext cx="5131200" cy="474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IT" sz="1300">
                <a:solidFill>
                  <a:schemeClr val="dk1"/>
                </a:solidFill>
                <a:latin typeface="Libre Franklin"/>
                <a:ea typeface="Libre Franklin"/>
                <a:cs typeface="Libre Franklin"/>
                <a:sym typeface="Libre Franklin"/>
              </a:rPr>
              <a:t>Il segno meno indica l’inversione di fase di 180°.</a:t>
            </a:r>
            <a:endParaRPr sz="1300">
              <a:solidFill>
                <a:schemeClr val="dk1"/>
              </a:solidFill>
              <a:latin typeface="Libre Franklin"/>
              <a:ea typeface="Libre Franklin"/>
              <a:cs typeface="Libre Franklin"/>
              <a:sym typeface="Libre Franklin"/>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55"/>
          <p:cNvSpPr txBox="1"/>
          <p:nvPr/>
        </p:nvSpPr>
        <p:spPr>
          <a:xfrm>
            <a:off x="968800" y="618700"/>
            <a:ext cx="11103600" cy="1383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it-IT" sz="1300" b="1">
                <a:solidFill>
                  <a:schemeClr val="dk1"/>
                </a:solidFill>
                <a:latin typeface="Libre Franklin"/>
                <a:ea typeface="Libre Franklin"/>
                <a:cs typeface="Libre Franklin"/>
                <a:sym typeface="Libre Franklin"/>
              </a:rPr>
              <a:t>Configurazione attiva invertente con guadagno 2</a:t>
            </a:r>
            <a:endParaRPr sz="1300" b="1">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0"/>
              </a:spcAft>
              <a:buNone/>
            </a:pPr>
            <a:r>
              <a:rPr lang="it-IT" sz="1300">
                <a:solidFill>
                  <a:schemeClr val="dk1"/>
                </a:solidFill>
                <a:latin typeface="Libre Franklin"/>
                <a:ea typeface="Libre Franklin"/>
                <a:cs typeface="Libre Franklin"/>
                <a:sym typeface="Libre Franklin"/>
              </a:rPr>
              <a:t>Considerando l’ultima configurazione spiegata, cioè quella invertente, si realizza un filtro passa-alto attivo in cui il segnale entra sul morsetto (−) dell’operazionale, mentre il morsetto (+) è collegato a massa.</a:t>
            </a:r>
            <a:endParaRPr sz="13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300">
                <a:solidFill>
                  <a:schemeClr val="dk1"/>
                </a:solidFill>
                <a:latin typeface="Libre Franklin"/>
                <a:ea typeface="Libre Franklin"/>
                <a:cs typeface="Libre Franklin"/>
                <a:sym typeface="Libre Franklin"/>
              </a:rPr>
              <a:t>La rete C1–R1 mantiene il ruolo già visto nel filtro passivo: determina la frequenza di taglio del circuito.</a:t>
            </a:r>
            <a:endParaRPr sz="1300">
              <a:solidFill>
                <a:schemeClr val="dk1"/>
              </a:solidFill>
              <a:latin typeface="Libre Franklin"/>
              <a:ea typeface="Libre Franklin"/>
              <a:cs typeface="Libre Franklin"/>
              <a:sym typeface="Libre Franklin"/>
            </a:endParaRPr>
          </a:p>
        </p:txBody>
      </p:sp>
      <p:pic>
        <p:nvPicPr>
          <p:cNvPr id="511" name="Google Shape;511;p55"/>
          <p:cNvPicPr preferRelativeResize="0"/>
          <p:nvPr/>
        </p:nvPicPr>
        <p:blipFill>
          <a:blip r:embed="rId3">
            <a:alphaModFix/>
          </a:blip>
          <a:stretch>
            <a:fillRect/>
          </a:stretch>
        </p:blipFill>
        <p:spPr>
          <a:xfrm>
            <a:off x="9050550" y="2641275"/>
            <a:ext cx="2381250" cy="2085975"/>
          </a:xfrm>
          <a:prstGeom prst="rect">
            <a:avLst/>
          </a:prstGeom>
          <a:noFill/>
          <a:ln>
            <a:noFill/>
          </a:ln>
        </p:spPr>
      </p:pic>
      <p:pic>
        <p:nvPicPr>
          <p:cNvPr id="512" name="Google Shape;512;p55"/>
          <p:cNvPicPr preferRelativeResize="0"/>
          <p:nvPr/>
        </p:nvPicPr>
        <p:blipFill rotWithShape="1">
          <a:blip r:embed="rId4">
            <a:alphaModFix/>
          </a:blip>
          <a:srcRect/>
          <a:stretch/>
        </p:blipFill>
        <p:spPr>
          <a:xfrm>
            <a:off x="1081224" y="2209806"/>
            <a:ext cx="7487598" cy="3676501"/>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pic>
        <p:nvPicPr>
          <p:cNvPr id="518" name="Google Shape;518;p56"/>
          <p:cNvPicPr preferRelativeResize="0"/>
          <p:nvPr/>
        </p:nvPicPr>
        <p:blipFill rotWithShape="1">
          <a:blip r:embed="rId3">
            <a:alphaModFix/>
          </a:blip>
          <a:srcRect l="5817" t="18037" r="-875" b="3334"/>
          <a:stretch/>
        </p:blipFill>
        <p:spPr>
          <a:xfrm>
            <a:off x="870250" y="3700900"/>
            <a:ext cx="6122050" cy="2499301"/>
          </a:xfrm>
          <a:prstGeom prst="rect">
            <a:avLst/>
          </a:prstGeom>
          <a:noFill/>
          <a:ln>
            <a:noFill/>
          </a:ln>
        </p:spPr>
      </p:pic>
      <p:pic>
        <p:nvPicPr>
          <p:cNvPr id="519" name="Google Shape;519;p56"/>
          <p:cNvPicPr preferRelativeResize="0"/>
          <p:nvPr/>
        </p:nvPicPr>
        <p:blipFill rotWithShape="1">
          <a:blip r:embed="rId4">
            <a:alphaModFix/>
          </a:blip>
          <a:srcRect/>
          <a:stretch/>
        </p:blipFill>
        <p:spPr>
          <a:xfrm>
            <a:off x="7212125" y="3551925"/>
            <a:ext cx="4556550" cy="2233149"/>
          </a:xfrm>
          <a:prstGeom prst="rect">
            <a:avLst/>
          </a:prstGeom>
          <a:noFill/>
          <a:ln>
            <a:noFill/>
          </a:ln>
        </p:spPr>
      </p:pic>
      <p:sp>
        <p:nvSpPr>
          <p:cNvPr id="520" name="Google Shape;520;p56"/>
          <p:cNvSpPr txBox="1"/>
          <p:nvPr/>
        </p:nvSpPr>
        <p:spPr>
          <a:xfrm>
            <a:off x="976900" y="390775"/>
            <a:ext cx="10664100" cy="615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it-IT" sz="1300">
                <a:latin typeface="Libre Franklin"/>
                <a:ea typeface="Libre Franklin"/>
                <a:cs typeface="Libre Franklin"/>
                <a:sym typeface="Libre Franklin"/>
              </a:rPr>
              <a:t>La differenza rispetto al passivo è che ora il guadagno può essere impostato tramite la retroazione dell’operazionale. In banda passante, il guadagno vale:</a:t>
            </a:r>
            <a:endParaRPr sz="1300">
              <a:latin typeface="Libre Franklin"/>
              <a:ea typeface="Libre Franklin"/>
              <a:cs typeface="Libre Franklin"/>
              <a:sym typeface="Libre Franklin"/>
            </a:endParaRPr>
          </a:p>
        </p:txBody>
      </p:sp>
      <p:pic>
        <p:nvPicPr>
          <p:cNvPr id="521" name="Google Shape;521;p56"/>
          <p:cNvPicPr preferRelativeResize="0"/>
          <p:nvPr/>
        </p:nvPicPr>
        <p:blipFill>
          <a:blip r:embed="rId5">
            <a:alphaModFix/>
          </a:blip>
          <a:stretch>
            <a:fillRect/>
          </a:stretch>
        </p:blipFill>
        <p:spPr>
          <a:xfrm>
            <a:off x="1324700" y="1215175"/>
            <a:ext cx="2152650" cy="2209800"/>
          </a:xfrm>
          <a:prstGeom prst="rect">
            <a:avLst/>
          </a:prstGeom>
          <a:noFill/>
          <a:ln>
            <a:noFill/>
          </a:ln>
        </p:spPr>
      </p:pic>
      <p:sp>
        <p:nvSpPr>
          <p:cNvPr id="522" name="Google Shape;522;p56"/>
          <p:cNvSpPr txBox="1"/>
          <p:nvPr/>
        </p:nvSpPr>
        <p:spPr>
          <a:xfrm>
            <a:off x="3907675" y="1287325"/>
            <a:ext cx="7806300" cy="1373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200">
                <a:solidFill>
                  <a:schemeClr val="dk1"/>
                </a:solidFill>
                <a:latin typeface="Libre Franklin"/>
                <a:ea typeface="Libre Franklin"/>
                <a:cs typeface="Libre Franklin"/>
                <a:sym typeface="Libre Franklin"/>
              </a:rPr>
              <a:t>Quindi il circuito ha guadagno 2 in ampiezza, ma essendo una configurazione invertente l’uscita è sfasata di 180° rispetto all’ingresso.</a:t>
            </a:r>
            <a:endParaRPr sz="12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200">
                <a:solidFill>
                  <a:schemeClr val="dk1"/>
                </a:solidFill>
                <a:latin typeface="Libre Franklin"/>
                <a:ea typeface="Libre Franklin"/>
                <a:cs typeface="Libre Franklin"/>
                <a:sym typeface="Libre Franklin"/>
              </a:rPr>
              <a:t>Nel grafico si osserva infatti che, superata la frequenza di taglio, la risposta si stabilizza a un valore doppio rispetto al riferimento d’ingresso. In sintesi, la rete RC definisce il taglio, mentre l’operazionale permette di ottenere un’uscita amplificata di fattore 2.</a:t>
            </a:r>
            <a:endParaRPr sz="1200">
              <a:solidFill>
                <a:schemeClr val="dk1"/>
              </a:solidFill>
              <a:latin typeface="Libre Franklin"/>
              <a:ea typeface="Libre Franklin"/>
              <a:cs typeface="Libre Franklin"/>
              <a:sym typeface="Libre Franklin"/>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pic>
        <p:nvPicPr>
          <p:cNvPr id="527" name="Google Shape;527;p57"/>
          <p:cNvPicPr preferRelativeResize="0"/>
          <p:nvPr/>
        </p:nvPicPr>
        <p:blipFill rotWithShape="1">
          <a:blip r:embed="rId3">
            <a:alphaModFix/>
          </a:blip>
          <a:srcRect/>
          <a:stretch/>
        </p:blipFill>
        <p:spPr>
          <a:xfrm>
            <a:off x="8390478" y="5036825"/>
            <a:ext cx="3403327" cy="1667949"/>
          </a:xfrm>
          <a:prstGeom prst="rect">
            <a:avLst/>
          </a:prstGeom>
          <a:noFill/>
          <a:ln>
            <a:noFill/>
          </a:ln>
        </p:spPr>
      </p:pic>
      <p:sp>
        <p:nvSpPr>
          <p:cNvPr id="528" name="Google Shape;528;p57"/>
          <p:cNvSpPr txBox="1"/>
          <p:nvPr/>
        </p:nvSpPr>
        <p:spPr>
          <a:xfrm>
            <a:off x="9061601" y="4352322"/>
            <a:ext cx="28149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1800">
                <a:solidFill>
                  <a:schemeClr val="dk1"/>
                </a:solidFill>
                <a:latin typeface="Open Sans"/>
                <a:ea typeface="Open Sans"/>
                <a:cs typeface="Open Sans"/>
                <a:sym typeface="Open Sans"/>
              </a:rPr>
              <a:t>250hz</a:t>
            </a:r>
            <a:endParaRPr/>
          </a:p>
        </p:txBody>
      </p:sp>
      <p:pic>
        <p:nvPicPr>
          <p:cNvPr id="529" name="Google Shape;529;p57"/>
          <p:cNvPicPr preferRelativeResize="0"/>
          <p:nvPr/>
        </p:nvPicPr>
        <p:blipFill rotWithShape="1">
          <a:blip r:embed="rId4">
            <a:alphaModFix/>
          </a:blip>
          <a:srcRect/>
          <a:stretch/>
        </p:blipFill>
        <p:spPr>
          <a:xfrm>
            <a:off x="1299654" y="5364371"/>
            <a:ext cx="2761802" cy="1353551"/>
          </a:xfrm>
          <a:prstGeom prst="rect">
            <a:avLst/>
          </a:prstGeom>
          <a:noFill/>
          <a:ln>
            <a:noFill/>
          </a:ln>
        </p:spPr>
      </p:pic>
      <p:sp>
        <p:nvSpPr>
          <p:cNvPr id="530" name="Google Shape;530;p57"/>
          <p:cNvSpPr txBox="1"/>
          <p:nvPr/>
        </p:nvSpPr>
        <p:spPr>
          <a:xfrm>
            <a:off x="2238046" y="4667525"/>
            <a:ext cx="885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1800">
                <a:solidFill>
                  <a:schemeClr val="dk1"/>
                </a:solidFill>
                <a:latin typeface="Open Sans"/>
                <a:ea typeface="Open Sans"/>
                <a:cs typeface="Open Sans"/>
                <a:sym typeface="Open Sans"/>
              </a:rPr>
              <a:t>10hz</a:t>
            </a:r>
            <a:endParaRPr/>
          </a:p>
        </p:txBody>
      </p:sp>
      <p:pic>
        <p:nvPicPr>
          <p:cNvPr id="531" name="Google Shape;531;p57"/>
          <p:cNvPicPr preferRelativeResize="0"/>
          <p:nvPr/>
        </p:nvPicPr>
        <p:blipFill rotWithShape="1">
          <a:blip r:embed="rId5">
            <a:alphaModFix/>
          </a:blip>
          <a:srcRect/>
          <a:stretch/>
        </p:blipFill>
        <p:spPr>
          <a:xfrm>
            <a:off x="4566938" y="4957600"/>
            <a:ext cx="3236977" cy="1586425"/>
          </a:xfrm>
          <a:prstGeom prst="rect">
            <a:avLst/>
          </a:prstGeom>
          <a:noFill/>
          <a:ln>
            <a:noFill/>
          </a:ln>
        </p:spPr>
      </p:pic>
      <p:sp>
        <p:nvSpPr>
          <p:cNvPr id="532" name="Google Shape;532;p57"/>
          <p:cNvSpPr txBox="1"/>
          <p:nvPr/>
        </p:nvSpPr>
        <p:spPr>
          <a:xfrm>
            <a:off x="5566079" y="4414929"/>
            <a:ext cx="2640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1800">
                <a:solidFill>
                  <a:schemeClr val="dk1"/>
                </a:solidFill>
                <a:latin typeface="Open Sans"/>
                <a:ea typeface="Open Sans"/>
                <a:cs typeface="Open Sans"/>
                <a:sym typeface="Open Sans"/>
              </a:rPr>
              <a:t>159hz</a:t>
            </a:r>
            <a:endParaRPr/>
          </a:p>
        </p:txBody>
      </p:sp>
      <p:sp>
        <p:nvSpPr>
          <p:cNvPr id="533" name="Google Shape;533;p57"/>
          <p:cNvSpPr txBox="1"/>
          <p:nvPr/>
        </p:nvSpPr>
        <p:spPr>
          <a:xfrm>
            <a:off x="976925" y="578025"/>
            <a:ext cx="111444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r>
              <a:rPr lang="it-IT" sz="1300" b="1">
                <a:solidFill>
                  <a:schemeClr val="dk1"/>
                </a:solidFill>
                <a:latin typeface="Libre Franklin"/>
                <a:ea typeface="Libre Franklin"/>
                <a:cs typeface="Libre Franklin"/>
                <a:sym typeface="Libre Franklin"/>
              </a:rPr>
              <a:t>Sfasamento nel filtro attivo</a:t>
            </a:r>
            <a:endParaRPr sz="1100">
              <a:solidFill>
                <a:schemeClr val="dk1"/>
              </a:solidFill>
              <a:latin typeface="Libre Franklin"/>
              <a:ea typeface="Libre Franklin"/>
              <a:cs typeface="Libre Franklin"/>
              <a:sym typeface="Libre Franklin"/>
            </a:endParaRPr>
          </a:p>
        </p:txBody>
      </p:sp>
      <p:sp>
        <p:nvSpPr>
          <p:cNvPr id="534" name="Google Shape;534;p57"/>
          <p:cNvSpPr txBox="1"/>
          <p:nvPr/>
        </p:nvSpPr>
        <p:spPr>
          <a:xfrm>
            <a:off x="924825" y="1766600"/>
            <a:ext cx="11326500" cy="948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200">
                <a:latin typeface="Libre Franklin"/>
                <a:ea typeface="Libre Franklin"/>
                <a:cs typeface="Libre Franklin"/>
                <a:sym typeface="Libre Franklin"/>
              </a:rPr>
              <a:t>L’operazionale, in questa configurazione ideale, non modifica la proprietà di fase introdotta dal filtro: la rete RC continua a determinare l’anticipo o il ritardo del segnale in funzione della frequenza.</a:t>
            </a:r>
            <a:endParaRPr sz="1200">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200">
                <a:latin typeface="Libre Franklin"/>
                <a:ea typeface="Libre Franklin"/>
                <a:cs typeface="Libre Franklin"/>
                <a:sym typeface="Libre Franklin"/>
              </a:rPr>
              <a:t>La differenza principale rispetto al filtro passivo è l’ampiezza del segnale di uscita. Nel filtro attivo, infatti, il guadagno impostato dalle resistenze vale:  Av=−2</a:t>
            </a:r>
            <a:endParaRPr sz="1200">
              <a:latin typeface="Libre Franklin"/>
              <a:ea typeface="Libre Franklin"/>
              <a:cs typeface="Libre Franklin"/>
              <a:sym typeface="Libre Franklin"/>
            </a:endParaRPr>
          </a:p>
        </p:txBody>
      </p:sp>
      <p:sp>
        <p:nvSpPr>
          <p:cNvPr id="535" name="Google Shape;535;p57"/>
          <p:cNvSpPr txBox="1"/>
          <p:nvPr/>
        </p:nvSpPr>
        <p:spPr>
          <a:xfrm>
            <a:off x="976925" y="2828700"/>
            <a:ext cx="109569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a:solidFill>
                  <a:schemeClr val="dk1"/>
                </a:solidFill>
                <a:latin typeface="Libre Franklin"/>
                <a:ea typeface="Libre Franklin"/>
                <a:cs typeface="Libre Franklin"/>
                <a:sym typeface="Libre Franklin"/>
              </a:rPr>
              <a:t>quindi Vout ha ampiezza maggiore di Vin, in particolare circa doppia in banda passante. Il segno meno indica l’inversione propria della configurazione invertente, ma la variazione di fase dovuta al comportamento del filtro rimane la stessa.</a:t>
            </a:r>
            <a:endParaRPr sz="1200">
              <a:latin typeface="Libre Franklin"/>
              <a:ea typeface="Libre Franklin"/>
              <a:cs typeface="Libre Franklin"/>
              <a:sym typeface="Libre Franklin"/>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pic>
        <p:nvPicPr>
          <p:cNvPr id="541" name="Google Shape;541;p58"/>
          <p:cNvPicPr preferRelativeResize="0"/>
          <p:nvPr/>
        </p:nvPicPr>
        <p:blipFill>
          <a:blip r:embed="rId3">
            <a:alphaModFix/>
          </a:blip>
          <a:stretch>
            <a:fillRect/>
          </a:stretch>
        </p:blipFill>
        <p:spPr>
          <a:xfrm>
            <a:off x="1054250" y="2494888"/>
            <a:ext cx="4162425" cy="838200"/>
          </a:xfrm>
          <a:prstGeom prst="rect">
            <a:avLst/>
          </a:prstGeom>
          <a:noFill/>
          <a:ln>
            <a:noFill/>
          </a:ln>
        </p:spPr>
      </p:pic>
      <p:pic>
        <p:nvPicPr>
          <p:cNvPr id="542" name="Google Shape;542;p58"/>
          <p:cNvPicPr preferRelativeResize="0"/>
          <p:nvPr/>
        </p:nvPicPr>
        <p:blipFill>
          <a:blip r:embed="rId4">
            <a:alphaModFix/>
          </a:blip>
          <a:stretch>
            <a:fillRect/>
          </a:stretch>
        </p:blipFill>
        <p:spPr>
          <a:xfrm>
            <a:off x="5995200" y="2656813"/>
            <a:ext cx="2838450" cy="676275"/>
          </a:xfrm>
          <a:prstGeom prst="rect">
            <a:avLst/>
          </a:prstGeom>
          <a:noFill/>
          <a:ln>
            <a:noFill/>
          </a:ln>
        </p:spPr>
      </p:pic>
      <p:pic>
        <p:nvPicPr>
          <p:cNvPr id="543" name="Google Shape;543;p58"/>
          <p:cNvPicPr preferRelativeResize="0"/>
          <p:nvPr/>
        </p:nvPicPr>
        <p:blipFill>
          <a:blip r:embed="rId5">
            <a:alphaModFix/>
          </a:blip>
          <a:stretch>
            <a:fillRect/>
          </a:stretch>
        </p:blipFill>
        <p:spPr>
          <a:xfrm>
            <a:off x="9555800" y="2371063"/>
            <a:ext cx="1905000" cy="1247775"/>
          </a:xfrm>
          <a:prstGeom prst="rect">
            <a:avLst/>
          </a:prstGeom>
          <a:noFill/>
          <a:ln>
            <a:noFill/>
          </a:ln>
        </p:spPr>
      </p:pic>
      <p:pic>
        <p:nvPicPr>
          <p:cNvPr id="544" name="Google Shape;544;p58"/>
          <p:cNvPicPr preferRelativeResize="0"/>
          <p:nvPr/>
        </p:nvPicPr>
        <p:blipFill rotWithShape="1">
          <a:blip r:embed="rId6">
            <a:alphaModFix/>
          </a:blip>
          <a:srcRect/>
          <a:stretch/>
        </p:blipFill>
        <p:spPr>
          <a:xfrm>
            <a:off x="1432001" y="3585287"/>
            <a:ext cx="3840142" cy="1890562"/>
          </a:xfrm>
          <a:prstGeom prst="rect">
            <a:avLst/>
          </a:prstGeom>
          <a:noFill/>
          <a:ln>
            <a:noFill/>
          </a:ln>
        </p:spPr>
      </p:pic>
      <p:pic>
        <p:nvPicPr>
          <p:cNvPr id="545" name="Google Shape;545;p58"/>
          <p:cNvPicPr preferRelativeResize="0"/>
          <p:nvPr/>
        </p:nvPicPr>
        <p:blipFill rotWithShape="1">
          <a:blip r:embed="rId7">
            <a:alphaModFix/>
          </a:blip>
          <a:srcRect/>
          <a:stretch/>
        </p:blipFill>
        <p:spPr>
          <a:xfrm>
            <a:off x="5358181" y="3600623"/>
            <a:ext cx="3793847" cy="1859865"/>
          </a:xfrm>
          <a:prstGeom prst="rect">
            <a:avLst/>
          </a:prstGeom>
          <a:noFill/>
          <a:ln>
            <a:noFill/>
          </a:ln>
        </p:spPr>
      </p:pic>
      <p:sp>
        <p:nvSpPr>
          <p:cNvPr id="546" name="Google Shape;546;p58"/>
          <p:cNvSpPr txBox="1"/>
          <p:nvPr/>
        </p:nvSpPr>
        <p:spPr>
          <a:xfrm>
            <a:off x="4411675" y="2746375"/>
            <a:ext cx="2434200" cy="99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IT" sz="1300">
                <a:solidFill>
                  <a:schemeClr val="dk1"/>
                </a:solidFill>
                <a:latin typeface="Open Sans"/>
                <a:ea typeface="Open Sans"/>
                <a:cs typeface="Open Sans"/>
                <a:sym typeface="Open Sans"/>
              </a:rPr>
              <a:t>776</a:t>
            </a:r>
            <a:endParaRPr sz="1300">
              <a:solidFill>
                <a:schemeClr val="dk1"/>
              </a:solidFill>
              <a:latin typeface="Open Sans"/>
              <a:ea typeface="Open Sans"/>
              <a:cs typeface="Open Sans"/>
              <a:sym typeface="Open Sans"/>
            </a:endParaRPr>
          </a:p>
          <a:p>
            <a:pPr marL="0" lvl="0" indent="0" algn="l" rtl="0">
              <a:spcBef>
                <a:spcPts val="0"/>
              </a:spcBef>
              <a:spcAft>
                <a:spcPts val="0"/>
              </a:spcAft>
              <a:buNone/>
            </a:pPr>
            <a:r>
              <a:rPr lang="it-IT" sz="1300">
                <a:solidFill>
                  <a:schemeClr val="dk1"/>
                </a:solidFill>
                <a:latin typeface="Open Sans"/>
                <a:ea typeface="Open Sans"/>
                <a:cs typeface="Open Sans"/>
                <a:sym typeface="Open Sans"/>
              </a:rPr>
              <a:t>1.559	  da modificare!!</a:t>
            </a:r>
            <a:endParaRPr sz="1300">
              <a:solidFill>
                <a:schemeClr val="dk1"/>
              </a:solidFill>
              <a:latin typeface="Open Sans"/>
              <a:ea typeface="Open Sans"/>
              <a:cs typeface="Open Sans"/>
              <a:sym typeface="Open Sans"/>
            </a:endParaRPr>
          </a:p>
        </p:txBody>
      </p:sp>
      <p:sp>
        <p:nvSpPr>
          <p:cNvPr id="547" name="Google Shape;547;p58"/>
          <p:cNvSpPr txBox="1"/>
          <p:nvPr/>
        </p:nvSpPr>
        <p:spPr>
          <a:xfrm>
            <a:off x="1054250" y="1424700"/>
            <a:ext cx="11144400" cy="702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100">
                <a:solidFill>
                  <a:schemeClr val="dk1"/>
                </a:solidFill>
                <a:latin typeface="Libre Franklin"/>
                <a:ea typeface="Libre Franklin"/>
                <a:cs typeface="Libre Franklin"/>
                <a:sym typeface="Libre Franklin"/>
              </a:rPr>
              <a:t>Analizzando lo sfasamento del filtro attivo attraverso il confronto tra picchi e ventri del segnale, si ottengono gli stessi risultati già osservati nel filtro passivo.</a:t>
            </a:r>
            <a:endParaRPr sz="11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100">
                <a:solidFill>
                  <a:schemeClr val="dk1"/>
                </a:solidFill>
                <a:latin typeface="Libre Franklin"/>
                <a:ea typeface="Libre Franklin"/>
                <a:cs typeface="Libre Franklin"/>
                <a:sym typeface="Libre Franklin"/>
              </a:rPr>
              <a:t>Questo accade perché la fase dipende principalmente dalla rete RC, cioè dagli stessi componenti che determinano il comportamento passa-alto e la frequenza di taglio</a:t>
            </a:r>
            <a:endParaRPr sz="1100">
              <a:solidFill>
                <a:schemeClr val="dk1"/>
              </a:solidFill>
              <a:latin typeface="Libre Franklin"/>
              <a:ea typeface="Libre Franklin"/>
              <a:cs typeface="Libre Franklin"/>
              <a:sym typeface="Libre Franklin"/>
            </a:endParaRPr>
          </a:p>
        </p:txBody>
      </p:sp>
      <p:sp>
        <p:nvSpPr>
          <p:cNvPr id="548" name="Google Shape;548;p58"/>
          <p:cNvSpPr txBox="1"/>
          <p:nvPr/>
        </p:nvSpPr>
        <p:spPr>
          <a:xfrm>
            <a:off x="1163350" y="5728025"/>
            <a:ext cx="106233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a:latin typeface="Libre Franklin"/>
                <a:ea typeface="Libre Franklin"/>
                <a:cs typeface="Libre Franklin"/>
                <a:sym typeface="Libre Franklin"/>
              </a:rPr>
              <a:t>In sintesi, studiando picchi e ventri si vede che il filtro attivo conserva lo stesso andamento di fase del filtro passivo; ciò che cambia è il livello di uscita, che risulta amplificato grazie al guadagno dell’operazionale.</a:t>
            </a:r>
            <a:endParaRPr>
              <a:latin typeface="Libre Franklin"/>
              <a:ea typeface="Libre Franklin"/>
              <a:cs typeface="Libre Franklin"/>
              <a:sym typeface="Libre Franklin"/>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59"/>
          <p:cNvSpPr txBox="1"/>
          <p:nvPr/>
        </p:nvSpPr>
        <p:spPr>
          <a:xfrm>
            <a:off x="1355275" y="756125"/>
            <a:ext cx="77583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500">
                <a:solidFill>
                  <a:srgbClr val="073763"/>
                </a:solidFill>
                <a:latin typeface="Libre Franklin SemiBold"/>
                <a:ea typeface="Libre Franklin SemiBold"/>
                <a:cs typeface="Libre Franklin SemiBold"/>
                <a:sym typeface="Libre Franklin SemiBold"/>
              </a:rPr>
              <a:t>Effetto dei carichi sull’uscita del filtro attivo</a:t>
            </a:r>
            <a:endParaRPr sz="2500">
              <a:solidFill>
                <a:srgbClr val="073763"/>
              </a:solidFill>
              <a:latin typeface="Libre Franklin SemiBold"/>
              <a:ea typeface="Libre Franklin SemiBold"/>
              <a:cs typeface="Libre Franklin SemiBold"/>
              <a:sym typeface="Libre Franklin SemiBold"/>
            </a:endParaRPr>
          </a:p>
        </p:txBody>
      </p:sp>
      <p:sp>
        <p:nvSpPr>
          <p:cNvPr id="555" name="Google Shape;555;p59"/>
          <p:cNvSpPr txBox="1"/>
          <p:nvPr/>
        </p:nvSpPr>
        <p:spPr>
          <a:xfrm>
            <a:off x="1237425" y="1457250"/>
            <a:ext cx="9931200" cy="1629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it-IT" sz="1300" b="1">
                <a:solidFill>
                  <a:schemeClr val="dk1"/>
                </a:solidFill>
              </a:rPr>
              <a:t>Perché il carico non modifica la risposta</a:t>
            </a:r>
            <a:endParaRPr sz="1300" b="1">
              <a:solidFill>
                <a:schemeClr val="dk1"/>
              </a:solidFill>
            </a:endParaRPr>
          </a:p>
          <a:p>
            <a:pPr marL="0" lvl="0" indent="0" algn="l" rtl="0">
              <a:lnSpc>
                <a:spcPct val="115000"/>
              </a:lnSpc>
              <a:spcBef>
                <a:spcPts val="1200"/>
              </a:spcBef>
              <a:spcAft>
                <a:spcPts val="0"/>
              </a:spcAft>
              <a:buNone/>
            </a:pPr>
            <a:r>
              <a:rPr lang="it-IT" sz="1100">
                <a:solidFill>
                  <a:schemeClr val="dk1"/>
                </a:solidFill>
              </a:rPr>
              <a:t>Nel caso </a:t>
            </a:r>
            <a:r>
              <a:rPr lang="it-IT" sz="1100" b="1">
                <a:solidFill>
                  <a:schemeClr val="dk1"/>
                </a:solidFill>
              </a:rPr>
              <a:t>parallelo</a:t>
            </a:r>
            <a:r>
              <a:rPr lang="it-IT" sz="1100">
                <a:solidFill>
                  <a:schemeClr val="dk1"/>
                </a:solidFill>
              </a:rPr>
              <a:t>, la resistenza </a:t>
            </a:r>
            <a:r>
              <a:rPr lang="it-IT" sz="1100" b="1">
                <a:solidFill>
                  <a:schemeClr val="dk1"/>
                </a:solidFill>
              </a:rPr>
              <a:t>R7 = 10 kΩ</a:t>
            </a:r>
            <a:r>
              <a:rPr lang="it-IT" sz="1100">
                <a:solidFill>
                  <a:schemeClr val="dk1"/>
                </a:solidFill>
              </a:rPr>
              <a:t> è collegata tra l’uscita e massa. Nel caso </a:t>
            </a:r>
            <a:r>
              <a:rPr lang="it-IT" sz="1100" b="1">
                <a:solidFill>
                  <a:schemeClr val="dk1"/>
                </a:solidFill>
              </a:rPr>
              <a:t>serie</a:t>
            </a:r>
            <a:r>
              <a:rPr lang="it-IT" sz="1100">
                <a:solidFill>
                  <a:schemeClr val="dk1"/>
                </a:solidFill>
              </a:rPr>
              <a:t>, la resistenza </a:t>
            </a:r>
            <a:r>
              <a:rPr lang="it-IT" sz="1100" b="1">
                <a:solidFill>
                  <a:schemeClr val="dk1"/>
                </a:solidFill>
              </a:rPr>
              <a:t>R8 = 10 kΩ</a:t>
            </a:r>
            <a:r>
              <a:rPr lang="it-IT" sz="1100">
                <a:solidFill>
                  <a:schemeClr val="dk1"/>
                </a:solidFill>
              </a:rPr>
              <a:t> è collegata dopo l’uscita dell’operazionale.</a:t>
            </a:r>
            <a:endParaRPr sz="1100">
              <a:solidFill>
                <a:schemeClr val="dk1"/>
              </a:solidFill>
            </a:endParaRPr>
          </a:p>
          <a:p>
            <a:pPr marL="0" lvl="0" indent="0" algn="l" rtl="0">
              <a:lnSpc>
                <a:spcPct val="115000"/>
              </a:lnSpc>
              <a:spcBef>
                <a:spcPts val="1200"/>
              </a:spcBef>
              <a:spcAft>
                <a:spcPts val="0"/>
              </a:spcAft>
              <a:buNone/>
            </a:pPr>
            <a:r>
              <a:rPr lang="it-IT" sz="1100">
                <a:solidFill>
                  <a:schemeClr val="dk1"/>
                </a:solidFill>
              </a:rPr>
              <a:t>Nel filtro passivo questi carichi avrebbero modificato la rete RC, perché sarebbero diventati parte del circuito di filtro. Nel filtro attivo, invece, l’operazionale ideale isola la rete RC dal carico di uscita.</a:t>
            </a:r>
            <a:endParaRPr sz="1100">
              <a:solidFill>
                <a:schemeClr val="dk1"/>
              </a:solidFill>
            </a:endParaRPr>
          </a:p>
          <a:p>
            <a:pPr marL="0" lvl="0" indent="0" algn="l" rtl="0">
              <a:lnSpc>
                <a:spcPct val="115000"/>
              </a:lnSpc>
              <a:spcBef>
                <a:spcPts val="1200"/>
              </a:spcBef>
              <a:spcAft>
                <a:spcPts val="1200"/>
              </a:spcAft>
              <a:buNone/>
            </a:pPr>
            <a:r>
              <a:rPr lang="it-IT" sz="1100">
                <a:solidFill>
                  <a:schemeClr val="dk1"/>
                </a:solidFill>
              </a:rPr>
              <a:t>Questo avviene perché l’opamp ideale ha:</a:t>
            </a:r>
            <a:endParaRPr sz="1100">
              <a:solidFill>
                <a:schemeClr val="dk1"/>
              </a:solidFill>
            </a:endParaRPr>
          </a:p>
        </p:txBody>
      </p:sp>
      <p:pic>
        <p:nvPicPr>
          <p:cNvPr id="556" name="Google Shape;556;p59"/>
          <p:cNvPicPr preferRelativeResize="0"/>
          <p:nvPr/>
        </p:nvPicPr>
        <p:blipFill>
          <a:blip r:embed="rId3">
            <a:alphaModFix/>
          </a:blip>
          <a:stretch>
            <a:fillRect/>
          </a:stretch>
        </p:blipFill>
        <p:spPr>
          <a:xfrm>
            <a:off x="4369450" y="2791800"/>
            <a:ext cx="1095375" cy="847725"/>
          </a:xfrm>
          <a:prstGeom prst="rect">
            <a:avLst/>
          </a:prstGeom>
          <a:noFill/>
          <a:ln>
            <a:noFill/>
          </a:ln>
        </p:spPr>
      </p:pic>
      <p:sp>
        <p:nvSpPr>
          <p:cNvPr id="557" name="Google Shape;557;p59"/>
          <p:cNvSpPr txBox="1"/>
          <p:nvPr/>
        </p:nvSpPr>
        <p:spPr>
          <a:xfrm>
            <a:off x="1339125" y="3769300"/>
            <a:ext cx="9727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a:t>Quindi la rete di ingresso non viene caricata e l’uscita riesce a pilotare il carico senza alterare significativamente Vout </a:t>
            </a:r>
            <a:endParaRPr/>
          </a:p>
        </p:txBody>
      </p:sp>
      <p:pic>
        <p:nvPicPr>
          <p:cNvPr id="558" name="Google Shape;558;p59"/>
          <p:cNvPicPr preferRelativeResize="0"/>
          <p:nvPr/>
        </p:nvPicPr>
        <p:blipFill rotWithShape="1">
          <a:blip r:embed="rId4">
            <a:alphaModFix/>
          </a:blip>
          <a:srcRect/>
          <a:stretch/>
        </p:blipFill>
        <p:spPr>
          <a:xfrm>
            <a:off x="1237425" y="4366425"/>
            <a:ext cx="4466876" cy="2189200"/>
          </a:xfrm>
          <a:prstGeom prst="rect">
            <a:avLst/>
          </a:prstGeom>
          <a:noFill/>
          <a:ln>
            <a:noFill/>
          </a:ln>
        </p:spPr>
      </p:pic>
      <p:sp>
        <p:nvSpPr>
          <p:cNvPr id="559" name="Google Shape;559;p59"/>
          <p:cNvSpPr txBox="1"/>
          <p:nvPr/>
        </p:nvSpPr>
        <p:spPr>
          <a:xfrm>
            <a:off x="6341875" y="4550825"/>
            <a:ext cx="5184900" cy="1322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it-IT" sz="1300" b="1">
                <a:solidFill>
                  <a:schemeClr val="dk1"/>
                </a:solidFill>
                <a:latin typeface="Libre Franklin"/>
                <a:ea typeface="Libre Franklin"/>
                <a:cs typeface="Libre Franklin"/>
                <a:sym typeface="Libre Franklin"/>
              </a:rPr>
              <a:t>Conclusione</a:t>
            </a:r>
            <a:endParaRPr sz="1300" b="1">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100">
                <a:solidFill>
                  <a:schemeClr val="dk1"/>
                </a:solidFill>
                <a:latin typeface="Libre Franklin"/>
                <a:ea typeface="Libre Franklin"/>
                <a:cs typeface="Libre Franklin"/>
                <a:sym typeface="Libre Franklin"/>
              </a:rPr>
              <a:t>Il filtro attivo è meno sensibile ai carichi rispetto al filtro passivo. La rete RC stabilisce la frequenza di taglio, l’operazionale stabilisce il guadagno, e il carico collegato in uscita non altera significativamente la risposta grazie alla bassa impedenza di uscita dell’opamp ideale.</a:t>
            </a:r>
            <a:endParaRPr sz="1100">
              <a:solidFill>
                <a:schemeClr val="dk1"/>
              </a:solidFill>
              <a:latin typeface="Libre Franklin"/>
              <a:ea typeface="Libre Franklin"/>
              <a:cs typeface="Libre Franklin"/>
              <a:sym typeface="Libre Franklin"/>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pic>
        <p:nvPicPr>
          <p:cNvPr id="564" name="Google Shape;564;p60"/>
          <p:cNvPicPr preferRelativeResize="0"/>
          <p:nvPr/>
        </p:nvPicPr>
        <p:blipFill rotWithShape="1">
          <a:blip r:embed="rId3">
            <a:alphaModFix/>
          </a:blip>
          <a:srcRect/>
          <a:stretch/>
        </p:blipFill>
        <p:spPr>
          <a:xfrm>
            <a:off x="2813781" y="401827"/>
            <a:ext cx="6808125" cy="552062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61"/>
          <p:cNvSpPr txBox="1"/>
          <p:nvPr/>
        </p:nvSpPr>
        <p:spPr>
          <a:xfrm>
            <a:off x="1355275" y="756125"/>
            <a:ext cx="77583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500">
                <a:solidFill>
                  <a:srgbClr val="073763"/>
                </a:solidFill>
                <a:latin typeface="Libre Franklin SemiBold"/>
                <a:ea typeface="Libre Franklin SemiBold"/>
                <a:cs typeface="Libre Franklin SemiBold"/>
                <a:sym typeface="Libre Franklin SemiBold"/>
              </a:rPr>
              <a:t>Cambio Rs</a:t>
            </a:r>
            <a:endParaRPr sz="2500">
              <a:solidFill>
                <a:srgbClr val="073763"/>
              </a:solidFill>
              <a:latin typeface="Libre Franklin SemiBold"/>
              <a:ea typeface="Libre Franklin SemiBold"/>
              <a:cs typeface="Libre Franklin SemiBold"/>
              <a:sym typeface="Libre Franklin SemiBold"/>
            </a:endParaRPr>
          </a:p>
        </p:txBody>
      </p:sp>
      <p:pic>
        <p:nvPicPr>
          <p:cNvPr id="571" name="Google Shape;571;p61"/>
          <p:cNvPicPr preferRelativeResize="0"/>
          <p:nvPr/>
        </p:nvPicPr>
        <p:blipFill rotWithShape="1">
          <a:blip r:embed="rId3">
            <a:alphaModFix/>
          </a:blip>
          <a:srcRect/>
          <a:stretch/>
        </p:blipFill>
        <p:spPr>
          <a:xfrm>
            <a:off x="1355275" y="1418475"/>
            <a:ext cx="3407001" cy="1871025"/>
          </a:xfrm>
          <a:prstGeom prst="rect">
            <a:avLst/>
          </a:prstGeom>
          <a:noFill/>
          <a:ln>
            <a:noFill/>
          </a:ln>
        </p:spPr>
      </p:pic>
      <p:pic>
        <p:nvPicPr>
          <p:cNvPr id="572" name="Google Shape;572;p61"/>
          <p:cNvPicPr preferRelativeResize="0"/>
          <p:nvPr/>
        </p:nvPicPr>
        <p:blipFill rotWithShape="1">
          <a:blip r:embed="rId4">
            <a:alphaModFix/>
          </a:blip>
          <a:srcRect/>
          <a:stretch/>
        </p:blipFill>
        <p:spPr>
          <a:xfrm>
            <a:off x="5019248" y="3289511"/>
            <a:ext cx="7099477" cy="3479399"/>
          </a:xfrm>
          <a:prstGeom prst="rect">
            <a:avLst/>
          </a:prstGeom>
          <a:noFill/>
          <a:ln>
            <a:noFill/>
          </a:ln>
        </p:spPr>
      </p:pic>
      <p:pic>
        <p:nvPicPr>
          <p:cNvPr id="573" name="Google Shape;573;p61"/>
          <p:cNvPicPr preferRelativeResize="0"/>
          <p:nvPr/>
        </p:nvPicPr>
        <p:blipFill>
          <a:blip r:embed="rId5">
            <a:alphaModFix/>
          </a:blip>
          <a:stretch>
            <a:fillRect/>
          </a:stretch>
        </p:blipFill>
        <p:spPr>
          <a:xfrm>
            <a:off x="1397975" y="3645425"/>
            <a:ext cx="2724150" cy="2838450"/>
          </a:xfrm>
          <a:prstGeom prst="rect">
            <a:avLst/>
          </a:prstGeom>
          <a:noFill/>
          <a:ln>
            <a:noFill/>
          </a:ln>
        </p:spPr>
      </p:pic>
      <p:sp>
        <p:nvSpPr>
          <p:cNvPr id="574" name="Google Shape;574;p61"/>
          <p:cNvSpPr txBox="1"/>
          <p:nvPr/>
        </p:nvSpPr>
        <p:spPr>
          <a:xfrm>
            <a:off x="5300338" y="1546800"/>
            <a:ext cx="6537300" cy="1635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100">
                <a:solidFill>
                  <a:schemeClr val="dk1"/>
                </a:solidFill>
                <a:latin typeface="Libre Franklin"/>
                <a:ea typeface="Libre Franklin"/>
                <a:cs typeface="Libre Franklin"/>
                <a:sym typeface="Libre Franklin"/>
              </a:rPr>
              <a:t>Quindi ci aspettavamo una risposta in banda passante intorno a 86 dB.</a:t>
            </a:r>
            <a:endParaRPr sz="11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0"/>
              </a:spcAft>
              <a:buNone/>
            </a:pPr>
            <a:r>
              <a:rPr lang="it-IT" sz="1100">
                <a:solidFill>
                  <a:schemeClr val="dk1"/>
                </a:solidFill>
                <a:latin typeface="Libre Franklin"/>
                <a:ea typeface="Libre Franklin"/>
                <a:cs typeface="Libre Franklin"/>
                <a:sym typeface="Libre Franklin"/>
              </a:rPr>
              <a:t>Il risultato però non è quello atteso: compaiono picchi e anomalie alle alte frequenze. Questo accade perché un guadagno così alto mette in crisi l’operazionale, evidenziando i limiti di GBW e i ritardi interni.</a:t>
            </a:r>
            <a:endParaRPr sz="11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100">
                <a:solidFill>
                  <a:schemeClr val="dk1"/>
                </a:solidFill>
                <a:latin typeface="Libre Franklin"/>
                <a:ea typeface="Libre Franklin"/>
                <a:cs typeface="Libre Franklin"/>
                <a:sym typeface="Libre Franklin"/>
              </a:rPr>
              <a:t>Per avvicinarci al comportamento ideale, aumentiamo la GBW, così l’opamp non influenza più la risposta del filtro.</a:t>
            </a:r>
            <a:endParaRPr sz="1100">
              <a:solidFill>
                <a:schemeClr val="dk1"/>
              </a:solidFill>
              <a:latin typeface="Libre Franklin"/>
              <a:ea typeface="Libre Franklin"/>
              <a:cs typeface="Libre Franklin"/>
              <a:sym typeface="Libre Franklin"/>
            </a:endParaRPr>
          </a:p>
        </p:txBody>
      </p:sp>
      <p:sp>
        <p:nvSpPr>
          <p:cNvPr id="575" name="Google Shape;575;p61"/>
          <p:cNvSpPr txBox="1"/>
          <p:nvPr/>
        </p:nvSpPr>
        <p:spPr>
          <a:xfrm>
            <a:off x="7863325" y="566650"/>
            <a:ext cx="4101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800">
                <a:solidFill>
                  <a:schemeClr val="dk1"/>
                </a:solidFill>
                <a:latin typeface="Open Sans"/>
                <a:ea typeface="Open Sans"/>
                <a:cs typeface="Open Sans"/>
                <a:sym typeface="Open Sans"/>
              </a:rPr>
              <a:t>blu atteso, verde realtà</a:t>
            </a:r>
            <a:endParaRPr sz="2800">
              <a:solidFill>
                <a:schemeClr val="dk1"/>
              </a:solidFill>
              <a:latin typeface="Open Sans"/>
              <a:ea typeface="Open Sans"/>
              <a:cs typeface="Open Sans"/>
              <a:sym typeface="Open San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62"/>
          <p:cNvSpPr txBox="1"/>
          <p:nvPr/>
        </p:nvSpPr>
        <p:spPr>
          <a:xfrm>
            <a:off x="1057020" y="3380067"/>
            <a:ext cx="393457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1800">
                <a:solidFill>
                  <a:schemeClr val="dk1"/>
                </a:solidFill>
                <a:latin typeface="Open Sans"/>
                <a:ea typeface="Open Sans"/>
                <a:cs typeface="Open Sans"/>
                <a:sym typeface="Open Sans"/>
              </a:rPr>
              <a:t>Cambio rs, cambia fc</a:t>
            </a:r>
            <a:endParaRPr sz="1800">
              <a:solidFill>
                <a:schemeClr val="dk1"/>
              </a:solidFill>
              <a:latin typeface="Open Sans"/>
              <a:ea typeface="Open Sans"/>
              <a:cs typeface="Open Sans"/>
              <a:sym typeface="Open Sans"/>
            </a:endParaRPr>
          </a:p>
        </p:txBody>
      </p:sp>
      <p:pic>
        <p:nvPicPr>
          <p:cNvPr id="581" name="Google Shape;581;p62"/>
          <p:cNvPicPr preferRelativeResize="0"/>
          <p:nvPr/>
        </p:nvPicPr>
        <p:blipFill rotWithShape="1">
          <a:blip r:embed="rId3">
            <a:alphaModFix/>
          </a:blip>
          <a:srcRect/>
          <a:stretch/>
        </p:blipFill>
        <p:spPr>
          <a:xfrm>
            <a:off x="6638307" y="3564733"/>
            <a:ext cx="5036336" cy="2468278"/>
          </a:xfrm>
          <a:prstGeom prst="rect">
            <a:avLst/>
          </a:prstGeom>
          <a:noFill/>
          <a:ln>
            <a:noFill/>
          </a:ln>
        </p:spPr>
      </p:pic>
      <p:pic>
        <p:nvPicPr>
          <p:cNvPr id="582" name="Google Shape;582;p62"/>
          <p:cNvPicPr preferRelativeResize="0"/>
          <p:nvPr/>
        </p:nvPicPr>
        <p:blipFill rotWithShape="1">
          <a:blip r:embed="rId4">
            <a:alphaModFix/>
          </a:blip>
          <a:srcRect/>
          <a:stretch/>
        </p:blipFill>
        <p:spPr>
          <a:xfrm>
            <a:off x="1324077" y="3749399"/>
            <a:ext cx="4976055" cy="238939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63"/>
          <p:cNvSpPr txBox="1"/>
          <p:nvPr/>
        </p:nvSpPr>
        <p:spPr>
          <a:xfrm>
            <a:off x="1355275" y="756125"/>
            <a:ext cx="77583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500">
                <a:solidFill>
                  <a:srgbClr val="073763"/>
                </a:solidFill>
                <a:latin typeface="Libre Franklin SemiBold"/>
                <a:ea typeface="Libre Franklin SemiBold"/>
                <a:cs typeface="Libre Franklin SemiBold"/>
                <a:sym typeface="Libre Franklin SemiBold"/>
              </a:rPr>
              <a:t>Non idealità → modifica OPAMP GBW</a:t>
            </a:r>
            <a:endParaRPr sz="2500">
              <a:solidFill>
                <a:srgbClr val="073763"/>
              </a:solidFill>
              <a:latin typeface="Libre Franklin SemiBold"/>
              <a:ea typeface="Libre Franklin SemiBold"/>
              <a:cs typeface="Libre Franklin SemiBold"/>
              <a:sym typeface="Libre Franklin SemiBold"/>
            </a:endParaRPr>
          </a:p>
        </p:txBody>
      </p:sp>
      <p:sp>
        <p:nvSpPr>
          <p:cNvPr id="589" name="Google Shape;589;p63"/>
          <p:cNvSpPr txBox="1"/>
          <p:nvPr/>
        </p:nvSpPr>
        <p:spPr>
          <a:xfrm>
            <a:off x="909300" y="1383975"/>
            <a:ext cx="11282700" cy="1476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it-IT" sz="1300" b="1">
                <a:solidFill>
                  <a:schemeClr val="dk1"/>
                </a:solidFill>
              </a:rPr>
              <a:t>Effetto della GBW sull’opamp ideale</a:t>
            </a:r>
            <a:endParaRPr sz="1300" b="1">
              <a:solidFill>
                <a:schemeClr val="dk1"/>
              </a:solidFill>
            </a:endParaRPr>
          </a:p>
          <a:p>
            <a:pPr marL="0" lvl="0" indent="0" algn="l" rtl="0">
              <a:lnSpc>
                <a:spcPct val="115000"/>
              </a:lnSpc>
              <a:spcBef>
                <a:spcPts val="1200"/>
              </a:spcBef>
              <a:spcAft>
                <a:spcPts val="0"/>
              </a:spcAft>
              <a:buNone/>
            </a:pPr>
            <a:r>
              <a:rPr lang="it-IT" sz="1100">
                <a:solidFill>
                  <a:schemeClr val="dk1"/>
                </a:solidFill>
              </a:rPr>
              <a:t>In questa simulazione si osserva che l’operazionale non si comporta ancora in modo perfettamente ideale. Nel grafico la curva </a:t>
            </a:r>
            <a:r>
              <a:rPr lang="it-IT" sz="1100" b="1">
                <a:solidFill>
                  <a:schemeClr val="dk1"/>
                </a:solidFill>
              </a:rPr>
              <a:t>verde</a:t>
            </a:r>
            <a:r>
              <a:rPr lang="it-IT" sz="1100">
                <a:solidFill>
                  <a:schemeClr val="dk1"/>
                </a:solidFill>
              </a:rPr>
              <a:t> dovrebbe mantenere una risposta regolare, ma alle frequenze molto alte compare una </a:t>
            </a:r>
            <a:r>
              <a:rPr lang="it-IT" sz="1100" b="1">
                <a:solidFill>
                  <a:schemeClr val="dk1"/>
                </a:solidFill>
              </a:rPr>
              <a:t>crescita anomala con picco</a:t>
            </a:r>
            <a:r>
              <a:rPr lang="it-IT" sz="1100">
                <a:solidFill>
                  <a:schemeClr val="dk1"/>
                </a:solidFill>
              </a:rPr>
              <a:t>.</a:t>
            </a:r>
            <a:endParaRPr sz="1100">
              <a:solidFill>
                <a:schemeClr val="dk1"/>
              </a:solidFill>
            </a:endParaRPr>
          </a:p>
          <a:p>
            <a:pPr marL="0" lvl="0" indent="0" algn="l" rtl="0">
              <a:lnSpc>
                <a:spcPct val="115000"/>
              </a:lnSpc>
              <a:spcBef>
                <a:spcPts val="1200"/>
              </a:spcBef>
              <a:spcAft>
                <a:spcPts val="1200"/>
              </a:spcAft>
              <a:buNone/>
            </a:pPr>
            <a:r>
              <a:rPr lang="it-IT" sz="1100">
                <a:solidFill>
                  <a:schemeClr val="dk1"/>
                </a:solidFill>
              </a:rPr>
              <a:t>Questo effetto è dovuto ai limiti interni dell’opamp, in particolare alla </a:t>
            </a:r>
            <a:r>
              <a:rPr lang="it-IT" sz="1100" b="1">
                <a:solidFill>
                  <a:schemeClr val="dk1"/>
                </a:solidFill>
              </a:rPr>
              <a:t>GBW</a:t>
            </a:r>
            <a:r>
              <a:rPr lang="it-IT" sz="1100">
                <a:solidFill>
                  <a:schemeClr val="dk1"/>
                </a:solidFill>
              </a:rPr>
              <a:t> (</a:t>
            </a:r>
            <a:r>
              <a:rPr lang="it-IT" sz="1100" i="1">
                <a:solidFill>
                  <a:schemeClr val="dk1"/>
                </a:solidFill>
              </a:rPr>
              <a:t>Gain Bandwidth Product</a:t>
            </a:r>
            <a:r>
              <a:rPr lang="it-IT" sz="1100">
                <a:solidFill>
                  <a:schemeClr val="dk1"/>
                </a:solidFill>
              </a:rPr>
              <a:t>). Se la GBW non è sufficientemente alta, l’operazionale introduce </a:t>
            </a:r>
            <a:r>
              <a:rPr lang="it-IT" sz="1100" b="1">
                <a:solidFill>
                  <a:schemeClr val="dk1"/>
                </a:solidFill>
              </a:rPr>
              <a:t>ritardo di fase</a:t>
            </a:r>
            <a:r>
              <a:rPr lang="it-IT" sz="1100">
                <a:solidFill>
                  <a:schemeClr val="dk1"/>
                </a:solidFill>
              </a:rPr>
              <a:t> e perde capacità di seguire correttamente il segnale alle alte frequenze.</a:t>
            </a:r>
            <a:endParaRPr sz="1100">
              <a:solidFill>
                <a:schemeClr val="dk1"/>
              </a:solidFill>
            </a:endParaRPr>
          </a:p>
        </p:txBody>
      </p:sp>
      <p:pic>
        <p:nvPicPr>
          <p:cNvPr id="590" name="Google Shape;590;p63"/>
          <p:cNvPicPr preferRelativeResize="0"/>
          <p:nvPr/>
        </p:nvPicPr>
        <p:blipFill rotWithShape="1">
          <a:blip r:embed="rId3">
            <a:alphaModFix/>
          </a:blip>
          <a:srcRect/>
          <a:stretch/>
        </p:blipFill>
        <p:spPr>
          <a:xfrm>
            <a:off x="2327550" y="2827350"/>
            <a:ext cx="8149148" cy="3993876"/>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pic>
        <p:nvPicPr>
          <p:cNvPr id="596" name="Google Shape;596;p64"/>
          <p:cNvPicPr preferRelativeResize="0"/>
          <p:nvPr/>
        </p:nvPicPr>
        <p:blipFill rotWithShape="1">
          <a:blip r:embed="rId3">
            <a:alphaModFix/>
          </a:blip>
          <a:srcRect/>
          <a:stretch/>
        </p:blipFill>
        <p:spPr>
          <a:xfrm>
            <a:off x="7627350" y="1305700"/>
            <a:ext cx="4251527" cy="2083650"/>
          </a:xfrm>
          <a:prstGeom prst="rect">
            <a:avLst/>
          </a:prstGeom>
          <a:noFill/>
          <a:ln>
            <a:noFill/>
          </a:ln>
        </p:spPr>
      </p:pic>
      <p:sp>
        <p:nvSpPr>
          <p:cNvPr id="597" name="Google Shape;597;p64"/>
          <p:cNvSpPr txBox="1"/>
          <p:nvPr/>
        </p:nvSpPr>
        <p:spPr>
          <a:xfrm>
            <a:off x="1090900" y="1492200"/>
            <a:ext cx="6259800" cy="1824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it-IT" sz="1300" b="1">
                <a:solidFill>
                  <a:schemeClr val="dk1"/>
                </a:solidFill>
              </a:rPr>
              <a:t>Perché compare il picco</a:t>
            </a:r>
            <a:endParaRPr sz="1300" b="1">
              <a:solidFill>
                <a:schemeClr val="dk1"/>
              </a:solidFill>
            </a:endParaRPr>
          </a:p>
          <a:p>
            <a:pPr marL="0" lvl="0" indent="0" algn="l" rtl="0">
              <a:lnSpc>
                <a:spcPct val="115000"/>
              </a:lnSpc>
              <a:spcBef>
                <a:spcPts val="1200"/>
              </a:spcBef>
              <a:spcAft>
                <a:spcPts val="0"/>
              </a:spcAft>
              <a:buNone/>
            </a:pPr>
            <a:r>
              <a:rPr lang="it-IT" sz="1100">
                <a:solidFill>
                  <a:schemeClr val="dk1"/>
                </a:solidFill>
              </a:rPr>
              <a:t>Alle alte frequenze l’opamp non riesce più a reagire istantaneamente. Il segnale in uscita arriva quindi con un piccolo ritardo rispetto al segnale richiesto dalla retroazione.</a:t>
            </a:r>
            <a:endParaRPr sz="1100">
              <a:solidFill>
                <a:schemeClr val="dk1"/>
              </a:solidFill>
            </a:endParaRPr>
          </a:p>
          <a:p>
            <a:pPr marL="0" lvl="0" indent="0" algn="l" rtl="0">
              <a:lnSpc>
                <a:spcPct val="115000"/>
              </a:lnSpc>
              <a:spcBef>
                <a:spcPts val="1200"/>
              </a:spcBef>
              <a:spcAft>
                <a:spcPts val="0"/>
              </a:spcAft>
              <a:buNone/>
            </a:pPr>
            <a:r>
              <a:rPr lang="it-IT" sz="1100">
                <a:solidFill>
                  <a:schemeClr val="dk1"/>
                </a:solidFill>
              </a:rPr>
              <a:t>Questo ritardo crea un accumulo di fase e può generare un aumento locale del guadagno, visibile nel grafico come un </a:t>
            </a:r>
            <a:r>
              <a:rPr lang="it-IT" sz="1100" b="1">
                <a:solidFill>
                  <a:schemeClr val="dk1"/>
                </a:solidFill>
              </a:rPr>
              <a:t>picco di risonanza</a:t>
            </a:r>
            <a:r>
              <a:rPr lang="it-IT" sz="1100">
                <a:solidFill>
                  <a:schemeClr val="dk1"/>
                </a:solidFill>
              </a:rPr>
              <a:t> o sovraelongazione.</a:t>
            </a:r>
            <a:endParaRPr sz="1100">
              <a:solidFill>
                <a:schemeClr val="dk1"/>
              </a:solidFill>
            </a:endParaRPr>
          </a:p>
          <a:p>
            <a:pPr marL="0" lvl="0" indent="0" algn="l" rtl="0">
              <a:lnSpc>
                <a:spcPct val="115000"/>
              </a:lnSpc>
              <a:spcBef>
                <a:spcPts val="1200"/>
              </a:spcBef>
              <a:spcAft>
                <a:spcPts val="1200"/>
              </a:spcAft>
              <a:buNone/>
            </a:pPr>
            <a:r>
              <a:rPr lang="it-IT" sz="1100">
                <a:solidFill>
                  <a:schemeClr val="dk1"/>
                </a:solidFill>
              </a:rPr>
              <a:t>In pratica, il circuito non è più dominato solo dalla rete </a:t>
            </a:r>
            <a:r>
              <a:rPr lang="it-IT" sz="1100" b="1">
                <a:solidFill>
                  <a:schemeClr val="dk1"/>
                </a:solidFill>
              </a:rPr>
              <a:t>RC</a:t>
            </a:r>
            <a:r>
              <a:rPr lang="it-IT" sz="1100">
                <a:solidFill>
                  <a:schemeClr val="dk1"/>
                </a:solidFill>
              </a:rPr>
              <a:t>, ma anche dal limite dinamico dell’operazionale.</a:t>
            </a:r>
            <a:endParaRPr sz="1100">
              <a:solidFill>
                <a:schemeClr val="dk1"/>
              </a:solidFill>
            </a:endParaRPr>
          </a:p>
        </p:txBody>
      </p:sp>
      <p:sp>
        <p:nvSpPr>
          <p:cNvPr id="598" name="Google Shape;598;p64"/>
          <p:cNvSpPr txBox="1"/>
          <p:nvPr/>
        </p:nvSpPr>
        <p:spPr>
          <a:xfrm>
            <a:off x="6406200" y="4046075"/>
            <a:ext cx="5364900" cy="2368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it-IT" sz="1300" b="1">
                <a:solidFill>
                  <a:schemeClr val="dk1"/>
                </a:solidFill>
              </a:rPr>
              <a:t>Perché aumentiamo la GBW</a:t>
            </a:r>
            <a:endParaRPr sz="1300" b="1">
              <a:solidFill>
                <a:schemeClr val="dk1"/>
              </a:solidFill>
            </a:endParaRPr>
          </a:p>
          <a:p>
            <a:pPr marL="0" lvl="0" indent="0" algn="l" rtl="0">
              <a:lnSpc>
                <a:spcPct val="115000"/>
              </a:lnSpc>
              <a:spcBef>
                <a:spcPts val="1200"/>
              </a:spcBef>
              <a:spcAft>
                <a:spcPts val="0"/>
              </a:spcAft>
              <a:buNone/>
            </a:pPr>
            <a:r>
              <a:rPr lang="it-IT" sz="1100">
                <a:solidFill>
                  <a:schemeClr val="dk1"/>
                </a:solidFill>
              </a:rPr>
              <a:t>Poiché l’obiettivo è studiare il filtro passa-alto attivo in condizioni ideali, vogliamo che l’opamp non introduca effetti propri.</a:t>
            </a:r>
            <a:endParaRPr sz="1100">
              <a:solidFill>
                <a:schemeClr val="dk1"/>
              </a:solidFill>
            </a:endParaRPr>
          </a:p>
          <a:p>
            <a:pPr marL="0" lvl="0" indent="0" algn="l" rtl="0">
              <a:lnSpc>
                <a:spcPct val="115000"/>
              </a:lnSpc>
              <a:spcBef>
                <a:spcPts val="1200"/>
              </a:spcBef>
              <a:spcAft>
                <a:spcPts val="0"/>
              </a:spcAft>
              <a:buNone/>
            </a:pPr>
            <a:r>
              <a:rPr lang="it-IT" sz="1100">
                <a:solidFill>
                  <a:schemeClr val="dk1"/>
                </a:solidFill>
              </a:rPr>
              <a:t>Per questo motivo aumentiamo la </a:t>
            </a:r>
            <a:r>
              <a:rPr lang="it-IT" sz="1100" b="1">
                <a:solidFill>
                  <a:schemeClr val="dk1"/>
                </a:solidFill>
              </a:rPr>
              <a:t>GBW</a:t>
            </a:r>
            <a:r>
              <a:rPr lang="it-IT" sz="1100">
                <a:solidFill>
                  <a:schemeClr val="dk1"/>
                </a:solidFill>
              </a:rPr>
              <a:t> da valori più bassi fino a valori molto elevati, ad esempio:</a:t>
            </a:r>
            <a:endParaRPr sz="1100">
              <a:solidFill>
                <a:schemeClr val="dk1"/>
              </a:solidFill>
            </a:endParaRPr>
          </a:p>
          <a:p>
            <a:pPr marL="0" lvl="0" indent="0" algn="l" rtl="0">
              <a:lnSpc>
                <a:spcPct val="115000"/>
              </a:lnSpc>
              <a:spcBef>
                <a:spcPts val="1200"/>
              </a:spcBef>
              <a:spcAft>
                <a:spcPts val="0"/>
              </a:spcAft>
              <a:buNone/>
            </a:pPr>
            <a:r>
              <a:rPr lang="it-IT" sz="1100">
                <a:solidFill>
                  <a:schemeClr val="dk1"/>
                </a:solidFill>
              </a:rPr>
              <a:t>GBW=1000TGBW = 1000TGBW=1000T</a:t>
            </a:r>
            <a:endParaRPr sz="1100">
              <a:solidFill>
                <a:schemeClr val="dk1"/>
              </a:solidFill>
            </a:endParaRPr>
          </a:p>
          <a:p>
            <a:pPr marL="0" lvl="0" indent="0" algn="l" rtl="0">
              <a:lnSpc>
                <a:spcPct val="115000"/>
              </a:lnSpc>
              <a:spcBef>
                <a:spcPts val="1200"/>
              </a:spcBef>
              <a:spcAft>
                <a:spcPts val="1200"/>
              </a:spcAft>
              <a:buNone/>
            </a:pPr>
            <a:r>
              <a:rPr lang="it-IT" sz="1100">
                <a:solidFill>
                  <a:schemeClr val="dk1"/>
                </a:solidFill>
              </a:rPr>
              <a:t>In questo modo la banda dell’operazionale diventa molto più ampia della banda del filtro e il suo ritardo interno diventa trascurabile.</a:t>
            </a:r>
            <a:endParaRPr sz="1100">
              <a:solidFill>
                <a:schemeClr val="dk1"/>
              </a:solidFill>
            </a:endParaRPr>
          </a:p>
        </p:txBody>
      </p:sp>
      <p:pic>
        <p:nvPicPr>
          <p:cNvPr id="599" name="Google Shape;599;p64"/>
          <p:cNvPicPr preferRelativeResize="0"/>
          <p:nvPr/>
        </p:nvPicPr>
        <p:blipFill rotWithShape="1">
          <a:blip r:embed="rId4">
            <a:alphaModFix/>
          </a:blip>
          <a:srcRect/>
          <a:stretch/>
        </p:blipFill>
        <p:spPr>
          <a:xfrm>
            <a:off x="1879774" y="3671450"/>
            <a:ext cx="3490426" cy="2617099"/>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pic>
        <p:nvPicPr>
          <p:cNvPr id="605" name="Google Shape;605;p65"/>
          <p:cNvPicPr preferRelativeResize="0"/>
          <p:nvPr/>
        </p:nvPicPr>
        <p:blipFill rotWithShape="1">
          <a:blip r:embed="rId3">
            <a:alphaModFix/>
          </a:blip>
          <a:srcRect/>
          <a:stretch/>
        </p:blipFill>
        <p:spPr>
          <a:xfrm>
            <a:off x="1701275" y="1076026"/>
            <a:ext cx="9691501" cy="4749749"/>
          </a:xfrm>
          <a:prstGeom prst="rect">
            <a:avLst/>
          </a:prstGeom>
          <a:noFill/>
          <a:ln>
            <a:noFill/>
          </a:ln>
        </p:spPr>
      </p:pic>
      <p:sp>
        <p:nvSpPr>
          <p:cNvPr id="606" name="Google Shape;606;p65"/>
          <p:cNvSpPr txBox="1"/>
          <p:nvPr/>
        </p:nvSpPr>
        <p:spPr>
          <a:xfrm>
            <a:off x="1578450" y="298025"/>
            <a:ext cx="4965900" cy="58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IT" sz="2800">
                <a:solidFill>
                  <a:schemeClr val="dk1"/>
                </a:solidFill>
                <a:latin typeface="Open Sans"/>
                <a:ea typeface="Open Sans"/>
                <a:cs typeface="Open Sans"/>
                <a:sym typeface="Open Sans"/>
              </a:rPr>
              <a:t>piccolo testo</a:t>
            </a:r>
            <a:endParaRPr sz="2800">
              <a:solidFill>
                <a:schemeClr val="dk1"/>
              </a:solidFill>
              <a:latin typeface="Open Sans"/>
              <a:ea typeface="Open Sans"/>
              <a:cs typeface="Open Sans"/>
              <a:sym typeface="Open San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11"/>
        <p:cNvGrpSpPr/>
        <p:nvPr/>
      </p:nvGrpSpPr>
      <p:grpSpPr>
        <a:xfrm>
          <a:off x="0" y="0"/>
          <a:ext cx="0" cy="0"/>
          <a:chOff x="0" y="0"/>
          <a:chExt cx="0" cy="0"/>
        </a:xfrm>
      </p:grpSpPr>
      <p:sp>
        <p:nvSpPr>
          <p:cNvPr id="612" name="Google Shape;612;p66"/>
          <p:cNvSpPr txBox="1"/>
          <p:nvPr/>
        </p:nvSpPr>
        <p:spPr>
          <a:xfrm>
            <a:off x="1355275" y="756125"/>
            <a:ext cx="77583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500">
                <a:solidFill>
                  <a:srgbClr val="073763"/>
                </a:solidFill>
                <a:latin typeface="Libre Franklin SemiBold"/>
                <a:ea typeface="Libre Franklin SemiBold"/>
                <a:cs typeface="Libre Franklin SemiBold"/>
                <a:sym typeface="Libre Franklin SemiBold"/>
              </a:rPr>
              <a:t>Effettiva modifica Rs</a:t>
            </a:r>
            <a:endParaRPr sz="2500">
              <a:solidFill>
                <a:srgbClr val="073763"/>
              </a:solidFill>
              <a:latin typeface="Libre Franklin SemiBold"/>
              <a:ea typeface="Libre Franklin SemiBold"/>
              <a:cs typeface="Libre Franklin SemiBold"/>
              <a:sym typeface="Libre Franklin SemiBold"/>
            </a:endParaRPr>
          </a:p>
        </p:txBody>
      </p:sp>
      <p:pic>
        <p:nvPicPr>
          <p:cNvPr id="613" name="Google Shape;613;p66"/>
          <p:cNvPicPr preferRelativeResize="0"/>
          <p:nvPr/>
        </p:nvPicPr>
        <p:blipFill rotWithShape="1">
          <a:blip r:embed="rId3">
            <a:alphaModFix/>
          </a:blip>
          <a:srcRect/>
          <a:stretch/>
        </p:blipFill>
        <p:spPr>
          <a:xfrm>
            <a:off x="1204600" y="1579587"/>
            <a:ext cx="6229236" cy="3052899"/>
          </a:xfrm>
          <a:prstGeom prst="rect">
            <a:avLst/>
          </a:prstGeom>
          <a:noFill/>
          <a:ln>
            <a:noFill/>
          </a:ln>
        </p:spPr>
      </p:pic>
      <p:pic>
        <p:nvPicPr>
          <p:cNvPr id="614" name="Google Shape;614;p66"/>
          <p:cNvPicPr preferRelativeResize="0"/>
          <p:nvPr/>
        </p:nvPicPr>
        <p:blipFill>
          <a:blip r:embed="rId4">
            <a:alphaModFix/>
          </a:blip>
          <a:stretch>
            <a:fillRect/>
          </a:stretch>
        </p:blipFill>
        <p:spPr>
          <a:xfrm>
            <a:off x="8027975" y="1013900"/>
            <a:ext cx="2647625" cy="3818675"/>
          </a:xfrm>
          <a:prstGeom prst="rect">
            <a:avLst/>
          </a:prstGeom>
          <a:noFill/>
          <a:ln>
            <a:noFill/>
          </a:ln>
        </p:spPr>
      </p:pic>
      <p:pic>
        <p:nvPicPr>
          <p:cNvPr id="615" name="Google Shape;615;p66"/>
          <p:cNvPicPr preferRelativeResize="0"/>
          <p:nvPr/>
        </p:nvPicPr>
        <p:blipFill rotWithShape="1">
          <a:blip r:embed="rId5">
            <a:alphaModFix/>
          </a:blip>
          <a:srcRect/>
          <a:stretch/>
        </p:blipFill>
        <p:spPr>
          <a:xfrm>
            <a:off x="3268425" y="4707450"/>
            <a:ext cx="3407001" cy="187102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pic>
        <p:nvPicPr>
          <p:cNvPr id="620" name="Google Shape;620;p67"/>
          <p:cNvPicPr preferRelativeResize="0"/>
          <p:nvPr/>
        </p:nvPicPr>
        <p:blipFill rotWithShape="1">
          <a:blip r:embed="rId3">
            <a:alphaModFix/>
          </a:blip>
          <a:srcRect/>
          <a:stretch/>
        </p:blipFill>
        <p:spPr>
          <a:xfrm>
            <a:off x="1186224" y="1485601"/>
            <a:ext cx="4145249" cy="1956625"/>
          </a:xfrm>
          <a:prstGeom prst="rect">
            <a:avLst/>
          </a:prstGeom>
          <a:noFill/>
          <a:ln>
            <a:noFill/>
          </a:ln>
        </p:spPr>
      </p:pic>
      <p:pic>
        <p:nvPicPr>
          <p:cNvPr id="621" name="Google Shape;621;p67"/>
          <p:cNvPicPr preferRelativeResize="0"/>
          <p:nvPr/>
        </p:nvPicPr>
        <p:blipFill rotWithShape="1">
          <a:blip r:embed="rId4">
            <a:alphaModFix/>
          </a:blip>
          <a:srcRect/>
          <a:stretch/>
        </p:blipFill>
        <p:spPr>
          <a:xfrm>
            <a:off x="1472363" y="3725320"/>
            <a:ext cx="4979368" cy="2440357"/>
          </a:xfrm>
          <a:prstGeom prst="rect">
            <a:avLst/>
          </a:prstGeom>
          <a:noFill/>
          <a:ln>
            <a:noFill/>
          </a:ln>
        </p:spPr>
      </p:pic>
      <p:sp>
        <p:nvSpPr>
          <p:cNvPr id="622" name="Google Shape;622;p67"/>
          <p:cNvSpPr txBox="1"/>
          <p:nvPr/>
        </p:nvSpPr>
        <p:spPr>
          <a:xfrm>
            <a:off x="1355275" y="756125"/>
            <a:ext cx="77583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500">
                <a:solidFill>
                  <a:srgbClr val="073763"/>
                </a:solidFill>
                <a:latin typeface="Libre Franklin SemiBold"/>
                <a:ea typeface="Libre Franklin SemiBold"/>
                <a:cs typeface="Libre Franklin SemiBold"/>
                <a:sym typeface="Libre Franklin SemiBold"/>
              </a:rPr>
              <a:t>Effettiva modifica Rf</a:t>
            </a:r>
            <a:endParaRPr sz="2500">
              <a:solidFill>
                <a:srgbClr val="073763"/>
              </a:solidFill>
              <a:latin typeface="Libre Franklin SemiBold"/>
              <a:ea typeface="Libre Franklin SemiBold"/>
              <a:cs typeface="Libre Franklin SemiBold"/>
              <a:sym typeface="Libre Franklin SemiBold"/>
            </a:endParaRPr>
          </a:p>
        </p:txBody>
      </p:sp>
      <p:pic>
        <p:nvPicPr>
          <p:cNvPr id="623" name="Google Shape;623;p67"/>
          <p:cNvPicPr preferRelativeResize="0"/>
          <p:nvPr/>
        </p:nvPicPr>
        <p:blipFill>
          <a:blip r:embed="rId5">
            <a:alphaModFix/>
          </a:blip>
          <a:stretch>
            <a:fillRect/>
          </a:stretch>
        </p:blipFill>
        <p:spPr>
          <a:xfrm>
            <a:off x="7686106" y="1300163"/>
            <a:ext cx="2952750" cy="1819275"/>
          </a:xfrm>
          <a:prstGeom prst="rect">
            <a:avLst/>
          </a:prstGeom>
          <a:noFill/>
          <a:ln>
            <a:noFill/>
          </a:ln>
        </p:spPr>
      </p:pic>
      <p:pic>
        <p:nvPicPr>
          <p:cNvPr id="624" name="Google Shape;624;p67"/>
          <p:cNvPicPr preferRelativeResize="0"/>
          <p:nvPr/>
        </p:nvPicPr>
        <p:blipFill>
          <a:blip r:embed="rId6">
            <a:alphaModFix/>
          </a:blip>
          <a:stretch>
            <a:fillRect/>
          </a:stretch>
        </p:blipFill>
        <p:spPr>
          <a:xfrm>
            <a:off x="8065256" y="3863688"/>
            <a:ext cx="2390775" cy="223837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pic>
        <p:nvPicPr>
          <p:cNvPr id="629" name="Google Shape;629;p68"/>
          <p:cNvPicPr preferRelativeResize="0"/>
          <p:nvPr/>
        </p:nvPicPr>
        <p:blipFill rotWithShape="1">
          <a:blip r:embed="rId3">
            <a:alphaModFix/>
          </a:blip>
          <a:srcRect/>
          <a:stretch/>
        </p:blipFill>
        <p:spPr>
          <a:xfrm>
            <a:off x="1294200" y="4066250"/>
            <a:ext cx="4901676" cy="1132125"/>
          </a:xfrm>
          <a:prstGeom prst="rect">
            <a:avLst/>
          </a:prstGeom>
          <a:noFill/>
          <a:ln>
            <a:noFill/>
          </a:ln>
        </p:spPr>
      </p:pic>
      <p:pic>
        <p:nvPicPr>
          <p:cNvPr id="630" name="Google Shape;630;p68"/>
          <p:cNvPicPr preferRelativeResize="0"/>
          <p:nvPr/>
        </p:nvPicPr>
        <p:blipFill rotWithShape="1">
          <a:blip r:embed="rId4">
            <a:alphaModFix/>
          </a:blip>
          <a:srcRect/>
          <a:stretch/>
        </p:blipFill>
        <p:spPr>
          <a:xfrm>
            <a:off x="1130049" y="1859824"/>
            <a:ext cx="3593415" cy="1993400"/>
          </a:xfrm>
          <a:prstGeom prst="rect">
            <a:avLst/>
          </a:prstGeom>
          <a:noFill/>
          <a:ln>
            <a:noFill/>
          </a:ln>
        </p:spPr>
      </p:pic>
      <p:sp>
        <p:nvSpPr>
          <p:cNvPr id="631" name="Google Shape;631;p68"/>
          <p:cNvSpPr txBox="1"/>
          <p:nvPr/>
        </p:nvSpPr>
        <p:spPr>
          <a:xfrm>
            <a:off x="1355275" y="756125"/>
            <a:ext cx="77583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500">
                <a:solidFill>
                  <a:srgbClr val="073763"/>
                </a:solidFill>
                <a:latin typeface="Libre Franklin SemiBold"/>
                <a:ea typeface="Libre Franklin SemiBold"/>
                <a:cs typeface="Libre Franklin SemiBold"/>
                <a:sym typeface="Libre Franklin SemiBold"/>
              </a:rPr>
              <a:t>Risposta al gradino nel filtro HP attivo ideale</a:t>
            </a:r>
            <a:endParaRPr sz="2500">
              <a:solidFill>
                <a:srgbClr val="073763"/>
              </a:solidFill>
              <a:latin typeface="Libre Franklin SemiBold"/>
              <a:ea typeface="Libre Franklin SemiBold"/>
              <a:cs typeface="Libre Franklin SemiBold"/>
              <a:sym typeface="Libre Franklin SemiBold"/>
            </a:endParaRPr>
          </a:p>
        </p:txBody>
      </p:sp>
      <p:sp>
        <p:nvSpPr>
          <p:cNvPr id="632" name="Google Shape;632;p68"/>
          <p:cNvSpPr txBox="1"/>
          <p:nvPr/>
        </p:nvSpPr>
        <p:spPr>
          <a:xfrm>
            <a:off x="4947475" y="1479625"/>
            <a:ext cx="7030200" cy="2530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200">
                <a:solidFill>
                  <a:schemeClr val="dk1"/>
                </a:solidFill>
                <a:latin typeface="Libre Franklin"/>
                <a:ea typeface="Libre Franklin"/>
                <a:cs typeface="Libre Franklin"/>
                <a:sym typeface="Libre Franklin"/>
              </a:rPr>
              <a:t>Nel circuito viene applicato un segnale Vin, rappresentato in rosso, che commuta tra -1 V e +1 V. La curva blu rappresenta invece il segnale sul nodo outC, cioè la tensione dopo il condensatore C7 e prima della resistenza R16.</a:t>
            </a:r>
            <a:endParaRPr sz="12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0"/>
              </a:spcAft>
              <a:buNone/>
            </a:pPr>
            <a:r>
              <a:rPr lang="it-IT" sz="1200">
                <a:solidFill>
                  <a:schemeClr val="dk1"/>
                </a:solidFill>
                <a:latin typeface="Libre Franklin"/>
                <a:ea typeface="Libre Franklin"/>
                <a:cs typeface="Libre Franklin"/>
                <a:sym typeface="Libre Franklin"/>
              </a:rPr>
              <a:t>Questo punto permette di osservare direttamente il comportamento della rete RC del filtro, prima dell’amplificazione dell’operazionale.</a:t>
            </a:r>
            <a:endParaRPr sz="12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0"/>
              </a:spcAft>
              <a:buNone/>
            </a:pPr>
            <a:r>
              <a:rPr lang="it-IT" sz="1200">
                <a:solidFill>
                  <a:schemeClr val="dk1"/>
                </a:solidFill>
                <a:latin typeface="Libre Franklin"/>
                <a:ea typeface="Libre Franklin"/>
                <a:cs typeface="Libre Franklin"/>
                <a:sym typeface="Libre Franklin"/>
              </a:rPr>
              <a:t>Quando Vin passa da -1 V a +1 V, il condensatore si carica e la tensione su outC varia gradualmente con andamento esponenziale. Quando invece Vin passa da +1 V a -1 V, il condensatore si scarica e la curva blu decresce progressivamente.</a:t>
            </a:r>
            <a:endParaRPr sz="12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200">
                <a:solidFill>
                  <a:schemeClr val="dk1"/>
                </a:solidFill>
                <a:latin typeface="Libre Franklin"/>
                <a:ea typeface="Libre Franklin"/>
                <a:cs typeface="Libre Franklin"/>
                <a:sym typeface="Libre Franklin"/>
              </a:rPr>
              <a:t>La velocità della carica e scarica dipende dalla costante di tempo:</a:t>
            </a:r>
            <a:endParaRPr sz="1200">
              <a:solidFill>
                <a:schemeClr val="dk1"/>
              </a:solidFill>
              <a:latin typeface="Libre Franklin"/>
              <a:ea typeface="Libre Franklin"/>
              <a:cs typeface="Libre Franklin"/>
              <a:sym typeface="Libre Franklin"/>
            </a:endParaRPr>
          </a:p>
        </p:txBody>
      </p:sp>
      <p:pic>
        <p:nvPicPr>
          <p:cNvPr id="633" name="Google Shape;633;p68"/>
          <p:cNvPicPr preferRelativeResize="0"/>
          <p:nvPr/>
        </p:nvPicPr>
        <p:blipFill>
          <a:blip r:embed="rId5">
            <a:alphaModFix/>
          </a:blip>
          <a:stretch>
            <a:fillRect/>
          </a:stretch>
        </p:blipFill>
        <p:spPr>
          <a:xfrm>
            <a:off x="9843475" y="3653875"/>
            <a:ext cx="1946300" cy="1733825"/>
          </a:xfrm>
          <a:prstGeom prst="rect">
            <a:avLst/>
          </a:prstGeom>
          <a:noFill/>
          <a:ln>
            <a:noFill/>
          </a:ln>
        </p:spPr>
      </p:pic>
      <p:sp>
        <p:nvSpPr>
          <p:cNvPr id="634" name="Google Shape;634;p68"/>
          <p:cNvSpPr txBox="1"/>
          <p:nvPr/>
        </p:nvSpPr>
        <p:spPr>
          <a:xfrm>
            <a:off x="1294200" y="5715025"/>
            <a:ext cx="108039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a:solidFill>
                  <a:schemeClr val="dk1"/>
                </a:solidFill>
                <a:latin typeface="Libre Franklin"/>
                <a:ea typeface="Libre Franklin"/>
                <a:cs typeface="Libre Franklin"/>
                <a:sym typeface="Libre Franklin"/>
              </a:rPr>
              <a:t>Quindi il grafico mostra la risposta transitoria della sola rete RC: il condensatore non segue istantaneamente i salti di Vin, ma si carica e si scarica gradualmente. L’operazionale interviene dopo questo nodo, amplificando il segnale secondo il guadagno impostato dalla retroazione.</a:t>
            </a:r>
            <a:endParaRPr sz="1500">
              <a:latin typeface="Libre Franklin"/>
              <a:ea typeface="Libre Franklin"/>
              <a:cs typeface="Libre Franklin"/>
              <a:sym typeface="Libre Franklin"/>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pic>
        <p:nvPicPr>
          <p:cNvPr id="639" name="Google Shape;639;p69"/>
          <p:cNvPicPr preferRelativeResize="0"/>
          <p:nvPr/>
        </p:nvPicPr>
        <p:blipFill rotWithShape="1">
          <a:blip r:embed="rId3">
            <a:alphaModFix/>
          </a:blip>
          <a:srcRect/>
          <a:stretch/>
        </p:blipFill>
        <p:spPr>
          <a:xfrm>
            <a:off x="2841097" y="3099328"/>
            <a:ext cx="7073900" cy="3466875"/>
          </a:xfrm>
          <a:prstGeom prst="rect">
            <a:avLst/>
          </a:prstGeom>
          <a:noFill/>
          <a:ln>
            <a:noFill/>
          </a:ln>
        </p:spPr>
      </p:pic>
      <p:sp>
        <p:nvSpPr>
          <p:cNvPr id="640" name="Google Shape;640;p69"/>
          <p:cNvSpPr txBox="1"/>
          <p:nvPr/>
        </p:nvSpPr>
        <p:spPr>
          <a:xfrm>
            <a:off x="758300" y="381600"/>
            <a:ext cx="108567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a:solidFill>
                  <a:schemeClr val="dk1"/>
                </a:solidFill>
                <a:latin typeface="Libre Franklin"/>
                <a:ea typeface="Libre Franklin"/>
                <a:cs typeface="Libre Franklin"/>
                <a:sym typeface="Libre Franklin"/>
              </a:rPr>
              <a:t>Il segnale di ingresso Vin, rappresentato in rosso, è un’onda quadra compresa tra -1 V e +1 V. Ogni fronte del segnale produce quindi una variazione totale pari a:</a:t>
            </a:r>
            <a:endParaRPr sz="1500">
              <a:latin typeface="Libre Franklin"/>
              <a:ea typeface="Libre Franklin"/>
              <a:cs typeface="Libre Franklin"/>
              <a:sym typeface="Libre Franklin"/>
            </a:endParaRPr>
          </a:p>
        </p:txBody>
      </p:sp>
      <p:pic>
        <p:nvPicPr>
          <p:cNvPr id="641" name="Google Shape;641;p69"/>
          <p:cNvPicPr preferRelativeResize="0"/>
          <p:nvPr/>
        </p:nvPicPr>
        <p:blipFill>
          <a:blip r:embed="rId4">
            <a:alphaModFix/>
          </a:blip>
          <a:stretch>
            <a:fillRect/>
          </a:stretch>
        </p:blipFill>
        <p:spPr>
          <a:xfrm>
            <a:off x="1776236" y="738900"/>
            <a:ext cx="1723826" cy="354000"/>
          </a:xfrm>
          <a:prstGeom prst="rect">
            <a:avLst/>
          </a:prstGeom>
          <a:noFill/>
          <a:ln>
            <a:noFill/>
          </a:ln>
        </p:spPr>
      </p:pic>
      <p:sp>
        <p:nvSpPr>
          <p:cNvPr id="642" name="Google Shape;642;p69"/>
          <p:cNvSpPr txBox="1"/>
          <p:nvPr/>
        </p:nvSpPr>
        <p:spPr>
          <a:xfrm>
            <a:off x="833700" y="1276200"/>
            <a:ext cx="11358300" cy="1716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it-IT">
                <a:solidFill>
                  <a:schemeClr val="dk1"/>
                </a:solidFill>
                <a:latin typeface="Libre Franklin"/>
                <a:ea typeface="Libre Franklin"/>
                <a:cs typeface="Libre Franklin"/>
                <a:sym typeface="Libre Franklin"/>
              </a:rPr>
              <a:t>Comportamento della rete RC</a:t>
            </a:r>
            <a:endParaRPr>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0"/>
              </a:spcAft>
              <a:buNone/>
            </a:pPr>
            <a:r>
              <a:rPr lang="it-IT" sz="1200">
                <a:solidFill>
                  <a:schemeClr val="dk1"/>
                </a:solidFill>
                <a:latin typeface="Libre Franklin"/>
                <a:ea typeface="Libre Franklin"/>
                <a:cs typeface="Libre Franklin"/>
                <a:sym typeface="Libre Franklin"/>
              </a:rPr>
              <a:t>Nel primo stadio del circuito è presente la rete RC passa-alto formata dal condensatore e dalla resistenza d’ingresso.</a:t>
            </a:r>
            <a:endParaRPr sz="12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0"/>
              </a:spcAft>
              <a:buNone/>
            </a:pPr>
            <a:r>
              <a:rPr lang="it-IT" sz="1200">
                <a:solidFill>
                  <a:schemeClr val="dk1"/>
                </a:solidFill>
                <a:latin typeface="Libre Franklin"/>
                <a:ea typeface="Libre Franklin"/>
                <a:cs typeface="Libre Franklin"/>
                <a:sym typeface="Libre Franklin"/>
              </a:rPr>
              <a:t>Quando Vin cambia bruscamente valore, il condensatore non può variare istantaneamente la tensione ai suoi capi. Per questo motivo trasferisce inizialmente la variazione al nodo del filtro, generando un impulso.</a:t>
            </a:r>
            <a:endParaRPr sz="12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200">
                <a:solidFill>
                  <a:schemeClr val="dk1"/>
                </a:solidFill>
                <a:latin typeface="Libre Franklin"/>
                <a:ea typeface="Libre Franklin"/>
                <a:cs typeface="Libre Franklin"/>
                <a:sym typeface="Libre Franklin"/>
              </a:rPr>
              <a:t>Dopo il fronte, il condensatore inizia a caricarsi o scaricarsi attraverso la resistenza e il segnale decade progressivamente con andamento esponenziale.</a:t>
            </a:r>
            <a:endParaRPr sz="1200">
              <a:solidFill>
                <a:schemeClr val="dk1"/>
              </a:solidFill>
              <a:latin typeface="Libre Franklin"/>
              <a:ea typeface="Libre Franklin"/>
              <a:cs typeface="Libre Franklin"/>
              <a:sym typeface="Libre Franklin"/>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47"/>
        <p:cNvGrpSpPr/>
        <p:nvPr/>
      </p:nvGrpSpPr>
      <p:grpSpPr>
        <a:xfrm>
          <a:off x="0" y="0"/>
          <a:ext cx="0" cy="0"/>
          <a:chOff x="0" y="0"/>
          <a:chExt cx="0" cy="0"/>
        </a:xfrm>
      </p:grpSpPr>
      <p:sp>
        <p:nvSpPr>
          <p:cNvPr id="648" name="Google Shape;648;p70"/>
          <p:cNvSpPr txBox="1"/>
          <p:nvPr/>
        </p:nvSpPr>
        <p:spPr>
          <a:xfrm>
            <a:off x="1350150" y="527125"/>
            <a:ext cx="10683000" cy="1562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it-IT" b="1">
                <a:solidFill>
                  <a:schemeClr val="dk1"/>
                </a:solidFill>
                <a:latin typeface="Libre Franklin"/>
                <a:ea typeface="Libre Franklin"/>
                <a:cs typeface="Libre Franklin"/>
                <a:sym typeface="Libre Franklin"/>
              </a:rPr>
              <a:t>Nodo intermedio del filtro</a:t>
            </a:r>
            <a:endParaRPr b="1">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0"/>
              </a:spcAft>
              <a:buNone/>
            </a:pPr>
            <a:r>
              <a:rPr lang="it-IT" sz="1200">
                <a:solidFill>
                  <a:schemeClr val="dk1"/>
                </a:solidFill>
                <a:latin typeface="Libre Franklin"/>
                <a:ea typeface="Libre Franklin"/>
                <a:cs typeface="Libre Franklin"/>
                <a:sym typeface="Libre Franklin"/>
              </a:rPr>
              <a:t>La curva blu rappresenta il segnale sul nodo intermedio della rete RC, cioè il punto tra Vin e l’ingresso dell’operazionale.</a:t>
            </a:r>
            <a:endParaRPr sz="12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200">
                <a:solidFill>
                  <a:schemeClr val="dk1"/>
                </a:solidFill>
                <a:latin typeface="Libre Franklin"/>
                <a:ea typeface="Libre Franklin"/>
                <a:cs typeface="Libre Franklin"/>
                <a:sym typeface="Libre Franklin"/>
              </a:rPr>
              <a:t>Si osserva che, a ogni fronte della curva rossa, la curva blu presenta una variazione rapida seguita da un decadimento esponenziale. Questo è il comportamento tipico del filtro passa-alto: vengono evidenziate le variazioni rapide del segnale, mentre il valore continuo tende progressivamente a zero.</a:t>
            </a:r>
            <a:endParaRPr sz="1200">
              <a:solidFill>
                <a:schemeClr val="dk1"/>
              </a:solidFill>
              <a:latin typeface="Libre Franklin"/>
              <a:ea typeface="Libre Franklin"/>
              <a:cs typeface="Libre Franklin"/>
              <a:sym typeface="Libre Franklin"/>
            </a:endParaRPr>
          </a:p>
        </p:txBody>
      </p:sp>
      <p:pic>
        <p:nvPicPr>
          <p:cNvPr id="649" name="Google Shape;649;p70"/>
          <p:cNvPicPr preferRelativeResize="0"/>
          <p:nvPr/>
        </p:nvPicPr>
        <p:blipFill rotWithShape="1">
          <a:blip r:embed="rId3">
            <a:alphaModFix/>
          </a:blip>
          <a:srcRect/>
          <a:stretch/>
        </p:blipFill>
        <p:spPr>
          <a:xfrm>
            <a:off x="3525438" y="2169188"/>
            <a:ext cx="5141127" cy="2519624"/>
          </a:xfrm>
          <a:prstGeom prst="rect">
            <a:avLst/>
          </a:prstGeom>
          <a:noFill/>
          <a:ln>
            <a:noFill/>
          </a:ln>
        </p:spPr>
      </p:pic>
      <p:sp>
        <p:nvSpPr>
          <p:cNvPr id="650" name="Google Shape;650;p70"/>
          <p:cNvSpPr txBox="1"/>
          <p:nvPr/>
        </p:nvSpPr>
        <p:spPr>
          <a:xfrm>
            <a:off x="1081950" y="5029200"/>
            <a:ext cx="10294800" cy="1562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it-IT" b="1">
                <a:solidFill>
                  <a:schemeClr val="dk1"/>
                </a:solidFill>
                <a:latin typeface="Libre Franklin"/>
                <a:ea typeface="Libre Franklin"/>
                <a:cs typeface="Libre Franklin"/>
                <a:sym typeface="Libre Franklin"/>
              </a:rPr>
              <a:t>Uscita amplificata</a:t>
            </a:r>
            <a:endParaRPr b="1">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0"/>
              </a:spcAft>
              <a:buNone/>
            </a:pPr>
            <a:r>
              <a:rPr lang="it-IT" sz="1200">
                <a:solidFill>
                  <a:schemeClr val="dk1"/>
                </a:solidFill>
                <a:latin typeface="Libre Franklin"/>
                <a:ea typeface="Libre Franklin"/>
                <a:cs typeface="Libre Franklin"/>
                <a:sym typeface="Libre Franklin"/>
              </a:rPr>
              <a:t>La curva verde rappresenta l’uscita dell’operazionale. Rispetto alla curva blu, mantiene lo stesso andamento esponenziale, ma risulta invertita e con ampiezza circa doppia.</a:t>
            </a:r>
            <a:endParaRPr sz="12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200">
                <a:solidFill>
                  <a:schemeClr val="dk1"/>
                </a:solidFill>
                <a:latin typeface="Libre Franklin"/>
                <a:ea typeface="Libre Franklin"/>
                <a:cs typeface="Libre Franklin"/>
                <a:sym typeface="Libre Franklin"/>
              </a:rPr>
              <a:t>Questo significa che il filtro attivo conserva il comportamento del filtro RC, ma aggiunge l’effetto dell’operazionale: il segnale viene amplificato di un fattore 2 e invertito di fase.</a:t>
            </a:r>
            <a:endParaRPr sz="1200">
              <a:solidFill>
                <a:schemeClr val="dk1"/>
              </a:solidFill>
              <a:latin typeface="Libre Franklin"/>
              <a:ea typeface="Libre Franklin"/>
              <a:cs typeface="Libre Franklin"/>
              <a:sym typeface="Libre Franklin"/>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55"/>
        <p:cNvGrpSpPr/>
        <p:nvPr/>
      </p:nvGrpSpPr>
      <p:grpSpPr>
        <a:xfrm>
          <a:off x="0" y="0"/>
          <a:ext cx="0" cy="0"/>
          <a:chOff x="0" y="0"/>
          <a:chExt cx="0" cy="0"/>
        </a:xfrm>
      </p:grpSpPr>
      <p:sp>
        <p:nvSpPr>
          <p:cNvPr id="656" name="Google Shape;656;p71"/>
          <p:cNvSpPr txBox="1"/>
          <p:nvPr/>
        </p:nvSpPr>
        <p:spPr>
          <a:xfrm>
            <a:off x="1378800" y="650275"/>
            <a:ext cx="9549600" cy="954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500">
                <a:solidFill>
                  <a:srgbClr val="073763"/>
                </a:solidFill>
                <a:latin typeface="Libre Franklin SemiBold"/>
                <a:ea typeface="Libre Franklin SemiBold"/>
                <a:cs typeface="Libre Franklin SemiBold"/>
                <a:sym typeface="Libre Franklin SemiBold"/>
              </a:rPr>
              <a:t>Effetto della resistenza Rs sulla carica e scarica del condensatore</a:t>
            </a:r>
            <a:endParaRPr sz="2500">
              <a:solidFill>
                <a:srgbClr val="073763"/>
              </a:solidFill>
              <a:latin typeface="Libre Franklin SemiBold"/>
              <a:ea typeface="Libre Franklin SemiBold"/>
              <a:cs typeface="Libre Franklin SemiBold"/>
              <a:sym typeface="Libre Franklin SemiBold"/>
            </a:endParaRPr>
          </a:p>
        </p:txBody>
      </p:sp>
      <p:pic>
        <p:nvPicPr>
          <p:cNvPr id="657" name="Google Shape;657;p71"/>
          <p:cNvPicPr preferRelativeResize="0"/>
          <p:nvPr/>
        </p:nvPicPr>
        <p:blipFill>
          <a:blip r:embed="rId3">
            <a:alphaModFix/>
          </a:blip>
          <a:stretch>
            <a:fillRect/>
          </a:stretch>
        </p:blipFill>
        <p:spPr>
          <a:xfrm>
            <a:off x="10721500" y="2329950"/>
            <a:ext cx="1219200" cy="419100"/>
          </a:xfrm>
          <a:prstGeom prst="rect">
            <a:avLst/>
          </a:prstGeom>
          <a:noFill/>
          <a:ln>
            <a:noFill/>
          </a:ln>
        </p:spPr>
      </p:pic>
      <p:sp>
        <p:nvSpPr>
          <p:cNvPr id="658" name="Google Shape;658;p71"/>
          <p:cNvSpPr txBox="1"/>
          <p:nvPr/>
        </p:nvSpPr>
        <p:spPr>
          <a:xfrm>
            <a:off x="785400" y="1851750"/>
            <a:ext cx="10736400" cy="897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100">
                <a:solidFill>
                  <a:schemeClr val="dk1"/>
                </a:solidFill>
                <a:latin typeface="Libre Franklin"/>
                <a:ea typeface="Libre Franklin"/>
                <a:cs typeface="Libre Franklin"/>
                <a:sym typeface="Libre Franklin"/>
              </a:rPr>
              <a:t>Nel caso ideale, l’operazionale mantiene il nodo invertente a massa virtuale. Questo significa che il nodo collegato all’ingresso (−) resta circa a 0 V, anche se non è collegato direttamente a massa.</a:t>
            </a:r>
            <a:endParaRPr sz="11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100">
                <a:solidFill>
                  <a:schemeClr val="dk1"/>
                </a:solidFill>
                <a:latin typeface="Libre Franklin"/>
                <a:ea typeface="Libre Franklin"/>
                <a:cs typeface="Libre Franklin"/>
                <a:sym typeface="Libre Franklin"/>
              </a:rPr>
              <a:t>In questa condizione, il condensatore C4 vede principalmente la resistenza R16. La costante di tempo del circuito può quindi essere approssimata con:</a:t>
            </a:r>
            <a:endParaRPr>
              <a:latin typeface="Libre Franklin"/>
              <a:ea typeface="Libre Franklin"/>
              <a:cs typeface="Libre Franklin"/>
              <a:sym typeface="Libre Franklin"/>
            </a:endParaRPr>
          </a:p>
        </p:txBody>
      </p:sp>
      <p:sp>
        <p:nvSpPr>
          <p:cNvPr id="659" name="Google Shape;659;p71"/>
          <p:cNvSpPr txBox="1"/>
          <p:nvPr/>
        </p:nvSpPr>
        <p:spPr>
          <a:xfrm>
            <a:off x="887775" y="2894500"/>
            <a:ext cx="10819800" cy="1177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000">
                <a:solidFill>
                  <a:schemeClr val="dk1"/>
                </a:solidFill>
                <a:latin typeface="Libre Franklin"/>
                <a:ea typeface="Libre Franklin"/>
                <a:cs typeface="Libre Franklin"/>
                <a:sym typeface="Libre Franklin"/>
              </a:rPr>
              <a:t>Quando però la resistenza di retroazione R17 diventa molto grande, la retroazione è meno efficace. L’operazionale fatica a mantenere il nodo invertente perfettamente a 0 V, quindi la massa virtuale diventa meno ideale.</a:t>
            </a:r>
            <a:endParaRPr sz="10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0"/>
              </a:spcAft>
              <a:buNone/>
            </a:pPr>
            <a:r>
              <a:rPr lang="it-IT" sz="1000">
                <a:solidFill>
                  <a:schemeClr val="dk1"/>
                </a:solidFill>
                <a:latin typeface="Libre Franklin"/>
                <a:ea typeface="Libre Franklin"/>
                <a:cs typeface="Libre Franklin"/>
                <a:sym typeface="Libre Franklin"/>
              </a:rPr>
              <a:t>Di conseguenza, il condensatore non vede più soltanto R16, ma una resistenza equivalente maggiore. In questo caso anche R17 contribuisce, almeno in parte, alla costante di tempo.</a:t>
            </a:r>
            <a:endParaRPr sz="10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000">
                <a:solidFill>
                  <a:schemeClr val="dk1"/>
                </a:solidFill>
                <a:latin typeface="Libre Franklin"/>
                <a:ea typeface="Libre Franklin"/>
                <a:cs typeface="Libre Franklin"/>
                <a:sym typeface="Libre Franklin"/>
              </a:rPr>
              <a:t>La relazione approssimata diventa:</a:t>
            </a:r>
            <a:endParaRPr sz="1000">
              <a:solidFill>
                <a:schemeClr val="dk1"/>
              </a:solidFill>
              <a:latin typeface="Libre Franklin"/>
              <a:ea typeface="Libre Franklin"/>
              <a:cs typeface="Libre Franklin"/>
              <a:sym typeface="Libre Franklin"/>
            </a:endParaRPr>
          </a:p>
        </p:txBody>
      </p:sp>
      <p:pic>
        <p:nvPicPr>
          <p:cNvPr id="660" name="Google Shape;660;p71"/>
          <p:cNvPicPr preferRelativeResize="0"/>
          <p:nvPr/>
        </p:nvPicPr>
        <p:blipFill>
          <a:blip r:embed="rId4">
            <a:alphaModFix/>
          </a:blip>
          <a:stretch>
            <a:fillRect/>
          </a:stretch>
        </p:blipFill>
        <p:spPr>
          <a:xfrm>
            <a:off x="5072063" y="3919225"/>
            <a:ext cx="2047875" cy="800100"/>
          </a:xfrm>
          <a:prstGeom prst="rect">
            <a:avLst/>
          </a:prstGeom>
          <a:noFill/>
          <a:ln>
            <a:noFill/>
          </a:ln>
        </p:spPr>
      </p:pic>
      <p:sp>
        <p:nvSpPr>
          <p:cNvPr id="661" name="Google Shape;661;p71"/>
          <p:cNvSpPr txBox="1"/>
          <p:nvPr/>
        </p:nvSpPr>
        <p:spPr>
          <a:xfrm>
            <a:off x="1294675" y="4761125"/>
            <a:ext cx="5326500" cy="702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100">
                <a:solidFill>
                  <a:schemeClr val="dk1"/>
                </a:solidFill>
                <a:latin typeface="Libre Franklin"/>
                <a:ea typeface="Libre Franklin"/>
                <a:cs typeface="Libre Franklin"/>
                <a:sym typeface="Libre Franklin"/>
              </a:rPr>
              <a:t>dove A è il guadagno ad anello aperto dell’operazionale.</a:t>
            </a:r>
            <a:endParaRPr sz="11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100">
                <a:solidFill>
                  <a:schemeClr val="dk1"/>
                </a:solidFill>
                <a:latin typeface="Libre Franklin"/>
                <a:ea typeface="Libre Franklin"/>
                <a:cs typeface="Libre Franklin"/>
                <a:sym typeface="Libre Franklin"/>
              </a:rPr>
              <a:t>Se A è molto grande, il termine:</a:t>
            </a:r>
            <a:endParaRPr sz="1100">
              <a:solidFill>
                <a:schemeClr val="dk1"/>
              </a:solidFill>
              <a:latin typeface="Libre Franklin"/>
              <a:ea typeface="Libre Franklin"/>
              <a:cs typeface="Libre Franklin"/>
              <a:sym typeface="Libre Franklin"/>
            </a:endParaRPr>
          </a:p>
        </p:txBody>
      </p:sp>
      <p:pic>
        <p:nvPicPr>
          <p:cNvPr id="662" name="Google Shape;662;p71"/>
          <p:cNvPicPr preferRelativeResize="0"/>
          <p:nvPr/>
        </p:nvPicPr>
        <p:blipFill>
          <a:blip r:embed="rId5">
            <a:alphaModFix/>
          </a:blip>
          <a:stretch>
            <a:fillRect/>
          </a:stretch>
        </p:blipFill>
        <p:spPr>
          <a:xfrm>
            <a:off x="3971650" y="5029200"/>
            <a:ext cx="657225" cy="647700"/>
          </a:xfrm>
          <a:prstGeom prst="rect">
            <a:avLst/>
          </a:prstGeom>
          <a:noFill/>
          <a:ln>
            <a:noFill/>
          </a:ln>
        </p:spPr>
      </p:pic>
      <p:sp>
        <p:nvSpPr>
          <p:cNvPr id="663" name="Google Shape;663;p71"/>
          <p:cNvSpPr txBox="1"/>
          <p:nvPr/>
        </p:nvSpPr>
        <p:spPr>
          <a:xfrm>
            <a:off x="5072075" y="5078825"/>
            <a:ext cx="36573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it-IT" sz="1300">
                <a:latin typeface="Libre Franklin"/>
                <a:ea typeface="Libre Franklin"/>
                <a:cs typeface="Libre Franklin"/>
                <a:sym typeface="Libre Franklin"/>
              </a:rPr>
              <a:t>è trascurabile e si torna al caso ideale:</a:t>
            </a:r>
            <a:endParaRPr sz="1300">
              <a:latin typeface="Libre Franklin"/>
              <a:ea typeface="Libre Franklin"/>
              <a:cs typeface="Libre Franklin"/>
              <a:sym typeface="Libre Franklin"/>
            </a:endParaRPr>
          </a:p>
        </p:txBody>
      </p:sp>
      <p:pic>
        <p:nvPicPr>
          <p:cNvPr id="664" name="Google Shape;664;p71"/>
          <p:cNvPicPr preferRelativeResize="0"/>
          <p:nvPr/>
        </p:nvPicPr>
        <p:blipFill>
          <a:blip r:embed="rId6">
            <a:alphaModFix/>
          </a:blip>
          <a:stretch>
            <a:fillRect/>
          </a:stretch>
        </p:blipFill>
        <p:spPr>
          <a:xfrm>
            <a:off x="8428975" y="5085525"/>
            <a:ext cx="1209675" cy="371475"/>
          </a:xfrm>
          <a:prstGeom prst="rect">
            <a:avLst/>
          </a:prstGeom>
          <a:noFill/>
          <a:ln>
            <a:noFill/>
          </a:ln>
        </p:spPr>
      </p:pic>
      <p:sp>
        <p:nvSpPr>
          <p:cNvPr id="665" name="Google Shape;665;p71"/>
          <p:cNvSpPr txBox="1"/>
          <p:nvPr/>
        </p:nvSpPr>
        <p:spPr>
          <a:xfrm>
            <a:off x="1794025" y="5986400"/>
            <a:ext cx="97746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a:solidFill>
                  <a:schemeClr val="dk1"/>
                </a:solidFill>
                <a:latin typeface="Libre Franklin"/>
                <a:ea typeface="Libre Franklin"/>
                <a:cs typeface="Libre Franklin"/>
                <a:sym typeface="Libre Franklin"/>
              </a:rPr>
              <a:t>Se invece R17 è molto elevata, oppure l’operazionale non riesce a mantenere bene la massa virtuale, il contributo di R17 diventa significativo. Il transitorio risulta quindi più lento perché aumenta la costante di tempo equivalente.</a:t>
            </a:r>
            <a:endParaRPr sz="1500">
              <a:latin typeface="Libre Franklin"/>
              <a:ea typeface="Libre Franklin"/>
              <a:cs typeface="Libre Franklin"/>
              <a:sym typeface="Libre Franklin"/>
            </a:endParaRPr>
          </a:p>
        </p:txBody>
      </p:sp>
      <p:sp>
        <p:nvSpPr>
          <p:cNvPr id="2" name="CasellaDiTesto 1">
            <a:extLst>
              <a:ext uri="{FF2B5EF4-FFF2-40B4-BE49-F238E27FC236}">
                <a16:creationId xmlns:a16="http://schemas.microsoft.com/office/drawing/2014/main" id="{044A50FC-D383-611E-117B-317421A10DF1}"/>
              </a:ext>
            </a:extLst>
          </p:cNvPr>
          <p:cNvSpPr txBox="1"/>
          <p:nvPr/>
        </p:nvSpPr>
        <p:spPr>
          <a:xfrm>
            <a:off x="6518246" y="1484686"/>
            <a:ext cx="3590488" cy="307777"/>
          </a:xfrm>
          <a:prstGeom prst="rect">
            <a:avLst/>
          </a:prstGeom>
          <a:noFill/>
        </p:spPr>
        <p:txBody>
          <a:bodyPr wrap="square" rtlCol="0">
            <a:spAutoFit/>
          </a:bodyPr>
          <a:lstStyle/>
          <a:p>
            <a:r>
              <a:rPr lang="it-IT" dirty="0"/>
              <a:t>Non nell’ideale da rivedere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35EE1181-9EF8-3410-3475-78CF713C7C37}"/>
              </a:ext>
            </a:extLst>
          </p:cNvPr>
          <p:cNvSpPr txBox="1"/>
          <p:nvPr/>
        </p:nvSpPr>
        <p:spPr>
          <a:xfrm>
            <a:off x="1310640" y="473978"/>
            <a:ext cx="5849364" cy="307777"/>
          </a:xfrm>
          <a:prstGeom prst="rect">
            <a:avLst/>
          </a:prstGeom>
          <a:noFill/>
        </p:spPr>
        <p:txBody>
          <a:bodyPr wrap="square" rtlCol="0">
            <a:spAutoFit/>
          </a:bodyPr>
          <a:lstStyle/>
          <a:p>
            <a:r>
              <a:rPr lang="it-IT" dirty="0"/>
              <a:t>Cambia </a:t>
            </a:r>
            <a:r>
              <a:rPr lang="it-IT" dirty="0" err="1"/>
              <a:t>fc</a:t>
            </a:r>
            <a:endParaRPr lang="it-IT" dirty="0"/>
          </a:p>
        </p:txBody>
      </p:sp>
      <p:pic>
        <p:nvPicPr>
          <p:cNvPr id="7" name="Immagine 6">
            <a:extLst>
              <a:ext uri="{FF2B5EF4-FFF2-40B4-BE49-F238E27FC236}">
                <a16:creationId xmlns:a16="http://schemas.microsoft.com/office/drawing/2014/main" id="{6A1F7630-7B5B-D9F0-EB3A-52CA25D676C8}"/>
              </a:ext>
            </a:extLst>
          </p:cNvPr>
          <p:cNvPicPr>
            <a:picLocks noChangeAspect="1"/>
          </p:cNvPicPr>
          <p:nvPr/>
        </p:nvPicPr>
        <p:blipFill>
          <a:blip r:embed="rId2"/>
          <a:stretch>
            <a:fillRect/>
          </a:stretch>
        </p:blipFill>
        <p:spPr>
          <a:xfrm>
            <a:off x="1863436" y="1652853"/>
            <a:ext cx="8934909" cy="3816546"/>
          </a:xfrm>
          <a:prstGeom prst="rect">
            <a:avLst/>
          </a:prstGeom>
        </p:spPr>
      </p:pic>
    </p:spTree>
    <p:extLst>
      <p:ext uri="{BB962C8B-B14F-4D97-AF65-F5344CB8AC3E}">
        <p14:creationId xmlns:p14="http://schemas.microsoft.com/office/powerpoint/2010/main" val="2106540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pic>
        <p:nvPicPr>
          <p:cNvPr id="670" name="Google Shape;670;p72"/>
          <p:cNvPicPr preferRelativeResize="0"/>
          <p:nvPr/>
        </p:nvPicPr>
        <p:blipFill rotWithShape="1">
          <a:blip r:embed="rId3">
            <a:alphaModFix/>
          </a:blip>
          <a:srcRect/>
          <a:stretch/>
        </p:blipFill>
        <p:spPr>
          <a:xfrm>
            <a:off x="1400622" y="4267802"/>
            <a:ext cx="10349477" cy="2390425"/>
          </a:xfrm>
          <a:prstGeom prst="rect">
            <a:avLst/>
          </a:prstGeom>
          <a:noFill/>
          <a:ln>
            <a:noFill/>
          </a:ln>
        </p:spPr>
      </p:pic>
      <p:pic>
        <p:nvPicPr>
          <p:cNvPr id="671" name="Google Shape;671;p72"/>
          <p:cNvPicPr preferRelativeResize="0"/>
          <p:nvPr/>
        </p:nvPicPr>
        <p:blipFill rotWithShape="1">
          <a:blip r:embed="rId4">
            <a:alphaModFix/>
          </a:blip>
          <a:srcRect/>
          <a:stretch/>
        </p:blipFill>
        <p:spPr>
          <a:xfrm>
            <a:off x="680951" y="1074788"/>
            <a:ext cx="5960663" cy="2390424"/>
          </a:xfrm>
          <a:prstGeom prst="rect">
            <a:avLst/>
          </a:prstGeom>
          <a:noFill/>
          <a:ln>
            <a:noFill/>
          </a:ln>
        </p:spPr>
      </p:pic>
      <p:pic>
        <p:nvPicPr>
          <p:cNvPr id="672" name="Google Shape;672;p72"/>
          <p:cNvPicPr preferRelativeResize="0"/>
          <p:nvPr/>
        </p:nvPicPr>
        <p:blipFill rotWithShape="1">
          <a:blip r:embed="rId5">
            <a:alphaModFix/>
          </a:blip>
          <a:srcRect/>
          <a:stretch/>
        </p:blipFill>
        <p:spPr>
          <a:xfrm>
            <a:off x="6809451" y="1180499"/>
            <a:ext cx="5024225" cy="228470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pic>
        <p:nvPicPr>
          <p:cNvPr id="678" name="Google Shape;678;p73"/>
          <p:cNvPicPr preferRelativeResize="0"/>
          <p:nvPr/>
        </p:nvPicPr>
        <p:blipFill rotWithShape="1">
          <a:blip r:embed="rId3">
            <a:alphaModFix/>
          </a:blip>
          <a:srcRect/>
          <a:stretch/>
        </p:blipFill>
        <p:spPr>
          <a:xfrm>
            <a:off x="859449" y="1555225"/>
            <a:ext cx="5039726" cy="2291750"/>
          </a:xfrm>
          <a:prstGeom prst="rect">
            <a:avLst/>
          </a:prstGeom>
          <a:noFill/>
          <a:ln>
            <a:noFill/>
          </a:ln>
        </p:spPr>
      </p:pic>
      <p:pic>
        <p:nvPicPr>
          <p:cNvPr id="679" name="Google Shape;679;p73"/>
          <p:cNvPicPr preferRelativeResize="0"/>
          <p:nvPr/>
        </p:nvPicPr>
        <p:blipFill rotWithShape="1">
          <a:blip r:embed="rId4">
            <a:alphaModFix/>
          </a:blip>
          <a:srcRect/>
          <a:stretch/>
        </p:blipFill>
        <p:spPr>
          <a:xfrm>
            <a:off x="1540575" y="4133646"/>
            <a:ext cx="10442275" cy="2411850"/>
          </a:xfrm>
          <a:prstGeom prst="rect">
            <a:avLst/>
          </a:prstGeom>
          <a:noFill/>
          <a:ln>
            <a:noFill/>
          </a:ln>
        </p:spPr>
      </p:pic>
      <p:pic>
        <p:nvPicPr>
          <p:cNvPr id="680" name="Google Shape;680;p73"/>
          <p:cNvPicPr preferRelativeResize="0"/>
          <p:nvPr/>
        </p:nvPicPr>
        <p:blipFill rotWithShape="1">
          <a:blip r:embed="rId5">
            <a:alphaModFix/>
          </a:blip>
          <a:srcRect/>
          <a:stretch/>
        </p:blipFill>
        <p:spPr>
          <a:xfrm>
            <a:off x="6711083" y="1864057"/>
            <a:ext cx="5100676" cy="198292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01AC5DE8-4800-CD07-7FC5-72F7963637C7}"/>
              </a:ext>
            </a:extLst>
          </p:cNvPr>
          <p:cNvPicPr>
            <a:picLocks noChangeAspect="1"/>
          </p:cNvPicPr>
          <p:nvPr/>
        </p:nvPicPr>
        <p:blipFill>
          <a:blip r:embed="rId2"/>
          <a:stretch>
            <a:fillRect/>
          </a:stretch>
        </p:blipFill>
        <p:spPr>
          <a:xfrm>
            <a:off x="6785518" y="177135"/>
            <a:ext cx="5167396" cy="2532509"/>
          </a:xfrm>
          <a:prstGeom prst="rect">
            <a:avLst/>
          </a:prstGeom>
        </p:spPr>
      </p:pic>
      <p:pic>
        <p:nvPicPr>
          <p:cNvPr id="7" name="Immagine 6">
            <a:extLst>
              <a:ext uri="{FF2B5EF4-FFF2-40B4-BE49-F238E27FC236}">
                <a16:creationId xmlns:a16="http://schemas.microsoft.com/office/drawing/2014/main" id="{10A9F5F5-6B5F-363C-EA4F-13CA2115DCEF}"/>
              </a:ext>
            </a:extLst>
          </p:cNvPr>
          <p:cNvPicPr>
            <a:picLocks noChangeAspect="1"/>
          </p:cNvPicPr>
          <p:nvPr/>
        </p:nvPicPr>
        <p:blipFill>
          <a:blip r:embed="rId3"/>
          <a:stretch>
            <a:fillRect/>
          </a:stretch>
        </p:blipFill>
        <p:spPr>
          <a:xfrm>
            <a:off x="6785517" y="3093681"/>
            <a:ext cx="5167395" cy="2532509"/>
          </a:xfrm>
          <a:prstGeom prst="rect">
            <a:avLst/>
          </a:prstGeom>
        </p:spPr>
      </p:pic>
      <p:pic>
        <p:nvPicPr>
          <p:cNvPr id="9" name="Immagine 8">
            <a:extLst>
              <a:ext uri="{FF2B5EF4-FFF2-40B4-BE49-F238E27FC236}">
                <a16:creationId xmlns:a16="http://schemas.microsoft.com/office/drawing/2014/main" id="{2CC15F60-4F4C-E42B-7F6A-6F372E977E84}"/>
              </a:ext>
            </a:extLst>
          </p:cNvPr>
          <p:cNvPicPr>
            <a:picLocks noChangeAspect="1"/>
          </p:cNvPicPr>
          <p:nvPr/>
        </p:nvPicPr>
        <p:blipFill>
          <a:blip r:embed="rId4"/>
          <a:stretch>
            <a:fillRect/>
          </a:stretch>
        </p:blipFill>
        <p:spPr>
          <a:xfrm>
            <a:off x="969219" y="2035397"/>
            <a:ext cx="4941116" cy="1949803"/>
          </a:xfrm>
          <a:prstGeom prst="rect">
            <a:avLst/>
          </a:prstGeom>
        </p:spPr>
      </p:pic>
      <p:pic>
        <p:nvPicPr>
          <p:cNvPr id="11" name="Immagine 10">
            <a:extLst>
              <a:ext uri="{FF2B5EF4-FFF2-40B4-BE49-F238E27FC236}">
                <a16:creationId xmlns:a16="http://schemas.microsoft.com/office/drawing/2014/main" id="{E8D66E3A-48BA-E798-0BBE-549BBDBD7575}"/>
              </a:ext>
            </a:extLst>
          </p:cNvPr>
          <p:cNvPicPr>
            <a:picLocks noChangeAspect="1"/>
          </p:cNvPicPr>
          <p:nvPr/>
        </p:nvPicPr>
        <p:blipFill>
          <a:blip r:embed="rId5"/>
          <a:stretch>
            <a:fillRect/>
          </a:stretch>
        </p:blipFill>
        <p:spPr>
          <a:xfrm>
            <a:off x="964735" y="3593161"/>
            <a:ext cx="4945600" cy="1851294"/>
          </a:xfrm>
          <a:prstGeom prst="rect">
            <a:avLst/>
          </a:prstGeom>
        </p:spPr>
      </p:pic>
      <p:sp>
        <p:nvSpPr>
          <p:cNvPr id="12" name="CasellaDiTesto 11">
            <a:extLst>
              <a:ext uri="{FF2B5EF4-FFF2-40B4-BE49-F238E27FC236}">
                <a16:creationId xmlns:a16="http://schemas.microsoft.com/office/drawing/2014/main" id="{AC75CC70-776E-B415-EC4E-2C76510EF390}"/>
              </a:ext>
            </a:extLst>
          </p:cNvPr>
          <p:cNvSpPr txBox="1"/>
          <p:nvPr/>
        </p:nvSpPr>
        <p:spPr>
          <a:xfrm>
            <a:off x="696287" y="5977155"/>
            <a:ext cx="4639112" cy="523220"/>
          </a:xfrm>
          <a:prstGeom prst="rect">
            <a:avLst/>
          </a:prstGeom>
          <a:noFill/>
        </p:spPr>
        <p:txBody>
          <a:bodyPr wrap="square" rtlCol="0">
            <a:spAutoFit/>
          </a:bodyPr>
          <a:lstStyle/>
          <a:p>
            <a:r>
              <a:rPr lang="it-IT" dirty="0"/>
              <a:t>Si osserva come col passivo ma comportamento in frequenza oscillatoria</a:t>
            </a:r>
          </a:p>
        </p:txBody>
      </p:sp>
      <p:pic>
        <p:nvPicPr>
          <p:cNvPr id="13" name="Immagine 12">
            <a:extLst>
              <a:ext uri="{FF2B5EF4-FFF2-40B4-BE49-F238E27FC236}">
                <a16:creationId xmlns:a16="http://schemas.microsoft.com/office/drawing/2014/main" id="{2E2E70CD-CC39-D365-D4CE-8744D47DC487}"/>
              </a:ext>
            </a:extLst>
          </p:cNvPr>
          <p:cNvPicPr>
            <a:picLocks noChangeAspect="1"/>
          </p:cNvPicPr>
          <p:nvPr/>
        </p:nvPicPr>
        <p:blipFill>
          <a:blip r:embed="rId6"/>
          <a:stretch>
            <a:fillRect/>
          </a:stretch>
        </p:blipFill>
        <p:spPr>
          <a:xfrm>
            <a:off x="5167725" y="5577242"/>
            <a:ext cx="1971202" cy="1227575"/>
          </a:xfrm>
          <a:prstGeom prst="rect">
            <a:avLst/>
          </a:prstGeom>
        </p:spPr>
      </p:pic>
      <p:sp>
        <p:nvSpPr>
          <p:cNvPr id="14" name="CasellaDiTesto 13">
            <a:extLst>
              <a:ext uri="{FF2B5EF4-FFF2-40B4-BE49-F238E27FC236}">
                <a16:creationId xmlns:a16="http://schemas.microsoft.com/office/drawing/2014/main" id="{3C70B5F8-CE62-914A-A55D-3FF3282AA5E3}"/>
              </a:ext>
            </a:extLst>
          </p:cNvPr>
          <p:cNvSpPr txBox="1"/>
          <p:nvPr/>
        </p:nvSpPr>
        <p:spPr>
          <a:xfrm>
            <a:off x="1275128" y="465589"/>
            <a:ext cx="5649985" cy="523220"/>
          </a:xfrm>
          <a:prstGeom prst="rect">
            <a:avLst/>
          </a:prstGeom>
          <a:noFill/>
        </p:spPr>
        <p:txBody>
          <a:bodyPr wrap="square" rtlCol="0">
            <a:spAutoFit/>
          </a:bodyPr>
          <a:lstStyle/>
          <a:p>
            <a:r>
              <a:rPr lang="it-IT" dirty="0"/>
              <a:t>A basse frequenze con le stesso con cui abbiamo studiato la carica e scarica i parassiti sono superflui</a:t>
            </a:r>
          </a:p>
        </p:txBody>
      </p:sp>
      <p:sp>
        <p:nvSpPr>
          <p:cNvPr id="15" name="CasellaDiTesto 14">
            <a:extLst>
              <a:ext uri="{FF2B5EF4-FFF2-40B4-BE49-F238E27FC236}">
                <a16:creationId xmlns:a16="http://schemas.microsoft.com/office/drawing/2014/main" id="{6E3B1999-099A-F7FE-50CD-85D85E225266}"/>
              </a:ext>
            </a:extLst>
          </p:cNvPr>
          <p:cNvSpPr txBox="1"/>
          <p:nvPr/>
        </p:nvSpPr>
        <p:spPr>
          <a:xfrm>
            <a:off x="1413545" y="1266738"/>
            <a:ext cx="5566095" cy="307777"/>
          </a:xfrm>
          <a:prstGeom prst="rect">
            <a:avLst/>
          </a:prstGeom>
          <a:noFill/>
        </p:spPr>
        <p:txBody>
          <a:bodyPr wrap="square" rtlCol="0">
            <a:spAutoFit/>
          </a:bodyPr>
          <a:lstStyle/>
          <a:p>
            <a:r>
              <a:rPr lang="it-IT" dirty="0"/>
              <a:t>Aumentiamo la frequenza:</a:t>
            </a:r>
          </a:p>
        </p:txBody>
      </p:sp>
      <p:pic>
        <p:nvPicPr>
          <p:cNvPr id="16" name="Immagine 15">
            <a:extLst>
              <a:ext uri="{FF2B5EF4-FFF2-40B4-BE49-F238E27FC236}">
                <a16:creationId xmlns:a16="http://schemas.microsoft.com/office/drawing/2014/main" id="{1936B65C-DDDF-B57A-2356-928C9926C947}"/>
              </a:ext>
            </a:extLst>
          </p:cNvPr>
          <p:cNvPicPr>
            <a:picLocks noChangeAspect="1"/>
          </p:cNvPicPr>
          <p:nvPr/>
        </p:nvPicPr>
        <p:blipFill>
          <a:blip r:embed="rId7"/>
          <a:stretch>
            <a:fillRect/>
          </a:stretch>
        </p:blipFill>
        <p:spPr>
          <a:xfrm>
            <a:off x="3813631" y="1536527"/>
            <a:ext cx="3325296" cy="1629707"/>
          </a:xfrm>
          <a:prstGeom prst="rect">
            <a:avLst/>
          </a:prstGeom>
        </p:spPr>
      </p:pic>
    </p:spTree>
    <p:extLst>
      <p:ext uri="{BB962C8B-B14F-4D97-AF65-F5344CB8AC3E}">
        <p14:creationId xmlns:p14="http://schemas.microsoft.com/office/powerpoint/2010/main" val="21376956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93"/>
        <p:cNvGrpSpPr/>
        <p:nvPr/>
      </p:nvGrpSpPr>
      <p:grpSpPr>
        <a:xfrm>
          <a:off x="0" y="0"/>
          <a:ext cx="0" cy="0"/>
          <a:chOff x="0" y="0"/>
          <a:chExt cx="0" cy="0"/>
        </a:xfrm>
      </p:grpSpPr>
      <p:sp>
        <p:nvSpPr>
          <p:cNvPr id="694" name="Google Shape;694;p75"/>
          <p:cNvSpPr txBox="1"/>
          <p:nvPr/>
        </p:nvSpPr>
        <p:spPr>
          <a:xfrm>
            <a:off x="1378800" y="650275"/>
            <a:ext cx="95496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500">
                <a:solidFill>
                  <a:srgbClr val="073763"/>
                </a:solidFill>
                <a:latin typeface="Libre Franklin SemiBold"/>
                <a:ea typeface="Libre Franklin SemiBold"/>
                <a:cs typeface="Libre Franklin SemiBold"/>
                <a:sym typeface="Libre Franklin SemiBold"/>
              </a:rPr>
              <a:t>Filtro attivo con condensatore reale e parassiti</a:t>
            </a:r>
            <a:endParaRPr sz="2500">
              <a:solidFill>
                <a:srgbClr val="073763"/>
              </a:solidFill>
              <a:latin typeface="Libre Franklin SemiBold"/>
              <a:ea typeface="Libre Franklin SemiBold"/>
              <a:cs typeface="Libre Franklin SemiBold"/>
              <a:sym typeface="Libre Franklin SemiBold"/>
            </a:endParaRPr>
          </a:p>
        </p:txBody>
      </p:sp>
      <p:sp>
        <p:nvSpPr>
          <p:cNvPr id="695" name="Google Shape;695;p75"/>
          <p:cNvSpPr txBox="1"/>
          <p:nvPr/>
        </p:nvSpPr>
        <p:spPr>
          <a:xfrm>
            <a:off x="1378800" y="1407425"/>
            <a:ext cx="8110800" cy="1685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000">
                <a:solidFill>
                  <a:schemeClr val="dk1"/>
                </a:solidFill>
                <a:latin typeface="Libre Franklin"/>
                <a:ea typeface="Libre Franklin"/>
                <a:cs typeface="Libre Franklin"/>
                <a:sym typeface="Libre Franklin"/>
              </a:rPr>
              <a:t>In questa simulazione viene confrontato il filtro passa-alto attivo ideale con una versione in cui il condensatore non è più considerato perfetto. Nel circuito inferiore, infatti, il condensatore è modellato con i suoi parassiti principali: una ESR in serie e una ESL in serie.</a:t>
            </a:r>
            <a:endParaRPr sz="10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0"/>
              </a:spcAft>
              <a:buNone/>
            </a:pPr>
            <a:r>
              <a:rPr lang="it-IT" sz="1000">
                <a:solidFill>
                  <a:schemeClr val="dk1"/>
                </a:solidFill>
                <a:latin typeface="Libre Franklin"/>
                <a:ea typeface="Libre Franklin"/>
                <a:cs typeface="Libre Franklin"/>
                <a:sym typeface="Libre Franklin"/>
              </a:rPr>
              <a:t>Il modello reale diventa quindi:</a:t>
            </a:r>
            <a:endParaRPr sz="10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0"/>
              </a:spcAft>
              <a:buNone/>
            </a:pPr>
            <a:r>
              <a:rPr lang="it-IT" sz="1000">
                <a:solidFill>
                  <a:schemeClr val="dk1"/>
                </a:solidFill>
                <a:latin typeface="Libre Franklin"/>
                <a:ea typeface="Libre Franklin"/>
                <a:cs typeface="Libre Franklin"/>
                <a:sym typeface="Libre Franklin"/>
              </a:rPr>
              <a:t>C+ESR+ESLC + ESR + ESLC+ESR+ESL</a:t>
            </a:r>
            <a:endParaRPr sz="10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000">
                <a:solidFill>
                  <a:schemeClr val="dk1"/>
                </a:solidFill>
                <a:latin typeface="Libre Franklin"/>
                <a:ea typeface="Libre Franklin"/>
                <a:cs typeface="Libre Franklin"/>
                <a:sym typeface="Libre Franklin"/>
              </a:rPr>
              <a:t>dove la ESR rappresenta le perdite resistive del condensatore, mentre la ESL rappresenta la piccola induttanza parassita dovuta alla struttura fisica del componente.</a:t>
            </a:r>
            <a:endParaRPr sz="1000">
              <a:solidFill>
                <a:schemeClr val="dk1"/>
              </a:solidFill>
              <a:latin typeface="Libre Franklin"/>
              <a:ea typeface="Libre Franklin"/>
              <a:cs typeface="Libre Franklin"/>
              <a:sym typeface="Libre Franklin"/>
            </a:endParaRPr>
          </a:p>
        </p:txBody>
      </p:sp>
      <p:pic>
        <p:nvPicPr>
          <p:cNvPr id="696" name="Google Shape;696;p75"/>
          <p:cNvPicPr preferRelativeResize="0"/>
          <p:nvPr/>
        </p:nvPicPr>
        <p:blipFill rotWithShape="1">
          <a:blip r:embed="rId3">
            <a:alphaModFix/>
          </a:blip>
          <a:srcRect/>
          <a:stretch/>
        </p:blipFill>
        <p:spPr>
          <a:xfrm>
            <a:off x="1378810" y="3727700"/>
            <a:ext cx="6250639" cy="1142024"/>
          </a:xfrm>
          <a:prstGeom prst="rect">
            <a:avLst/>
          </a:prstGeom>
          <a:noFill/>
          <a:ln>
            <a:noFill/>
          </a:ln>
        </p:spPr>
      </p:pic>
      <p:pic>
        <p:nvPicPr>
          <p:cNvPr id="697" name="Google Shape;697;p75"/>
          <p:cNvPicPr preferRelativeResize="0"/>
          <p:nvPr/>
        </p:nvPicPr>
        <p:blipFill rotWithShape="1">
          <a:blip r:embed="rId4">
            <a:alphaModFix/>
          </a:blip>
          <a:srcRect/>
          <a:stretch/>
        </p:blipFill>
        <p:spPr>
          <a:xfrm>
            <a:off x="8116922" y="2911045"/>
            <a:ext cx="2510018" cy="2887683"/>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702"/>
        <p:cNvGrpSpPr/>
        <p:nvPr/>
      </p:nvGrpSpPr>
      <p:grpSpPr>
        <a:xfrm>
          <a:off x="0" y="0"/>
          <a:ext cx="0" cy="0"/>
          <a:chOff x="0" y="0"/>
          <a:chExt cx="0" cy="0"/>
        </a:xfrm>
      </p:grpSpPr>
      <p:sp>
        <p:nvSpPr>
          <p:cNvPr id="703" name="Google Shape;703;p76"/>
          <p:cNvSpPr txBox="1"/>
          <p:nvPr/>
        </p:nvSpPr>
        <p:spPr>
          <a:xfrm>
            <a:off x="1165750" y="504675"/>
            <a:ext cx="7214700" cy="882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it-IT" sz="1200" b="1">
                <a:solidFill>
                  <a:schemeClr val="dk1"/>
                </a:solidFill>
                <a:latin typeface="Libre Franklin"/>
                <a:ea typeface="Libre Franklin"/>
                <a:cs typeface="Libre Franklin"/>
                <a:sym typeface="Libre Franklin"/>
              </a:rPr>
              <a:t>Effetto dell’ESL: comparsa del comportamento passa-basso</a:t>
            </a:r>
            <a:endParaRPr sz="1200" b="1">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000">
                <a:solidFill>
                  <a:schemeClr val="dk1"/>
                </a:solidFill>
                <a:latin typeface="Libre Franklin"/>
                <a:ea typeface="Libre Franklin"/>
                <a:cs typeface="Libre Franklin"/>
                <a:sym typeface="Libre Franklin"/>
              </a:rPr>
              <a:t>Quando si introducono i parassiti del condensatore, alle alte frequenze entra in gioco l’induttanza serie ESL. A basse frequenze domina la capacità, ma ad alte frequenze l’impedenza dell’induttanza cresce:</a:t>
            </a:r>
            <a:endParaRPr sz="1300">
              <a:latin typeface="Libre Franklin"/>
              <a:ea typeface="Libre Franklin"/>
              <a:cs typeface="Libre Franklin"/>
              <a:sym typeface="Libre Franklin"/>
            </a:endParaRPr>
          </a:p>
        </p:txBody>
      </p:sp>
      <p:pic>
        <p:nvPicPr>
          <p:cNvPr id="704" name="Google Shape;704;p76"/>
          <p:cNvPicPr preferRelativeResize="0"/>
          <p:nvPr/>
        </p:nvPicPr>
        <p:blipFill>
          <a:blip r:embed="rId3">
            <a:alphaModFix/>
          </a:blip>
          <a:stretch>
            <a:fillRect/>
          </a:stretch>
        </p:blipFill>
        <p:spPr>
          <a:xfrm>
            <a:off x="1524275" y="1638050"/>
            <a:ext cx="1439850" cy="2988125"/>
          </a:xfrm>
          <a:prstGeom prst="rect">
            <a:avLst/>
          </a:prstGeom>
          <a:noFill/>
          <a:ln>
            <a:noFill/>
          </a:ln>
        </p:spPr>
      </p:pic>
      <p:sp>
        <p:nvSpPr>
          <p:cNvPr id="705" name="Google Shape;705;p76"/>
          <p:cNvSpPr txBox="1"/>
          <p:nvPr/>
        </p:nvSpPr>
        <p:spPr>
          <a:xfrm>
            <a:off x="3397725" y="1606450"/>
            <a:ext cx="7307400" cy="692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it-IT" sz="1000">
                <a:solidFill>
                  <a:schemeClr val="dk1"/>
                </a:solidFill>
                <a:latin typeface="Libre Franklin"/>
                <a:ea typeface="Libre Franklin"/>
                <a:cs typeface="Libre Franklin"/>
                <a:sym typeface="Libre Franklin"/>
              </a:rPr>
              <a:t>Dopo questa frequenza, l’ESL domina e il condensatore reale inizia a comportarsi come una piccola induttanza. Per questo motivo la risposta, invece di restare piatta alle alte frequenze, tende a diminuire: compare un effetto simile a un passa-basso.</a:t>
            </a:r>
            <a:endParaRPr sz="1000">
              <a:solidFill>
                <a:schemeClr val="dk1"/>
              </a:solidFill>
              <a:latin typeface="Libre Franklin"/>
              <a:ea typeface="Libre Franklin"/>
              <a:cs typeface="Libre Franklin"/>
              <a:sym typeface="Libre Franklin"/>
            </a:endParaRPr>
          </a:p>
        </p:txBody>
      </p:sp>
      <p:sp>
        <p:nvSpPr>
          <p:cNvPr id="706" name="Google Shape;706;p76"/>
          <p:cNvSpPr txBox="1"/>
          <p:nvPr/>
        </p:nvSpPr>
        <p:spPr>
          <a:xfrm>
            <a:off x="3330225" y="2704325"/>
            <a:ext cx="7442400" cy="1708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000">
                <a:solidFill>
                  <a:schemeClr val="dk1"/>
                </a:solidFill>
                <a:latin typeface="Libre Franklin"/>
                <a:ea typeface="Libre Franklin"/>
                <a:cs typeface="Libre Franklin"/>
                <a:sym typeface="Libre Franklin"/>
              </a:rPr>
              <a:t>Anche con un opamp ideale il comportamento passa-basso dovuto all’ESL può comparire, perché non dipende dall’operazionale ma dal modello reale del condensatore.</a:t>
            </a:r>
            <a:endParaRPr sz="10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0"/>
              </a:spcAft>
              <a:buNone/>
            </a:pPr>
            <a:r>
              <a:rPr lang="it-IT" sz="1000">
                <a:solidFill>
                  <a:schemeClr val="dk1"/>
                </a:solidFill>
                <a:latin typeface="Libre Franklin"/>
                <a:ea typeface="Libre Franklin"/>
                <a:cs typeface="Libre Franklin"/>
                <a:sym typeface="Libre Franklin"/>
              </a:rPr>
              <a:t>L’opamp ideale elimina limiti come banda passante, slew rate e impedenza di uscita, ma non elimina i parassiti dei componenti esterni. Quindi, se il condensatore viene modellato con ESL ed ESR, la risposta del filtro attivo risente comunque della risonanza del condensatore.</a:t>
            </a:r>
            <a:endParaRPr sz="1000">
              <a:solidFill>
                <a:schemeClr val="dk1"/>
              </a:solidFill>
              <a:latin typeface="Libre Franklin"/>
              <a:ea typeface="Libre Franklin"/>
              <a:cs typeface="Libre Franklin"/>
              <a:sym typeface="Libre Franklin"/>
            </a:endParaRPr>
          </a:p>
          <a:p>
            <a:pPr marL="0" lvl="0" indent="0" algn="l" rtl="0">
              <a:lnSpc>
                <a:spcPct val="115000"/>
              </a:lnSpc>
              <a:spcBef>
                <a:spcPts val="1200"/>
              </a:spcBef>
              <a:spcAft>
                <a:spcPts val="1200"/>
              </a:spcAft>
              <a:buNone/>
            </a:pPr>
            <a:r>
              <a:rPr lang="it-IT" sz="1000">
                <a:solidFill>
                  <a:schemeClr val="dk1"/>
                </a:solidFill>
                <a:latin typeface="Libre Franklin"/>
                <a:ea typeface="Libre Franklin"/>
                <a:cs typeface="Libre Franklin"/>
                <a:sym typeface="Libre Franklin"/>
              </a:rPr>
              <a:t>Nel grafico si vede infatti che la risposta passa-alto cresce e poi rimane stabile, ma alle frequenze molto alte tende a scendere. Questa discesa non è causata dal limite dell’opamp, ma dal comportamento induttivo del condensatore reale.</a:t>
            </a:r>
            <a:endParaRPr sz="1000">
              <a:solidFill>
                <a:schemeClr val="dk1"/>
              </a:solidFill>
              <a:latin typeface="Libre Franklin"/>
              <a:ea typeface="Libre Franklin"/>
              <a:cs typeface="Libre Franklin"/>
              <a:sym typeface="Libre Franklin"/>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711"/>
        <p:cNvGrpSpPr/>
        <p:nvPr/>
      </p:nvGrpSpPr>
      <p:grpSpPr>
        <a:xfrm>
          <a:off x="0" y="0"/>
          <a:ext cx="0" cy="0"/>
          <a:chOff x="0" y="0"/>
          <a:chExt cx="0" cy="0"/>
        </a:xfrm>
      </p:grpSpPr>
      <p:pic>
        <p:nvPicPr>
          <p:cNvPr id="712" name="Google Shape;712;p77"/>
          <p:cNvPicPr preferRelativeResize="0"/>
          <p:nvPr/>
        </p:nvPicPr>
        <p:blipFill rotWithShape="1">
          <a:blip r:embed="rId3">
            <a:alphaModFix/>
          </a:blip>
          <a:srcRect/>
          <a:stretch/>
        </p:blipFill>
        <p:spPr>
          <a:xfrm>
            <a:off x="1144407" y="500963"/>
            <a:ext cx="9739549" cy="4773300"/>
          </a:xfrm>
          <a:prstGeom prst="rect">
            <a:avLst/>
          </a:prstGeom>
          <a:noFill/>
          <a:ln>
            <a:noFill/>
          </a:ln>
        </p:spPr>
      </p:pic>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o">
  <a:themeElements>
    <a:clrScheme name="Organico">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o">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o">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Tema di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Organic</Template>
  <TotalTime>588</TotalTime>
  <Words>6769</Words>
  <Application>Microsoft Office PowerPoint</Application>
  <PresentationFormat>Widescreen</PresentationFormat>
  <Paragraphs>409</Paragraphs>
  <Slides>71</Slides>
  <Notes>60</Notes>
  <HiddenSlides>0</HiddenSlides>
  <MMClips>0</MMClips>
  <ScaleCrop>false</ScaleCrop>
  <HeadingPairs>
    <vt:vector size="6" baseType="variant">
      <vt:variant>
        <vt:lpstr>Caratteri utilizzati</vt:lpstr>
      </vt:variant>
      <vt:variant>
        <vt:i4>10</vt:i4>
      </vt:variant>
      <vt:variant>
        <vt:lpstr>Tema</vt:lpstr>
      </vt:variant>
      <vt:variant>
        <vt:i4>1</vt:i4>
      </vt:variant>
      <vt:variant>
        <vt:lpstr>Titoli diapositive</vt:lpstr>
      </vt:variant>
      <vt:variant>
        <vt:i4>71</vt:i4>
      </vt:variant>
    </vt:vector>
  </HeadingPairs>
  <TitlesOfParts>
    <vt:vector size="82" baseType="lpstr">
      <vt:lpstr>Segoe UI</vt:lpstr>
      <vt:lpstr>Libre Franklin SemiBold</vt:lpstr>
      <vt:lpstr>Arial</vt:lpstr>
      <vt:lpstr>Open Sans</vt:lpstr>
      <vt:lpstr>Garamond</vt:lpstr>
      <vt:lpstr>Cambria Math</vt:lpstr>
      <vt:lpstr>Calibri</vt:lpstr>
      <vt:lpstr>Libre Franklin</vt:lpstr>
      <vt:lpstr>Segoe UI Semibold</vt:lpstr>
      <vt:lpstr>Aptos</vt:lpstr>
      <vt:lpstr>Organico</vt:lpstr>
      <vt:lpstr>GALASSIA</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RICCARDO SCOLA COLOMBO</cp:lastModifiedBy>
  <cp:revision>31</cp:revision>
  <dcterms:modified xsi:type="dcterms:W3CDTF">2026-06-28T14:27:26Z</dcterms:modified>
</cp:coreProperties>
</file>