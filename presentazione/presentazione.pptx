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32"/>
  </p:notesMasterIdLst>
  <p:handoutMasterIdLst>
    <p:handoutMasterId r:id="rId33"/>
  </p:handoutMasterIdLst>
  <p:sldIdLst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50" r:id="rId20"/>
    <p:sldId id="349" r:id="rId21"/>
    <p:sldId id="351" r:id="rId22"/>
    <p:sldId id="352" r:id="rId23"/>
    <p:sldId id="353" r:id="rId24"/>
    <p:sldId id="354" r:id="rId25"/>
    <p:sldId id="356" r:id="rId26"/>
    <p:sldId id="355" r:id="rId27"/>
    <p:sldId id="357" r:id="rId28"/>
    <p:sldId id="358" r:id="rId29"/>
    <p:sldId id="359" r:id="rId30"/>
    <p:sldId id="360" r:id="rId31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6537" autoAdjust="0"/>
  </p:normalViewPr>
  <p:slideViewPr>
    <p:cSldViewPr snapToGrid="0">
      <p:cViewPr varScale="1">
        <p:scale>
          <a:sx n="161" d="100"/>
          <a:sy n="161" d="100"/>
        </p:scale>
        <p:origin x="232" y="100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03E67EA5-8EFE-4CDE-A774-E9526279E6E4}" type="datetime1">
              <a:rPr lang="it-IT" smtClean="0"/>
              <a:t>06/06/2026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397C78D2-97D1-4B37-BDD1-08A09BD4CA9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78D779EF-F8B6-4ACA-8018-CCDCFAC7DE9C}" type="datetime1">
              <a:rPr lang="it-IT" smtClean="0"/>
              <a:t>06/06/2026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D5939589-3E79-4C82-AA4A-FE78234FAA5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5939589-3E79-4C82-AA4A-FE78234FAA59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solo tito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immagi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rtlCol="0" anchor="b"/>
          <a:lstStyle>
            <a:lvl1pPr algn="r">
              <a:lnSpc>
                <a:spcPts val="4000"/>
              </a:lnSpc>
              <a:defRPr lang="it-IT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rtlCol="0" anchor="t">
            <a:noAutofit/>
          </a:bodyPr>
          <a:lstStyle>
            <a:lvl1pPr algn="ctr">
              <a:buNone/>
              <a:defRPr lang="it-IT"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4pPr>
            <a:lvl5pPr marL="1828800" indent="0" algn="r">
              <a:buNone/>
              <a:defRPr lang="it-IT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emento grafico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3" name="Elemento grafico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7" name="Elemento grafico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immagi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3" name="Segnaposto immagine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it-IT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sottotitolo + immagi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buNone/>
              <a:defRPr lang="it-IT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it-IT" sz="2000"/>
            </a:lvl2pPr>
            <a:lvl3pPr marL="914400" indent="0" algn="ctr">
              <a:buNone/>
              <a:defRPr lang="it-IT" sz="1800"/>
            </a:lvl3pPr>
            <a:lvl4pPr marL="1371600" indent="0" algn="ctr">
              <a:buNone/>
              <a:defRPr lang="it-IT" sz="1600"/>
            </a:lvl4pPr>
            <a:lvl5pPr marL="1828800" indent="0" algn="ctr">
              <a:buNone/>
              <a:defRPr lang="it-IT" sz="1600"/>
            </a:lvl5pPr>
            <a:lvl6pPr marL="2286000" indent="0" algn="ctr">
              <a:buNone/>
              <a:defRPr lang="it-IT" sz="1600"/>
            </a:lvl6pPr>
            <a:lvl7pPr marL="2743200" indent="0" algn="ctr">
              <a:buNone/>
              <a:defRPr lang="it-IT" sz="1600"/>
            </a:lvl7pPr>
            <a:lvl8pPr marL="3200400" indent="0" algn="ctr">
              <a:buNone/>
              <a:defRPr lang="it-IT" sz="1600"/>
            </a:lvl8pPr>
            <a:lvl9pPr marL="3657600" indent="0" algn="ctr">
              <a:buNone/>
              <a:defRPr lang="it-IT" sz="1600"/>
            </a:lvl9pPr>
          </a:lstStyle>
          <a:p>
            <a:pPr lvl="0" rtl="0"/>
            <a:r>
              <a:rPr lang="it-IT"/>
              <a:t>Fare clic per inserire il testo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5" name="Segnaposto immagine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it-IT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immagine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rtlCol="0" anchor="b" anchorCtr="0"/>
          <a:lstStyle>
            <a:lvl1pPr>
              <a:defRPr lang="it-IT" sz="4000" b="1" cap="all" spc="0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rtlCol="0" anchor="t" anchorCtr="0"/>
          <a:lstStyle>
            <a:lvl1pPr>
              <a:defRPr lang="it-IT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5" name="Segnaposto immagine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rtlCol="0" anchor="t" anchorCtr="0">
            <a:noAutofit/>
          </a:bodyPr>
          <a:lstStyle>
            <a:lvl1pPr algn="ctr">
              <a:buNone/>
              <a:defRPr lang="it-IT" sz="1800"/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it-IT" sz="1800"/>
            </a:lvl1pPr>
            <a:lvl2pPr marL="228600">
              <a:defRPr lang="it-IT" sz="1600"/>
            </a:lvl2pPr>
            <a:lvl3pPr marL="457200">
              <a:defRPr lang="it-IT" sz="1400"/>
            </a:lvl3pPr>
            <a:lvl4pPr marL="685800">
              <a:defRPr lang="it-IT" sz="1200"/>
            </a:lvl4pPr>
            <a:lvl5pPr>
              <a:defRPr lang="it-IT" sz="14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Elemento grafico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9" name="Elemento grafico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4" name="Segnaposto piè di pagina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+ sottotito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rtlCol="0" anchor="b" anchorCtr="0">
            <a:normAutofit/>
          </a:bodyPr>
          <a:lstStyle>
            <a:lvl1pPr marL="0" indent="0" algn="l">
              <a:buNone/>
              <a:defRPr lang="it-IT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it-IT" sz="2000"/>
            </a:lvl2pPr>
            <a:lvl3pPr marL="914400" indent="0" algn="ctr">
              <a:buNone/>
              <a:defRPr lang="it-IT" sz="1800"/>
            </a:lvl3pPr>
            <a:lvl4pPr marL="1371600" indent="0" algn="ctr">
              <a:buNone/>
              <a:defRPr lang="it-IT" sz="1600"/>
            </a:lvl4pPr>
            <a:lvl5pPr marL="1828800" indent="0" algn="ctr">
              <a:buNone/>
              <a:defRPr lang="it-IT" sz="1600"/>
            </a:lvl5pPr>
            <a:lvl6pPr marL="2286000" indent="0" algn="ctr">
              <a:buNone/>
              <a:defRPr lang="it-IT" sz="1600"/>
            </a:lvl6pPr>
            <a:lvl7pPr marL="2743200" indent="0" algn="ctr">
              <a:buNone/>
              <a:defRPr lang="it-IT" sz="1600"/>
            </a:lvl7pPr>
            <a:lvl8pPr marL="3200400" indent="0" algn="ctr">
              <a:buNone/>
              <a:defRPr lang="it-IT" sz="1600"/>
            </a:lvl8pPr>
            <a:lvl9pPr marL="3657600" indent="0" algn="ctr">
              <a:buNone/>
              <a:defRPr lang="it-IT" sz="1600"/>
            </a:lvl9pPr>
          </a:lstStyle>
          <a:p>
            <a:pPr lvl="0" rtl="0"/>
            <a:r>
              <a:rPr lang="it-IT"/>
              <a:t>Fare clic per inserire il testo</a:t>
            </a: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 rtlCol="0"/>
          <a:lstStyle>
            <a:lvl1pPr>
              <a:defRPr lang="it-IT" sz="4000" b="1" cap="all" spc="0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5" name="Segnaposto numero diapositiva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it-IT" sz="1800"/>
            </a:lvl1pPr>
            <a:lvl2pPr marL="228600">
              <a:spcBef>
                <a:spcPts val="1200"/>
              </a:spcBef>
              <a:defRPr lang="it-IT" sz="1800"/>
            </a:lvl2pPr>
            <a:lvl3pPr marL="685800">
              <a:spcBef>
                <a:spcPts val="1200"/>
              </a:spcBef>
              <a:defRPr lang="it-IT" sz="1800"/>
            </a:lvl3pPr>
            <a:lvl4pPr marL="1143000">
              <a:spcBef>
                <a:spcPts val="1200"/>
              </a:spcBef>
              <a:defRPr lang="it-IT" sz="1800"/>
            </a:lvl4pPr>
            <a:lvl5pPr marL="1600200"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it-IT" sz="1800"/>
            </a:lvl1pPr>
            <a:lvl2pPr marL="228600">
              <a:spcBef>
                <a:spcPts val="1200"/>
              </a:spcBef>
              <a:defRPr lang="it-IT" sz="1800"/>
            </a:lvl2pPr>
            <a:lvl3pPr marL="685800">
              <a:spcBef>
                <a:spcPts val="1200"/>
              </a:spcBef>
              <a:defRPr lang="it-IT" sz="1800"/>
            </a:lvl3pPr>
            <a:lvl4pPr marL="1143000">
              <a:spcBef>
                <a:spcPts val="1200"/>
              </a:spcBef>
              <a:defRPr lang="it-IT" sz="1800"/>
            </a:lvl4pPr>
            <a:lvl5pPr marL="1600200"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emento grafico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4" name="Elemento grafico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6" name="Elemento grafico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3" name="Segnaposto piè di pagina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rtlCol="0" anchor="ctr" anchorCtr="0"/>
          <a:lstStyle>
            <a:lvl1pPr algn="l">
              <a:defRPr lang="it-IT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</a:p>
        </p:txBody>
      </p:sp>
      <p:sp>
        <p:nvSpPr>
          <p:cNvPr id="22" name="Segnaposto numero diapositiva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contenuto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it-IT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it-IT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it-IT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it-IT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it-IT" sz="1800"/>
            </a:lvl1pPr>
            <a:lvl2pPr marL="457200" indent="0">
              <a:spcBef>
                <a:spcPts val="1200"/>
              </a:spcBef>
              <a:buNone/>
              <a:defRPr lang="it-IT" sz="1600"/>
            </a:lvl2pPr>
            <a:lvl3pPr marL="914400" indent="0">
              <a:spcBef>
                <a:spcPts val="1200"/>
              </a:spcBef>
              <a:buNone/>
              <a:defRPr lang="it-IT" sz="1400"/>
            </a:lvl3pPr>
            <a:lvl4pPr marL="1371600" indent="0">
              <a:spcBef>
                <a:spcPts val="1200"/>
              </a:spcBef>
              <a:buNone/>
              <a:defRPr lang="it-IT" sz="1200"/>
            </a:lvl4pPr>
            <a:lvl5pPr marL="1828800" indent="0">
              <a:spcBef>
                <a:spcPts val="1200"/>
              </a:spcBef>
              <a:buNone/>
              <a:defRPr lang="it-IT" sz="1200"/>
            </a:lvl5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it-IT" sz="1800"/>
            </a:lvl1pPr>
            <a:lvl2pPr>
              <a:spcBef>
                <a:spcPts val="1200"/>
              </a:spcBef>
              <a:defRPr lang="it-IT" sz="1600"/>
            </a:lvl2pPr>
            <a:lvl3pPr>
              <a:spcBef>
                <a:spcPts val="1200"/>
              </a:spcBef>
              <a:defRPr lang="it-IT" sz="1400"/>
            </a:lvl3pPr>
            <a:lvl4pPr>
              <a:spcBef>
                <a:spcPts val="1200"/>
              </a:spcBef>
              <a:defRPr lang="it-IT" sz="1200"/>
            </a:lvl4pPr>
            <a:lvl5pPr>
              <a:spcBef>
                <a:spcPts val="1200"/>
              </a:spcBef>
              <a:defRPr lang="it-IT" sz="12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21" name="Segnaposto piè di pagina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rtlCol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lang="it-IT" sz="4000" b="1" i="0" cap="all" spc="0" baseline="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lvl1pPr>
              <a:defRPr lang="it-IT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8" name="Segnaposto testo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it-IT" sz="1800"/>
            </a:lvl1pPr>
            <a:lvl2pPr marL="228600">
              <a:lnSpc>
                <a:spcPct val="110000"/>
              </a:lnSpc>
              <a:defRPr lang="it-IT" sz="1600"/>
            </a:lvl2pPr>
            <a:lvl3pPr marL="457200">
              <a:lnSpc>
                <a:spcPct val="110000"/>
              </a:lnSpc>
              <a:defRPr lang="it-IT" sz="1400"/>
            </a:lvl3pPr>
            <a:lvl4pPr marL="685800">
              <a:lnSpc>
                <a:spcPct val="110000"/>
              </a:lnSpc>
              <a:defRPr lang="it-IT" sz="1200"/>
            </a:lvl4pPr>
            <a:lvl5pPr marL="914400">
              <a:lnSpc>
                <a:spcPct val="110000"/>
              </a:lnSpc>
              <a:defRPr lang="it-IT" sz="1200"/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3" name="Segnaposto immagine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rtlCol="0" anchor="t" anchorCtr="0"/>
          <a:lstStyle>
            <a:lvl1pPr algn="ctr">
              <a:buNone/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10" name="Segnaposto piè di pagina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immag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rtlCol="0" anchor="ctr" anchorCtr="0"/>
          <a:lstStyle>
            <a:lvl1pPr algn="l">
              <a:defRPr lang="it-IT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it-IT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5" name="Segnaposto contenuto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rtlCol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lang="it-IT"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lang="it-IT"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lang="it-IT"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lang="it-IT" sz="1200">
                <a:solidFill>
                  <a:schemeClr val="tx1"/>
                </a:solidFill>
              </a:defRPr>
            </a:lvl4pPr>
            <a:lvl5pPr>
              <a:defRPr lang="it-IT" sz="14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rtlCol="0" anchor="b" anchorCtr="0"/>
          <a:lstStyle>
            <a:lvl1pPr algn="l">
              <a:defRPr lang="it-IT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</a:p>
        </p:txBody>
      </p:sp>
      <p:sp>
        <p:nvSpPr>
          <p:cNvPr id="22" name="Segnaposto numero diapositiva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1200"/>
              </a:spcBef>
              <a:buNone/>
              <a:defRPr lang="it-IT" sz="1800"/>
            </a:lvl1pPr>
            <a:lvl2pPr marL="457200">
              <a:spcBef>
                <a:spcPts val="1200"/>
              </a:spcBef>
              <a:defRPr lang="it-IT" sz="1800"/>
            </a:lvl2pPr>
            <a:lvl3pPr marL="914400">
              <a:spcBef>
                <a:spcPts val="1200"/>
              </a:spcBef>
              <a:defRPr lang="it-IT" sz="1800"/>
            </a:lvl3pPr>
            <a:lvl4pPr marL="1371600">
              <a:spcBef>
                <a:spcPts val="1200"/>
              </a:spcBef>
              <a:defRPr lang="it-IT" sz="1800"/>
            </a:lvl4pPr>
            <a:lvl5pPr marL="1828800"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>
              <a:spcBef>
                <a:spcPts val="1200"/>
              </a:spcBef>
              <a:defRPr lang="it-IT" sz="1800"/>
            </a:lvl1pPr>
            <a:lvl2pPr>
              <a:spcBef>
                <a:spcPts val="1200"/>
              </a:spcBef>
              <a:defRPr lang="it-IT" sz="1800"/>
            </a:lvl2pPr>
            <a:lvl3pPr>
              <a:spcBef>
                <a:spcPts val="1200"/>
              </a:spcBef>
              <a:defRPr lang="it-IT" sz="1800"/>
            </a:lvl3pPr>
            <a:lvl4pPr>
              <a:spcBef>
                <a:spcPts val="1200"/>
              </a:spcBef>
              <a:defRPr lang="it-IT" sz="1800"/>
            </a:lvl4pPr>
            <a:lvl5pPr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Elemento grafico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7" name="Elemento grafico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8" name="Elemento grafico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21" name="Segnaposto piè di pagina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Elemento grafico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6" name="Elemento grafico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7" name="Elemento grafico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rtlCol="0" anchor="b" anchorCtr="0"/>
          <a:lstStyle>
            <a:lvl1pPr>
              <a:defRPr lang="it-IT" sz="4000" b="1" cap="all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le immagine e titolo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rtlCol="0" anchor="b"/>
          <a:lstStyle>
            <a:lvl1pPr algn="r">
              <a:lnSpc>
                <a:spcPts val="4800"/>
              </a:lnSpc>
              <a:defRPr lang="it-IT" sz="48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7" name="Segnaposto immagine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it-IT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/>
              <a:t>Fare clic per inserire il testo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Elemento grafico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5" name="Elemento grafico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6" name="Elemento grafico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t>‹N›</a:t>
            </a:fld>
            <a:endParaRPr lang="it-IT" dirty="0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lang="it-IT" sz="18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lang="it-IT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it-IT"/>
              <a:t>20XX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it-IT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lang="it-IT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it-IT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7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20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1.png"/><Relationship Id="rId4" Type="http://schemas.openxmlformats.org/officeDocument/2006/relationships/image" Target="../media/image3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Galassia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267CB22D-116D-25D3-E318-80BA29ED4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427" y="493059"/>
            <a:ext cx="3395703" cy="213527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E5AECE6-7563-4D67-379D-49B1D060F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294" y="493059"/>
            <a:ext cx="5002160" cy="2171669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EC87902-E6C7-E297-2280-6DB539A6B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668" y="2946579"/>
            <a:ext cx="4825625" cy="2365009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A2F760F4-707F-0E7A-425F-D02A20ECE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3004" y="2861860"/>
            <a:ext cx="5002160" cy="2451528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46A2030-C923-E639-0F39-6A3448117E58}"/>
              </a:ext>
            </a:extLst>
          </p:cNvPr>
          <p:cNvSpPr txBox="1"/>
          <p:nvPr/>
        </p:nvSpPr>
        <p:spPr>
          <a:xfrm>
            <a:off x="2658035" y="5629835"/>
            <a:ext cx="2052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rc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B30E833-85D4-D80A-1980-BCC79DCC04A6}"/>
              </a:ext>
            </a:extLst>
          </p:cNvPr>
          <p:cNvSpPr txBox="1"/>
          <p:nvPr/>
        </p:nvSpPr>
        <p:spPr>
          <a:xfrm>
            <a:off x="8180294" y="5629835"/>
            <a:ext cx="1353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rl</a:t>
            </a:r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31C5D9B-1F68-B46A-4322-570059F70909}"/>
              </a:ext>
            </a:extLst>
          </p:cNvPr>
          <p:cNvSpPr txBox="1"/>
          <p:nvPr/>
        </p:nvSpPr>
        <p:spPr>
          <a:xfrm>
            <a:off x="4710953" y="5948082"/>
            <a:ext cx="2608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Possiamo usare C o L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A36C023-FF81-0C84-30F8-2D6E65BED978}"/>
              </a:ext>
            </a:extLst>
          </p:cNvPr>
          <p:cNvSpPr txBox="1"/>
          <p:nvPr/>
        </p:nvSpPr>
        <p:spPr>
          <a:xfrm>
            <a:off x="5867400" y="3285566"/>
            <a:ext cx="1044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F=1k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18C9A5F-299E-7B0E-BB2D-9EBBCE18D1DA}"/>
              </a:ext>
            </a:extLst>
          </p:cNvPr>
          <p:cNvSpPr txBox="1"/>
          <p:nvPr/>
        </p:nvSpPr>
        <p:spPr>
          <a:xfrm>
            <a:off x="5230906" y="551329"/>
            <a:ext cx="1353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Fc</a:t>
            </a:r>
            <a:r>
              <a:rPr lang="it-IT" dirty="0"/>
              <a:t>=159</a:t>
            </a:r>
          </a:p>
        </p:txBody>
      </p:sp>
    </p:spTree>
    <p:extLst>
      <p:ext uri="{BB962C8B-B14F-4D97-AF65-F5344CB8AC3E}">
        <p14:creationId xmlns:p14="http://schemas.microsoft.com/office/powerpoint/2010/main" val="3348445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2BF083-F62E-9F96-742E-C931A7186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88" y="338294"/>
            <a:ext cx="5145741" cy="2521896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397D0AC-E469-7E49-D2D0-10E968F89BD8}"/>
              </a:ext>
            </a:extLst>
          </p:cNvPr>
          <p:cNvSpPr txBox="1"/>
          <p:nvPr/>
        </p:nvSpPr>
        <p:spPr>
          <a:xfrm>
            <a:off x="6710082" y="645459"/>
            <a:ext cx="29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F=3K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DAAE7EC-F8C3-8C2B-2077-2C500CA17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188" y="3295076"/>
            <a:ext cx="4567518" cy="2238512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2BA6DB9-8FB5-663E-BBD2-255F16AB9F63}"/>
              </a:ext>
            </a:extLst>
          </p:cNvPr>
          <p:cNvSpPr txBox="1"/>
          <p:nvPr/>
        </p:nvSpPr>
        <p:spPr>
          <a:xfrm>
            <a:off x="6154271" y="3760694"/>
            <a:ext cx="29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F=10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1FC47F6-4F68-A93C-8B6A-0F5BBBFCE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676" y="1290917"/>
            <a:ext cx="4943617" cy="2422836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02C1BA3-76FC-7BBF-EF5A-AC415618F6F6}"/>
              </a:ext>
            </a:extLst>
          </p:cNvPr>
          <p:cNvSpPr txBox="1"/>
          <p:nvPr/>
        </p:nvSpPr>
        <p:spPr>
          <a:xfrm>
            <a:off x="9518484" y="3945360"/>
            <a:ext cx="29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F=250</a:t>
            </a:r>
          </a:p>
        </p:txBody>
      </p:sp>
    </p:spTree>
    <p:extLst>
      <p:ext uri="{BB962C8B-B14F-4D97-AF65-F5344CB8AC3E}">
        <p14:creationId xmlns:p14="http://schemas.microsoft.com/office/powerpoint/2010/main" val="1045702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9CDA789-E068-4F1E-2A0B-D9B5A5C9C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735" y="1140634"/>
            <a:ext cx="4129630" cy="2023906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B9666D51-F274-786F-2DAD-5995F253B217}"/>
              </a:ext>
            </a:extLst>
          </p:cNvPr>
          <p:cNvSpPr txBox="1"/>
          <p:nvPr/>
        </p:nvSpPr>
        <p:spPr>
          <a:xfrm>
            <a:off x="5876365" y="519953"/>
            <a:ext cx="3249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F=159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C8C2EC6-5946-A3A5-A502-B37967846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918" y="353096"/>
            <a:ext cx="4129630" cy="204061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BA0FE34-39C2-914D-D8BF-AFCA7E3D9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919" y="2614679"/>
            <a:ext cx="4129630" cy="203415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A25D485-2F1C-2A5E-8BCC-EE80D9223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142" y="3495303"/>
            <a:ext cx="1417304" cy="190890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1746A639-DA86-05B5-C4CE-20A1189F8C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8333" y="3432676"/>
            <a:ext cx="1626679" cy="203415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A050194C-A5C1-07E6-D990-3DDB867096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5512" y="3369996"/>
            <a:ext cx="1656195" cy="215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07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9A18F8C-FAD8-7664-B862-98A0BDA3B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788" y="683435"/>
            <a:ext cx="4129630" cy="202390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64C24CDA-0EC7-95A5-305C-436491148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434" y="349778"/>
            <a:ext cx="5885329" cy="2884363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3C2B78E-7F6F-CFCE-BDD4-EE82236F3671}"/>
              </a:ext>
            </a:extLst>
          </p:cNvPr>
          <p:cNvSpPr txBox="1"/>
          <p:nvPr/>
        </p:nvSpPr>
        <p:spPr>
          <a:xfrm>
            <a:off x="4890247" y="3504329"/>
            <a:ext cx="1586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Bode </a:t>
            </a:r>
            <a:r>
              <a:rPr lang="it-IT" dirty="0" err="1"/>
              <a:t>fc</a:t>
            </a:r>
            <a:r>
              <a:rPr lang="it-IT" dirty="0"/>
              <a:t>=159</a:t>
            </a:r>
            <a:br>
              <a:rPr lang="it-IT" dirty="0"/>
            </a:br>
            <a:r>
              <a:rPr lang="it-IT" dirty="0"/>
              <a:t>RC e RL</a:t>
            </a:r>
          </a:p>
        </p:txBody>
      </p:sp>
    </p:spTree>
    <p:extLst>
      <p:ext uri="{BB962C8B-B14F-4D97-AF65-F5344CB8AC3E}">
        <p14:creationId xmlns:p14="http://schemas.microsoft.com/office/powerpoint/2010/main" val="2072960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D97AF2CD-0363-C3CE-205A-888A59FE0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305" y="347258"/>
            <a:ext cx="4486977" cy="219904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9C4931D7-3CCC-C3A7-D312-42DFA9F69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882" y="434349"/>
            <a:ext cx="4737846" cy="2321989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935ED68-7D4A-20DB-CA77-F2459B3886FC}"/>
              </a:ext>
            </a:extLst>
          </p:cNvPr>
          <p:cNvSpPr txBox="1"/>
          <p:nvPr/>
        </p:nvSpPr>
        <p:spPr>
          <a:xfrm>
            <a:off x="3357282" y="3778624"/>
            <a:ext cx="521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FC con variazione di R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D4A68E2-88B4-57C6-FEA0-C0D23FF69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5188" y="3059668"/>
            <a:ext cx="365739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528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8506D6F-D117-8AA1-FBB8-5B1BFB659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235" y="374152"/>
            <a:ext cx="4957483" cy="242963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1B7447B-2330-53A9-4042-294B5FDC5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729" y="374153"/>
            <a:ext cx="4831976" cy="2368122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6A3A82BD-DCD5-DF0E-8510-B3B9428E1C4A}"/>
              </a:ext>
            </a:extLst>
          </p:cNvPr>
          <p:cNvSpPr txBox="1"/>
          <p:nvPr/>
        </p:nvSpPr>
        <p:spPr>
          <a:xfrm>
            <a:off x="3357282" y="3778624"/>
            <a:ext cx="521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FC con variazione di c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5369304-E3FF-66BC-4BA7-E54443D65F6B}"/>
              </a:ext>
            </a:extLst>
          </p:cNvPr>
          <p:cNvSpPr txBox="1"/>
          <p:nvPr/>
        </p:nvSpPr>
        <p:spPr>
          <a:xfrm>
            <a:off x="3043518" y="4737847"/>
            <a:ext cx="6118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Conviene </a:t>
            </a:r>
            <a:r>
              <a:rPr lang="it-IT" dirty="0" err="1"/>
              <a:t>cambiuare</a:t>
            </a:r>
            <a:r>
              <a:rPr lang="it-IT" dirty="0"/>
              <a:t> R piuttosto che C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D3540F8E-8B44-68C1-BA41-1EA0A1C08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495" y="3222811"/>
            <a:ext cx="3395065" cy="260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367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31C0D93-0938-AC7E-C6A0-4313F864E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543" y="594853"/>
            <a:ext cx="2557193" cy="238142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98F0C9B4-0029-1573-1350-F3D76E764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836" y="555813"/>
            <a:ext cx="7852012" cy="3848222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ED23BEA-7A73-8919-30AE-8A70789E8401}"/>
              </a:ext>
            </a:extLst>
          </p:cNvPr>
          <p:cNvSpPr txBox="1"/>
          <p:nvPr/>
        </p:nvSpPr>
        <p:spPr>
          <a:xfrm>
            <a:off x="1030941" y="4482353"/>
            <a:ext cx="2926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Rossa uguale a verde</a:t>
            </a:r>
          </a:p>
          <a:p>
            <a:r>
              <a:rPr lang="it-IT" dirty="0"/>
              <a:t>Blu si sposta (parallelo)</a:t>
            </a:r>
          </a:p>
        </p:txBody>
      </p:sp>
    </p:spTree>
    <p:extLst>
      <p:ext uri="{BB962C8B-B14F-4D97-AF65-F5344CB8AC3E}">
        <p14:creationId xmlns:p14="http://schemas.microsoft.com/office/powerpoint/2010/main" val="4245606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0594FF7-70D4-ACC7-B595-7940C9E09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047" y="176929"/>
            <a:ext cx="7467600" cy="365982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734CC380-4D52-1903-B136-CEC2F7A574DF}"/>
              </a:ext>
            </a:extLst>
          </p:cNvPr>
          <p:cNvSpPr txBox="1"/>
          <p:nvPr/>
        </p:nvSpPr>
        <p:spPr>
          <a:xfrm>
            <a:off x="1501588" y="762000"/>
            <a:ext cx="24249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Parassiti in serie e interni danno stesso risultato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48BCB15-CF8B-998E-2282-472130A22DC5}"/>
              </a:ext>
            </a:extLst>
          </p:cNvPr>
          <p:cNvSpPr txBox="1"/>
          <p:nvPr/>
        </p:nvSpPr>
        <p:spPr>
          <a:xfrm>
            <a:off x="1302327" y="2481943"/>
            <a:ext cx="2624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Risultato atteso: passa banda per effetto risonante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3A0F76B-EC25-4E1D-5E92-0E03AE03DEBC}"/>
              </a:ext>
            </a:extLst>
          </p:cNvPr>
          <p:cNvSpPr txBox="1"/>
          <p:nvPr/>
        </p:nvSpPr>
        <p:spPr>
          <a:xfrm>
            <a:off x="1389413" y="3555555"/>
            <a:ext cx="2572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Verde: filtro hp ideale senza parassiti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70176E72-34D5-F471-CF09-B1C1800D8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212" y="4311561"/>
            <a:ext cx="5822868" cy="176853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4AA0F7A-1BAA-5D15-5041-7C344309B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198" y="4396401"/>
            <a:ext cx="1672174" cy="191819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520409B-367B-C4AD-8AC9-206BB12ECBD0}"/>
              </a:ext>
            </a:extLst>
          </p:cNvPr>
          <p:cNvSpPr txBox="1"/>
          <p:nvPr/>
        </p:nvSpPr>
        <p:spPr>
          <a:xfrm>
            <a:off x="1145852" y="4719567"/>
            <a:ext cx="29371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MLCC (ceramico SMD) — il più usato nei filtri Esempio tipico RS: 100 </a:t>
            </a:r>
            <a:r>
              <a:rPr lang="it-IT" dirty="0" err="1"/>
              <a:t>nF</a:t>
            </a:r>
            <a:r>
              <a:rPr lang="it-IT" dirty="0"/>
              <a:t> X7R 0603 / 0805 Valori realistici </a:t>
            </a:r>
            <a:r>
              <a:rPr lang="it-IT" dirty="0" err="1"/>
              <a:t>LTspice</a:t>
            </a:r>
            <a:r>
              <a:rPr lang="it-IT" dirty="0"/>
              <a:t>: C = 100 </a:t>
            </a:r>
            <a:r>
              <a:rPr lang="it-IT" dirty="0" err="1"/>
              <a:t>nF</a:t>
            </a:r>
            <a:r>
              <a:rPr lang="it-IT" dirty="0"/>
              <a:t> ESR = 0.05 – 0.2 Ω ESL = 1 – 3 </a:t>
            </a:r>
            <a:r>
              <a:rPr lang="it-IT" dirty="0" err="1"/>
              <a:t>nH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06233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22D4D7B-B2B3-050B-38F4-5211738C8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202" y="81170"/>
            <a:ext cx="6020790" cy="295075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49B214C-949B-EDFF-6168-E72DAEA16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60" y="273992"/>
            <a:ext cx="4112821" cy="106145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BB2E2974-A002-2475-FF42-605994642C0D}"/>
              </a:ext>
            </a:extLst>
          </p:cNvPr>
          <p:cNvSpPr txBox="1"/>
          <p:nvPr/>
        </p:nvSpPr>
        <p:spPr>
          <a:xfrm>
            <a:off x="1254826" y="1706088"/>
            <a:ext cx="4081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Comportamento analogo cambio allora R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30D7377-CC9E-CD16-6661-81594AD44F46}"/>
              </a:ext>
            </a:extLst>
          </p:cNvPr>
          <p:cNvSpPr txBox="1"/>
          <p:nvPr/>
        </p:nvSpPr>
        <p:spPr>
          <a:xfrm>
            <a:off x="1401288" y="2418608"/>
            <a:ext cx="4081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Cambia </a:t>
            </a:r>
            <a:r>
              <a:rPr lang="it-IT" dirty="0" err="1"/>
              <a:t>Fc</a:t>
            </a:r>
            <a:r>
              <a:rPr lang="it-IT" dirty="0"/>
              <a:t> sia HP che di LP in modo simmetrico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6C617C5B-7D3C-140E-46A9-D782664C5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077" y="3178629"/>
            <a:ext cx="4521247" cy="2224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E259CD0A-FDED-FC1E-560D-D771251F9A84}"/>
                  </a:ext>
                </a:extLst>
              </p:cNvPr>
              <p:cNvSpPr txBox="1"/>
              <p:nvPr/>
            </p:nvSpPr>
            <p:spPr>
              <a:xfrm>
                <a:off x="1092530" y="3364490"/>
                <a:ext cx="6096000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dirty="0"/>
                  <a:t>La simmetria che osservi è dovuta alla </a:t>
                </a:r>
                <a:r>
                  <a:rPr lang="it-IT" b="1" dirty="0"/>
                  <a:t>risonanza tra la capacità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it-IT" b="1" dirty="0"/>
                  <a:t>e l’induttanza parassita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it-IT" dirty="0"/>
                  <a:t>del condensatore reale. Sotto la frequenza di risonanza il componente si comporta da condensatore e il guadagno cresce; sopra la risonanza l’induttanza parassita domina e il guadagno diminuisce. Alla frequenza di risonanza le reattanze si annullano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it-IT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it-IT" dirty="0"/>
                  <a:t>), l’impedenza è minima e la risposta raggiunge il massimo. Per questo la curva risulta quasi simmetrica attorno alla frequenza di risonanza.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E259CD0A-FDED-FC1E-560D-D771251F9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530" y="3364490"/>
                <a:ext cx="6096000" cy="2862322"/>
              </a:xfrm>
              <a:prstGeom prst="rect">
                <a:avLst/>
              </a:prstGeom>
              <a:blipFill>
                <a:blip r:embed="rId5"/>
                <a:stretch>
                  <a:fillRect l="-800" t="-1066" r="-1700" b="-277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6778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0468362A-08CC-F908-BEE6-FE61C535B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79" y="990668"/>
            <a:ext cx="4324954" cy="168616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DB8E037-4360-8050-EDF4-186D40F6AAEA}"/>
              </a:ext>
            </a:extLst>
          </p:cNvPr>
          <p:cNvSpPr txBox="1"/>
          <p:nvPr/>
        </p:nvSpPr>
        <p:spPr>
          <a:xfrm>
            <a:off x="1607127" y="182088"/>
            <a:ext cx="3986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Impulso carica/scarica condensatore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12ADFED-5631-C6B1-EF15-2D2EA4C46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278" y="341982"/>
            <a:ext cx="3343742" cy="74305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4CB5E33-D05A-6969-082E-21DDFED3E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610" y="1244930"/>
            <a:ext cx="4640138" cy="227410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C311B942-7BAD-FBE6-EDC8-693CB9F84D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7466" y="4149605"/>
            <a:ext cx="4714504" cy="23105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5FC639A9-5493-6982-CB7B-43B645F8A91B}"/>
                  </a:ext>
                </a:extLst>
              </p:cNvPr>
              <p:cNvSpPr txBox="1"/>
              <p:nvPr/>
            </p:nvSpPr>
            <p:spPr>
              <a:xfrm>
                <a:off x="985230" y="2912439"/>
                <a:ext cx="7291449" cy="2037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it-IT" sz="1050" dirty="0"/>
                  <a:t>Il circuito è un </a:t>
                </a:r>
                <a:r>
                  <a:rPr lang="it-IT" sz="1050" b="1" dirty="0"/>
                  <a:t>passa-alto RC</a:t>
                </a:r>
                <a:r>
                  <a:rPr lang="it-IT" sz="1050" dirty="0"/>
                  <a:t>: condensatore in serie e resistenza a massa.</a:t>
                </a:r>
              </a:p>
              <a:p>
                <a:pPr>
                  <a:buNone/>
                </a:pPr>
                <a:r>
                  <a:rPr lang="it-IT" sz="1050" dirty="0"/>
                  <a:t>Con i tuoi valori: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05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it-IT" sz="1050" i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it-IT" sz="105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it-IT" sz="1050" i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it-IT" sz="1050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it-IT" sz="105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sz="1050" i="0">
                          <a:latin typeface="Cambria Math" panose="02040503050406030204" pitchFamily="18" charset="0"/>
                        </a:rPr>
                        <m:t>=100</m:t>
                      </m:r>
                      <m:r>
                        <a:rPr lang="it-IT" sz="1050" i="1">
                          <a:latin typeface="Cambria Math" panose="02040503050406030204" pitchFamily="18" charset="0"/>
                        </a:rPr>
                        <m:t>𝑛𝐹</m:t>
                      </m:r>
                    </m:oMath>
                  </m:oMathPara>
                </a14:m>
                <a:endParaRPr lang="it-IT" sz="105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05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it-IT" sz="105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050" i="1">
                          <a:latin typeface="Cambria Math" panose="02040503050406030204" pitchFamily="18" charset="0"/>
                        </a:rPr>
                        <m:t>𝑅𝐶</m:t>
                      </m:r>
                      <m:r>
                        <a:rPr lang="it-IT" sz="1050" i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it-IT" sz="105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it-IT" sz="1050" i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it-IT" sz="1050" i="0">
                          <a:latin typeface="Cambria Math" panose="02040503050406030204" pitchFamily="18" charset="0"/>
                        </a:rPr>
                        <m:t>⋅100</m:t>
                      </m:r>
                      <m:r>
                        <a:rPr lang="it-IT" sz="1050" i="1">
                          <a:latin typeface="Cambria Math" panose="02040503050406030204" pitchFamily="18" charset="0"/>
                        </a:rPr>
                        <m:t>𝑛𝐹</m:t>
                      </m:r>
                      <m:r>
                        <a:rPr lang="it-IT" sz="1050" i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it-IT" sz="1050" i="1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it-IT" sz="1050" dirty="0"/>
              </a:p>
              <a:p>
                <a:pPr>
                  <a:buNone/>
                </a:pPr>
                <a:r>
                  <a:rPr lang="it-IT" sz="1050" dirty="0"/>
                  <a:t>Quando </a:t>
                </a:r>
                <a:r>
                  <a:rPr lang="it-IT" sz="1050" b="1" dirty="0"/>
                  <a:t>Vin sale da 0 V a 1 V</a:t>
                </a:r>
                <a:r>
                  <a:rPr lang="it-IT" sz="1050" dirty="0"/>
                  <a:t>, il condensatore inizialmente si comporta quasi come un corto: quindi su </a:t>
                </a:r>
                <a:r>
                  <a:rPr lang="it-IT" sz="1050" b="1" dirty="0" err="1"/>
                  <a:t>Vout</a:t>
                </a:r>
                <a:r>
                  <a:rPr lang="it-IT" sz="1050" dirty="0"/>
                  <a:t> compare subito un impulso positivo. Poi il condensatore si carica e la corrente diminuisce, quindi: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05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105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d>
                        <m:dPr>
                          <m:ctrlPr>
                            <a:rPr lang="it-IT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05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05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05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105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it-IT" sz="10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05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it-IT" sz="105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sz="105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050" i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it-IT" sz="1050" i="1">
                              <a:latin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</m:oMath>
                  </m:oMathPara>
                </a14:m>
                <a:endParaRPr lang="it-IT" sz="1050" dirty="0"/>
              </a:p>
              <a:p>
                <a:pPr>
                  <a:buNone/>
                </a:pPr>
                <a:r>
                  <a:rPr lang="it-IT" sz="1050" dirty="0"/>
                  <a:t>Dopo circa </a:t>
                </a:r>
                <a14:m>
                  <m:oMath xmlns:m="http://schemas.openxmlformats.org/officeDocument/2006/math">
                    <m:r>
                      <a:rPr lang="it-IT" sz="1050">
                        <a:latin typeface="Cambria Math" panose="02040503050406030204" pitchFamily="18" charset="0"/>
                      </a:rPr>
                      <m:t>5</m:t>
                    </m:r>
                    <m:r>
                      <a:rPr lang="it-IT" sz="105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it-IT" sz="1050" i="0">
                        <a:latin typeface="Cambria Math" panose="02040503050406030204" pitchFamily="18" charset="0"/>
                      </a:rPr>
                      <m:t>=5</m:t>
                    </m:r>
                    <m:r>
                      <a:rPr lang="it-IT" sz="1050" i="1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r>
                  <a:rPr lang="it-IT" sz="1050" dirty="0"/>
                  <a:t>, l’uscita è quasi zero.</a:t>
                </a:r>
              </a:p>
              <a:p>
                <a:pPr>
                  <a:buNone/>
                </a:pPr>
                <a:r>
                  <a:rPr lang="it-IT" sz="1050" dirty="0"/>
                  <a:t>Quando </a:t>
                </a:r>
                <a:r>
                  <a:rPr lang="it-IT" sz="1050" b="1" dirty="0"/>
                  <a:t>Vin scende da 1 V a 0 V</a:t>
                </a:r>
                <a:r>
                  <a:rPr lang="it-IT" sz="1050" dirty="0"/>
                  <a:t>, il condensatore è carico e cerca di mantenere la sua tensione: genera quindi una corrente opposta. Per questo </a:t>
                </a:r>
                <a:r>
                  <a:rPr lang="it-IT" sz="1050" b="1" dirty="0" err="1"/>
                  <a:t>Vout</a:t>
                </a:r>
                <a:r>
                  <a:rPr lang="it-IT" sz="1050" dirty="0"/>
                  <a:t> diventa negativa e poi torna ancora a zero esponenzialmente.</a:t>
                </a:r>
              </a:p>
              <a:p>
                <a:pPr>
                  <a:buNone/>
                </a:pPr>
                <a:r>
                  <a:rPr lang="it-IT" sz="1050" dirty="0"/>
                  <a:t>In sintesi: il condensatore lascia passare solo le </a:t>
                </a:r>
                <a:r>
                  <a:rPr lang="it-IT" sz="1050" b="1" dirty="0"/>
                  <a:t>variazioni</a:t>
                </a:r>
                <a:r>
                  <a:rPr lang="it-IT" sz="1050" dirty="0"/>
                  <a:t> di Vin. Per questo vedi un impulso positivo sul fronte di salita e uno negativo sul fronte di discesa.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5FC639A9-5493-6982-CB7B-43B645F8A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30" y="2912439"/>
                <a:ext cx="7291449" cy="2037417"/>
              </a:xfrm>
              <a:prstGeom prst="rect">
                <a:avLst/>
              </a:prstGeom>
              <a:blipFill>
                <a:blip r:embed="rId6"/>
                <a:stretch>
                  <a:fillRect b="-119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8ABB855-F6DA-F7FA-74B9-478C4C3B1B98}"/>
              </a:ext>
            </a:extLst>
          </p:cNvPr>
          <p:cNvSpPr txBox="1"/>
          <p:nvPr/>
        </p:nvSpPr>
        <p:spPr>
          <a:xfrm>
            <a:off x="4172197" y="5708073"/>
            <a:ext cx="2786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Periodo </a:t>
            </a:r>
            <a:r>
              <a:rPr lang="it-IT" dirty="0" err="1"/>
              <a:t>piu</a:t>
            </a:r>
            <a:r>
              <a:rPr lang="it-IT" dirty="0"/>
              <a:t> lungo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13DE5C6-7E9B-E500-3FA4-1D110DF36C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0686" y="1194850"/>
            <a:ext cx="793150" cy="38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124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2C40A33B-6FA1-54E3-E536-7C674E783822}"/>
              </a:ext>
            </a:extLst>
          </p:cNvPr>
          <p:cNvSpPr txBox="1"/>
          <p:nvPr/>
        </p:nvSpPr>
        <p:spPr>
          <a:xfrm>
            <a:off x="1104405" y="296883"/>
            <a:ext cx="5078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Cambiamo r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48814A4-6632-2FC8-F819-F12ED4F49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508" y="124713"/>
            <a:ext cx="6895605" cy="3379493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D2928A8A-4164-8DB0-09ED-A9920A0A842D}"/>
              </a:ext>
            </a:extLst>
          </p:cNvPr>
          <p:cNvSpPr txBox="1"/>
          <p:nvPr/>
        </p:nvSpPr>
        <p:spPr>
          <a:xfrm>
            <a:off x="3760520" y="359093"/>
            <a:ext cx="122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10k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B944D60-52CF-9FEA-1BA6-EA9C42458995}"/>
              </a:ext>
            </a:extLst>
          </p:cNvPr>
          <p:cNvSpPr txBox="1"/>
          <p:nvPr/>
        </p:nvSpPr>
        <p:spPr>
          <a:xfrm>
            <a:off x="3728852" y="1395423"/>
            <a:ext cx="122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1k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04B7A4A-C944-C95D-B8FA-6CD4DC21BE00}"/>
              </a:ext>
            </a:extLst>
          </p:cNvPr>
          <p:cNvSpPr txBox="1"/>
          <p:nvPr/>
        </p:nvSpPr>
        <p:spPr>
          <a:xfrm>
            <a:off x="3760519" y="2501808"/>
            <a:ext cx="122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500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460493A-5F63-7A78-B757-2706E737B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508" y="3504206"/>
            <a:ext cx="6895604" cy="3379493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55A7E02-CB83-927E-6FE0-E5DF74BB8461}"/>
              </a:ext>
            </a:extLst>
          </p:cNvPr>
          <p:cNvSpPr txBox="1"/>
          <p:nvPr/>
        </p:nvSpPr>
        <p:spPr>
          <a:xfrm>
            <a:off x="3908962" y="3860335"/>
            <a:ext cx="122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10k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49F7991-5769-2AFD-4979-CBBC67CB1E78}"/>
              </a:ext>
            </a:extLst>
          </p:cNvPr>
          <p:cNvSpPr txBox="1"/>
          <p:nvPr/>
        </p:nvSpPr>
        <p:spPr>
          <a:xfrm>
            <a:off x="3877294" y="4896665"/>
            <a:ext cx="122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30k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069C1F1-26A5-AB0D-5B8A-2AEA96C0CCFA}"/>
              </a:ext>
            </a:extLst>
          </p:cNvPr>
          <p:cNvSpPr txBox="1"/>
          <p:nvPr/>
        </p:nvSpPr>
        <p:spPr>
          <a:xfrm>
            <a:off x="3908961" y="6003050"/>
            <a:ext cx="122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60k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6262650-461A-5608-CDC4-C2FAA564B8D2}"/>
              </a:ext>
            </a:extLst>
          </p:cNvPr>
          <p:cNvSpPr txBox="1"/>
          <p:nvPr/>
        </p:nvSpPr>
        <p:spPr>
          <a:xfrm>
            <a:off x="870857" y="1690255"/>
            <a:ext cx="2161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Cambio r allora cambio tao=RC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DFDD7F19-2517-5AC4-3A65-ECC70A145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404" y="296883"/>
            <a:ext cx="1951668" cy="1574898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3EE60747-A527-3773-7FBB-2A9F3DD075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0691" y="4456450"/>
            <a:ext cx="1300772" cy="124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743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895EC3D-DFC2-9DF9-5F72-842E0E382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323" y="283051"/>
            <a:ext cx="5859751" cy="2871828"/>
          </a:xfrm>
          <a:prstGeom prst="rect">
            <a:avLst/>
          </a:prstGeom>
        </p:spPr>
      </p:pic>
      <p:grpSp>
        <p:nvGrpSpPr>
          <p:cNvPr id="10" name="Gruppo 9">
            <a:extLst>
              <a:ext uri="{FF2B5EF4-FFF2-40B4-BE49-F238E27FC236}">
                <a16:creationId xmlns:a16="http://schemas.microsoft.com/office/drawing/2014/main" id="{692B69CC-6F6F-B3CC-0375-5C77D7C01CDB}"/>
              </a:ext>
            </a:extLst>
          </p:cNvPr>
          <p:cNvGrpSpPr/>
          <p:nvPr/>
        </p:nvGrpSpPr>
        <p:grpSpPr>
          <a:xfrm>
            <a:off x="629392" y="320634"/>
            <a:ext cx="5099350" cy="2090056"/>
            <a:chOff x="1702130" y="3530930"/>
            <a:chExt cx="5099350" cy="2090056"/>
          </a:xfrm>
        </p:grpSpPr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8D822D81-0B5F-B1F6-BF37-F9904D1CC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1" r="64504"/>
            <a:stretch>
              <a:fillRect/>
            </a:stretch>
          </p:blipFill>
          <p:spPr>
            <a:xfrm>
              <a:off x="1702130" y="3530930"/>
              <a:ext cx="2770910" cy="2090056"/>
            </a:xfrm>
            <a:prstGeom prst="rect">
              <a:avLst/>
            </a:prstGeom>
          </p:spPr>
        </p:pic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8C3F4D33-A7C9-625E-8107-DE1917BB8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9168" r="1003"/>
            <a:stretch>
              <a:fillRect/>
            </a:stretch>
          </p:blipFill>
          <p:spPr>
            <a:xfrm>
              <a:off x="4473040" y="3530930"/>
              <a:ext cx="2328440" cy="2090056"/>
            </a:xfrm>
            <a:prstGeom prst="rect">
              <a:avLst/>
            </a:prstGeom>
          </p:spPr>
        </p:pic>
      </p:grp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8D0BC0C-B1F1-2617-AFA7-6E1BE5603838}"/>
              </a:ext>
            </a:extLst>
          </p:cNvPr>
          <p:cNvSpPr txBox="1"/>
          <p:nvPr/>
        </p:nvSpPr>
        <p:spPr>
          <a:xfrm>
            <a:off x="7255823" y="3301340"/>
            <a:ext cx="4271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 blu è 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7AF31E03-62B8-4D3E-7281-7E4AD32A4D59}"/>
                  </a:ext>
                </a:extLst>
              </p:cNvPr>
              <p:cNvSpPr txBox="1"/>
              <p:nvPr/>
            </p:nvSpPr>
            <p:spPr>
              <a:xfrm>
                <a:off x="1132115" y="2614117"/>
                <a:ext cx="3713017" cy="3461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it-IT" sz="1100" dirty="0"/>
                  <a:t>Nel filtro passa-alto RL, l’induttore si oppone alle variazioni di corrente. Quando </a:t>
                </a:r>
                <a:r>
                  <a:rPr lang="it-IT" sz="1100" b="1" dirty="0"/>
                  <a:t>Vin</a:t>
                </a:r>
                <a:r>
                  <a:rPr lang="it-IT" sz="1100" dirty="0"/>
                  <a:t> passa da 0 V a 1 V, la corrente nell’induttore non può crescere istantaneamente, quindi l’induttore si comporta inizialmente come un circuito aperto e sull’uscita compare quasi tutta la tensione di ingresso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1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sz="11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it-IT" sz="1100" i="0">
                        <a:latin typeface="Cambria Math" panose="02040503050406030204" pitchFamily="18" charset="0"/>
                      </a:rPr>
                      <m:t>≈1</m:t>
                    </m:r>
                    <m:r>
                      <m:rPr>
                        <m:nor/>
                      </m:rPr>
                      <a:rPr lang="it-IT" sz="1100" b="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it-IT" sz="1100" b="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it-IT" sz="1100" dirty="0"/>
                  <a:t>). Successivamente la corrente aumenta e la tensione sull’induttore decade esponenzialmente verso zero secondo: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1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11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it-IT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sz="11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1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sz="11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it-IT" sz="1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1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it-IT" sz="11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sz="11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100" i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it-IT" sz="1100" i="1">
                              <a:latin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</m:oMath>
                  </m:oMathPara>
                </a14:m>
                <a:endParaRPr lang="it-IT" sz="1100" dirty="0"/>
              </a:p>
              <a:p>
                <a:pPr>
                  <a:buNone/>
                </a:pPr>
                <a:r>
                  <a:rPr lang="it-IT" sz="1100" dirty="0"/>
                  <a:t>con costante di tempo: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1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it-IT" sz="11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1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it-IT" sz="1100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it-IT" sz="1100" i="0"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nor/>
                        </m:rPr>
                        <a:rPr lang="it-IT" sz="1100" b="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it-IT" sz="1100" b="0" i="1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it-IT" sz="1100" b="0" dirty="0"/>
              </a:p>
              <a:p>
                <a:pPr>
                  <a:buNone/>
                </a:pPr>
                <a:r>
                  <a:rPr lang="it-IT" sz="1100" dirty="0"/>
                  <a:t>Quando l’ingresso torna da 1 V a 0 V, la corrente nell’induttore non può annullarsi bruscamente; per mantenerla l’induttore genera una tensione di segno opposto, producendo un impulso negativo che poi decade nuovamente a zero. Il circuito quindi lascia passare le variazioni del segnale (i fronti) e attenua la componente continua.</a:t>
                </a: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7AF31E03-62B8-4D3E-7281-7E4AD32A4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115" y="2614117"/>
                <a:ext cx="3713017" cy="3461460"/>
              </a:xfrm>
              <a:prstGeom prst="rect">
                <a:avLst/>
              </a:prstGeom>
              <a:blipFill>
                <a:blip r:embed="rId4"/>
                <a:stretch>
                  <a:fillRect r="-657" b="-3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magine 14">
            <a:extLst>
              <a:ext uri="{FF2B5EF4-FFF2-40B4-BE49-F238E27FC236}">
                <a16:creationId xmlns:a16="http://schemas.microsoft.com/office/drawing/2014/main" id="{0CA128C9-5DF3-56A4-0433-D04DE2E11F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8092" y="3817133"/>
            <a:ext cx="5225143" cy="2560810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013FDE9-D574-2242-08DC-F1BD723B64BD}"/>
              </a:ext>
            </a:extLst>
          </p:cNvPr>
          <p:cNvSpPr txBox="1"/>
          <p:nvPr/>
        </p:nvSpPr>
        <p:spPr>
          <a:xfrm>
            <a:off x="7105403" y="6000997"/>
            <a:ext cx="232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Periodo </a:t>
            </a:r>
            <a:r>
              <a:rPr lang="it-IT" dirty="0" err="1"/>
              <a:t>piu</a:t>
            </a:r>
            <a:r>
              <a:rPr lang="it-IT" dirty="0"/>
              <a:t> lungo</a:t>
            </a:r>
          </a:p>
        </p:txBody>
      </p:sp>
    </p:spTree>
    <p:extLst>
      <p:ext uri="{BB962C8B-B14F-4D97-AF65-F5344CB8AC3E}">
        <p14:creationId xmlns:p14="http://schemas.microsoft.com/office/powerpoint/2010/main" val="2630181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3406014C-1F60-0F70-0CF3-E987A2C6E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496" y="762000"/>
            <a:ext cx="2204188" cy="1864659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9A95470-2BCE-9104-185F-0E51B75E8959}"/>
              </a:ext>
            </a:extLst>
          </p:cNvPr>
          <p:cNvSpPr txBox="1"/>
          <p:nvPr/>
        </p:nvSpPr>
        <p:spPr>
          <a:xfrm>
            <a:off x="851647" y="340659"/>
            <a:ext cx="2204188" cy="36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Cambio r tao=R/L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31EFFDB-0FFA-4337-FE1D-C24E7B60C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752" y="221754"/>
            <a:ext cx="5553635" cy="2721802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0AF6143-A4F6-A1ED-4FA4-A2C4BC54D60D}"/>
              </a:ext>
            </a:extLst>
          </p:cNvPr>
          <p:cNvSpPr txBox="1"/>
          <p:nvPr/>
        </p:nvSpPr>
        <p:spPr>
          <a:xfrm>
            <a:off x="4746637" y="299278"/>
            <a:ext cx="122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10k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886881F-A176-FA4B-0DAD-51EC225EE9DD}"/>
              </a:ext>
            </a:extLst>
          </p:cNvPr>
          <p:cNvSpPr txBox="1"/>
          <p:nvPr/>
        </p:nvSpPr>
        <p:spPr>
          <a:xfrm>
            <a:off x="4714969" y="1335608"/>
            <a:ext cx="122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1k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8F52E0B-80DB-78CB-B9E9-CFCD3849A13E}"/>
              </a:ext>
            </a:extLst>
          </p:cNvPr>
          <p:cNvSpPr txBox="1"/>
          <p:nvPr/>
        </p:nvSpPr>
        <p:spPr>
          <a:xfrm>
            <a:off x="4746636" y="2441993"/>
            <a:ext cx="122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500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2B8A3007-A549-F52C-78C9-7C3CE0D57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199" y="3895163"/>
            <a:ext cx="2089989" cy="1582271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6251CC11-26F1-34CD-00F9-1B16A26678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764" y="3429000"/>
            <a:ext cx="5858435" cy="2871183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6DD197A-11AD-EB87-39DD-CE703ED1C7E2}"/>
              </a:ext>
            </a:extLst>
          </p:cNvPr>
          <p:cNvSpPr txBox="1"/>
          <p:nvPr/>
        </p:nvSpPr>
        <p:spPr>
          <a:xfrm>
            <a:off x="4778304" y="3548378"/>
            <a:ext cx="122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10k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C26AE3E-B77D-7B08-DFE4-A0A9E2732957}"/>
              </a:ext>
            </a:extLst>
          </p:cNvPr>
          <p:cNvSpPr txBox="1"/>
          <p:nvPr/>
        </p:nvSpPr>
        <p:spPr>
          <a:xfrm>
            <a:off x="4746636" y="4584708"/>
            <a:ext cx="122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30k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76514F6-92DE-27EF-EC86-61BF536CD308}"/>
              </a:ext>
            </a:extLst>
          </p:cNvPr>
          <p:cNvSpPr txBox="1"/>
          <p:nvPr/>
        </p:nvSpPr>
        <p:spPr>
          <a:xfrm>
            <a:off x="4778303" y="5691093"/>
            <a:ext cx="122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60k</a:t>
            </a:r>
          </a:p>
        </p:txBody>
      </p:sp>
    </p:spTree>
    <p:extLst>
      <p:ext uri="{BB962C8B-B14F-4D97-AF65-F5344CB8AC3E}">
        <p14:creationId xmlns:p14="http://schemas.microsoft.com/office/powerpoint/2010/main" val="128913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C6D942E-5A1A-CCE6-685B-CD45159AB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98" y="277361"/>
            <a:ext cx="9930404" cy="630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754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E771D4BC-7464-F96D-2CF4-A8B710A09B2E}"/>
              </a:ext>
            </a:extLst>
          </p:cNvPr>
          <p:cNvSpPr txBox="1"/>
          <p:nvPr/>
        </p:nvSpPr>
        <p:spPr>
          <a:xfrm>
            <a:off x="2985247" y="1322294"/>
            <a:ext cx="6508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ideale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B57685B-2BCC-ECCB-8025-0364097C7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6030" y="592056"/>
            <a:ext cx="581760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filtro passa-alto RC, sia passivo sia attivo, deve il suo comportamento principalmente al 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condensatore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perché la sua impedenza diminuisce all'aumentare della frequenza: blocca le basse frequenze e lascia passare le alte.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resistenza non genera il comportamento passa-alto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 è indispensabile per definire quantitativamente il filtro (frequenza di 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taglio, tensioni e 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correnti nel circuito).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 stesso vale per un filtro passa-alto RL: il comportamento selettivo nasce dall'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induttore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 cui impedenza aumenta con la frequenza. Anche in questo caso la resistenza è necessaria per determinare le caratteristiche del filtro, ma non è l'elemento che introduce la dipendenza dalla frequenza.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sintesi: 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l'elemento reattivo (C o L) crea l'effetto di filtro; la resistenza ne determina i parametri.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5AABA43-5E0B-66D4-CC66-0E121F98B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041" y="3191435"/>
            <a:ext cx="3008472" cy="245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057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904234BA-D473-3712-2DEE-13331D841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762" y="201881"/>
            <a:ext cx="3791318" cy="2703616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8E4D6593-993C-34B4-2DC7-8513F12D1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50" y="2715491"/>
            <a:ext cx="1898395" cy="291539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5654970A-A60E-BEF6-5607-4C09F0E95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745" y="156430"/>
            <a:ext cx="4738255" cy="2338298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F42DADD5-6FF5-2B1E-0D42-DA2D42FB0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6347" y="3202447"/>
            <a:ext cx="4603668" cy="2256253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C69E946-937E-07E9-6468-211286C5B2F8}"/>
              </a:ext>
            </a:extLst>
          </p:cNvPr>
          <p:cNvSpPr txBox="1"/>
          <p:nvPr/>
        </p:nvSpPr>
        <p:spPr>
          <a:xfrm>
            <a:off x="8573984" y="3429000"/>
            <a:ext cx="3131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Guadagno di due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B2DC830-9BBD-1260-24F5-7B9855517369}"/>
              </a:ext>
            </a:extLst>
          </p:cNvPr>
          <p:cNvSpPr txBox="1"/>
          <p:nvPr/>
        </p:nvSpPr>
        <p:spPr>
          <a:xfrm>
            <a:off x="8607631" y="3961241"/>
            <a:ext cx="3063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Vout</a:t>
            </a:r>
            <a:r>
              <a:rPr lang="it-IT" dirty="0"/>
              <a:t>=-</a:t>
            </a:r>
            <a:r>
              <a:rPr lang="it-IT" dirty="0" err="1"/>
              <a:t>rf</a:t>
            </a:r>
            <a:r>
              <a:rPr lang="it-IT" dirty="0"/>
              <a:t>/</a:t>
            </a:r>
            <a:r>
              <a:rPr lang="it-IT" dirty="0" err="1"/>
              <a:t>rs</a:t>
            </a:r>
            <a:r>
              <a:rPr lang="it-IT" dirty="0"/>
              <a:t>(Vi)</a:t>
            </a:r>
          </a:p>
        </p:txBody>
      </p:sp>
    </p:spTree>
    <p:extLst>
      <p:ext uri="{BB962C8B-B14F-4D97-AF65-F5344CB8AC3E}">
        <p14:creationId xmlns:p14="http://schemas.microsoft.com/office/powerpoint/2010/main" val="3666943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6B36A47-21C7-227E-8AA0-4058B8B4A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66" y="176929"/>
            <a:ext cx="4193652" cy="205528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5064D18-C409-C72A-393D-75CCAE931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577" y="254667"/>
            <a:ext cx="4428564" cy="217448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41056F3-7939-3A1C-BE09-10E04C7413D2}"/>
              </a:ext>
            </a:extLst>
          </p:cNvPr>
          <p:cNvSpPr txBox="1"/>
          <p:nvPr/>
        </p:nvSpPr>
        <p:spPr>
          <a:xfrm>
            <a:off x="1264024" y="2599765"/>
            <a:ext cx="5266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Fc</a:t>
            </a:r>
            <a:r>
              <a:rPr lang="it-IT" dirty="0"/>
              <a:t>=159hz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F7CC3FB-EA95-7022-4A28-67A226D63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847" y="2910014"/>
            <a:ext cx="813995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 usa il filtro 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attivo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invece del passivo quando serve qualcosa in più del semplice filtraggio.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 passivo 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attenua sempre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al massimo in banda passante arriva a guadagno 1, cioè 0 dB.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 filtro attivo invece può: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amplificare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 segnale, con guadagno (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R_f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R_s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isolare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 filtro dal carico, perché l’uscita dell’operazionale ha bassa impedenza;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rendere la risposta meno dipendente dal circuito collegato dopo;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permettere più controllo su guadagno e comportamento del filtro.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Quindi: il passivo va bene se vuoi solo filtrare in modo semplice; l’attivo si usa quando vuoi filtrare 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senza perdere segnale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oppure vuoi anche 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amplificare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avere un’uscita più stabile rispetto al carico.</a:t>
            </a:r>
          </a:p>
        </p:txBody>
      </p:sp>
    </p:spTree>
    <p:extLst>
      <p:ext uri="{BB962C8B-B14F-4D97-AF65-F5344CB8AC3E}">
        <p14:creationId xmlns:p14="http://schemas.microsoft.com/office/powerpoint/2010/main" val="440688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28656FDD-FF99-EEE2-5DBA-DA6782384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235" y="365926"/>
            <a:ext cx="4800600" cy="235274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67D197E-52A4-2CF8-DDD0-8208DEF97CE0}"/>
              </a:ext>
            </a:extLst>
          </p:cNvPr>
          <p:cNvSpPr txBox="1"/>
          <p:nvPr/>
        </p:nvSpPr>
        <p:spPr>
          <a:xfrm>
            <a:off x="6432176" y="851647"/>
            <a:ext cx="2814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250hz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072C032-4949-CE12-8C02-9442ECC61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760" y="739816"/>
            <a:ext cx="3439005" cy="75258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DA331719-9563-A7A9-CE7F-3703A81CD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235" y="3494071"/>
            <a:ext cx="4800598" cy="2352744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43EACE4E-9423-0AB2-1D1B-984202097121}"/>
              </a:ext>
            </a:extLst>
          </p:cNvPr>
          <p:cNvSpPr txBox="1"/>
          <p:nvPr/>
        </p:nvSpPr>
        <p:spPr>
          <a:xfrm>
            <a:off x="6351494" y="4415117"/>
            <a:ext cx="2814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10hz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49E4280F-B780-8814-B5DB-6314D5DC4D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8111" y="4143700"/>
            <a:ext cx="3010320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671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311668DA-479D-5C4F-7859-27D30900E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70" y="239682"/>
            <a:ext cx="5078506" cy="248894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E7DD7A8-6EA4-EDBA-AF81-1DE5E343C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684" y="454640"/>
            <a:ext cx="4010585" cy="54300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E7A7FD7-CBD7-3BBF-A445-2CA4691FD36B}"/>
              </a:ext>
            </a:extLst>
          </p:cNvPr>
          <p:cNvSpPr txBox="1"/>
          <p:nvPr/>
        </p:nvSpPr>
        <p:spPr>
          <a:xfrm>
            <a:off x="6266329" y="1484154"/>
            <a:ext cx="2640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159hz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490CBB7-DEA2-1711-44D9-045515472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469" y="2886635"/>
            <a:ext cx="5078505" cy="2500228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DEFE43DE-44C0-3939-FAA1-8E797C432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6328" y="2886634"/>
            <a:ext cx="5100091" cy="250022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3D4CE9B-C67D-2857-A6BE-F3F3558AB952}"/>
              </a:ext>
            </a:extLst>
          </p:cNvPr>
          <p:cNvSpPr txBox="1"/>
          <p:nvPr/>
        </p:nvSpPr>
        <p:spPr>
          <a:xfrm>
            <a:off x="4484594" y="5799791"/>
            <a:ext cx="4011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Fi=circa 45</a:t>
            </a:r>
          </a:p>
        </p:txBody>
      </p:sp>
    </p:spTree>
    <p:extLst>
      <p:ext uri="{BB962C8B-B14F-4D97-AF65-F5344CB8AC3E}">
        <p14:creationId xmlns:p14="http://schemas.microsoft.com/office/powerpoint/2010/main" val="797535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9F3BF2F6-7C64-0AFD-D99B-620A7A99F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388" y="2951506"/>
            <a:ext cx="7413011" cy="363307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C804DBC2-D47A-0991-6516-83451F3E5F84}"/>
              </a:ext>
            </a:extLst>
          </p:cNvPr>
          <p:cNvSpPr txBox="1"/>
          <p:nvPr/>
        </p:nvSpPr>
        <p:spPr>
          <a:xfrm>
            <a:off x="5764306" y="537882"/>
            <a:ext cx="4867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Nessuna variazione di </a:t>
            </a:r>
            <a:r>
              <a:rPr lang="it-IT" dirty="0" err="1"/>
              <a:t>fc</a:t>
            </a:r>
            <a:br>
              <a:rPr lang="it-IT" dirty="0"/>
            </a:br>
            <a:r>
              <a:rPr lang="it-IT" dirty="0"/>
              <a:t>il carico è ben staccato dal filtro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B766869-98E5-E408-FB62-3ADCD886D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93" y="197224"/>
            <a:ext cx="3985476" cy="323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33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8C45871-D3A3-E4D1-B8BD-04786CC76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753" y="190376"/>
            <a:ext cx="4641801" cy="2274918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F9FA7E1-EA29-D853-B37E-6ADF458EB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403" y="190376"/>
            <a:ext cx="4641801" cy="227491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B62ADF1-25E3-D789-CEE1-C9073A9EC6C4}"/>
              </a:ext>
            </a:extLst>
          </p:cNvPr>
          <p:cNvSpPr txBox="1"/>
          <p:nvPr/>
        </p:nvSpPr>
        <p:spPr>
          <a:xfrm>
            <a:off x="1158893" y="2675150"/>
            <a:ext cx="624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Ideale fino ad </a:t>
            </a:r>
            <a:r>
              <a:rPr lang="it-IT" dirty="0" err="1"/>
              <a:t>gbw</a:t>
            </a:r>
            <a:r>
              <a:rPr lang="it-IT" dirty="0"/>
              <a:t>=1t</a:t>
            </a:r>
          </a:p>
          <a:p>
            <a:r>
              <a:rPr lang="it-IT" dirty="0"/>
              <a:t>Picco dovuto a ritardi ed </a:t>
            </a:r>
            <a:r>
              <a:rPr lang="it-IT" dirty="0" err="1"/>
              <a:t>accumoli</a:t>
            </a:r>
            <a:r>
              <a:rPr lang="it-IT" dirty="0"/>
              <a:t> dati dalle altissime frequenze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C0FE8D1-CC68-CD8A-A3A4-027020D8057F}"/>
              </a:ext>
            </a:extLst>
          </p:cNvPr>
          <p:cNvSpPr txBox="1"/>
          <p:nvPr/>
        </p:nvSpPr>
        <p:spPr>
          <a:xfrm>
            <a:off x="9227127" y="3710049"/>
            <a:ext cx="1698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Allora alziamo a 1000t la </a:t>
            </a:r>
            <a:r>
              <a:rPr lang="it-IT" dirty="0" err="1"/>
              <a:t>gbw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29E7A6A-3932-9E7F-E270-EAFA83284F04}"/>
              </a:ext>
            </a:extLst>
          </p:cNvPr>
          <p:cNvSpPr txBox="1"/>
          <p:nvPr/>
        </p:nvSpPr>
        <p:spPr>
          <a:xfrm>
            <a:off x="5320145" y="356260"/>
            <a:ext cx="456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Poco «ideale»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05CB03ED-B04D-FB93-F5B4-F72A1A7C2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190" y="3563206"/>
            <a:ext cx="4210257" cy="315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653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EC12D29-1AA2-262B-E685-17BB203C9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06" y="260028"/>
            <a:ext cx="4155141" cy="2281878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AFA9A9CC-6519-E7FA-15FF-226C767718C1}"/>
              </a:ext>
            </a:extLst>
          </p:cNvPr>
          <p:cNvSpPr txBox="1"/>
          <p:nvPr/>
        </p:nvSpPr>
        <p:spPr>
          <a:xfrm>
            <a:off x="1057020" y="3380067"/>
            <a:ext cx="393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Cambio </a:t>
            </a:r>
            <a:r>
              <a:rPr lang="it-IT" dirty="0" err="1"/>
              <a:t>rs</a:t>
            </a:r>
            <a:r>
              <a:rPr lang="it-IT" dirty="0"/>
              <a:t>, cambia </a:t>
            </a:r>
            <a:r>
              <a:rPr lang="it-IT" dirty="0" err="1"/>
              <a:t>fc</a:t>
            </a:r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0C2B85B-59AC-B638-B440-A9F632A5C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983" y="441388"/>
            <a:ext cx="3693227" cy="1810027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85B99F0-6778-D88B-1DAB-6782CABE6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8774" y="441388"/>
            <a:ext cx="3693226" cy="181002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632CBB7A-E87E-991B-187A-1DDCA021E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9900" y="3349709"/>
            <a:ext cx="6257787" cy="3066903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4464837-E3AE-7AA8-8925-6C3EEA205B7E}"/>
              </a:ext>
            </a:extLst>
          </p:cNvPr>
          <p:cNvSpPr txBox="1"/>
          <p:nvPr/>
        </p:nvSpPr>
        <p:spPr>
          <a:xfrm>
            <a:off x="6776852" y="2723408"/>
            <a:ext cx="376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Da unire alla slide prima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52A17A5A-81C2-F57F-62F4-56BCCDF87D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3925025"/>
            <a:ext cx="5248033" cy="257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35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B2468FFD-13BE-06F9-A71B-1A605F2FA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4" y="327686"/>
            <a:ext cx="4632217" cy="218649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FB152C0-6C13-846F-F9EC-50F9BD3B9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3570"/>
            <a:ext cx="4979367" cy="244035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66EEEEB5-97BB-16ED-5393-2F08DE467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88" y="2820412"/>
            <a:ext cx="4952011" cy="242695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D33BE81-5DD5-2F5C-12C1-44EF4E57C9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5104" y="3579445"/>
            <a:ext cx="5883443" cy="2883439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2EFBE7F-C76D-642B-3ABC-49C9387F6225}"/>
              </a:ext>
            </a:extLst>
          </p:cNvPr>
          <p:cNvSpPr txBox="1"/>
          <p:nvPr/>
        </p:nvSpPr>
        <p:spPr>
          <a:xfrm>
            <a:off x="6772894" y="2960914"/>
            <a:ext cx="3669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Cambio </a:t>
            </a:r>
            <a:r>
              <a:rPr lang="it-IT" dirty="0" err="1"/>
              <a:t>rf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32318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0CAC148B-F239-FB64-4A16-822A58D31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007" y="237312"/>
            <a:ext cx="4168239" cy="204282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D1DADD0-DACD-DB37-B327-56D83E889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454" y="3068742"/>
            <a:ext cx="3631907" cy="169334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93DFEE5-020D-634E-6F48-FC21FFBA8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638" y="237312"/>
            <a:ext cx="4635335" cy="2271749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8830A51-2484-709F-757A-24839796A406}"/>
              </a:ext>
            </a:extLst>
          </p:cNvPr>
          <p:cNvSpPr txBox="1"/>
          <p:nvPr/>
        </p:nvSpPr>
        <p:spPr>
          <a:xfrm>
            <a:off x="6432468" y="3594265"/>
            <a:ext cx="3895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Impulso per osservare carica e scarica di C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AA44700A-FD22-A1D3-E4D3-F162BAE5D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8782" y="5325800"/>
            <a:ext cx="3410426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665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07800C1F-B13A-C356-04CC-0AC0520DC725}"/>
              </a:ext>
            </a:extLst>
          </p:cNvPr>
          <p:cNvSpPr txBox="1"/>
          <p:nvPr/>
        </p:nvSpPr>
        <p:spPr>
          <a:xfrm>
            <a:off x="4874821" y="668977"/>
            <a:ext cx="1563584" cy="380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Rs</a:t>
            </a:r>
            <a:r>
              <a:rPr lang="it-IT" dirty="0"/>
              <a:t>=10k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725B638-B58A-7995-3612-7449702EB5F0}"/>
              </a:ext>
            </a:extLst>
          </p:cNvPr>
          <p:cNvSpPr txBox="1"/>
          <p:nvPr/>
        </p:nvSpPr>
        <p:spPr>
          <a:xfrm>
            <a:off x="4874821" y="1826821"/>
            <a:ext cx="1563584" cy="380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Rs</a:t>
            </a:r>
            <a:r>
              <a:rPr lang="it-IT" dirty="0"/>
              <a:t>=1k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7B4A501-1E79-9507-88C0-69C3B7AE5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770" y="3358737"/>
            <a:ext cx="5060137" cy="247994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7CD91803-7D37-A598-67F5-EA19D4AF93CF}"/>
              </a:ext>
            </a:extLst>
          </p:cNvPr>
          <p:cNvSpPr txBox="1"/>
          <p:nvPr/>
        </p:nvSpPr>
        <p:spPr>
          <a:xfrm>
            <a:off x="4874821" y="3645724"/>
            <a:ext cx="1563584" cy="380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Rs</a:t>
            </a:r>
            <a:r>
              <a:rPr lang="it-IT" dirty="0"/>
              <a:t>=20k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F4A520C-776B-4607-A6EE-ECAFD2961E9B}"/>
              </a:ext>
            </a:extLst>
          </p:cNvPr>
          <p:cNvSpPr txBox="1"/>
          <p:nvPr/>
        </p:nvSpPr>
        <p:spPr>
          <a:xfrm>
            <a:off x="4874821" y="4993573"/>
            <a:ext cx="1563584" cy="380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Rs</a:t>
            </a:r>
            <a:r>
              <a:rPr lang="it-IT" dirty="0"/>
              <a:t>=20k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CECC18C8-0383-8E58-42AE-686A71095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531" y="3429000"/>
            <a:ext cx="3177856" cy="2768073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9C0D2CC3-B296-AC22-9D12-53CC776D0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531" y="143126"/>
            <a:ext cx="3177856" cy="3067732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B7EA0D0C-A363-80BB-7BC8-29D3323774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4770" y="239507"/>
            <a:ext cx="5060137" cy="247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741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CEA27A9-B1FE-30FA-BB1B-B48404EB5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22" y="2576945"/>
            <a:ext cx="2510018" cy="288768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8754AFE-629A-FFE4-2785-684A91DEAB44}"/>
              </a:ext>
            </a:extLst>
          </p:cNvPr>
          <p:cNvSpPr txBox="1"/>
          <p:nvPr/>
        </p:nvSpPr>
        <p:spPr>
          <a:xfrm>
            <a:off x="1622961" y="906483"/>
            <a:ext cx="4381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Parassiti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727BCC2-E38C-1F57-E617-98966554E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870" y="324592"/>
            <a:ext cx="2517710" cy="211326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BD7DCB4E-7D5F-84BC-67DE-7C76B8236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545" y="358858"/>
            <a:ext cx="3993986" cy="1957428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7C7B453A-1AEB-8FED-DDFE-5E45D77356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4285" y="2985482"/>
            <a:ext cx="6555179" cy="3212653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4DAAE6D0-D30D-78EB-00B1-6588457076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8268" y="5095061"/>
            <a:ext cx="4971803" cy="90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7405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2863_TF89338750_Win32" id="{67303D53-E497-4E8A-A1B0-F8D4DA913DFF}" vid="{0B2B8082-CFD4-436D-9CB1-F42DAFFE77E0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{761ED6E5-BDDE-49C9-968D-421AB9ABD7F0}TF54b766f8-63ee-43b7-9d15-113a5f305028e85fd2b7_win32-57076faae754</Template>
  <TotalTime>323</TotalTime>
  <Words>938</Words>
  <Application>Microsoft Office PowerPoint</Application>
  <PresentationFormat>Widescreen</PresentationFormat>
  <Paragraphs>91</Paragraphs>
  <Slides>27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 Math</vt:lpstr>
      <vt:lpstr>Univers</vt:lpstr>
      <vt:lpstr>GradientVTI</vt:lpstr>
      <vt:lpstr>Galassia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RICCARDO SCOLA COLOMBO</dc:creator>
  <cp:lastModifiedBy>RICCARDO SCOLA COLOMBO</cp:lastModifiedBy>
  <cp:revision>10</cp:revision>
  <dcterms:created xsi:type="dcterms:W3CDTF">2026-06-04T13:37:14Z</dcterms:created>
  <dcterms:modified xsi:type="dcterms:W3CDTF">2026-06-06T16:42:58Z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