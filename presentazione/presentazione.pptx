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54"/>
  </p:notesMasterIdLst>
  <p:handoutMasterIdLst>
    <p:handoutMasterId r:id="rId55"/>
  </p:handoutMasterIdLst>
  <p:sldIdLst>
    <p:sldId id="334" r:id="rId5"/>
    <p:sldId id="335" r:id="rId6"/>
    <p:sldId id="366" r:id="rId7"/>
    <p:sldId id="336" r:id="rId8"/>
    <p:sldId id="337" r:id="rId9"/>
    <p:sldId id="338" r:id="rId10"/>
    <p:sldId id="339" r:id="rId11"/>
    <p:sldId id="340" r:id="rId12"/>
    <p:sldId id="348" r:id="rId13"/>
    <p:sldId id="341" r:id="rId14"/>
    <p:sldId id="342" r:id="rId15"/>
    <p:sldId id="343" r:id="rId16"/>
    <p:sldId id="344" r:id="rId17"/>
    <p:sldId id="361" r:id="rId18"/>
    <p:sldId id="345" r:id="rId19"/>
    <p:sldId id="346" r:id="rId20"/>
    <p:sldId id="350" r:id="rId21"/>
    <p:sldId id="349" r:id="rId22"/>
    <p:sldId id="351" r:id="rId23"/>
    <p:sldId id="352" r:id="rId24"/>
    <p:sldId id="353" r:id="rId25"/>
    <p:sldId id="354" r:id="rId26"/>
    <p:sldId id="356" r:id="rId27"/>
    <p:sldId id="362" r:id="rId28"/>
    <p:sldId id="355" r:id="rId29"/>
    <p:sldId id="357" r:id="rId30"/>
    <p:sldId id="358" r:id="rId31"/>
    <p:sldId id="363" r:id="rId32"/>
    <p:sldId id="364" r:id="rId33"/>
    <p:sldId id="365" r:id="rId34"/>
    <p:sldId id="360" r:id="rId35"/>
    <p:sldId id="367" r:id="rId36"/>
    <p:sldId id="368" r:id="rId37"/>
    <p:sldId id="371" r:id="rId38"/>
    <p:sldId id="370" r:id="rId39"/>
    <p:sldId id="372" r:id="rId40"/>
    <p:sldId id="369" r:id="rId41"/>
    <p:sldId id="373" r:id="rId42"/>
    <p:sldId id="374" r:id="rId43"/>
    <p:sldId id="375" r:id="rId44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6537" autoAdjust="0"/>
  </p:normalViewPr>
  <p:slideViewPr>
    <p:cSldViewPr snapToGrid="0">
      <p:cViewPr varScale="1">
        <p:scale>
          <a:sx n="142" d="100"/>
          <a:sy n="142" d="100"/>
        </p:scale>
        <p:origin x="84" y="504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3E67EA5-8EFE-4CDE-A774-E9526279E6E4}" type="datetime1">
              <a:rPr lang="it-IT" smtClean="0"/>
              <a:t>28/06/2026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397C78D2-97D1-4B37-BDD1-08A09BD4CA9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78D779EF-F8B6-4ACA-8018-CCDCFAC7DE9C}" type="datetime1">
              <a:rPr lang="it-IT" smtClean="0"/>
              <a:t>28/06/2026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5939589-3E79-4C82-AA4A-FE78234FAA5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solo 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it-IT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emento grafico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Elemento grafico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7" name="Elemento grafico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" name="Segnaposto immagine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5" name="Segnaposto immagine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, immagin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it-IT" sz="1800"/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defRPr lang="it-IT" sz="1600"/>
            </a:lvl2pPr>
            <a:lvl3pPr marL="457200">
              <a:defRPr lang="it-IT" sz="1400"/>
            </a:lvl3pPr>
            <a:lvl4pPr marL="685800">
              <a:defRPr lang="it-IT" sz="1200"/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Elemento grafico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Elemento grafico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4" name="Segnaposto piè di pagina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+ sotto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emento grafico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4" name="Elemento grafico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6" name="Elemento grafico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it-IT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it-IT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it-IT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it-IT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 indent="0">
              <a:spcBef>
                <a:spcPts val="1200"/>
              </a:spcBef>
              <a:buNone/>
              <a:defRPr lang="it-IT" sz="1600"/>
            </a:lvl2pPr>
            <a:lvl3pPr marL="914400" indent="0">
              <a:spcBef>
                <a:spcPts val="1200"/>
              </a:spcBef>
              <a:buNone/>
              <a:defRPr lang="it-IT" sz="1400"/>
            </a:lvl3pPr>
            <a:lvl4pPr marL="1371600" indent="0">
              <a:spcBef>
                <a:spcPts val="1200"/>
              </a:spcBef>
              <a:buNone/>
              <a:defRPr lang="it-IT" sz="1200"/>
            </a:lvl4pPr>
            <a:lvl5pPr marL="1828800" indent="0">
              <a:spcBef>
                <a:spcPts val="1200"/>
              </a:spcBef>
              <a:buNone/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600"/>
            </a:lvl2pPr>
            <a:lvl3pPr>
              <a:spcBef>
                <a:spcPts val="1200"/>
              </a:spcBef>
              <a:defRPr lang="it-IT" sz="1400"/>
            </a:lvl3pPr>
            <a:lvl4pPr>
              <a:spcBef>
                <a:spcPts val="1200"/>
              </a:spcBef>
              <a:defRPr lang="it-IT" sz="1200"/>
            </a:lvl4pPr>
            <a:lvl5pPr>
              <a:spcBef>
                <a:spcPts val="1200"/>
              </a:spcBef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it-IT" sz="4000" b="1" i="0" cap="all" spc="0" baseline="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lnSpc>
                <a:spcPct val="110000"/>
              </a:lnSpc>
              <a:defRPr lang="it-IT" sz="1600"/>
            </a:lvl2pPr>
            <a:lvl3pPr marL="457200">
              <a:lnSpc>
                <a:spcPct val="110000"/>
              </a:lnSpc>
              <a:defRPr lang="it-IT" sz="1400"/>
            </a:lvl3pPr>
            <a:lvl4pPr marL="685800">
              <a:lnSpc>
                <a:spcPct val="110000"/>
              </a:lnSpc>
              <a:defRPr lang="it-IT" sz="1200"/>
            </a:lvl4pPr>
            <a:lvl5pPr marL="914400">
              <a:lnSpc>
                <a:spcPct val="110000"/>
              </a:lnSpc>
              <a:defRPr lang="it-IT" sz="1200"/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3" name="Segnaposto immagine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0" name="Segnaposto piè di pagina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it-IT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it-IT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it-IT" sz="1200">
                <a:solidFill>
                  <a:schemeClr val="tx1"/>
                </a:solidFill>
              </a:defRPr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4" name="Segnaposto piè di pagina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>
              <a:spcBef>
                <a:spcPts val="1200"/>
              </a:spcBef>
              <a:defRPr lang="it-IT" sz="1800"/>
            </a:lvl2pPr>
            <a:lvl3pPr marL="914400">
              <a:spcBef>
                <a:spcPts val="1200"/>
              </a:spcBef>
              <a:defRPr lang="it-IT" sz="1800"/>
            </a:lvl3pPr>
            <a:lvl4pPr marL="1371600">
              <a:spcBef>
                <a:spcPts val="1200"/>
              </a:spcBef>
              <a:defRPr lang="it-IT" sz="1800"/>
            </a:lvl4pPr>
            <a:lvl5pPr marL="18288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800"/>
            </a:lvl2pPr>
            <a:lvl3pPr>
              <a:spcBef>
                <a:spcPts val="1200"/>
              </a:spcBef>
              <a:defRPr lang="it-IT" sz="1800"/>
            </a:lvl3pPr>
            <a:lvl4pPr>
              <a:spcBef>
                <a:spcPts val="1200"/>
              </a:spcBef>
              <a:defRPr lang="it-IT" sz="1800"/>
            </a:lvl4pPr>
            <a:lvl5pPr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Elemento grafico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Elemento grafico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Elemento grafico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Elemento grafico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6" name="Elemento grafico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7" name="Elemento grafico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it-IT" sz="4000" b="1" cap="all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lle immagine e titolo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it-IT" sz="48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7" name="Segnaposto immagine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Elemento grafico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5" name="Elemento grafico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6" name="Elemento grafico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t>‹N›</a:t>
            </a:fld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it-IT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it-IT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70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0.png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Galassia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67CB22D-116D-25D3-E318-80BA29ED4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488" y="373024"/>
            <a:ext cx="3732055" cy="234677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E5AECE6-7563-4D67-379D-49B1D060F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19" y="478338"/>
            <a:ext cx="5002160" cy="217166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EC87902-E6C7-E297-2280-6DB539A6B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68" y="2946579"/>
            <a:ext cx="4825625" cy="2365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2F760F4-707F-0E7A-425F-D02A20ECE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3004" y="2861860"/>
            <a:ext cx="5002160" cy="2451528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46A2030-C923-E639-0F39-6A3448117E58}"/>
              </a:ext>
            </a:extLst>
          </p:cNvPr>
          <p:cNvSpPr txBox="1"/>
          <p:nvPr/>
        </p:nvSpPr>
        <p:spPr>
          <a:xfrm>
            <a:off x="2658035" y="5629835"/>
            <a:ext cx="205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rc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30E833-85D4-D80A-1980-BCC79DCC04A6}"/>
              </a:ext>
            </a:extLst>
          </p:cNvPr>
          <p:cNvSpPr txBox="1"/>
          <p:nvPr/>
        </p:nvSpPr>
        <p:spPr>
          <a:xfrm>
            <a:off x="8180294" y="5629835"/>
            <a:ext cx="135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rl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31C5D9B-1F68-B46A-4322-570059F70909}"/>
              </a:ext>
            </a:extLst>
          </p:cNvPr>
          <p:cNvSpPr txBox="1"/>
          <p:nvPr/>
        </p:nvSpPr>
        <p:spPr>
          <a:xfrm>
            <a:off x="4710953" y="5948082"/>
            <a:ext cx="260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Possiamo usare C o L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36C023-FF81-0C84-30F8-2D6E65BED978}"/>
              </a:ext>
            </a:extLst>
          </p:cNvPr>
          <p:cNvSpPr txBox="1"/>
          <p:nvPr/>
        </p:nvSpPr>
        <p:spPr>
          <a:xfrm>
            <a:off x="5867400" y="3285566"/>
            <a:ext cx="1044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F=1k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18C9A5F-299E-7B0E-BB2D-9EBBCE18D1DA}"/>
              </a:ext>
            </a:extLst>
          </p:cNvPr>
          <p:cNvSpPr txBox="1"/>
          <p:nvPr/>
        </p:nvSpPr>
        <p:spPr>
          <a:xfrm>
            <a:off x="5230906" y="551329"/>
            <a:ext cx="135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</p:spTree>
    <p:extLst>
      <p:ext uri="{BB962C8B-B14F-4D97-AF65-F5344CB8AC3E}">
        <p14:creationId xmlns:p14="http://schemas.microsoft.com/office/powerpoint/2010/main" val="334844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9B02E57-8E2B-AB1A-CDAF-3ECB2761DAC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142811" y="1014791"/>
            <a:ext cx="10022920" cy="49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0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2BF083-F62E-9F96-742E-C931A718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30" y="173861"/>
            <a:ext cx="4943619" cy="242283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397D0AC-E469-7E49-D2D0-10E968F89BD8}"/>
              </a:ext>
            </a:extLst>
          </p:cNvPr>
          <p:cNvSpPr txBox="1"/>
          <p:nvPr/>
        </p:nvSpPr>
        <p:spPr>
          <a:xfrm>
            <a:off x="6710082" y="645459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F=3K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DAAE7EC-F8C3-8C2B-2077-2C500CA17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88" y="3295076"/>
            <a:ext cx="4567518" cy="22385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E2BA6DB9-8FB5-663E-BBD2-255F16AB9F63}"/>
              </a:ext>
            </a:extLst>
          </p:cNvPr>
          <p:cNvSpPr txBox="1"/>
          <p:nvPr/>
        </p:nvSpPr>
        <p:spPr>
          <a:xfrm>
            <a:off x="6154271" y="3760694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1FC47F6-4F68-A93C-8B6A-0F5BBBFCE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676" y="1290917"/>
            <a:ext cx="4943617" cy="242283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2C1BA3-76FC-7BBF-EF5A-AC415618F6F6}"/>
              </a:ext>
            </a:extLst>
          </p:cNvPr>
          <p:cNvSpPr txBox="1"/>
          <p:nvPr/>
        </p:nvSpPr>
        <p:spPr>
          <a:xfrm>
            <a:off x="9518484" y="3945360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</p:spTree>
    <p:extLst>
      <p:ext uri="{BB962C8B-B14F-4D97-AF65-F5344CB8AC3E}">
        <p14:creationId xmlns:p14="http://schemas.microsoft.com/office/powerpoint/2010/main" val="1045702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CDA789-E068-4F1E-2A0B-D9B5A5C9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142" y="262222"/>
            <a:ext cx="4129630" cy="202390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666D51-F274-786F-2DAD-5995F253B217}"/>
              </a:ext>
            </a:extLst>
          </p:cNvPr>
          <p:cNvSpPr txBox="1"/>
          <p:nvPr/>
        </p:nvSpPr>
        <p:spPr>
          <a:xfrm>
            <a:off x="5876365" y="519953"/>
            <a:ext cx="3249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C8C2EC6-5946-A3A5-A502-B37967846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980" y="353096"/>
            <a:ext cx="4116567" cy="203415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BA0FE34-39C2-914D-D8BF-AFCA7E3D9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6918" y="2548440"/>
            <a:ext cx="4129630" cy="203415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A25D485-2F1C-2A5E-8BCC-EE80D9223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03" y="2596277"/>
            <a:ext cx="1439262" cy="19384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746A639-DA86-05B5-C4CE-20A1189F8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8544" y="2581559"/>
            <a:ext cx="1626679" cy="2034157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050194C-A5C1-07E6-D990-3DDB867096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4722" y="2485760"/>
            <a:ext cx="1656195" cy="21595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EC09AC7-5376-31BE-C255-1A1C189EF1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18" t="37569" r="70572" b="46276"/>
          <a:stretch>
            <a:fillRect/>
          </a:stretch>
        </p:blipFill>
        <p:spPr>
          <a:xfrm>
            <a:off x="2448179" y="4911148"/>
            <a:ext cx="2513610" cy="1768472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D1A8838-669C-030E-B508-18D69FEA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322" t="12854" r="44322" b="71272"/>
          <a:stretch>
            <a:fillRect/>
          </a:stretch>
        </p:blipFill>
        <p:spPr>
          <a:xfrm>
            <a:off x="5988341" y="4848948"/>
            <a:ext cx="2513610" cy="173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07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A18F8C-FAD8-7664-B862-98A0BDA3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187" y="885316"/>
            <a:ext cx="3315158" cy="162473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4C24CDA-0EC7-95A5-305C-436491148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8" y="306782"/>
            <a:ext cx="6018294" cy="294952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3C2B78E-7F6F-CFCE-BDD4-EE82236F3671}"/>
              </a:ext>
            </a:extLst>
          </p:cNvPr>
          <p:cNvSpPr txBox="1"/>
          <p:nvPr/>
        </p:nvSpPr>
        <p:spPr>
          <a:xfrm>
            <a:off x="4890247" y="3504329"/>
            <a:ext cx="158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</a:t>
            </a:r>
            <a:r>
              <a:rPr lang="it-IT" dirty="0" err="1"/>
              <a:t>fc</a:t>
            </a:r>
            <a:r>
              <a:rPr lang="it-IT" dirty="0"/>
              <a:t>=159</a:t>
            </a:r>
            <a:br>
              <a:rPr lang="it-IT" dirty="0"/>
            </a:br>
            <a:r>
              <a:rPr lang="it-IT" dirty="0"/>
              <a:t>RC e RL</a:t>
            </a:r>
          </a:p>
        </p:txBody>
      </p:sp>
    </p:spTree>
    <p:extLst>
      <p:ext uri="{BB962C8B-B14F-4D97-AF65-F5344CB8AC3E}">
        <p14:creationId xmlns:p14="http://schemas.microsoft.com/office/powerpoint/2010/main" val="2072960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97AF2CD-0363-C3CE-205A-888A59FE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05" y="347258"/>
            <a:ext cx="4486977" cy="219904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C4931D7-3CCC-C3A7-D312-42DFA9F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82" y="434349"/>
            <a:ext cx="4737846" cy="232198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35ED68-7D4A-20DB-CA77-F2459B3886FC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R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D4A68E2-88B4-57C6-FEA0-C0D23FF696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752" y="3003842"/>
            <a:ext cx="3706105" cy="3474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528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506D6F-D117-8AA1-FBB8-5B1BFB65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74152"/>
            <a:ext cx="4957483" cy="242963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1B7447B-2330-53A9-4042-294B5FDC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355" y="406662"/>
            <a:ext cx="4891148" cy="23971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3A82BD-DCD5-DF0E-8510-B3B9428E1C4A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c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369304-E3FF-66BC-4BA7-E54443D65F6B}"/>
              </a:ext>
            </a:extLst>
          </p:cNvPr>
          <p:cNvSpPr txBox="1"/>
          <p:nvPr/>
        </p:nvSpPr>
        <p:spPr>
          <a:xfrm>
            <a:off x="3043518" y="4737847"/>
            <a:ext cx="61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Conviene </a:t>
            </a:r>
            <a:r>
              <a:rPr lang="it-IT" dirty="0" err="1"/>
              <a:t>cambiuare</a:t>
            </a:r>
            <a:r>
              <a:rPr lang="it-IT" dirty="0"/>
              <a:t> R piuttosto che C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540F8E-8B44-68C1-BA41-1EA0A1C08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2495" y="3222811"/>
            <a:ext cx="3395065" cy="260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367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A9696ACC-D4FC-B067-14EE-6FD98E8B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933" y="1107141"/>
            <a:ext cx="8800655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754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31C0D93-0938-AC7E-C6A0-4313F864E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43" y="594853"/>
            <a:ext cx="2557193" cy="238142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8F0C9B4-0029-1573-1350-F3D76E76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36" y="555813"/>
            <a:ext cx="7852012" cy="38482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D23BEA-7A73-8919-30AE-8A70789E8401}"/>
              </a:ext>
            </a:extLst>
          </p:cNvPr>
          <p:cNvSpPr txBox="1"/>
          <p:nvPr/>
        </p:nvSpPr>
        <p:spPr>
          <a:xfrm>
            <a:off x="1030941" y="4482353"/>
            <a:ext cx="2926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Rossa uguale a verde</a:t>
            </a:r>
          </a:p>
          <a:p>
            <a:r>
              <a:rPr lang="it-IT" dirty="0"/>
              <a:t>Blu si sposta (parallelo)</a:t>
            </a:r>
          </a:p>
        </p:txBody>
      </p:sp>
    </p:spTree>
    <p:extLst>
      <p:ext uri="{BB962C8B-B14F-4D97-AF65-F5344CB8AC3E}">
        <p14:creationId xmlns:p14="http://schemas.microsoft.com/office/powerpoint/2010/main" val="4245606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0594FF7-70D4-ACC7-B595-7940C9E09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47" y="176929"/>
            <a:ext cx="7467600" cy="365982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734CC380-4D52-1903-B136-CEC2F7A574DF}"/>
              </a:ext>
            </a:extLst>
          </p:cNvPr>
          <p:cNvSpPr txBox="1"/>
          <p:nvPr/>
        </p:nvSpPr>
        <p:spPr>
          <a:xfrm>
            <a:off x="1501588" y="762000"/>
            <a:ext cx="24249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 in serie e interni danno stesso risultato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8BCB15-CF8B-998E-2282-472130A22DC5}"/>
              </a:ext>
            </a:extLst>
          </p:cNvPr>
          <p:cNvSpPr txBox="1"/>
          <p:nvPr/>
        </p:nvSpPr>
        <p:spPr>
          <a:xfrm>
            <a:off x="1302327" y="2481943"/>
            <a:ext cx="262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Risultato atteso: passa banda per effetto risonante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A0F76B-EC25-4E1D-5E92-0E03AE03DEBC}"/>
              </a:ext>
            </a:extLst>
          </p:cNvPr>
          <p:cNvSpPr txBox="1"/>
          <p:nvPr/>
        </p:nvSpPr>
        <p:spPr>
          <a:xfrm>
            <a:off x="1389413" y="3555555"/>
            <a:ext cx="2572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Verde: filtro hp ideale senza 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0176E72-34D5-F471-CF09-B1C1800D8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212" y="4311561"/>
            <a:ext cx="5822868" cy="17685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4AA0F7A-1BAA-5D15-5041-7C344309B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98" y="4396401"/>
            <a:ext cx="1672174" cy="1918195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20409B-367B-C4AD-8AC9-206BB12ECBD0}"/>
              </a:ext>
            </a:extLst>
          </p:cNvPr>
          <p:cNvSpPr txBox="1"/>
          <p:nvPr/>
        </p:nvSpPr>
        <p:spPr>
          <a:xfrm>
            <a:off x="1145852" y="4719567"/>
            <a:ext cx="29371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MLCC (ceramico SMD) — il più usato nei filtri Esempio tipico RS: 100 </a:t>
            </a:r>
            <a:r>
              <a:rPr lang="it-IT" dirty="0" err="1"/>
              <a:t>nF</a:t>
            </a:r>
            <a:r>
              <a:rPr lang="it-IT" dirty="0"/>
              <a:t> X7R 0603 / 0805 Valori realistici </a:t>
            </a:r>
            <a:r>
              <a:rPr lang="it-IT" dirty="0" err="1"/>
              <a:t>LTspice</a:t>
            </a:r>
            <a:r>
              <a:rPr lang="it-IT" dirty="0"/>
              <a:t>: C = 100 </a:t>
            </a:r>
            <a:r>
              <a:rPr lang="it-IT" dirty="0" err="1"/>
              <a:t>nF</a:t>
            </a:r>
            <a:r>
              <a:rPr lang="it-IT" dirty="0"/>
              <a:t> ESR = 0.05 – 0.2 Ω ESL = 1 – 3 </a:t>
            </a:r>
            <a:r>
              <a:rPr lang="it-IT" dirty="0" err="1"/>
              <a:t>nH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6233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2D4D7B-B2B3-050B-38F4-5211738C8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202" y="81170"/>
            <a:ext cx="6020790" cy="295075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49B214C-949B-EDFF-6168-E72DAEA16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60" y="273992"/>
            <a:ext cx="4112821" cy="106145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BB2E2974-A002-2475-FF42-605994642C0D}"/>
              </a:ext>
            </a:extLst>
          </p:cNvPr>
          <p:cNvSpPr txBox="1"/>
          <p:nvPr/>
        </p:nvSpPr>
        <p:spPr>
          <a:xfrm>
            <a:off x="1254826" y="170608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Comportamento analogo cambio allora R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30D7377-CC9E-CD16-6661-81594AD44F46}"/>
              </a:ext>
            </a:extLst>
          </p:cNvPr>
          <p:cNvSpPr txBox="1"/>
          <p:nvPr/>
        </p:nvSpPr>
        <p:spPr>
          <a:xfrm>
            <a:off x="1401288" y="241860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sia HP che di LP in modo simmetrico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C617C5B-7D3C-140E-46A9-D782664C5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77" y="3178629"/>
            <a:ext cx="4521247" cy="22247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/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dirty="0"/>
                  <a:t>La simmetria che osservi è dovuta alla </a:t>
                </a:r>
                <a:r>
                  <a:rPr lang="it-IT" b="1" dirty="0"/>
                  <a:t>risonanza tra la capacità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it-IT" b="1" dirty="0"/>
                  <a:t>e l’induttanza parassita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IT" dirty="0"/>
                  <a:t>del condensatore reale. Sotto la frequenza di risonanza il componente si comporta da condensatore e il guadagno cresce; sopra la risonanza l’induttanza parassita domina e il guadagno diminuisce. Alla frequenza di risonanza le reattanze si annullano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it-IT" dirty="0"/>
                  <a:t>), l’impedenza è minima e la risposta raggiunge il massimo. Per questo la curva risulta quasi simmetrica attorno alla frequenza di risonanza.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blipFill>
                <a:blip r:embed="rId5"/>
                <a:stretch>
                  <a:fillRect l="-800" t="-1066" r="-1700" b="-277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778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B8E037-4360-8050-EDF4-186D40F6AAEA}"/>
              </a:ext>
            </a:extLst>
          </p:cNvPr>
          <p:cNvSpPr txBox="1"/>
          <p:nvPr/>
        </p:nvSpPr>
        <p:spPr>
          <a:xfrm>
            <a:off x="1607127" y="182088"/>
            <a:ext cx="398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carica/scarica condensatore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8ABB855-F6DA-F7FA-74B9-478C4C3B1B98}"/>
              </a:ext>
            </a:extLst>
          </p:cNvPr>
          <p:cNvSpPr txBox="1"/>
          <p:nvPr/>
        </p:nvSpPr>
        <p:spPr>
          <a:xfrm>
            <a:off x="8102930" y="1359797"/>
            <a:ext cx="278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Periodo </a:t>
            </a:r>
            <a:r>
              <a:rPr lang="it-IT" dirty="0" err="1"/>
              <a:t>piu</a:t>
            </a:r>
            <a:r>
              <a:rPr lang="it-IT" dirty="0"/>
              <a:t> lungo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6FF2FCC9-91F7-FC39-1524-77DB3CDAF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620" y="4983679"/>
            <a:ext cx="7546721" cy="1743074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1A0DF3A9-28FF-0D1D-8B66-68D5F0519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308" y="981383"/>
            <a:ext cx="4445228" cy="1778091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65358B98-5E5B-E56A-5CC0-9D9248280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994" y="2143771"/>
            <a:ext cx="2616334" cy="69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24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46546C1-2D26-B05D-8013-AF7A3D63E2F8}"/>
              </a:ext>
            </a:extLst>
          </p:cNvPr>
          <p:cNvSpPr txBox="1"/>
          <p:nvPr/>
        </p:nvSpPr>
        <p:spPr>
          <a:xfrm>
            <a:off x="815439" y="344200"/>
            <a:ext cx="110796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circuito RC passa-alto è stato alimentato con un segnale a gradino compreso tra -1 V e +1 V. Il salto effettivo dell’ingresso è quindi pari a 2 V, perché la variazione è data da +1 - (-1). Al fronte del gradino, il condensatore non può modificare istantaneamente la propria tensione, quindi trasferisce la variazione all’uscita. Per questo motivo sul nodo </a:t>
            </a:r>
            <a:r>
              <a:rPr lang="it-IT" dirty="0" err="1"/>
              <a:t>outRC</a:t>
            </a:r>
            <a:r>
              <a:rPr lang="it-IT" dirty="0"/>
              <a:t> si osserva inizialmente un picco di circa 2 V, che successivamente decade verso 0 V attraverso la resistenza con costante di tempo τ = R·C.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BC00A3B1-28BB-9417-2A6A-250B6C61A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30" y="2483739"/>
            <a:ext cx="5146800" cy="2248303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0D5474D-CDEC-F370-FFE9-A8618AB2D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22" y="2357275"/>
            <a:ext cx="4674919" cy="229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1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40A33B-6FA1-54E3-E536-7C674E783822}"/>
              </a:ext>
            </a:extLst>
          </p:cNvPr>
          <p:cNvSpPr txBox="1"/>
          <p:nvPr/>
        </p:nvSpPr>
        <p:spPr>
          <a:xfrm>
            <a:off x="1104405" y="296883"/>
            <a:ext cx="507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Cambiamo 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928A8A-4164-8DB0-09ED-A9920A0A842D}"/>
              </a:ext>
            </a:extLst>
          </p:cNvPr>
          <p:cNvSpPr txBox="1"/>
          <p:nvPr/>
        </p:nvSpPr>
        <p:spPr>
          <a:xfrm>
            <a:off x="3760520" y="3590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944D60-52CF-9FEA-1BA6-EA9C42458995}"/>
              </a:ext>
            </a:extLst>
          </p:cNvPr>
          <p:cNvSpPr txBox="1"/>
          <p:nvPr/>
        </p:nvSpPr>
        <p:spPr>
          <a:xfrm>
            <a:off x="3728852" y="139542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1k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5A7E02-CB83-927E-6FE0-E5DF74BB8461}"/>
              </a:ext>
            </a:extLst>
          </p:cNvPr>
          <p:cNvSpPr txBox="1"/>
          <p:nvPr/>
        </p:nvSpPr>
        <p:spPr>
          <a:xfrm>
            <a:off x="3908962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9F7991-5769-2AFD-4979-CBBC67CB1E78}"/>
              </a:ext>
            </a:extLst>
          </p:cNvPr>
          <p:cNvSpPr txBox="1"/>
          <p:nvPr/>
        </p:nvSpPr>
        <p:spPr>
          <a:xfrm>
            <a:off x="2377045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30k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262650-461A-5608-CDC4-C2FAA564B8D2}"/>
              </a:ext>
            </a:extLst>
          </p:cNvPr>
          <p:cNvSpPr txBox="1"/>
          <p:nvPr/>
        </p:nvSpPr>
        <p:spPr>
          <a:xfrm>
            <a:off x="870857" y="1690255"/>
            <a:ext cx="2161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 allora cambio tao=RC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CB397A21-A06B-8893-8759-B48E3FDA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9" y="2577569"/>
            <a:ext cx="4038808" cy="1282766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A1A52ADA-D736-BC64-DCEF-F39EFE0AB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364" y="2493963"/>
            <a:ext cx="3073558" cy="1352620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DED04AAD-FFAD-348B-89BD-F3B894A7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435" y="4490467"/>
            <a:ext cx="8417590" cy="1944220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B21FC658-0BE1-2501-78E5-57DA554D4C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042" y="417534"/>
            <a:ext cx="6909460" cy="159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743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8D0BC0C-B1F1-2617-AFA7-6E1BE5603838}"/>
              </a:ext>
            </a:extLst>
          </p:cNvPr>
          <p:cNvSpPr txBox="1"/>
          <p:nvPr/>
        </p:nvSpPr>
        <p:spPr>
          <a:xfrm>
            <a:off x="7255823" y="3301340"/>
            <a:ext cx="4271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blu è L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ADA40C6-878B-FAB9-3744-6ADE9A073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297" y="553768"/>
            <a:ext cx="3416476" cy="165743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546D8A6F-227B-7E90-44A8-81A9EC116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53" y="3891280"/>
            <a:ext cx="7727847" cy="1784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81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E771D4BC-7464-F96D-2CF4-A8B710A09B2E}"/>
              </a:ext>
            </a:extLst>
          </p:cNvPr>
          <p:cNvSpPr txBox="1"/>
          <p:nvPr/>
        </p:nvSpPr>
        <p:spPr>
          <a:xfrm>
            <a:off x="2985247" y="1322294"/>
            <a:ext cx="6508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57685B-2BCC-ECCB-8025-0364097C7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030" y="102064"/>
            <a:ext cx="6553876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 filtro passa-alto RC, sia passivo sia attivo, deve il suo comportamento principalmente al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condensatore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perché la sua impedenza diminuisce all'aumentare della frequenza: blocca le basse frequenze e lascia passare le alte.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resistenza non genera il comportamento passa-alto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ma è indispensabile per definire quantitativamente il filtro (frequenza di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taglio, tensioni e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correnti nel circuito).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 stesso vale per un filtro passa-alto RL: il comportamento selettivo nasce dall'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induttore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la cui impedenza aumenta con la frequenza. Anche in questo caso la resistenza è necessaria per determinare le caratteristiche del filtro, ma non è l'elemento che introduce la dipendenza dalla frequenza.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sintesi: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l'elemento reattivo (C o L) crea l'effetto di filtro; la resistenza ne determina i parametri.</a:t>
            </a: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5AABA43-5E0B-66D4-CC66-0E121F98B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09" y="973778"/>
            <a:ext cx="4187733" cy="2493818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D994BCB-4D47-50E0-C961-BE1BB0DB5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049" y="4653934"/>
            <a:ext cx="3752117" cy="151318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728CA93-741B-6C9C-B3EB-9F5328A82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681" y="4373116"/>
            <a:ext cx="3495270" cy="207481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1A2FB7C0-44A7-8CB9-ACD0-018B4D6498A0}"/>
              </a:ext>
            </a:extLst>
          </p:cNvPr>
          <p:cNvSpPr txBox="1"/>
          <p:nvPr/>
        </p:nvSpPr>
        <p:spPr>
          <a:xfrm>
            <a:off x="443345" y="292925"/>
            <a:ext cx="389949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600" dirty="0"/>
              <a:t>ideale</a:t>
            </a:r>
          </a:p>
        </p:txBody>
      </p:sp>
    </p:spTree>
    <p:extLst>
      <p:ext uri="{BB962C8B-B14F-4D97-AF65-F5344CB8AC3E}">
        <p14:creationId xmlns:p14="http://schemas.microsoft.com/office/powerpoint/2010/main" val="3530057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904234BA-D473-3712-2DEE-13331D841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896" y="233078"/>
            <a:ext cx="4693569" cy="334701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E4D6593-993C-34B4-2DC7-8513F12D1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187" y="3158835"/>
            <a:ext cx="2143544" cy="329187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5654970A-A60E-BEF6-5607-4C09F0E95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258" y="180578"/>
            <a:ext cx="4939160" cy="2437444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F42DADD5-6FF5-2B1E-0D42-DA2D42FB0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837" y="4062276"/>
            <a:ext cx="4348505" cy="213119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C69E946-937E-07E9-6468-211286C5B2F8}"/>
              </a:ext>
            </a:extLst>
          </p:cNvPr>
          <p:cNvSpPr txBox="1"/>
          <p:nvPr/>
        </p:nvSpPr>
        <p:spPr>
          <a:xfrm>
            <a:off x="8573984" y="3429000"/>
            <a:ext cx="3131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di due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B2DC830-9BBD-1260-24F5-7B9855517369}"/>
              </a:ext>
            </a:extLst>
          </p:cNvPr>
          <p:cNvSpPr txBox="1"/>
          <p:nvPr/>
        </p:nvSpPr>
        <p:spPr>
          <a:xfrm>
            <a:off x="8607631" y="3961241"/>
            <a:ext cx="3063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Vout</a:t>
            </a:r>
            <a:r>
              <a:rPr lang="it-IT" dirty="0"/>
              <a:t>=-</a:t>
            </a:r>
            <a:r>
              <a:rPr lang="it-IT" dirty="0" err="1"/>
              <a:t>rf</a:t>
            </a:r>
            <a:r>
              <a:rPr lang="it-IT" dirty="0"/>
              <a:t>/</a:t>
            </a:r>
            <a:r>
              <a:rPr lang="it-IT" dirty="0" err="1"/>
              <a:t>rs</a:t>
            </a:r>
            <a:r>
              <a:rPr lang="it-IT" dirty="0"/>
              <a:t>(Vi)</a:t>
            </a:r>
          </a:p>
        </p:txBody>
      </p:sp>
    </p:spTree>
    <p:extLst>
      <p:ext uri="{BB962C8B-B14F-4D97-AF65-F5344CB8AC3E}">
        <p14:creationId xmlns:p14="http://schemas.microsoft.com/office/powerpoint/2010/main" val="3666943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6B36A47-21C7-227E-8AA0-4058B8B4A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866" y="176929"/>
            <a:ext cx="4193652" cy="205528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5064D18-C409-C72A-393D-75CCAE931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577" y="254667"/>
            <a:ext cx="4428564" cy="217448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41056F3-7939-3A1C-BE09-10E04C7413D2}"/>
              </a:ext>
            </a:extLst>
          </p:cNvPr>
          <p:cNvSpPr txBox="1"/>
          <p:nvPr/>
        </p:nvSpPr>
        <p:spPr>
          <a:xfrm>
            <a:off x="1264024" y="2599765"/>
            <a:ext cx="526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=159hz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F7CC3FB-EA95-7022-4A28-67A226D63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94847" y="2910014"/>
            <a:ext cx="813995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usa il filtro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attivo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invece del passivo quando serve qualcosa in più del semplice filtraggio.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passivo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attenua sempre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al massimo in banda passante arriva a guadagno 1, cioè 0 dB.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filtro attivo invece può: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segnale, con guadagno (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R_f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R_s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filtro dal carico, perché l’uscita dell’operazionale ha bassa impedenza;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 la risposta meno dipendente dal circuito collegato dopo;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permettere più controllo su guadagno e comportamento del filtro.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Quindi: il passivo va bene se vuoi solo filtrare in modo semplice; l’attivo si usa quando vuoi filtrare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senza perdere segnale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oppure vuoi anche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 avere un’uscita più stabile rispetto al carico.</a:t>
            </a:r>
          </a:p>
        </p:txBody>
      </p:sp>
    </p:spTree>
    <p:extLst>
      <p:ext uri="{BB962C8B-B14F-4D97-AF65-F5344CB8AC3E}">
        <p14:creationId xmlns:p14="http://schemas.microsoft.com/office/powerpoint/2010/main" val="440688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8656FDD-FF99-EEE2-5DBA-DA6782384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65926"/>
            <a:ext cx="4800600" cy="235274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7D197E-52A4-2CF8-DDD0-8208DEF97CE0}"/>
              </a:ext>
            </a:extLst>
          </p:cNvPr>
          <p:cNvSpPr txBox="1"/>
          <p:nvPr/>
        </p:nvSpPr>
        <p:spPr>
          <a:xfrm>
            <a:off x="6432176" y="85164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072C032-4949-CE12-8C02-9442ECC61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760" y="739816"/>
            <a:ext cx="3439005" cy="75258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A331719-9563-A7A9-CE7F-3703A81CD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235" y="3494071"/>
            <a:ext cx="4800598" cy="235274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43EACE4E-9423-0AB2-1D1B-984202097121}"/>
              </a:ext>
            </a:extLst>
          </p:cNvPr>
          <p:cNvSpPr txBox="1"/>
          <p:nvPr/>
        </p:nvSpPr>
        <p:spPr>
          <a:xfrm>
            <a:off x="6351494" y="441511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9E4280F-B780-8814-B5DB-6314D5DC4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111" y="4143700"/>
            <a:ext cx="3010320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71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11668DA-479D-5C4F-7859-27D30900E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28" y="227651"/>
            <a:ext cx="4666352" cy="22869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E7DD7A8-6EA4-EDBA-AF81-1DE5E343C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84" y="454640"/>
            <a:ext cx="4010585" cy="54300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7A7FD7-CBD7-3BBF-A445-2CA4691FD36B}"/>
              </a:ext>
            </a:extLst>
          </p:cNvPr>
          <p:cNvSpPr txBox="1"/>
          <p:nvPr/>
        </p:nvSpPr>
        <p:spPr>
          <a:xfrm>
            <a:off x="6266329" y="1484154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F490CBB7-DEA2-1711-44D9-045515472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89" y="2937218"/>
            <a:ext cx="6298945" cy="310107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EFE43DE-44C0-3939-FAA1-8E797C432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8158" y="3402585"/>
            <a:ext cx="5116820" cy="250842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3D4CE9B-C67D-2857-A6BE-F3F3558AB952}"/>
              </a:ext>
            </a:extLst>
          </p:cNvPr>
          <p:cNvSpPr txBox="1"/>
          <p:nvPr/>
        </p:nvSpPr>
        <p:spPr>
          <a:xfrm>
            <a:off x="4496470" y="5799791"/>
            <a:ext cx="4011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Fi=circa 45</a:t>
            </a:r>
          </a:p>
        </p:txBody>
      </p:sp>
    </p:spTree>
    <p:extLst>
      <p:ext uri="{BB962C8B-B14F-4D97-AF65-F5344CB8AC3E}">
        <p14:creationId xmlns:p14="http://schemas.microsoft.com/office/powerpoint/2010/main" val="797535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F3BF2F6-7C64-0AFD-D99B-620A7A99F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741" y="2758531"/>
            <a:ext cx="6834090" cy="3349345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04DBC2-D47A-0991-6516-83451F3E5F84}"/>
              </a:ext>
            </a:extLst>
          </p:cNvPr>
          <p:cNvSpPr txBox="1"/>
          <p:nvPr/>
        </p:nvSpPr>
        <p:spPr>
          <a:xfrm>
            <a:off x="5764306" y="537882"/>
            <a:ext cx="4867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Nessuna variazione di </a:t>
            </a:r>
            <a:r>
              <a:rPr lang="it-IT" dirty="0" err="1"/>
              <a:t>fc</a:t>
            </a:r>
            <a:br>
              <a:rPr lang="it-IT" dirty="0"/>
            </a:br>
            <a:r>
              <a:rPr lang="it-IT" dirty="0"/>
              <a:t>il carico è ben staccato dal filtro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B766869-98E5-E408-FB62-3ADCD886D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91" y="401822"/>
            <a:ext cx="3985476" cy="3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33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8C45871-D3A3-E4D1-B8BD-04786CC76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53" y="190376"/>
            <a:ext cx="4169583" cy="204348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F9FA7E1-EA29-D853-B37E-6ADF458EB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03" y="190376"/>
            <a:ext cx="4641801" cy="227491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62ADF1-25E3-D789-CEE1-C9073A9EC6C4}"/>
              </a:ext>
            </a:extLst>
          </p:cNvPr>
          <p:cNvSpPr txBox="1"/>
          <p:nvPr/>
        </p:nvSpPr>
        <p:spPr>
          <a:xfrm>
            <a:off x="1158893" y="2675150"/>
            <a:ext cx="624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 fino ad </a:t>
            </a:r>
            <a:r>
              <a:rPr lang="it-IT" dirty="0" err="1"/>
              <a:t>gbw</a:t>
            </a:r>
            <a:r>
              <a:rPr lang="it-IT" dirty="0"/>
              <a:t>=1t</a:t>
            </a:r>
          </a:p>
          <a:p>
            <a:r>
              <a:rPr lang="it-IT" dirty="0"/>
              <a:t>Picco dovuto a ritardi ed </a:t>
            </a:r>
            <a:r>
              <a:rPr lang="it-IT" dirty="0" err="1"/>
              <a:t>accumoli</a:t>
            </a:r>
            <a:r>
              <a:rPr lang="it-IT" dirty="0"/>
              <a:t> dati dalle altissime frequenze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0FE8D1-CC68-CD8A-A3A4-027020D8057F}"/>
              </a:ext>
            </a:extLst>
          </p:cNvPr>
          <p:cNvSpPr txBox="1"/>
          <p:nvPr/>
        </p:nvSpPr>
        <p:spPr>
          <a:xfrm>
            <a:off x="9227127" y="3710049"/>
            <a:ext cx="1698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Allora alziamo a 1000t la </a:t>
            </a:r>
            <a:r>
              <a:rPr lang="it-IT" dirty="0" err="1"/>
              <a:t>gbw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9E7A6A-3932-9E7F-E270-EAFA83284F04}"/>
              </a:ext>
            </a:extLst>
          </p:cNvPr>
          <p:cNvSpPr txBox="1"/>
          <p:nvPr/>
        </p:nvSpPr>
        <p:spPr>
          <a:xfrm>
            <a:off x="5320145" y="356260"/>
            <a:ext cx="456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Poco «ideale»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5CB03ED-B04D-FB93-F5B4-F72A1A7C2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190" y="3563206"/>
            <a:ext cx="4210257" cy="315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530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50C2B85B-59AC-B638-B440-A9F632A5C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929" y="198274"/>
            <a:ext cx="4670816" cy="228913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85B99F0-6778-D88B-1DAB-6782CABE6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774" y="441388"/>
            <a:ext cx="3693226" cy="1810027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4464837-E3AE-7AA8-8925-6C3EEA205B7E}"/>
              </a:ext>
            </a:extLst>
          </p:cNvPr>
          <p:cNvSpPr txBox="1"/>
          <p:nvPr/>
        </p:nvSpPr>
        <p:spPr>
          <a:xfrm>
            <a:off x="6776852" y="2723408"/>
            <a:ext cx="376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 unire alla slide prima</a:t>
            </a:r>
          </a:p>
        </p:txBody>
      </p:sp>
    </p:spTree>
    <p:extLst>
      <p:ext uri="{BB962C8B-B14F-4D97-AF65-F5344CB8AC3E}">
        <p14:creationId xmlns:p14="http://schemas.microsoft.com/office/powerpoint/2010/main" val="24607696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EC12D29-1AA2-262B-E685-17BB203C9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70" y="299455"/>
            <a:ext cx="5451524" cy="299381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A9A9CC-6519-E7FA-15FF-226C767718C1}"/>
              </a:ext>
            </a:extLst>
          </p:cNvPr>
          <p:cNvSpPr txBox="1"/>
          <p:nvPr/>
        </p:nvSpPr>
        <p:spPr>
          <a:xfrm>
            <a:off x="1057020" y="3380067"/>
            <a:ext cx="3934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cambia </a:t>
            </a:r>
            <a:r>
              <a:rPr lang="it-IT" dirty="0" err="1"/>
              <a:t>fc</a:t>
            </a:r>
            <a:endParaRPr lang="it-IT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32CBB7A-E87E-991B-187A-1DDCA021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07" y="3564733"/>
            <a:ext cx="5036336" cy="2468277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2A17A5A-81C2-F57F-62F4-56BCCDF87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077" y="3800104"/>
            <a:ext cx="4771923" cy="233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35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2468FFD-13BE-06F9-A71B-1A605F2FA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4" y="327686"/>
            <a:ext cx="4632217" cy="218649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FB152C0-6C13-846F-F9EC-50F9BD3B9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3570"/>
            <a:ext cx="4979367" cy="244035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6EEEEB5-97BB-16ED-5393-2F08DE467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88" y="2820412"/>
            <a:ext cx="4952011" cy="24269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33BE81-5DD5-2F5C-12C1-44EF4E57C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5104" y="3579445"/>
            <a:ext cx="5883443" cy="288343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2EFBE7F-C76D-642B-3ABC-49C9387F6225}"/>
              </a:ext>
            </a:extLst>
          </p:cNvPr>
          <p:cNvSpPr txBox="1"/>
          <p:nvPr/>
        </p:nvSpPr>
        <p:spPr>
          <a:xfrm>
            <a:off x="6772894" y="2960914"/>
            <a:ext cx="366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323180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830A51-2484-709F-757A-24839796A406}"/>
              </a:ext>
            </a:extLst>
          </p:cNvPr>
          <p:cNvSpPr txBox="1"/>
          <p:nvPr/>
        </p:nvSpPr>
        <p:spPr>
          <a:xfrm>
            <a:off x="6432468" y="3594265"/>
            <a:ext cx="3895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per osservare carica e scarica di C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5BC8FE2-C782-A57F-4057-B5524CBA0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47" y="4636517"/>
            <a:ext cx="7510465" cy="173470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8D2A045-A501-E700-63EF-8F93C69F7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844" y="1212893"/>
            <a:ext cx="4292821" cy="2381372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7064813F-EB07-F308-6F2A-8AB1CDDD9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157" y="2463419"/>
            <a:ext cx="1600282" cy="38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6659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73891F3-852C-EB95-EBA8-50E25A92FC10}"/>
              </a:ext>
            </a:extLst>
          </p:cNvPr>
          <p:cNvSpPr txBox="1"/>
          <p:nvPr/>
        </p:nvSpPr>
        <p:spPr>
          <a:xfrm>
            <a:off x="1967345" y="786118"/>
            <a:ext cx="866898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segnale di ingresso è un’onda quadra compresa tra -1 V e +1 V: la variazione effettiva al fronte è quindi pari a 2 V. Nel circuito RC passa-alto il condensatore non può variare istantaneamente la propria tensione, quindi trasferisce questa variazione al nodo di uscita del filtro, generando un impulso esponenziale che poi decade verso 0 con costante di tempo τ = R·C.</a:t>
            </a:r>
          </a:p>
          <a:p>
            <a:pPr>
              <a:buNone/>
            </a:pPr>
            <a:r>
              <a:rPr lang="it-IT" dirty="0"/>
              <a:t>Nel secondo stadio, l’operazionale è configurato come amplificatore invertente. Il segnale proveniente dal filtro RC viene quindi invertito e amplificato secondo il rapporto R17/R16. Poiché R17 = 20 </a:t>
            </a:r>
            <a:r>
              <a:rPr lang="it-IT" dirty="0" err="1"/>
              <a:t>kΩ</a:t>
            </a:r>
            <a:r>
              <a:rPr lang="it-IT" dirty="0"/>
              <a:t> e R16 = 10 </a:t>
            </a:r>
            <a:r>
              <a:rPr lang="it-IT" dirty="0" err="1"/>
              <a:t>kΩ</a:t>
            </a:r>
            <a:r>
              <a:rPr lang="it-IT" dirty="0"/>
              <a:t>, il guadagno vale -2. Per questo motivo l’uscita dell’operazionale segue lo stesso andamento esponenziale della tensione sul condensatore, ma risulta invertita e amplificata di un fattore 2.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937AC8D-202E-78FB-0AE1-B985255B8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109" y="3991073"/>
            <a:ext cx="5122223" cy="251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012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94B5C1-75CF-DCC9-1386-478A9EF1771E}"/>
              </a:ext>
            </a:extLst>
          </p:cNvPr>
          <p:cNvSpPr txBox="1"/>
          <p:nvPr/>
        </p:nvSpPr>
        <p:spPr>
          <a:xfrm>
            <a:off x="760019" y="178314"/>
            <a:ext cx="111984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Nel caso ideale, l’operazionale mantiene il nodo invertente a massa virtuale, quindi il condensatore C4 vede principalmente la resistenza R9. La costante di tempo è quindi τ ≈ R9·C4.</a:t>
            </a:r>
          </a:p>
          <a:p>
            <a:pPr>
              <a:buNone/>
            </a:pPr>
            <a:r>
              <a:rPr lang="it-IT" dirty="0"/>
              <a:t>Quando però R10 diventa molto grande, la retroazione diventa meno efficace: il nodo invertente non rimane più perfettamente a 0 V e il condensatore vede una resistenza equivalente maggiore. In questo caso anche R10 contribuisce alla costante di tempo.</a:t>
            </a:r>
          </a:p>
          <a:p>
            <a:pPr>
              <a:buNone/>
            </a:pPr>
            <a:r>
              <a:rPr lang="it-IT" dirty="0"/>
              <a:t>La relazione approssimata diventa:</a:t>
            </a:r>
          </a:p>
          <a:p>
            <a:pPr>
              <a:buNone/>
            </a:pPr>
            <a:r>
              <a:rPr lang="it-IT" dirty="0"/>
              <a:t>τ ≈ C4 · (R9 + R10/(1+A))</a:t>
            </a:r>
          </a:p>
          <a:p>
            <a:pPr>
              <a:buNone/>
            </a:pPr>
            <a:r>
              <a:rPr lang="it-IT" dirty="0"/>
              <a:t>dove A è il guadagno ad anello aperto dell’operazionale. Se A è molto grande, il termine R10/(1+A) è trascurabile e si torna al caso ideale τ ≈ R9·C4. Se invece R10 è molto elevata o l’operazionale non riesce a mantenere bene la massa virtuale, il termine legato a R10 diventa significativo e il transitorio risulta più lento.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84C7E71-C6F9-BBFE-2742-DAE5D615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755" y="4193822"/>
            <a:ext cx="6453197" cy="149050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F519F1F-D9EB-5F0D-39A1-B9468B8DC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149" y="3641557"/>
            <a:ext cx="3927077" cy="157489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DB87A48-299C-9262-1128-E867E739A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942" y="5298288"/>
            <a:ext cx="3286315" cy="149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606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58AE98-0ED0-29BB-026E-13DE014F9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676" y="57125"/>
            <a:ext cx="3286315" cy="1494414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D9F1C69-4212-EB10-75A2-3C280CB886E2}"/>
              </a:ext>
            </a:extLst>
          </p:cNvPr>
          <p:cNvSpPr txBox="1"/>
          <p:nvPr/>
        </p:nvSpPr>
        <p:spPr>
          <a:xfrm>
            <a:off x="4333724" y="481167"/>
            <a:ext cx="3119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Riferimento</a:t>
            </a:r>
          </a:p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6925FF5-3225-3E7E-5D6A-6F0C22712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024" y="1864367"/>
            <a:ext cx="7535333" cy="17404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4519AE-1930-9938-401D-52C4B7FDC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82" y="2150717"/>
            <a:ext cx="2671233" cy="103847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65AB5D3-B5FC-547D-73E3-1B899463F4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2766" y="3796019"/>
            <a:ext cx="5753100" cy="281955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FE72E6A-71A5-286A-2E8D-4F14A0D461F4}"/>
              </a:ext>
            </a:extLst>
          </p:cNvPr>
          <p:cNvSpPr txBox="1"/>
          <p:nvPr/>
        </p:nvSpPr>
        <p:spPr>
          <a:xfrm>
            <a:off x="791633" y="3687233"/>
            <a:ext cx="2671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Non cambia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D8977EA0-8922-8A45-D494-823C44F17C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676" y="5601239"/>
            <a:ext cx="2482009" cy="108295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A9162E0-9794-47D3-72D0-7C50007E87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0909" y="4385787"/>
            <a:ext cx="2415457" cy="105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73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CEA27A9-B1FE-30FA-BB1B-B48404EB5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22" y="2576945"/>
            <a:ext cx="2510018" cy="288768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8754AFE-629A-FFE4-2785-684A91DEAB44}"/>
              </a:ext>
            </a:extLst>
          </p:cNvPr>
          <p:cNvSpPr txBox="1"/>
          <p:nvPr/>
        </p:nvSpPr>
        <p:spPr>
          <a:xfrm>
            <a:off x="1622961" y="906483"/>
            <a:ext cx="4381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727BCC2-E38C-1F57-E617-98966554E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708" y="324593"/>
            <a:ext cx="2372872" cy="19916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D7DCB4E-7D5F-84BC-67DE-7C76B8236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545" y="358858"/>
            <a:ext cx="3993986" cy="195742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7C7B453A-1AEB-8FED-DDFE-5E45D77356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285" y="2985482"/>
            <a:ext cx="6555179" cy="321265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DAAE6D0-D30D-78EB-00B1-6588457076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4285" y="5504775"/>
            <a:ext cx="6250641" cy="1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740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398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810597B0-1F0B-D323-2363-98D3DDACABFE}"/>
              </a:ext>
            </a:extLst>
          </p:cNvPr>
          <p:cNvSpPr txBox="1"/>
          <p:nvPr/>
        </p:nvSpPr>
        <p:spPr>
          <a:xfrm>
            <a:off x="704603" y="229590"/>
            <a:ext cx="63453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800" dirty="0"/>
              <a:t>reale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4D51AAC-3579-423C-10CD-338123D8C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180" y="870863"/>
            <a:ext cx="7006252" cy="1084607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E549ED2-8E1C-83EA-D2A5-4F28D5D34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685" y="1903691"/>
            <a:ext cx="2114659" cy="278144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D4DFC93-B45C-50B9-F77D-963A3130F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9890" y="2043211"/>
            <a:ext cx="6915397" cy="237477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558377A-56D5-57F6-8717-8B57DE108A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5553" y="4719961"/>
            <a:ext cx="5438223" cy="16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4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9408C466-838B-764F-D485-5D811CAA6F24}"/>
              </a:ext>
            </a:extLst>
          </p:cNvPr>
          <p:cNvSpPr txBox="1"/>
          <p:nvPr/>
        </p:nvSpPr>
        <p:spPr>
          <a:xfrm>
            <a:off x="1541929" y="654424"/>
            <a:ext cx="6234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Considerazioni del reale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AAF1BF0-E87D-739F-E472-62269B1B4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507" y="1320800"/>
            <a:ext cx="4301625" cy="210820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4F73B284-D21E-C096-A229-9F593F5C2F65}"/>
              </a:ext>
            </a:extLst>
          </p:cNvPr>
          <p:cNvSpPr txBox="1"/>
          <p:nvPr/>
        </p:nvSpPr>
        <p:spPr>
          <a:xfrm>
            <a:off x="7095099" y="1137611"/>
            <a:ext cx="40923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Ritardi e incapacità dell’</a:t>
            </a:r>
            <a:r>
              <a:rPr lang="it-IT" dirty="0" err="1"/>
              <a:t>opamp</a:t>
            </a:r>
            <a:r>
              <a:rPr lang="it-IT" dirty="0"/>
              <a:t> di guadagnare</a:t>
            </a:r>
          </a:p>
          <a:p>
            <a:endParaRPr lang="it-IT" dirty="0"/>
          </a:p>
          <a:p>
            <a:r>
              <a:rPr lang="it-IT" dirty="0"/>
              <a:t>Guadagno rosso troppo elevato e gestione pessima con ritardi e decadenza </a:t>
            </a:r>
            <a:r>
              <a:rPr lang="it-IT" dirty="0" err="1"/>
              <a:t>ccelerata</a:t>
            </a:r>
            <a:endParaRPr lang="it-IT" dirty="0"/>
          </a:p>
          <a:p>
            <a:endParaRPr lang="it-IT" dirty="0"/>
          </a:p>
          <a:p>
            <a:r>
              <a:rPr lang="it-IT" dirty="0"/>
              <a:t>Blu guadagno </a:t>
            </a:r>
            <a:r>
              <a:rPr lang="it-IT" dirty="0" err="1"/>
              <a:t>confreto</a:t>
            </a:r>
            <a:r>
              <a:rPr lang="it-IT" dirty="0"/>
              <a:t> e </a:t>
            </a:r>
            <a:r>
              <a:rPr lang="it-IT" dirty="0" err="1"/>
              <a:t>fattbile</a:t>
            </a:r>
            <a:r>
              <a:rPr lang="it-IT" dirty="0"/>
              <a:t> </a:t>
            </a:r>
            <a:r>
              <a:rPr lang="it-IT" dirty="0" err="1"/>
              <a:t>mantierne</a:t>
            </a:r>
            <a:r>
              <a:rPr lang="it-IT" dirty="0"/>
              <a:t> idealità poi decade per realismo dell’</a:t>
            </a:r>
            <a:r>
              <a:rPr lang="it-IT" dirty="0" err="1"/>
              <a:t>opapmp</a:t>
            </a:r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D9FD20F-7888-CA85-0FCB-7A75C035D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102" y="3700560"/>
            <a:ext cx="5316070" cy="2605373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61FF59F7-1DFC-ABB0-0BE6-4CD99E798B44}"/>
              </a:ext>
            </a:extLst>
          </p:cNvPr>
          <p:cNvSpPr txBox="1"/>
          <p:nvPr/>
        </p:nvSpPr>
        <p:spPr>
          <a:xfrm>
            <a:off x="6960512" y="5003247"/>
            <a:ext cx="48360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mostra </a:t>
            </a:r>
            <a:r>
              <a:rPr lang="it-IT" dirty="0" err="1"/>
              <a:t>gadagno</a:t>
            </a:r>
            <a:r>
              <a:rPr lang="it-IT" dirty="0"/>
              <a:t> teorico </a:t>
            </a:r>
            <a:br>
              <a:rPr lang="it-IT" dirty="0"/>
            </a:br>
            <a:r>
              <a:rPr lang="it-IT" dirty="0"/>
              <a:t>per </a:t>
            </a:r>
            <a:r>
              <a:rPr lang="it-IT" dirty="0" err="1"/>
              <a:t>oesservare</a:t>
            </a:r>
            <a:r>
              <a:rPr lang="it-IT" dirty="0"/>
              <a:t> il guadano reale si osserva il segnale amplificato con la configurazione</a:t>
            </a:r>
          </a:p>
        </p:txBody>
      </p:sp>
    </p:spTree>
    <p:extLst>
      <p:ext uri="{BB962C8B-B14F-4D97-AF65-F5344CB8AC3E}">
        <p14:creationId xmlns:p14="http://schemas.microsoft.com/office/powerpoint/2010/main" val="1876374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A28A2AE-E403-39B7-2B1B-2ED7CC50E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03" y="2017318"/>
            <a:ext cx="4459941" cy="21857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4D8BC14-D5E7-6062-C488-9B05AA5330D9}"/>
              </a:ext>
            </a:extLst>
          </p:cNvPr>
          <p:cNvSpPr txBox="1"/>
          <p:nvPr/>
        </p:nvSpPr>
        <p:spPr>
          <a:xfrm>
            <a:off x="6503894" y="3495070"/>
            <a:ext cx="40923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 Vin Guadagno massimo</a:t>
            </a:r>
            <a:br>
              <a:rPr lang="it-IT" dirty="0"/>
            </a:br>
            <a:r>
              <a:rPr lang="it-IT" dirty="0"/>
              <a:t>in 1V con 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55629A2E-2C3F-949C-60DD-BB961039C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176" y="4387059"/>
            <a:ext cx="4459942" cy="218579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32B898-5949-0E1B-CF18-3034E59CEA95}"/>
              </a:ext>
            </a:extLst>
          </p:cNvPr>
          <p:cNvSpPr txBox="1"/>
          <p:nvPr/>
        </p:nvSpPr>
        <p:spPr>
          <a:xfrm>
            <a:off x="6679055" y="5479954"/>
            <a:ext cx="29852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 in</a:t>
            </a:r>
            <a:br>
              <a:rPr lang="it-IT" dirty="0"/>
            </a:br>
            <a:r>
              <a:rPr lang="it-IT" dirty="0"/>
              <a:t>blu amplificato 20k/1</a:t>
            </a:r>
          </a:p>
          <a:p>
            <a:r>
              <a:rPr lang="it-IT" dirty="0"/>
              <a:t>rosso amplificato 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03C4119-094F-A729-6517-BCEA01C706F9}"/>
              </a:ext>
            </a:extLst>
          </p:cNvPr>
          <p:cNvSpPr txBox="1"/>
          <p:nvPr/>
        </p:nvSpPr>
        <p:spPr>
          <a:xfrm>
            <a:off x="1864659" y="134471"/>
            <a:ext cx="5325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tagliato a 15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34C09CC0-4D4E-CC1B-8B6B-7D0EA191A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4395" y="134471"/>
            <a:ext cx="3601766" cy="141462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36FFDA0-1EC2-4D4C-13D9-6FB089F423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2105" y="1662980"/>
            <a:ext cx="3572418" cy="154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89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FE917F4A-CED4-7746-BB01-2E092D576577}"/>
              </a:ext>
            </a:extLst>
          </p:cNvPr>
          <p:cNvSpPr txBox="1"/>
          <p:nvPr/>
        </p:nvSpPr>
        <p:spPr>
          <a:xfrm>
            <a:off x="2307771" y="1361704"/>
            <a:ext cx="6547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Rispetto a ideale e passivo cosa dobbiamo </a:t>
            </a:r>
            <a:r>
              <a:rPr lang="it-IT" dirty="0" err="1"/>
              <a:t>asèpettarci</a:t>
            </a:r>
            <a:r>
              <a:rPr lang="it-IT" dirty="0"/>
              <a:t> e perché</a:t>
            </a:r>
            <a:br>
              <a:rPr lang="it-IT" dirty="0"/>
            </a:br>
            <a:r>
              <a:rPr lang="it-IT" dirty="0" err="1"/>
              <a:t>ecc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967296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127A07D-E175-F2AC-FF8D-0DD2957BF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512" y="912796"/>
            <a:ext cx="5490581" cy="21916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002007D-ECDE-AFAE-F04F-24779A07D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0093" y="912797"/>
            <a:ext cx="3100986" cy="219169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D3162EE-4D20-5B5A-936E-9156B350D1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313" y="3753508"/>
            <a:ext cx="5134788" cy="252056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12443A77-A481-8642-C590-4F64BB4039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098" y="3753508"/>
            <a:ext cx="5134787" cy="2524581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740252F-AB65-57DE-0749-9294A4DCC0FB}"/>
              </a:ext>
            </a:extLst>
          </p:cNvPr>
          <p:cNvSpPr txBox="1"/>
          <p:nvPr/>
        </p:nvSpPr>
        <p:spPr>
          <a:xfrm>
            <a:off x="795647" y="122712"/>
            <a:ext cx="427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Frequenza di taglio identica </a:t>
            </a:r>
          </a:p>
        </p:txBody>
      </p:sp>
    </p:spTree>
    <p:extLst>
      <p:ext uri="{BB962C8B-B14F-4D97-AF65-F5344CB8AC3E}">
        <p14:creationId xmlns:p14="http://schemas.microsoft.com/office/powerpoint/2010/main" val="28826993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6D8947E8-3346-0A12-E437-99A581270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76" y="3846086"/>
            <a:ext cx="5006538" cy="245367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8A1FD59-6738-F565-15EA-DD1E3D9EA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915" y="3721241"/>
            <a:ext cx="5692480" cy="278985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39FAB9E-A91E-36D0-243A-F3C5AF3B7BC1}"/>
              </a:ext>
            </a:extLst>
          </p:cNvPr>
          <p:cNvSpPr txBox="1"/>
          <p:nvPr/>
        </p:nvSpPr>
        <p:spPr>
          <a:xfrm>
            <a:off x="2541493" y="3167243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E8737AF-D1E8-931B-D6AE-8081CC1CA667}"/>
              </a:ext>
            </a:extLst>
          </p:cNvPr>
          <p:cNvSpPr txBox="1"/>
          <p:nvPr/>
        </p:nvSpPr>
        <p:spPr>
          <a:xfrm>
            <a:off x="8946776" y="3536575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A3C69F2-0445-97C5-2CB5-19D688CF8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2718" y="222064"/>
            <a:ext cx="5369288" cy="263145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64CEB23A-B267-DFA8-6605-25BF8E41A8ED}"/>
              </a:ext>
            </a:extLst>
          </p:cNvPr>
          <p:cNvSpPr txBox="1"/>
          <p:nvPr/>
        </p:nvSpPr>
        <p:spPr>
          <a:xfrm>
            <a:off x="6768352" y="1042565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28DB7D6-F0C2-0A88-BAD1-5C29EF97C0C1}"/>
              </a:ext>
            </a:extLst>
          </p:cNvPr>
          <p:cNvSpPr txBox="1"/>
          <p:nvPr/>
        </p:nvSpPr>
        <p:spPr>
          <a:xfrm>
            <a:off x="1062676" y="663389"/>
            <a:ext cx="4634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Brevemente diciamo che i risultati sono identici a quelli ideale con guadagno due e sfasamento di 180 +- sfasamento della frequenza </a:t>
            </a:r>
          </a:p>
        </p:txBody>
      </p:sp>
    </p:spTree>
    <p:extLst>
      <p:ext uri="{BB962C8B-B14F-4D97-AF65-F5344CB8AC3E}">
        <p14:creationId xmlns:p14="http://schemas.microsoft.com/office/powerpoint/2010/main" val="1706044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8365EACD-13F5-35F8-4F48-EC51C3BD9BB2}"/>
              </a:ext>
            </a:extLst>
          </p:cNvPr>
          <p:cNvSpPr txBox="1"/>
          <p:nvPr/>
        </p:nvSpPr>
        <p:spPr>
          <a:xfrm>
            <a:off x="1672216" y="1441076"/>
            <a:ext cx="5517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Carichi terminali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4F3C949-7FC2-DBEB-C606-4A03F21A0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47868"/>
            <a:ext cx="5315141" cy="260491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032E0A3F-369A-6E2A-C4EB-8B9531AF8C65}"/>
              </a:ext>
            </a:extLst>
          </p:cNvPr>
          <p:cNvSpPr txBox="1"/>
          <p:nvPr/>
        </p:nvSpPr>
        <p:spPr>
          <a:xfrm>
            <a:off x="1756186" y="2494121"/>
            <a:ext cx="2850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Identico a ideale con r reali ma con r parallelo maggiore di 500hom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27CAC79-5761-B84E-667C-D4CDE6B967C0}"/>
              </a:ext>
            </a:extLst>
          </p:cNvPr>
          <p:cNvSpPr txBox="1"/>
          <p:nvPr/>
        </p:nvSpPr>
        <p:spPr>
          <a:xfrm>
            <a:off x="1299556" y="411316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Rin differenziale ≈ 50 MΩ tipico</a:t>
            </a:r>
            <a:br>
              <a:rPr lang="it-IT" dirty="0"/>
            </a:br>
            <a:r>
              <a:rPr lang="it-IT" dirty="0"/>
              <a:t>Rin common-mode ≈ 160 GΩ tipico</a:t>
            </a:r>
            <a:br>
              <a:rPr lang="it-IT" dirty="0"/>
            </a:br>
            <a:r>
              <a:rPr lang="it-IT" dirty="0"/>
              <a:t>Rout open-loop ≈ 60 Ω</a:t>
            </a:r>
          </a:p>
        </p:txBody>
      </p:sp>
    </p:spTree>
    <p:extLst>
      <p:ext uri="{BB962C8B-B14F-4D97-AF65-F5344CB8AC3E}">
        <p14:creationId xmlns:p14="http://schemas.microsoft.com/office/powerpoint/2010/main" val="7766702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9BFDA1-EB1F-62FF-1636-DD6797672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085" y="689035"/>
            <a:ext cx="5118265" cy="2508430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9537E01F-73CC-6E56-4D80-E54B93316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240" y="1488883"/>
            <a:ext cx="4202544" cy="1627439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1A78209-64C0-C2D9-0334-53B2A586C14F}"/>
              </a:ext>
            </a:extLst>
          </p:cNvPr>
          <p:cNvSpPr txBox="1"/>
          <p:nvPr/>
        </p:nvSpPr>
        <p:spPr>
          <a:xfrm>
            <a:off x="2491116" y="3741678"/>
            <a:ext cx="855023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 un </a:t>
            </a:r>
            <a:r>
              <a:rPr lang="it-IT" dirty="0" err="1"/>
              <a:t>opamp</a:t>
            </a:r>
            <a:r>
              <a:rPr lang="it-IT" dirty="0"/>
              <a:t> ideale una resistenza in parallelo all’uscita non crea problemi anche se è molto piccola, perché l’</a:t>
            </a:r>
            <a:r>
              <a:rPr lang="it-IT" dirty="0" err="1"/>
              <a:t>opamp</a:t>
            </a:r>
            <a:r>
              <a:rPr lang="it-IT" dirty="0"/>
              <a:t> ideale ha resistenza di uscita zero e può fornire corrente infinita. Quindi mantiene </a:t>
            </a:r>
            <a:r>
              <a:rPr lang="it-IT" dirty="0" err="1"/>
              <a:t>Vout</a:t>
            </a:r>
            <a:r>
              <a:rPr lang="it-IT" dirty="0"/>
              <a:t> uguale. In un </a:t>
            </a:r>
            <a:r>
              <a:rPr lang="it-IT" dirty="0" err="1"/>
              <a:t>opamp</a:t>
            </a:r>
            <a:r>
              <a:rPr lang="it-IT" dirty="0"/>
              <a:t> reale invece il problema nasce quando la resistenza di carico è troppo piccola, perché richiede troppa corrente: </a:t>
            </a:r>
            <a:r>
              <a:rPr lang="it-IT" dirty="0" err="1"/>
              <a:t>Iout</a:t>
            </a:r>
            <a:r>
              <a:rPr lang="it-IT" dirty="0"/>
              <a:t> = </a:t>
            </a:r>
            <a:r>
              <a:rPr lang="it-IT" dirty="0" err="1"/>
              <a:t>Vout</a:t>
            </a:r>
            <a:r>
              <a:rPr lang="it-IT" dirty="0"/>
              <a:t> / </a:t>
            </a:r>
            <a:r>
              <a:rPr lang="it-IT" dirty="0" err="1"/>
              <a:t>Rload</a:t>
            </a:r>
            <a:r>
              <a:rPr lang="it-IT" dirty="0"/>
              <a:t>. Per esempio con 1 V e 10 Ω servono 100 </a:t>
            </a:r>
            <a:r>
              <a:rPr lang="it-IT" dirty="0" err="1"/>
              <a:t>mA</a:t>
            </a:r>
            <a:r>
              <a:rPr lang="it-IT" dirty="0"/>
              <a:t>, valore troppo alto per molti </a:t>
            </a:r>
            <a:r>
              <a:rPr lang="it-IT" dirty="0" err="1"/>
              <a:t>opamp</a:t>
            </a:r>
            <a:r>
              <a:rPr lang="it-IT" dirty="0"/>
              <a:t>. Quando l’</a:t>
            </a:r>
            <a:r>
              <a:rPr lang="it-IT" dirty="0" err="1"/>
              <a:t>opamp</a:t>
            </a:r>
            <a:r>
              <a:rPr lang="it-IT" dirty="0"/>
              <a:t> non riesce a fornire quella corrente, l’uscita si abbassa, si distorce o va in clipping. Per un OP07 carichi da 10 </a:t>
            </a:r>
            <a:r>
              <a:rPr lang="it-IT" dirty="0" err="1"/>
              <a:t>kΩ</a:t>
            </a:r>
            <a:r>
              <a:rPr lang="it-IT" dirty="0"/>
              <a:t> vanno bene, 100 Ω possono già pesare, 10 Ω creano facilmente problemi.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0678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9A281A-DC90-CB54-5FF1-742BE189F98D}"/>
              </a:ext>
            </a:extLst>
          </p:cNvPr>
          <p:cNvSpPr txBox="1"/>
          <p:nvPr/>
        </p:nvSpPr>
        <p:spPr>
          <a:xfrm>
            <a:off x="6426200" y="619760"/>
            <a:ext cx="48564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aumentare </a:t>
            </a:r>
            <a:r>
              <a:rPr lang="it-IT" dirty="0" err="1"/>
              <a:t>rs</a:t>
            </a:r>
            <a:r>
              <a:rPr lang="it-IT" dirty="0"/>
              <a:t> è inutile basta diminuire </a:t>
            </a:r>
            <a:r>
              <a:rPr lang="it-IT" dirty="0" err="1"/>
              <a:t>rf</a:t>
            </a:r>
            <a:r>
              <a:rPr lang="it-IT" dirty="0"/>
              <a:t> e viceversa per </a:t>
            </a:r>
            <a:r>
              <a:rPr lang="it-IT" dirty="0" err="1"/>
              <a:t>rf</a:t>
            </a:r>
            <a:r>
              <a:rPr lang="it-IT" dirty="0"/>
              <a:t> </a:t>
            </a:r>
            <a:br>
              <a:rPr lang="it-IT" dirty="0"/>
            </a:br>
            <a:br>
              <a:rPr lang="it-IT" dirty="0"/>
            </a:br>
            <a:br>
              <a:rPr lang="it-IT" dirty="0"/>
            </a:br>
            <a:r>
              <a:rPr lang="it-IT" dirty="0"/>
              <a:t>dato che il guadagno è un rapporto tra loro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C2AC739-01E8-1C63-9C6D-3A7E9228E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00" y="2016760"/>
            <a:ext cx="5141556" cy="445516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D59C502D-7A48-37D4-DD20-4780696DE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374" y="2341880"/>
            <a:ext cx="5525905" cy="27082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38F835-144F-59E1-8C22-F9CE5D7D4C45}"/>
              </a:ext>
            </a:extLst>
          </p:cNvPr>
          <p:cNvSpPr txBox="1"/>
          <p:nvPr/>
        </p:nvSpPr>
        <p:spPr>
          <a:xfrm>
            <a:off x="6715760" y="5674360"/>
            <a:ext cx="3139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e quindi ritardi cose </a:t>
            </a:r>
            <a:r>
              <a:rPr lang="it-IT" dirty="0" err="1"/>
              <a:t>gia</a:t>
            </a:r>
            <a:r>
              <a:rPr lang="it-IT" dirty="0"/>
              <a:t> dette</a:t>
            </a:r>
          </a:p>
        </p:txBody>
      </p:sp>
    </p:spTree>
    <p:extLst>
      <p:ext uri="{BB962C8B-B14F-4D97-AF65-F5344CB8AC3E}">
        <p14:creationId xmlns:p14="http://schemas.microsoft.com/office/powerpoint/2010/main" val="3614630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4585912-2283-14E7-D9E1-5D39286ED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374" y="2011394"/>
            <a:ext cx="5992346" cy="293681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7D0275E-E9BE-C3C2-4806-20CD56057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240" y="2611120"/>
            <a:ext cx="4496465" cy="367792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C25E6D-8A71-246A-CF81-41E105794C98}"/>
              </a:ext>
            </a:extLst>
          </p:cNvPr>
          <p:cNvSpPr txBox="1"/>
          <p:nvPr/>
        </p:nvSpPr>
        <p:spPr>
          <a:xfrm>
            <a:off x="4074160" y="533400"/>
            <a:ext cx="5074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</a:t>
            </a:r>
            <a:r>
              <a:rPr lang="it-IT" dirty="0" err="1"/>
              <a:t>piu</a:t>
            </a:r>
            <a:r>
              <a:rPr lang="it-IT" dirty="0"/>
              <a:t> piccolo </a:t>
            </a:r>
            <a:r>
              <a:rPr lang="it-IT" dirty="0" err="1"/>
              <a:t>fc</a:t>
            </a:r>
            <a:r>
              <a:rPr lang="it-IT" dirty="0"/>
              <a:t> non cambia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B65DB54-3B5C-E9A5-792D-8FE66A89077E}"/>
              </a:ext>
            </a:extLst>
          </p:cNvPr>
          <p:cNvSpPr txBox="1"/>
          <p:nvPr/>
        </p:nvSpPr>
        <p:spPr>
          <a:xfrm>
            <a:off x="2382520" y="1767840"/>
            <a:ext cx="5074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678341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CC6528-A936-C3DA-A51A-2C9E1F55A5F5}"/>
              </a:ext>
            </a:extLst>
          </p:cNvPr>
          <p:cNvSpPr txBox="1"/>
          <p:nvPr/>
        </p:nvSpPr>
        <p:spPr>
          <a:xfrm>
            <a:off x="1068804" y="1358829"/>
            <a:ext cx="54722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L’ingresso invertente dell’</a:t>
            </a:r>
            <a:r>
              <a:rPr lang="it-IT" dirty="0" err="1"/>
              <a:t>opamp</a:t>
            </a:r>
            <a:r>
              <a:rPr lang="it-IT" dirty="0"/>
              <a:t> assorbe quasi corrente nulla, quindi la corrente passa tra </a:t>
            </a:r>
            <a:r>
              <a:rPr lang="it-IT" dirty="0">
                <a:latin typeface="Courier New" panose="02070309020205020404" pitchFamily="49" charset="0"/>
              </a:rPr>
              <a:t>R1</a:t>
            </a:r>
            <a:r>
              <a:rPr lang="it-IT" dirty="0"/>
              <a:t> e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Con </a:t>
            </a:r>
            <a:r>
              <a:rPr lang="it-IT" dirty="0" err="1"/>
              <a:t>opamp</a:t>
            </a:r>
            <a:r>
              <a:rPr lang="it-IT" dirty="0"/>
              <a:t> ideale, la retroazione tiene </a:t>
            </a:r>
            <a:r>
              <a:rPr lang="it-IT" dirty="0">
                <a:latin typeface="Courier New" panose="02070309020205020404" pitchFamily="49" charset="0"/>
              </a:rPr>
              <a:t>V- ≈ 0 V</a:t>
            </a:r>
            <a:r>
              <a:rPr lang="it-IT" dirty="0"/>
              <a:t>: questa è la massa virtuale.</a:t>
            </a:r>
            <a:br>
              <a:rPr lang="it-IT" dirty="0"/>
            </a:br>
            <a:r>
              <a:rPr lang="it-IT" dirty="0"/>
              <a:t>Quindi il condensatore vede solo </a:t>
            </a:r>
            <a:r>
              <a:rPr lang="it-IT" dirty="0">
                <a:latin typeface="Courier New" panose="02070309020205020404" pitchFamily="49" charset="0"/>
              </a:rPr>
              <a:t>R1</a:t>
            </a:r>
            <a:r>
              <a:rPr lang="it-IT" dirty="0"/>
              <a:t> e vale </a:t>
            </a:r>
            <a:r>
              <a:rPr lang="it-IT" dirty="0">
                <a:latin typeface="Courier New" panose="02070309020205020404" pitchFamily="49" charset="0"/>
              </a:rPr>
              <a:t>τ = R1·C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Se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 diventa molto grande, la retroazione è meno efficace.</a:t>
            </a:r>
            <a:br>
              <a:rPr lang="it-IT" dirty="0"/>
            </a:br>
            <a:r>
              <a:rPr lang="it-IT" dirty="0"/>
              <a:t>Il nodo </a:t>
            </a:r>
            <a:r>
              <a:rPr lang="it-IT" dirty="0">
                <a:latin typeface="Courier New" panose="02070309020205020404" pitchFamily="49" charset="0"/>
              </a:rPr>
              <a:t>V-</a:t>
            </a:r>
            <a:r>
              <a:rPr lang="it-IT" dirty="0"/>
              <a:t> non resta più perfettamente a 0 V: la massa virtuale “cede”.</a:t>
            </a:r>
            <a:br>
              <a:rPr lang="it-IT" dirty="0"/>
            </a:br>
            <a:r>
              <a:rPr lang="it-IT" dirty="0"/>
              <a:t>Dal punto di vista del condensatore compare anche una parte di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La resistenza equivalente diventa circa </a:t>
            </a:r>
            <a:r>
              <a:rPr lang="it-IT" dirty="0" err="1">
                <a:latin typeface="Courier New" panose="02070309020205020404" pitchFamily="49" charset="0"/>
              </a:rPr>
              <a:t>Req</a:t>
            </a:r>
            <a:r>
              <a:rPr lang="it-IT" dirty="0">
                <a:latin typeface="Courier New" panose="02070309020205020404" pitchFamily="49" charset="0"/>
              </a:rPr>
              <a:t> ≈ R1 +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>
                <a:latin typeface="Courier New" panose="02070309020205020404" pitchFamily="49" charset="0"/>
              </a:rPr>
              <a:t>/(1+A)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Quindi </a:t>
            </a:r>
            <a:r>
              <a:rPr lang="it-IT" dirty="0">
                <a:latin typeface="Courier New" panose="02070309020205020404" pitchFamily="49" charset="0"/>
              </a:rPr>
              <a:t>τ = </a:t>
            </a:r>
            <a:r>
              <a:rPr lang="it-IT" dirty="0" err="1">
                <a:latin typeface="Courier New" panose="02070309020205020404" pitchFamily="49" charset="0"/>
              </a:rPr>
              <a:t>Req·C</a:t>
            </a:r>
            <a:r>
              <a:rPr lang="it-IT" dirty="0"/>
              <a:t> aumenta e la frequenza di taglio </a:t>
            </a:r>
            <a:r>
              <a:rPr lang="it-IT" dirty="0" err="1">
                <a:latin typeface="Courier New" panose="02070309020205020404" pitchFamily="49" charset="0"/>
              </a:rPr>
              <a:t>fc</a:t>
            </a:r>
            <a:r>
              <a:rPr lang="it-IT" dirty="0"/>
              <a:t> diminuisce.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7E71C85-7C92-7EF6-62B3-6AB518289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7205" y="649485"/>
            <a:ext cx="2922996" cy="1978575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DBB9A3AA-CC6C-7362-642A-93AD923450D6}"/>
              </a:ext>
            </a:extLst>
          </p:cNvPr>
          <p:cNvSpPr txBox="1"/>
          <p:nvPr/>
        </p:nvSpPr>
        <p:spPr>
          <a:xfrm>
            <a:off x="1386840" y="756368"/>
            <a:ext cx="850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Nel reale </a:t>
            </a:r>
            <a:r>
              <a:rPr lang="it-IT" dirty="0" err="1"/>
              <a:t>Fc</a:t>
            </a:r>
            <a:r>
              <a:rPr lang="it-IT" dirty="0"/>
              <a:t> diminuisce 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E720E02F-EE9A-94A8-9C60-1D9CC49A8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20" y="2860734"/>
            <a:ext cx="4114800" cy="201663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39FA46C9-CFF0-1779-7579-6D9029705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239" y="4399280"/>
            <a:ext cx="2244718" cy="214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2700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925E51C-F6E5-ED66-1B1E-A97B82600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293" y="1349264"/>
            <a:ext cx="3779707" cy="224337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79F14896-C09A-0E89-49CB-28E5165F1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420" y="1349264"/>
            <a:ext cx="6563360" cy="151594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EB96139-AB3E-C592-D36F-CFCDE630ACB2}"/>
              </a:ext>
            </a:extLst>
          </p:cNvPr>
          <p:cNvSpPr txBox="1"/>
          <p:nvPr/>
        </p:nvSpPr>
        <p:spPr>
          <a:xfrm>
            <a:off x="1234440" y="508000"/>
            <a:ext cx="8569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Analisi standard gradino come nell’ideale</a:t>
            </a:r>
            <a:br>
              <a:rPr lang="it-IT" dirty="0"/>
            </a:b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CD94B16-0509-214C-FCF3-01A82594ABB4}"/>
              </a:ext>
            </a:extLst>
          </p:cNvPr>
          <p:cNvSpPr txBox="1"/>
          <p:nvPr/>
        </p:nvSpPr>
        <p:spPr>
          <a:xfrm>
            <a:off x="1595120" y="3891280"/>
            <a:ext cx="1000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Osserviamo il comportamento reale della carica e scarica con tao diverso da </a:t>
            </a:r>
            <a:r>
              <a:rPr lang="it-IT" dirty="0" err="1"/>
              <a:t>crs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829498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7A6EFB1-4933-0DCD-8423-8A1496C7C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60" y="375348"/>
            <a:ext cx="5892800" cy="288802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43975B5-0B86-ADFA-F637-1FF421291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1117" y="318081"/>
            <a:ext cx="3251963" cy="136157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3E98B49-BFD8-F339-7338-E13CB78F19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0760" y="2116569"/>
            <a:ext cx="3520587" cy="131243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0249423-4FB3-EA85-DA86-200696C60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040" y="3712341"/>
            <a:ext cx="4749800" cy="198409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C56B3BD-2327-9903-79D6-1D2619DCB5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588" y="3634056"/>
            <a:ext cx="3115372" cy="2447793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C55296E-3DAD-8F38-1715-A2EC155C9734}"/>
              </a:ext>
            </a:extLst>
          </p:cNvPr>
          <p:cNvSpPr txBox="1"/>
          <p:nvPr/>
        </p:nvSpPr>
        <p:spPr>
          <a:xfrm>
            <a:off x="848360" y="3479800"/>
            <a:ext cx="21082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Questo mostra perfettamente che se </a:t>
            </a:r>
            <a:r>
              <a:rPr lang="it-IT" dirty="0" err="1"/>
              <a:t>rf</a:t>
            </a:r>
            <a:r>
              <a:rPr lang="it-IT" dirty="0"/>
              <a:t> supera un certo valore grande di </a:t>
            </a:r>
            <a:r>
              <a:rPr lang="it-IT" dirty="0" err="1"/>
              <a:t>hom</a:t>
            </a:r>
            <a:r>
              <a:rPr lang="it-IT" dirty="0"/>
              <a:t> modifica la massa </a:t>
            </a:r>
            <a:r>
              <a:rPr lang="it-IT" dirty="0" err="1"/>
              <a:t>vuirtuale</a:t>
            </a:r>
            <a:r>
              <a:rPr lang="it-IT" dirty="0"/>
              <a:t> </a:t>
            </a:r>
            <a:r>
              <a:rPr lang="it-IT" dirty="0" err="1"/>
              <a:t>qe</a:t>
            </a:r>
            <a:r>
              <a:rPr lang="it-IT" dirty="0"/>
              <a:t> quindi il tao come </a:t>
            </a:r>
            <a:r>
              <a:rPr lang="it-IT" dirty="0" err="1"/>
              <a:t>fc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39902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9E56CD8-6B85-BEED-A438-13CAC09D1893}"/>
              </a:ext>
            </a:extLst>
          </p:cNvPr>
          <p:cNvSpPr txBox="1"/>
          <p:nvPr/>
        </p:nvSpPr>
        <p:spPr>
          <a:xfrm>
            <a:off x="1041400" y="314960"/>
            <a:ext cx="7757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Osserviamo comportamento di tensione </a:t>
            </a:r>
            <a:r>
              <a:rPr lang="it-IT" dirty="0" err="1"/>
              <a:t>vout</a:t>
            </a:r>
            <a:r>
              <a:rPr lang="it-IT" dirty="0"/>
              <a:t> rispetto ad un guadagno enorme</a:t>
            </a:r>
          </a:p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9347B80-4146-A633-7F01-E9429F472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" y="1238290"/>
            <a:ext cx="5029201" cy="246478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A5D5122-643C-8774-2224-3818443AB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323" y="1155583"/>
            <a:ext cx="5124713" cy="2273417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934560ED-F051-0110-D541-35CFF1110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5118" y="4085534"/>
            <a:ext cx="6115364" cy="217181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7ABC3FA-BB3F-3300-031F-96DDF1E30345}"/>
              </a:ext>
            </a:extLst>
          </p:cNvPr>
          <p:cNvSpPr txBox="1"/>
          <p:nvPr/>
        </p:nvSpPr>
        <p:spPr>
          <a:xfrm>
            <a:off x="1127760" y="4610792"/>
            <a:ext cx="365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Si sposta il massimo valore di </a:t>
            </a:r>
            <a:r>
              <a:rPr lang="it-IT" dirty="0" err="1"/>
              <a:t>Vout</a:t>
            </a:r>
            <a:r>
              <a:rPr lang="it-IT" dirty="0"/>
              <a:t> e di carica a +-15</a:t>
            </a:r>
          </a:p>
          <a:p>
            <a:r>
              <a:rPr lang="it-IT" dirty="0"/>
              <a:t>Da 4V a 15V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268562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D3E89B6-38BA-B801-0760-F623BEAF4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7" y="1503034"/>
            <a:ext cx="9021573" cy="442141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57683E18-98AD-5E85-1A5E-F10F7512BDAF}"/>
              </a:ext>
            </a:extLst>
          </p:cNvPr>
          <p:cNvSpPr txBox="1"/>
          <p:nvPr/>
        </p:nvSpPr>
        <p:spPr>
          <a:xfrm>
            <a:off x="1188720" y="487680"/>
            <a:ext cx="81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Analisi con parassiti </a:t>
            </a:r>
            <a:br>
              <a:rPr lang="it-IT" dirty="0"/>
            </a:br>
            <a:r>
              <a:rPr lang="it-IT" dirty="0"/>
              <a:t>con </a:t>
            </a:r>
            <a:r>
              <a:rPr lang="it-IT" dirty="0" err="1"/>
              <a:t>freq</a:t>
            </a:r>
            <a:r>
              <a:rPr lang="it-IT" dirty="0"/>
              <a:t> di 10k non persiste nessun effetto risonanza</a:t>
            </a:r>
          </a:p>
        </p:txBody>
      </p:sp>
    </p:spTree>
    <p:extLst>
      <p:ext uri="{BB962C8B-B14F-4D97-AF65-F5344CB8AC3E}">
        <p14:creationId xmlns:p14="http://schemas.microsoft.com/office/powerpoint/2010/main" val="25728838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BABFE8D8-93A2-F203-E174-59CE3EA5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965" y="5609457"/>
            <a:ext cx="1315835" cy="819442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868B5DB5-C751-B29F-BED2-9D441DE4A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183" y="3926246"/>
            <a:ext cx="5423749" cy="2658146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8578A286-2764-1565-5F9D-C08273CFA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183" y="838822"/>
            <a:ext cx="5285065" cy="259017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58123A5C-2D6A-4E71-A900-52E22A3EFD9E}"/>
              </a:ext>
            </a:extLst>
          </p:cNvPr>
          <p:cNvSpPr txBox="1"/>
          <p:nvPr/>
        </p:nvSpPr>
        <p:spPr>
          <a:xfrm>
            <a:off x="1092200" y="838822"/>
            <a:ext cx="4490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Stiamo vedendo i parassiti al alta frequenza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19EC174-F663-276B-1ACA-688929334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1971" y="1593756"/>
            <a:ext cx="4800847" cy="18352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7BA3141-5274-3A93-BDF5-A19283ED36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1971" y="3496567"/>
            <a:ext cx="4673437" cy="188315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25FED61-06C3-10B4-66C7-213346915C65}"/>
              </a:ext>
            </a:extLst>
          </p:cNvPr>
          <p:cNvSpPr txBox="1"/>
          <p:nvPr/>
        </p:nvSpPr>
        <p:spPr>
          <a:xfrm>
            <a:off x="2900680" y="5557520"/>
            <a:ext cx="3053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Super frequenza oscillatoria </a:t>
            </a:r>
            <a:r>
              <a:rPr lang="it-IT" dirty="0" err="1"/>
              <a:t>ecc</a:t>
            </a:r>
            <a:r>
              <a:rPr lang="it-IT" dirty="0"/>
              <a:t> </a:t>
            </a:r>
            <a:r>
              <a:rPr lang="it-IT" dirty="0" err="1"/>
              <a:t>ecc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928578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F2704A7-D910-5851-5EAA-052454F82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472" y="457265"/>
            <a:ext cx="3330386" cy="220363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76F4465-CF0E-68F2-68B9-F5EC82D31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660" y="686464"/>
            <a:ext cx="1639305" cy="19232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139FD60-65CB-9E5F-F756-2290BB119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0752" y="396564"/>
            <a:ext cx="4710953" cy="2308809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E5AD7761-24D9-7DDA-85C6-5A1BF2E217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3742" y="3598002"/>
            <a:ext cx="5840506" cy="286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50348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3_TF89338750_Win32" id="{67303D53-E497-4E8A-A1B0-F8D4DA913DFF}" vid="{0B2B8082-CFD4-436D-9CB1-F42DAFFE77E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{761ED6E5-BDDE-49C9-968D-421AB9ABD7F0}TF54b766f8-63ee-43b7-9d15-113a5f305028e85fd2b7_win32-57076faae754</Template>
  <TotalTime>1467</TotalTime>
  <Words>1547</Words>
  <Application>Microsoft Office PowerPoint</Application>
  <PresentationFormat>Widescreen</PresentationFormat>
  <Paragraphs>111</Paragraphs>
  <Slides>49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Univers</vt:lpstr>
      <vt:lpstr>GradientVTI</vt:lpstr>
      <vt:lpstr>Galassia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 COLOMBO</dc:creator>
  <cp:lastModifiedBy>RICCARDO SCOLA COLOMBO</cp:lastModifiedBy>
  <cp:revision>26</cp:revision>
  <dcterms:created xsi:type="dcterms:W3CDTF">2026-06-04T13:37:14Z</dcterms:created>
  <dcterms:modified xsi:type="dcterms:W3CDTF">2026-06-28T14:23:06Z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