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32"/>
  </p:notesMasterIdLst>
  <p:sldIdLst>
    <p:sldId id="256" r:id="rId2"/>
    <p:sldId id="419" r:id="rId3"/>
    <p:sldId id="257" r:id="rId4"/>
    <p:sldId id="258" r:id="rId5"/>
    <p:sldId id="368" r:id="rId6"/>
    <p:sldId id="369" r:id="rId7"/>
    <p:sldId id="260" r:id="rId8"/>
    <p:sldId id="374" r:id="rId9"/>
    <p:sldId id="278" r:id="rId10"/>
    <p:sldId id="280" r:id="rId11"/>
    <p:sldId id="293" r:id="rId12"/>
    <p:sldId id="296" r:id="rId13"/>
    <p:sldId id="301" r:id="rId14"/>
    <p:sldId id="300" r:id="rId15"/>
    <p:sldId id="306" r:id="rId16"/>
    <p:sldId id="311" r:id="rId17"/>
    <p:sldId id="314" r:id="rId18"/>
    <p:sldId id="319" r:id="rId19"/>
    <p:sldId id="321" r:id="rId20"/>
    <p:sldId id="385" r:id="rId21"/>
    <p:sldId id="330" r:id="rId22"/>
    <p:sldId id="388" r:id="rId23"/>
    <p:sldId id="390" r:id="rId24"/>
    <p:sldId id="262" r:id="rId25"/>
    <p:sldId id="264" r:id="rId26"/>
    <p:sldId id="396" r:id="rId27"/>
    <p:sldId id="398" r:id="rId28"/>
    <p:sldId id="408" r:id="rId29"/>
    <p:sldId id="410" r:id="rId30"/>
    <p:sldId id="415" r:id="rId31"/>
    <p:sldId id="416" r:id="rId32"/>
    <p:sldId id="420" r:id="rId33"/>
    <p:sldId id="366" r:id="rId34"/>
    <p:sldId id="367" r:id="rId35"/>
    <p:sldId id="370" r:id="rId36"/>
    <p:sldId id="259" r:id="rId37"/>
    <p:sldId id="371" r:id="rId38"/>
    <p:sldId id="372" r:id="rId39"/>
    <p:sldId id="261" r:id="rId40"/>
    <p:sldId id="373" r:id="rId41"/>
    <p:sldId id="263" r:id="rId42"/>
    <p:sldId id="272" r:id="rId43"/>
    <p:sldId id="273" r:id="rId44"/>
    <p:sldId id="274" r:id="rId45"/>
    <p:sldId id="275" r:id="rId46"/>
    <p:sldId id="375" r:id="rId47"/>
    <p:sldId id="276" r:id="rId48"/>
    <p:sldId id="277" r:id="rId49"/>
    <p:sldId id="279" r:id="rId50"/>
    <p:sldId id="281" r:id="rId51"/>
    <p:sldId id="376" r:id="rId52"/>
    <p:sldId id="282" r:id="rId53"/>
    <p:sldId id="377" r:id="rId54"/>
    <p:sldId id="284" r:id="rId55"/>
    <p:sldId id="285" r:id="rId56"/>
    <p:sldId id="286" r:id="rId57"/>
    <p:sldId id="378" r:id="rId58"/>
    <p:sldId id="287" r:id="rId59"/>
    <p:sldId id="288" r:id="rId60"/>
    <p:sldId id="289" r:id="rId61"/>
    <p:sldId id="290" r:id="rId62"/>
    <p:sldId id="379" r:id="rId63"/>
    <p:sldId id="291" r:id="rId64"/>
    <p:sldId id="292" r:id="rId65"/>
    <p:sldId id="294" r:id="rId66"/>
    <p:sldId id="295" r:id="rId67"/>
    <p:sldId id="380" r:id="rId68"/>
    <p:sldId id="381" r:id="rId69"/>
    <p:sldId id="297" r:id="rId70"/>
    <p:sldId id="298" r:id="rId71"/>
    <p:sldId id="382" r:id="rId72"/>
    <p:sldId id="422" r:id="rId73"/>
    <p:sldId id="302" r:id="rId74"/>
    <p:sldId id="303" r:id="rId75"/>
    <p:sldId id="304" r:id="rId76"/>
    <p:sldId id="305" r:id="rId77"/>
    <p:sldId id="383" r:id="rId78"/>
    <p:sldId id="307" r:id="rId79"/>
    <p:sldId id="308" r:id="rId80"/>
    <p:sldId id="309" r:id="rId81"/>
    <p:sldId id="384" r:id="rId82"/>
    <p:sldId id="310" r:id="rId83"/>
    <p:sldId id="312" r:id="rId84"/>
    <p:sldId id="315" r:id="rId85"/>
    <p:sldId id="316" r:id="rId86"/>
    <p:sldId id="317" r:id="rId87"/>
    <p:sldId id="318" r:id="rId88"/>
    <p:sldId id="320" r:id="rId89"/>
    <p:sldId id="322" r:id="rId90"/>
    <p:sldId id="324" r:id="rId91"/>
    <p:sldId id="325" r:id="rId92"/>
    <p:sldId id="326" r:id="rId93"/>
    <p:sldId id="327" r:id="rId94"/>
    <p:sldId id="328" r:id="rId95"/>
    <p:sldId id="386" r:id="rId96"/>
    <p:sldId id="387" r:id="rId97"/>
    <p:sldId id="331" r:id="rId98"/>
    <p:sldId id="332" r:id="rId99"/>
    <p:sldId id="421" r:id="rId100"/>
    <p:sldId id="389" r:id="rId101"/>
    <p:sldId id="391" r:id="rId102"/>
    <p:sldId id="392" r:id="rId103"/>
    <p:sldId id="393" r:id="rId104"/>
    <p:sldId id="394" r:id="rId105"/>
    <p:sldId id="265" r:id="rId106"/>
    <p:sldId id="266" r:id="rId107"/>
    <p:sldId id="267" r:id="rId108"/>
    <p:sldId id="268" r:id="rId109"/>
    <p:sldId id="269" r:id="rId110"/>
    <p:sldId id="270" r:id="rId111"/>
    <p:sldId id="271" r:id="rId112"/>
    <p:sldId id="418" r:id="rId113"/>
    <p:sldId id="395" r:id="rId114"/>
    <p:sldId id="397" r:id="rId115"/>
    <p:sldId id="399" r:id="rId116"/>
    <p:sldId id="400" r:id="rId117"/>
    <p:sldId id="401" r:id="rId118"/>
    <p:sldId id="402" r:id="rId119"/>
    <p:sldId id="403" r:id="rId120"/>
    <p:sldId id="404" r:id="rId121"/>
    <p:sldId id="405" r:id="rId122"/>
    <p:sldId id="283" r:id="rId123"/>
    <p:sldId id="406" r:id="rId124"/>
    <p:sldId id="407" r:id="rId125"/>
    <p:sldId id="409" r:id="rId126"/>
    <p:sldId id="411" r:id="rId127"/>
    <p:sldId id="412" r:id="rId128"/>
    <p:sldId id="413" r:id="rId129"/>
    <p:sldId id="414" r:id="rId130"/>
    <p:sldId id="417" r:id="rId131"/>
  </p:sldIdLst>
  <p:sldSz cx="12192000" cy="6858000"/>
  <p:notesSz cx="6858000" cy="9144000"/>
  <p:embeddedFontLst>
    <p:embeddedFont>
      <p:font typeface="Cambria Math" panose="02040503050406030204" pitchFamily="18" charset="0"/>
      <p:regular r:id="rId133"/>
    </p:embeddedFont>
    <p:embeddedFont>
      <p:font typeface="Garamond" panose="02020404030301010803" pitchFamily="18" charset="0"/>
      <p:regular r:id="rId134"/>
      <p:bold r:id="rId135"/>
      <p:italic r:id="rId136"/>
      <p:boldItalic r:id="rId137"/>
    </p:embeddedFont>
    <p:embeddedFont>
      <p:font typeface="Libre Franklin" pitchFamily="2" charset="0"/>
      <p:regular r:id="rId138"/>
      <p:bold r:id="rId139"/>
      <p:italic r:id="rId140"/>
      <p:boldItalic r:id="rId141"/>
    </p:embeddedFont>
    <p:embeddedFont>
      <p:font typeface="Libre Franklin SemiBold" pitchFamily="2" charset="0"/>
      <p:regular r:id="rId142"/>
      <p:bold r:id="rId143"/>
      <p:italic r:id="rId144"/>
      <p:boldItalic r:id="rId145"/>
    </p:embeddedFont>
    <p:embeddedFont>
      <p:font typeface="Open Sans" panose="020B0606030504020204" pitchFamily="34" charset="0"/>
      <p:regular r:id="rId146"/>
      <p:bold r:id="rId147"/>
      <p:italic r:id="rId148"/>
      <p:boldItalic r:id="rId149"/>
    </p:embeddedFont>
    <p:embeddedFont>
      <p:font typeface="Segoe UI" panose="020B0502040204020203" pitchFamily="34" charset="0"/>
      <p:regular r:id="rId150"/>
      <p:bold r:id="rId151"/>
      <p:italic r:id="rId152"/>
      <p:boldItalic r:id="rId153"/>
    </p:embeddedFont>
    <p:embeddedFont>
      <p:font typeface="Segoe UI Semibold" panose="020B0702040204020203" pitchFamily="34" charset="0"/>
      <p:bold r:id="rId154"/>
      <p:boldItalic r:id="rId1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89">
          <p15:clr>
            <a:srgbClr val="A4A3A4"/>
          </p15:clr>
        </p15:guide>
        <p15:guide id="2" pos="7056">
          <p15:clr>
            <a:srgbClr val="A4A3A4"/>
          </p15:clr>
        </p15:guide>
        <p15:guide id="3" orient="horz" pos="31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FF61"/>
    <a:srgbClr val="0202FF"/>
    <a:srgbClr val="292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61" autoAdjust="0"/>
    <p:restoredTop sz="94660"/>
  </p:normalViewPr>
  <p:slideViewPr>
    <p:cSldViewPr snapToGrid="0">
      <p:cViewPr>
        <p:scale>
          <a:sx n="150" d="100"/>
          <a:sy n="150" d="100"/>
        </p:scale>
        <p:origin x="252" y="84"/>
      </p:cViewPr>
      <p:guideLst>
        <p:guide orient="horz" pos="1389"/>
        <p:guide pos="7056"/>
        <p:guide orient="horz" pos="31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6.fntdata"/><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7.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18.fntdata"/><Relationship Id="rId155" Type="http://schemas.openxmlformats.org/officeDocument/2006/relationships/font" Target="fonts/font23.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8.fntdata"/><Relationship Id="rId145"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3.fntdata"/><Relationship Id="rId151" Type="http://schemas.openxmlformats.org/officeDocument/2006/relationships/font" Target="fonts/font19.fntdata"/><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9.fntdata"/><Relationship Id="rId14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4.fntdata"/><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5.fntdata"/><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3" Type="http://schemas.openxmlformats.org/officeDocument/2006/relationships/font" Target="fonts/font2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1.fntdata"/><Relationship Id="rId148"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fntdata"/><Relationship Id="rId154" Type="http://schemas.openxmlformats.org/officeDocument/2006/relationships/font" Target="fonts/font2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2.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f670dd64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f670dd640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3ef670dd640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f670dd64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f670dd64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ef670dd640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f670dd640_0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ef670dd640_0_3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ef670dd640_0_3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10</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3" name="Google Shape;623;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4" name="Google Shape;624;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p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p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efbc9e7ede_0_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3efbc9e7ede_0_3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9" name="Google Shape;769;g3efbc9e7ede_0_3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17</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p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p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19</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p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p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25</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26</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28</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f04e04124b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f04e04124b_1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g3f04e04124b_1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29</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04e04124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f04e04124b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g3f04e04124b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30</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31</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f670dd640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f670dd640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3ef670dd640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36</a:t>
            </a:fld>
            <a:endParaRPr/>
          </a:p>
        </p:txBody>
      </p:sp>
    </p:spTree>
    <p:extLst>
      <p:ext uri="{BB962C8B-B14F-4D97-AF65-F5344CB8AC3E}">
        <p14:creationId xmlns:p14="http://schemas.microsoft.com/office/powerpoint/2010/main" val="2143495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it-IT" sz="1200" b="0" i="0" u="none" strike="noStrike" cap="none" smtClean="0">
                <a:solidFill>
                  <a:schemeClr val="dk1"/>
                </a:solidFill>
                <a:latin typeface="Calibri"/>
                <a:ea typeface="Calibri"/>
                <a:cs typeface="Calibri"/>
                <a:sym typeface="Calibri"/>
              </a:rPr>
              <a:t>37</a:t>
            </a:fld>
            <a:endParaRPr lang="it-IT"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32295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f670dd64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f670dd640_0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ef670dd640_0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39</a:t>
            </a:fld>
            <a:endParaRPr/>
          </a:p>
        </p:txBody>
      </p:sp>
    </p:spTree>
    <p:extLst>
      <p:ext uri="{BB962C8B-B14F-4D97-AF65-F5344CB8AC3E}">
        <p14:creationId xmlns:p14="http://schemas.microsoft.com/office/powerpoint/2010/main" val="2624817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f670dd640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ef670dd640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ef670dd640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41</a:t>
            </a:fld>
            <a:endParaRPr/>
          </a:p>
        </p:txBody>
      </p:sp>
    </p:spTree>
    <p:extLst>
      <p:ext uri="{BB962C8B-B14F-4D97-AF65-F5344CB8AC3E}">
        <p14:creationId xmlns:p14="http://schemas.microsoft.com/office/powerpoint/2010/main" val="13227737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42</a:t>
            </a:fld>
            <a:endParaRPr/>
          </a:p>
        </p:txBody>
      </p:sp>
    </p:spTree>
    <p:extLst>
      <p:ext uri="{BB962C8B-B14F-4D97-AF65-F5344CB8AC3E}">
        <p14:creationId xmlns:p14="http://schemas.microsoft.com/office/powerpoint/2010/main" val="3766036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43</a:t>
            </a:fld>
            <a:endParaRPr/>
          </a:p>
        </p:txBody>
      </p:sp>
    </p:spTree>
    <p:extLst>
      <p:ext uri="{BB962C8B-B14F-4D97-AF65-F5344CB8AC3E}">
        <p14:creationId xmlns:p14="http://schemas.microsoft.com/office/powerpoint/2010/main" val="26360078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26967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45</a:t>
            </a:fld>
            <a:endParaRPr/>
          </a:p>
        </p:txBody>
      </p:sp>
    </p:spTree>
    <p:extLst>
      <p:ext uri="{BB962C8B-B14F-4D97-AF65-F5344CB8AC3E}">
        <p14:creationId xmlns:p14="http://schemas.microsoft.com/office/powerpoint/2010/main" val="1481781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37524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48</a:t>
            </a:fld>
            <a:endParaRPr/>
          </a:p>
        </p:txBody>
      </p:sp>
    </p:spTree>
    <p:extLst>
      <p:ext uri="{BB962C8B-B14F-4D97-AF65-F5344CB8AC3E}">
        <p14:creationId xmlns:p14="http://schemas.microsoft.com/office/powerpoint/2010/main" val="1479805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49</a:t>
            </a:fld>
            <a:endParaRPr/>
          </a:p>
        </p:txBody>
      </p:sp>
    </p:spTree>
    <p:extLst>
      <p:ext uri="{BB962C8B-B14F-4D97-AF65-F5344CB8AC3E}">
        <p14:creationId xmlns:p14="http://schemas.microsoft.com/office/powerpoint/2010/main" val="3086911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50</a:t>
            </a:fld>
            <a:endParaRPr/>
          </a:p>
        </p:txBody>
      </p:sp>
    </p:spTree>
    <p:extLst>
      <p:ext uri="{BB962C8B-B14F-4D97-AF65-F5344CB8AC3E}">
        <p14:creationId xmlns:p14="http://schemas.microsoft.com/office/powerpoint/2010/main" val="23589470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52</a:t>
            </a:fld>
            <a:endParaRPr/>
          </a:p>
        </p:txBody>
      </p:sp>
    </p:spTree>
    <p:extLst>
      <p:ext uri="{BB962C8B-B14F-4D97-AF65-F5344CB8AC3E}">
        <p14:creationId xmlns:p14="http://schemas.microsoft.com/office/powerpoint/2010/main" val="26746617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54</a:t>
            </a:fld>
            <a:endParaRPr/>
          </a:p>
        </p:txBody>
      </p:sp>
    </p:spTree>
    <p:extLst>
      <p:ext uri="{BB962C8B-B14F-4D97-AF65-F5344CB8AC3E}">
        <p14:creationId xmlns:p14="http://schemas.microsoft.com/office/powerpoint/2010/main" val="41841630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55</a:t>
            </a:fld>
            <a:endParaRPr/>
          </a:p>
        </p:txBody>
      </p:sp>
    </p:spTree>
    <p:extLst>
      <p:ext uri="{BB962C8B-B14F-4D97-AF65-F5344CB8AC3E}">
        <p14:creationId xmlns:p14="http://schemas.microsoft.com/office/powerpoint/2010/main" val="20872164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56</a:t>
            </a:fld>
            <a:endParaRPr/>
          </a:p>
        </p:txBody>
      </p:sp>
    </p:spTree>
    <p:extLst>
      <p:ext uri="{BB962C8B-B14F-4D97-AF65-F5344CB8AC3E}">
        <p14:creationId xmlns:p14="http://schemas.microsoft.com/office/powerpoint/2010/main" val="535123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5" name="Google Shape;545;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58</a:t>
            </a:fld>
            <a:endParaRPr/>
          </a:p>
        </p:txBody>
      </p:sp>
    </p:spTree>
    <p:extLst>
      <p:ext uri="{BB962C8B-B14F-4D97-AF65-F5344CB8AC3E}">
        <p14:creationId xmlns:p14="http://schemas.microsoft.com/office/powerpoint/2010/main" val="29969593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efbc9e7ede_0_5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efbc9e7ede_0_5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g3efbc9e7ede_0_5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59</a:t>
            </a:fld>
            <a:endParaRPr/>
          </a:p>
        </p:txBody>
      </p:sp>
    </p:spTree>
    <p:extLst>
      <p:ext uri="{BB962C8B-B14F-4D97-AF65-F5344CB8AC3E}">
        <p14:creationId xmlns:p14="http://schemas.microsoft.com/office/powerpoint/2010/main" val="3824934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67081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efbc9e7ede_0_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efbc9e7ede_0_5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3efbc9e7ede_0_5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61</a:t>
            </a:fld>
            <a:endParaRPr/>
          </a:p>
        </p:txBody>
      </p:sp>
    </p:spTree>
    <p:extLst>
      <p:ext uri="{BB962C8B-B14F-4D97-AF65-F5344CB8AC3E}">
        <p14:creationId xmlns:p14="http://schemas.microsoft.com/office/powerpoint/2010/main" val="27826798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3" name="Google Shape;58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63</a:t>
            </a:fld>
            <a:endParaRPr/>
          </a:p>
        </p:txBody>
      </p:sp>
    </p:spTree>
    <p:extLst>
      <p:ext uri="{BB962C8B-B14F-4D97-AF65-F5344CB8AC3E}">
        <p14:creationId xmlns:p14="http://schemas.microsoft.com/office/powerpoint/2010/main" val="30594193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66359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8" name="Google Shape;608;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65</a:t>
            </a:fld>
            <a:endParaRPr/>
          </a:p>
        </p:txBody>
      </p:sp>
    </p:spTree>
    <p:extLst>
      <p:ext uri="{BB962C8B-B14F-4D97-AF65-F5344CB8AC3E}">
        <p14:creationId xmlns:p14="http://schemas.microsoft.com/office/powerpoint/2010/main" val="3676050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4" name="Google Shape;614;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66</a:t>
            </a:fld>
            <a:endParaRPr/>
          </a:p>
        </p:txBody>
      </p:sp>
    </p:spTree>
    <p:extLst>
      <p:ext uri="{BB962C8B-B14F-4D97-AF65-F5344CB8AC3E}">
        <p14:creationId xmlns:p14="http://schemas.microsoft.com/office/powerpoint/2010/main" val="13986671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8" name="Google Shape;638;p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69</a:t>
            </a:fld>
            <a:endParaRPr/>
          </a:p>
        </p:txBody>
      </p:sp>
    </p:spTree>
    <p:extLst>
      <p:ext uri="{BB962C8B-B14F-4D97-AF65-F5344CB8AC3E}">
        <p14:creationId xmlns:p14="http://schemas.microsoft.com/office/powerpoint/2010/main" val="315475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4" name="Google Shape;644;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p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70</a:t>
            </a:fld>
            <a:endParaRPr/>
          </a:p>
        </p:txBody>
      </p:sp>
    </p:spTree>
    <p:extLst>
      <p:ext uri="{BB962C8B-B14F-4D97-AF65-F5344CB8AC3E}">
        <p14:creationId xmlns:p14="http://schemas.microsoft.com/office/powerpoint/2010/main" val="38437288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48530145-8F59-FAEC-9DE5-9989C4FFEE76}"/>
            </a:ext>
          </a:extLst>
        </p:cNvPr>
        <p:cNvGrpSpPr/>
        <p:nvPr/>
      </p:nvGrpSpPr>
      <p:grpSpPr>
        <a:xfrm>
          <a:off x="0" y="0"/>
          <a:ext cx="0" cy="0"/>
          <a:chOff x="0" y="0"/>
          <a:chExt cx="0" cy="0"/>
        </a:xfrm>
      </p:grpSpPr>
      <p:sp>
        <p:nvSpPr>
          <p:cNvPr id="668" name="Google Shape;668;p44:notes">
            <a:extLst>
              <a:ext uri="{FF2B5EF4-FFF2-40B4-BE49-F238E27FC236}">
                <a16:creationId xmlns:a16="http://schemas.microsoft.com/office/drawing/2014/main" id="{C3744A2A-D3A4-775E-F28E-7357483251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a:extLst>
              <a:ext uri="{FF2B5EF4-FFF2-40B4-BE49-F238E27FC236}">
                <a16:creationId xmlns:a16="http://schemas.microsoft.com/office/drawing/2014/main" id="{7F1A1E63-882F-9845-8AF5-FD9E6F6017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53769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p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73</a:t>
            </a:fld>
            <a:endParaRPr/>
          </a:p>
        </p:txBody>
      </p:sp>
    </p:spTree>
    <p:extLst>
      <p:ext uri="{BB962C8B-B14F-4D97-AF65-F5344CB8AC3E}">
        <p14:creationId xmlns:p14="http://schemas.microsoft.com/office/powerpoint/2010/main" val="13277484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0" name="Google Shape;690;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74</a:t>
            </a:fld>
            <a:endParaRPr/>
          </a:p>
        </p:txBody>
      </p:sp>
    </p:spTree>
    <p:extLst>
      <p:ext uri="{BB962C8B-B14F-4D97-AF65-F5344CB8AC3E}">
        <p14:creationId xmlns:p14="http://schemas.microsoft.com/office/powerpoint/2010/main" val="55694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75</a:t>
            </a:fld>
            <a:endParaRPr/>
          </a:p>
        </p:txBody>
      </p:sp>
    </p:spTree>
    <p:extLst>
      <p:ext uri="{BB962C8B-B14F-4D97-AF65-F5344CB8AC3E}">
        <p14:creationId xmlns:p14="http://schemas.microsoft.com/office/powerpoint/2010/main" val="22425721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76</a:t>
            </a:fld>
            <a:endParaRPr/>
          </a:p>
        </p:txBody>
      </p:sp>
    </p:spTree>
    <p:extLst>
      <p:ext uri="{BB962C8B-B14F-4D97-AF65-F5344CB8AC3E}">
        <p14:creationId xmlns:p14="http://schemas.microsoft.com/office/powerpoint/2010/main" val="16198275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39012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79</a:t>
            </a:fld>
            <a:endParaRPr/>
          </a:p>
        </p:txBody>
      </p:sp>
    </p:spTree>
    <p:extLst>
      <p:ext uri="{BB962C8B-B14F-4D97-AF65-F5344CB8AC3E}">
        <p14:creationId xmlns:p14="http://schemas.microsoft.com/office/powerpoint/2010/main" val="11333820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p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80</a:t>
            </a:fld>
            <a:endParaRPr/>
          </a:p>
        </p:txBody>
      </p:sp>
    </p:spTree>
    <p:extLst>
      <p:ext uri="{BB962C8B-B14F-4D97-AF65-F5344CB8AC3E}">
        <p14:creationId xmlns:p14="http://schemas.microsoft.com/office/powerpoint/2010/main" val="10815352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81527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p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83</a:t>
            </a:fld>
            <a:endParaRPr/>
          </a:p>
        </p:txBody>
      </p:sp>
    </p:spTree>
    <p:extLst>
      <p:ext uri="{BB962C8B-B14F-4D97-AF65-F5344CB8AC3E}">
        <p14:creationId xmlns:p14="http://schemas.microsoft.com/office/powerpoint/2010/main" val="174645783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p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p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84</a:t>
            </a:fld>
            <a:endParaRPr/>
          </a:p>
        </p:txBody>
      </p:sp>
    </p:spTree>
    <p:extLst>
      <p:ext uri="{BB962C8B-B14F-4D97-AF65-F5344CB8AC3E}">
        <p14:creationId xmlns:p14="http://schemas.microsoft.com/office/powerpoint/2010/main" val="34858623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p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85</a:t>
            </a:fld>
            <a:endParaRPr/>
          </a:p>
        </p:txBody>
      </p:sp>
    </p:spTree>
    <p:extLst>
      <p:ext uri="{BB962C8B-B14F-4D97-AF65-F5344CB8AC3E}">
        <p14:creationId xmlns:p14="http://schemas.microsoft.com/office/powerpoint/2010/main" val="26100825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p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p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86</a:t>
            </a:fld>
            <a:endParaRPr/>
          </a:p>
        </p:txBody>
      </p:sp>
    </p:spTree>
    <p:extLst>
      <p:ext uri="{BB962C8B-B14F-4D97-AF65-F5344CB8AC3E}">
        <p14:creationId xmlns:p14="http://schemas.microsoft.com/office/powerpoint/2010/main" val="8704062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32836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8398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p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89</a:t>
            </a:fld>
            <a:endParaRPr/>
          </a:p>
        </p:txBody>
      </p:sp>
    </p:spTree>
    <p:extLst>
      <p:ext uri="{BB962C8B-B14F-4D97-AF65-F5344CB8AC3E}">
        <p14:creationId xmlns:p14="http://schemas.microsoft.com/office/powerpoint/2010/main" val="5076984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76234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p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91</a:t>
            </a:fld>
            <a:endParaRPr/>
          </a:p>
        </p:txBody>
      </p:sp>
    </p:spTree>
    <p:extLst>
      <p:ext uri="{BB962C8B-B14F-4D97-AF65-F5344CB8AC3E}">
        <p14:creationId xmlns:p14="http://schemas.microsoft.com/office/powerpoint/2010/main" val="23196590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efbc9e7ede_0_6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efbc9e7ede_0_6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5" name="Google Shape;905;g3efbc9e7ede_0_6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92</a:t>
            </a:fld>
            <a:endParaRPr/>
          </a:p>
        </p:txBody>
      </p:sp>
    </p:spTree>
    <p:extLst>
      <p:ext uri="{BB962C8B-B14F-4D97-AF65-F5344CB8AC3E}">
        <p14:creationId xmlns:p14="http://schemas.microsoft.com/office/powerpoint/2010/main" val="31870413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43228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3efbc9e7ede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3efbc9e7ede_0_6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g3efbc9e7ede_0_6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94</a:t>
            </a:fld>
            <a:endParaRPr/>
          </a:p>
        </p:txBody>
      </p:sp>
    </p:spTree>
    <p:extLst>
      <p:ext uri="{BB962C8B-B14F-4D97-AF65-F5344CB8AC3E}">
        <p14:creationId xmlns:p14="http://schemas.microsoft.com/office/powerpoint/2010/main" val="741549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p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97</a:t>
            </a:fld>
            <a:endParaRPr/>
          </a:p>
        </p:txBody>
      </p:sp>
    </p:spTree>
    <p:extLst>
      <p:ext uri="{BB962C8B-B14F-4D97-AF65-F5344CB8AC3E}">
        <p14:creationId xmlns:p14="http://schemas.microsoft.com/office/powerpoint/2010/main" val="28484260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p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98</a:t>
            </a:fld>
            <a:endParaRPr/>
          </a:p>
        </p:txBody>
      </p:sp>
    </p:spTree>
    <p:extLst>
      <p:ext uri="{BB962C8B-B14F-4D97-AF65-F5344CB8AC3E}">
        <p14:creationId xmlns:p14="http://schemas.microsoft.com/office/powerpoint/2010/main" val="14488186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FD786E4F-58DB-CD05-B524-4AC6CF4955D8}"/>
            </a:ext>
          </a:extLst>
        </p:cNvPr>
        <p:cNvGrpSpPr/>
        <p:nvPr/>
      </p:nvGrpSpPr>
      <p:grpSpPr>
        <a:xfrm>
          <a:off x="0" y="0"/>
          <a:ext cx="0" cy="0"/>
          <a:chOff x="0" y="0"/>
          <a:chExt cx="0" cy="0"/>
        </a:xfrm>
      </p:grpSpPr>
      <p:sp>
        <p:nvSpPr>
          <p:cNvPr id="154" name="Google Shape;154;p78:notes">
            <a:extLst>
              <a:ext uri="{FF2B5EF4-FFF2-40B4-BE49-F238E27FC236}">
                <a16:creationId xmlns:a16="http://schemas.microsoft.com/office/drawing/2014/main" id="{B9157FE5-81D9-A088-448B-414FCC727D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a:extLst>
              <a:ext uri="{FF2B5EF4-FFF2-40B4-BE49-F238E27FC236}">
                <a16:creationId xmlns:a16="http://schemas.microsoft.com/office/drawing/2014/main" id="{A0F1DDCD-E6B1-7F87-BB33-0B00236E66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73025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f04e04124b_1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f04e04124b_1_1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f04e04124b_1_1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101</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102</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04e04124b_1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04e04124b_1_1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f04e04124b_1_1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103</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104</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04e04124b_1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f04e04124b_1_1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3f04e04124b_1_1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106</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107</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109</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f04e04124b_1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f04e04124b_1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g3f04e04124b_1_9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110</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111</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04e04124b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f04e04124b_1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f04e04124b_1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115</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116</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118</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f04e04124b_1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f04e04124b_1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g3f04e04124b_1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120</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122</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f04e04124b_1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f04e04124b_1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g3f04e04124b_1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123</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124</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127</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128</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04e04124b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f04e04124b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g3f04e04124b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129</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solo titolo">
  <p:cSld name="Diapositiva solo titolo">
    <p:bg>
      <p:bgPr>
        <a:gradFill>
          <a:gsLst>
            <a:gs pos="0">
              <a:schemeClr val="accent2"/>
            </a:gs>
            <a:gs pos="100000">
              <a:schemeClr val="accent4"/>
            </a:gs>
          </a:gsLst>
          <a:lin ang="2700000" scaled="0"/>
        </a:gradFill>
        <a:effectLst/>
      </p:bgPr>
    </p:bg>
    <p:spTree>
      <p:nvGrpSpPr>
        <p:cNvPr id="1" name="Shape 20"/>
        <p:cNvGrpSpPr/>
        <p:nvPr/>
      </p:nvGrpSpPr>
      <p:grpSpPr>
        <a:xfrm>
          <a:off x="0" y="0"/>
          <a:ext cx="0" cy="0"/>
          <a:chOff x="0" y="0"/>
          <a:chExt cx="0" cy="0"/>
        </a:xfrm>
      </p:grpSpPr>
      <p:sp>
        <p:nvSpPr>
          <p:cNvPr id="21" name="Google Shape;21;p2"/>
          <p:cNvSpPr txBox="1">
            <a:spLocks noGrp="1"/>
          </p:cNvSpPr>
          <p:nvPr>
            <p:ph type="ctrTitle"/>
          </p:nvPr>
        </p:nvSpPr>
        <p:spPr>
          <a:xfrm>
            <a:off x="1280159" y="357809"/>
            <a:ext cx="7983110" cy="308033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5400"/>
              <a:buFont typeface="Open Sans"/>
              <a:buNone/>
              <a:defRPr sz="5400" b="1" i="0" cap="none">
                <a:solidFill>
                  <a:schemeClr val="lt1"/>
                </a:solidFill>
              </a:defRPr>
            </a:lvl1pPr>
            <a:lvl2pPr lvl="1" algn="l">
              <a:spcBef>
                <a:spcPts val="0"/>
              </a:spcBef>
              <a:spcAft>
                <a:spcPts val="0"/>
              </a:spcAft>
              <a:buClr>
                <a:schemeClr val="dk2"/>
              </a:buClr>
              <a:buSzPts val="1400"/>
              <a:buNone/>
              <a:defRPr/>
            </a:lvl2pPr>
            <a:lvl3pPr lvl="2" algn="l">
              <a:spcBef>
                <a:spcPts val="0"/>
              </a:spcBef>
              <a:spcAft>
                <a:spcPts val="0"/>
              </a:spcAft>
              <a:buClr>
                <a:schemeClr val="dk2"/>
              </a:buClr>
              <a:buSzPts val="1400"/>
              <a:buNone/>
              <a:defRPr/>
            </a:lvl3pPr>
            <a:lvl4pPr lvl="3" algn="l">
              <a:spcBef>
                <a:spcPts val="0"/>
              </a:spcBef>
              <a:spcAft>
                <a:spcPts val="0"/>
              </a:spcAft>
              <a:buClr>
                <a:schemeClr val="dk2"/>
              </a:buClr>
              <a:buSzPts val="1400"/>
              <a:buNone/>
              <a:defRPr/>
            </a:lvl4pPr>
            <a:lvl5pPr lvl="4" algn="l">
              <a:spcBef>
                <a:spcPts val="0"/>
              </a:spcBef>
              <a:spcAft>
                <a:spcPts val="0"/>
              </a:spcAft>
              <a:buClr>
                <a:schemeClr val="dk2"/>
              </a:buClr>
              <a:buSzPts val="1400"/>
              <a:buNone/>
              <a:defRPr/>
            </a:lvl5pPr>
            <a:lvl6pPr lvl="5" algn="l">
              <a:spcBef>
                <a:spcPts val="0"/>
              </a:spcBef>
              <a:spcAft>
                <a:spcPts val="0"/>
              </a:spcAft>
              <a:buClr>
                <a:schemeClr val="dk2"/>
              </a:buClr>
              <a:buSzPts val="1400"/>
              <a:buNone/>
              <a:defRPr/>
            </a:lvl6pPr>
            <a:lvl7pPr lvl="6" algn="l">
              <a:spcBef>
                <a:spcPts val="0"/>
              </a:spcBef>
              <a:spcAft>
                <a:spcPts val="0"/>
              </a:spcAft>
              <a:buClr>
                <a:schemeClr val="dk2"/>
              </a:buClr>
              <a:buSzPts val="1400"/>
              <a:buNone/>
              <a:defRPr/>
            </a:lvl7pPr>
            <a:lvl8pPr lvl="7" algn="l">
              <a:spcBef>
                <a:spcPts val="0"/>
              </a:spcBef>
              <a:spcAft>
                <a:spcPts val="0"/>
              </a:spcAft>
              <a:buClr>
                <a:schemeClr val="dk2"/>
              </a:buClr>
              <a:buSzPts val="1400"/>
              <a:buNone/>
              <a:defRPr/>
            </a:lvl8pPr>
            <a:lvl9pPr lvl="8" algn="l">
              <a:spcBef>
                <a:spcPts val="0"/>
              </a:spcBef>
              <a:spcAft>
                <a:spcPts val="0"/>
              </a:spcAft>
              <a:buClr>
                <a:schemeClr val="dk2"/>
              </a:buClr>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22"/>
        <p:cNvGrpSpPr/>
        <p:nvPr/>
      </p:nvGrpSpPr>
      <p:grpSpPr>
        <a:xfrm>
          <a:off x="0" y="0"/>
          <a:ext cx="0" cy="0"/>
          <a:chOff x="0" y="0"/>
          <a:chExt cx="0" cy="0"/>
        </a:xfrm>
      </p:grpSpPr>
      <p:sp>
        <p:nvSpPr>
          <p:cNvPr id="23" name="Google Shape;23;p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apositiva titolo" type="title">
  <p:cSld name="TITLE">
    <p:spTree>
      <p:nvGrpSpPr>
        <p:cNvPr id="1" name="Shape 26"/>
        <p:cNvGrpSpPr/>
        <p:nvPr/>
      </p:nvGrpSpPr>
      <p:grpSpPr>
        <a:xfrm>
          <a:off x="0" y="0"/>
          <a:ext cx="0" cy="0"/>
          <a:chOff x="0" y="0"/>
          <a:chExt cx="0" cy="0"/>
        </a:xfrm>
      </p:grpSpPr>
      <p:grpSp>
        <p:nvGrpSpPr>
          <p:cNvPr id="27" name="Google Shape;27;p4"/>
          <p:cNvGrpSpPr/>
          <p:nvPr/>
        </p:nvGrpSpPr>
        <p:grpSpPr>
          <a:xfrm>
            <a:off x="-16934" y="0"/>
            <a:ext cx="12231160" cy="6856214"/>
            <a:chOff x="-16934" y="0"/>
            <a:chExt cx="12231160" cy="6856214"/>
          </a:xfrm>
        </p:grpSpPr>
        <p:pic>
          <p:nvPicPr>
            <p:cNvPr id="28" name="Google Shape;28;p4"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9" name="Google Shape;29;p4"/>
            <p:cNvSpPr/>
            <p:nvPr/>
          </p:nvSpPr>
          <p:spPr>
            <a:xfrm>
              <a:off x="2328332" y="1540931"/>
              <a:ext cx="7543802" cy="3835401"/>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4"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31" name="Google Shape;31;p4"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32" name="Google Shape;32;p4"/>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34" name="Google Shape;34;p4"/>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37" name="Google Shape;37;p4"/>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8"/>
        <p:cNvGrpSpPr/>
        <p:nvPr/>
      </p:nvGrpSpPr>
      <p:grpSpPr>
        <a:xfrm>
          <a:off x="0" y="0"/>
          <a:ext cx="0" cy="0"/>
          <a:chOff x="0" y="0"/>
          <a:chExt cx="0" cy="0"/>
        </a:xfrm>
      </p:grpSpPr>
      <p:cxnSp>
        <p:nvCxnSpPr>
          <p:cNvPr id="39" name="Google Shape;39;p5"/>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0" name="Google Shape;40;p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2" name="Google Shape;42;p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48" name="Google Shape;48;p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51" name="Google Shape;51;p6"/>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52"/>
        <p:cNvGrpSpPr/>
        <p:nvPr/>
      </p:nvGrpSpPr>
      <p:grpSpPr>
        <a:xfrm>
          <a:off x="0" y="0"/>
          <a:ext cx="0" cy="0"/>
          <a:chOff x="0" y="0"/>
          <a:chExt cx="0" cy="0"/>
        </a:xfrm>
      </p:grpSpPr>
      <p:cxnSp>
        <p:nvCxnSpPr>
          <p:cNvPr id="53" name="Google Shape;53;p7"/>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54" name="Google Shape;54;p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7"/>
          <p:cNvSpPr txBox="1">
            <a:spLocks noGrp="1"/>
          </p:cNvSpPr>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7" name="Google Shape;57;p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3" name="Google Shape;63;p8"/>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4" name="Google Shape;64;p8"/>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5" name="Google Shape;65;p8"/>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6" name="Google Shape;66;p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69" name="Google Shape;69;p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75" name="Google Shape;75;p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9" name="Google Shape;79;p10"/>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0" name="Google Shape;80;p1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83" name="Google Shape;83;p10"/>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87" name="Google Shape;87;p11"/>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60"/>
              </a:spcBef>
              <a:spcAft>
                <a:spcPts val="0"/>
              </a:spcAft>
              <a:buSzPts val="2070"/>
              <a:buNone/>
              <a:defRPr sz="18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8" name="Google Shape;88;p1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magine panoramica con didascalia">
  <p:cSld name="Immagine panoramica con didascalia">
    <p:spTree>
      <p:nvGrpSpPr>
        <p:cNvPr id="1" name="Shape 91"/>
        <p:cNvGrpSpPr/>
        <p:nvPr/>
      </p:nvGrpSpPr>
      <p:grpSpPr>
        <a:xfrm>
          <a:off x="0" y="0"/>
          <a:ext cx="0" cy="0"/>
          <a:chOff x="0" y="0"/>
          <a:chExt cx="0" cy="0"/>
        </a:xfrm>
      </p:grpSpPr>
      <p:sp>
        <p:nvSpPr>
          <p:cNvPr id="92" name="Google Shape;92;p12"/>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94" name="Google Shape;94;p12"/>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280"/>
              </a:spcBef>
              <a:spcAft>
                <a:spcPts val="0"/>
              </a:spcAft>
              <a:buSzPts val="1610"/>
              <a:buNone/>
              <a:defRPr sz="14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95" name="Google Shape;95;p1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olo e sottotitolo">
  <p:cSld name="Titolo e sottotitolo">
    <p:spTree>
      <p:nvGrpSpPr>
        <p:cNvPr id="1" name="Shape 98"/>
        <p:cNvGrpSpPr/>
        <p:nvPr/>
      </p:nvGrpSpPr>
      <p:grpSpPr>
        <a:xfrm>
          <a:off x="0" y="0"/>
          <a:ext cx="0" cy="0"/>
          <a:chOff x="0" y="0"/>
          <a:chExt cx="0" cy="0"/>
        </a:xfrm>
      </p:grpSpPr>
      <p:sp>
        <p:nvSpPr>
          <p:cNvPr id="99" name="Google Shape;99;p13"/>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3"/>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1" name="Google Shape;101;p1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04" name="Google Shape;104;p13"/>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zione con didascalia">
  <p:cSld name="Citazione con didascalia">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4"/>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SzPts val="2300"/>
              <a:buFont typeface="Garamond"/>
              <a:buNone/>
              <a:defRPr sz="20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8" name="Google Shape;108;p14"/>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9" name="Google Shape;109;p1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12" name="Google Shape;112;p14"/>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13" name="Google Shape;113;p14"/>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14" name="Google Shape;114;p14"/>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cheda nome">
  <p:cSld name="Scheda nome">
    <p:spTree>
      <p:nvGrpSpPr>
        <p:cNvPr id="1" name="Shape 115"/>
        <p:cNvGrpSpPr/>
        <p:nvPr/>
      </p:nvGrpSpPr>
      <p:grpSpPr>
        <a:xfrm>
          <a:off x="0" y="0"/>
          <a:ext cx="0" cy="0"/>
          <a:chOff x="0" y="0"/>
          <a:chExt cx="0" cy="0"/>
        </a:xfrm>
      </p:grpSpPr>
      <p:sp>
        <p:nvSpPr>
          <p:cNvPr id="116" name="Google Shape;116;p15"/>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5"/>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cheda nome citazione">
  <p:cSld name="Scheda nome citazione">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6"/>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4" name="Google Shape;124;p16"/>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5" name="Google Shape;125;p1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28" name="Google Shape;128;p16"/>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29" name="Google Shape;129;p16"/>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30" name="Google Shape;130;p16"/>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o o falso">
  <p:cSld name="Vero o falso">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7"/>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3220"/>
              <a:buNone/>
              <a:defRPr sz="2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4" name="Google Shape;134;p17"/>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5" name="Google Shape;135;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38" name="Google Shape;138;p17"/>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8"/>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2" name="Google Shape;142;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45" name="Google Shape;145;p1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9"/>
          <p:cNvSpPr txBox="1">
            <a:spLocks noGrp="1"/>
          </p:cNvSpPr>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9" name="Google Shape;149;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52" name="Google Shape;152;p19"/>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15736" y="0"/>
            <a:ext cx="12229962" cy="6856214"/>
            <a:chOff x="-15736" y="0"/>
            <a:chExt cx="12229962" cy="6856214"/>
          </a:xfrm>
        </p:grpSpPr>
        <p:pic>
          <p:nvPicPr>
            <p:cNvPr id="11" name="Google Shape;11;p1" descr="HD-PanelContent.png"/>
            <p:cNvPicPr preferRelativeResize="0"/>
            <p:nvPr/>
          </p:nvPicPr>
          <p:blipFill rotWithShape="1">
            <a:blip r:embed="rId21">
              <a:alphaModFix/>
            </a:blip>
            <a:srcRect/>
            <a:stretch/>
          </p:blipFill>
          <p:spPr>
            <a:xfrm>
              <a:off x="0" y="0"/>
              <a:ext cx="12188825" cy="6856214"/>
            </a:xfrm>
            <a:prstGeom prst="rect">
              <a:avLst/>
            </a:prstGeom>
            <a:noFill/>
            <a:ln>
              <a:noFill/>
            </a:ln>
          </p:spPr>
        </p:pic>
        <p:sp>
          <p:nvSpPr>
            <p:cNvPr id="12" name="Google Shape;12;p1"/>
            <p:cNvSpPr/>
            <p:nvPr/>
          </p:nvSpPr>
          <p:spPr>
            <a:xfrm>
              <a:off x="608012" y="609600"/>
              <a:ext cx="10972800" cy="5638800"/>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 descr="HDRibbonContent-UniformTrim.png"/>
            <p:cNvPicPr preferRelativeResize="0"/>
            <p:nvPr/>
          </p:nvPicPr>
          <p:blipFill rotWithShape="1">
            <a:blip r:embed="rId22">
              <a:alphaModFix/>
            </a:blip>
            <a:srcRect/>
            <a:stretch/>
          </p:blipFill>
          <p:spPr>
            <a:xfrm>
              <a:off x="-15736" y="3153832"/>
              <a:ext cx="777240" cy="606425"/>
            </a:xfrm>
            <a:prstGeom prst="rect">
              <a:avLst/>
            </a:prstGeom>
            <a:noFill/>
            <a:ln>
              <a:noFill/>
            </a:ln>
          </p:spPr>
        </p:pic>
        <p:pic>
          <p:nvPicPr>
            <p:cNvPr id="14" name="Google Shape;14;p1" descr="HDRibbonContent-UniformTrim.png"/>
            <p:cNvPicPr preferRelativeResize="0"/>
            <p:nvPr/>
          </p:nvPicPr>
          <p:blipFill rotWithShape="1">
            <a:blip r:embed="rId22">
              <a:alphaModFix/>
            </a:blip>
            <a:srcRect/>
            <a:stretch/>
          </p:blipFill>
          <p:spPr>
            <a:xfrm>
              <a:off x="11436986" y="3153832"/>
              <a:ext cx="777240" cy="606425"/>
            </a:xfrm>
            <a:prstGeom prst="rect">
              <a:avLst/>
            </a:prstGeom>
            <a:noFill/>
            <a:ln>
              <a:noFill/>
            </a:ln>
          </p:spPr>
        </p:pic>
      </p:grpSp>
      <p:sp>
        <p:nvSpPr>
          <p:cNvPr id="15" name="Google Shape;15;p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6" name="Google Shape;16;p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5"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40"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5"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7" name="Google Shape;17;p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8" name="Google Shape;18;p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9" name="Google Shape;19;p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pPr marL="0" lvl="0" indent="0" algn="ct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image" Target="NULL"/><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slide" Target="slide34.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NULL"/><Relationship Id="rId7"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slide" Target="slide34.xm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NULL"/><Relationship Id="rId7" Type="http://schemas.openxmlformats.org/officeDocument/2006/relationships/image" Target="../media/image1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image" Target="NULL"/><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slide" Target="slide36.xm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10.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image" Target="NULL"/><Relationship Id="rId7" Type="http://schemas.openxmlformats.org/officeDocument/2006/relationships/slide" Target="slide49.xml"/><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12.png"/><Relationship Id="rId5" Type="http://schemas.openxmlformats.org/officeDocument/2006/relationships/image" Target="../media/image32.png"/><Relationship Id="rId10" Type="http://schemas.openxmlformats.org/officeDocument/2006/relationships/slide" Target="slide59.xml"/><Relationship Id="rId4" Type="http://schemas.openxmlformats.org/officeDocument/2006/relationships/image" Target="NULL"/><Relationship Id="rId9" Type="http://schemas.openxmlformats.org/officeDocument/2006/relationships/slide" Target="slide56.xml"/></Relationships>
</file>

<file path=ppt/slides/_rels/slide11.xml.rels><?xml version="1.0" encoding="UTF-8" standalone="yes"?>
<Relationships xmlns="http://schemas.openxmlformats.org/package/2006/relationships"><Relationship Id="rId8" Type="http://schemas.openxmlformats.org/officeDocument/2006/relationships/slide" Target="slide65.xml"/><Relationship Id="rId3" Type="http://schemas.openxmlformats.org/officeDocument/2006/relationships/image" Target="../media/image34.png"/><Relationship Id="rId7"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37.png"/><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slide" Target="slide69.xml"/><Relationship Id="rId5" Type="http://schemas.openxmlformats.org/officeDocument/2006/relationships/image" Target="NULL"/><Relationship Id="rId10" Type="http://schemas.openxmlformats.org/officeDocument/2006/relationships/slide" Target="slide66.xml"/><Relationship Id="rId4" Type="http://schemas.openxmlformats.org/officeDocument/2006/relationships/image" Target="NULL"/><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4.xml"/></Relationships>
</file>

<file path=ppt/slides/_rels/slide1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image" Target="../media/image148.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image" Target="../media/image42.png"/><Relationship Id="rId7" Type="http://schemas.openxmlformats.org/officeDocument/2006/relationships/slide" Target="slide8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140.png"/><Relationship Id="rId4" Type="http://schemas.openxmlformats.org/officeDocument/2006/relationships/image" Target="../media/image43.png"/><Relationship Id="rId9" Type="http://schemas.openxmlformats.org/officeDocument/2006/relationships/slide" Target="slide8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6.png"/><Relationship Id="rId4" Type="http://schemas.openxmlformats.org/officeDocument/2006/relationships/slide" Target="slide84.xml"/></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7.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89.xml"/><Relationship Id="rId5" Type="http://schemas.openxmlformats.org/officeDocument/2006/relationships/image" Target="../media/image17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2.png"/><Relationship Id="rId4" Type="http://schemas.openxmlformats.org/officeDocument/2006/relationships/slide" Target="slide88.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1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93.xml"/><Relationship Id="rId4" Type="http://schemas.openxmlformats.org/officeDocument/2006/relationships/slide" Target="slide92.xml"/></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4.png"/><Relationship Id="rId7" Type="http://schemas.openxmlformats.org/officeDocument/2006/relationships/slide" Target="slide9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slide" Target="slide97.xml"/><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image" Target="../media/image73.png"/><Relationship Id="rId7"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102.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107.xml"/><Relationship Id="rId5" Type="http://schemas.openxmlformats.org/officeDocument/2006/relationships/image" Target="../media/image79.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114.xml"/><Relationship Id="rId5" Type="http://schemas.openxmlformats.org/officeDocument/2006/relationships/image" Target="../media/image82.png"/><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3.png"/><Relationship Id="rId7" Type="http://schemas.openxmlformats.org/officeDocument/2006/relationships/image" Target="../media/image8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slide" Target="slide115.xml"/><Relationship Id="rId4" Type="http://schemas.openxmlformats.org/officeDocument/2006/relationships/image" Target="../media/image84.png"/><Relationship Id="rId9" Type="http://schemas.openxmlformats.org/officeDocument/2006/relationships/slide" Target="slide119.xml"/></Relationships>
</file>

<file path=ppt/slides/_rels/slide2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image" Target="../media/image93.png"/><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slide" Target="slide126.xml"/></Relationships>
</file>

<file path=ppt/slides/_rels/slide30.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slide" Target="slide128.xml"/><Relationship Id="rId4" Type="http://schemas.openxmlformats.org/officeDocument/2006/relationships/image" Target="../media/image96.png"/></Relationships>
</file>

<file path=ppt/slides/_rels/slide3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slide" Target="slide3.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NULL"/><Relationship Id="rId4" Type="http://schemas.openxmlformats.org/officeDocument/2006/relationships/image" Target="NUL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slide" Target="slide6.xm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slide" Target="slide7.xml"/></Relationships>
</file>

<file path=ppt/slides/_rels/slide3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NULL"/></Relationships>
</file>

<file path=ppt/slides/_rels/slide4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image" Target="../media/image111.png"/></Relationships>
</file>

<file path=ppt/slides/_rels/slide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4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NULL"/></Relationships>
</file>

<file path=ppt/slides/_rels/slide4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32.png"/><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5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5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5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134.png"/></Relationships>
</file>

<file path=ppt/slides/_rels/slide5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5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141.png"/><Relationship Id="rId4" Type="http://schemas.openxmlformats.org/officeDocument/2006/relationships/image" Target="../media/image139.png"/></Relationships>
</file>

<file path=ppt/slides/_rels/slide6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142.png"/></Relationships>
</file>

<file path=ppt/slides/_rels/slide6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6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slide" Target="slide12.xml"/><Relationship Id="rId4" Type="http://schemas.openxmlformats.org/officeDocument/2006/relationships/image" Target="NULL"/></Relationships>
</file>

<file path=ppt/slides/_rels/slide6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73.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7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370.png"/><Relationship Id="rId4" Type="http://schemas.openxmlformats.org/officeDocument/2006/relationships/image" Target="../media/image1360.png"/></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40.png"/><Relationship Id="rId4" Type="http://schemas.openxmlformats.org/officeDocument/2006/relationships/image" Target="../media/image1390.png"/></Relationships>
</file>

<file path=ppt/slides/_rels/slide76.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55.png"/><Relationship Id="rId7" Type="http://schemas.openxmlformats.org/officeDocument/2006/relationships/image" Target="../media/image145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440.png"/><Relationship Id="rId5" Type="http://schemas.openxmlformats.org/officeDocument/2006/relationships/image" Target="../media/image1430.png"/><Relationship Id="rId4" Type="http://schemas.openxmlformats.org/officeDocument/2006/relationships/image" Target="../media/image1420.png"/></Relationships>
</file>

<file path=ppt/slides/_rels/slide77.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image" Target="../media/image158.png"/><Relationship Id="rId4" Type="http://schemas.openxmlformats.org/officeDocument/2006/relationships/image" Target="../media/image157.png"/></Relationships>
</file>

<file path=ppt/slides/_rels/slide7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540.png"/><Relationship Id="rId4" Type="http://schemas.openxmlformats.org/officeDocument/2006/relationships/image" Target="../media/image160.png"/></Relationships>
</file>

<file path=ppt/slides/_rels/slide8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8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4.png"/><Relationship Id="rId7" Type="http://schemas.openxmlformats.org/officeDocument/2006/relationships/slide" Target="slide16.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630.png"/><Relationship Id="rId5" Type="http://schemas.openxmlformats.org/officeDocument/2006/relationships/image" Target="../media/image1620.png"/><Relationship Id="rId4" Type="http://schemas.openxmlformats.org/officeDocument/2006/relationships/image" Target="../media/image165.png"/></Relationships>
</file>

<file path=ppt/slides/_rels/slide8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slide" Target="slide17.xml"/><Relationship Id="rId4" Type="http://schemas.openxmlformats.org/officeDocument/2006/relationships/image" Target="../media/image167.png"/></Relationships>
</file>

<file path=ppt/slides/_rels/slide8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69.png"/><Relationship Id="rId7" Type="http://schemas.openxmlformats.org/officeDocument/2006/relationships/image" Target="../media/image171.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0.png"/><Relationship Id="rId4" Type="http://schemas.openxmlformats.org/officeDocument/2006/relationships/image" Target="../media/image164.png"/></Relationships>
</file>

<file path=ppt/slides/_rels/slide87.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8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177.png"/><Relationship Id="rId4" Type="http://schemas.openxmlformats.org/officeDocument/2006/relationships/image" Target="../media/image183.png"/></Relationships>
</file>

<file path=ppt/slides/_rels/slide9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81.png"/><Relationship Id="rId4" Type="http://schemas.openxmlformats.org/officeDocument/2006/relationships/image" Target="../media/image180.png"/></Relationships>
</file>

<file path=ppt/slides/_rels/slide9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image" Target="../media/image184.png"/></Relationships>
</file>

<file path=ppt/slides/_rels/slide9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93.xml.rels><?xml version="1.0" encoding="UTF-8" standalone="yes"?>
<Relationships xmlns="http://schemas.openxmlformats.org/package/2006/relationships"><Relationship Id="rId3" Type="http://schemas.openxmlformats.org/officeDocument/2006/relationships/image" Target="../media/image186.png"/><Relationship Id="rId7" Type="http://schemas.openxmlformats.org/officeDocument/2006/relationships/slide" Target="slide20.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91.png"/><Relationship Id="rId4" Type="http://schemas.openxmlformats.org/officeDocument/2006/relationships/image" Target="../media/image187.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197.png"/></Relationships>
</file>

<file path=ppt/slides/_rels/slide9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image" Target="../media/image75.png"/><Relationship Id="rId4" Type="http://schemas.openxmlformats.org/officeDocument/2006/relationships/image" Target="../media/image74.png"/></Relationships>
</file>

<file path=ppt/slides/_rels/slide10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10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10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10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png"/></Relationships>
</file>

<file path=ppt/slides/_rels/slide109.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94.png"/></Relationships>
</file>

<file path=ppt/slides/_rels/slide11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198.png"/><Relationship Id="rId4" Type="http://schemas.openxmlformats.org/officeDocument/2006/relationships/image" Target="../media/image19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image" Target="../media/image201.png"/></Relationships>
</file>

<file path=ppt/slides/_rels/slide115.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image" Target="../media/image202.png"/><Relationship Id="rId7" Type="http://schemas.openxmlformats.org/officeDocument/2006/relationships/image" Target="../media/image206.pn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116.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205.png"/></Relationships>
</file>

<file path=ppt/slides/_rels/slide117.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205.png"/><Relationship Id="rId4" Type="http://schemas.openxmlformats.org/officeDocument/2006/relationships/image" Target="../media/image206.png"/></Relationships>
</file>

<file path=ppt/slides/_rels/slide118.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211.png"/><Relationship Id="rId4" Type="http://schemas.openxmlformats.org/officeDocument/2006/relationships/image" Target="../media/image210.png"/></Relationships>
</file>

<file path=ppt/slides/_rels/slide119.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slide" Target="slide27.xml"/><Relationship Id="rId4" Type="http://schemas.openxmlformats.org/officeDocument/2006/relationships/image" Target="../media/image213.png"/></Relationships>
</file>

<file path=ppt/slides/_rels/slide120.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12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98.xml"/><Relationship Id="rId1" Type="http://schemas.openxmlformats.org/officeDocument/2006/relationships/slideLayout" Target="../slideLayouts/slideLayout2.xml"/><Relationship Id="rId5" Type="http://schemas.openxmlformats.org/officeDocument/2006/relationships/image" Target="../media/image221.png"/><Relationship Id="rId4" Type="http://schemas.openxmlformats.org/officeDocument/2006/relationships/image" Target="../media/image220.png"/></Relationships>
</file>

<file path=ppt/slides/_rels/slide123.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224.png"/></Relationships>
</file>

<file path=ppt/slides/_rels/slide12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126.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slide" Target="slide29.xml"/><Relationship Id="rId4" Type="http://schemas.openxmlformats.org/officeDocument/2006/relationships/image" Target="../media/image226.png"/></Relationships>
</file>

<file path=ppt/slides/_rels/slide12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228.png"/></Relationships>
</file>

<file path=ppt/slides/_rels/slide128.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12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3" name="Titolo 2">
            <a:extLst>
              <a:ext uri="{FF2B5EF4-FFF2-40B4-BE49-F238E27FC236}">
                <a16:creationId xmlns:a16="http://schemas.microsoft.com/office/drawing/2014/main" id="{BE094CA0-7292-FADE-D729-9F0F7411DB3E}"/>
              </a:ext>
            </a:extLst>
          </p:cNvPr>
          <p:cNvSpPr>
            <a:spLocks noGrp="1"/>
          </p:cNvSpPr>
          <p:nvPr>
            <p:ph type="ctrTitle"/>
          </p:nvPr>
        </p:nvSpPr>
        <p:spPr>
          <a:xfrm>
            <a:off x="1753019" y="2264834"/>
            <a:ext cx="8685962" cy="778404"/>
          </a:xfrm>
        </p:spPr>
        <p:txBody>
          <a:bodyPr/>
          <a:lstStyle/>
          <a:p>
            <a:r>
              <a:rPr lang="it-IT" dirty="0">
                <a:solidFill>
                  <a:schemeClr val="tx1"/>
                </a:solidFill>
              </a:rPr>
              <a:t>Analisi Filtro Passa alto HP</a:t>
            </a:r>
          </a:p>
        </p:txBody>
      </p:sp>
      <p:sp>
        <p:nvSpPr>
          <p:cNvPr id="2" name="Titolo 2">
            <a:extLst>
              <a:ext uri="{FF2B5EF4-FFF2-40B4-BE49-F238E27FC236}">
                <a16:creationId xmlns:a16="http://schemas.microsoft.com/office/drawing/2014/main" id="{06F46D4D-84BD-6B6A-B072-83EC3125AA87}"/>
              </a:ext>
            </a:extLst>
          </p:cNvPr>
          <p:cNvSpPr txBox="1">
            <a:spLocks/>
          </p:cNvSpPr>
          <p:nvPr/>
        </p:nvSpPr>
        <p:spPr>
          <a:xfrm>
            <a:off x="1753019" y="3128433"/>
            <a:ext cx="8685962" cy="44496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Dal circuito passivo al filtro attivo reale</a:t>
            </a:r>
          </a:p>
        </p:txBody>
      </p:sp>
      <p:sp>
        <p:nvSpPr>
          <p:cNvPr id="4" name="Titolo 2">
            <a:extLst>
              <a:ext uri="{FF2B5EF4-FFF2-40B4-BE49-F238E27FC236}">
                <a16:creationId xmlns:a16="http://schemas.microsoft.com/office/drawing/2014/main" id="{4EB9A6C3-B967-51BA-55D7-9B5AEA5EDB14}"/>
              </a:ext>
            </a:extLst>
          </p:cNvPr>
          <p:cNvSpPr txBox="1">
            <a:spLocks/>
          </p:cNvSpPr>
          <p:nvPr/>
        </p:nvSpPr>
        <p:spPr>
          <a:xfrm>
            <a:off x="749719" y="6028266"/>
            <a:ext cx="8685962" cy="105410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Membri: </a:t>
            </a:r>
            <a:br>
              <a:rPr lang="it-IT" sz="2800" dirty="0">
                <a:solidFill>
                  <a:schemeClr val="tx1"/>
                </a:solidFill>
              </a:rPr>
            </a:br>
            <a:r>
              <a:rPr lang="it-IT" sz="2800" dirty="0">
                <a:solidFill>
                  <a:schemeClr val="tx1"/>
                </a:solidFill>
              </a:rPr>
              <a:t>Riccardo Scola Colombo – 1092457</a:t>
            </a:r>
            <a:br>
              <a:rPr lang="it-IT" sz="2800" dirty="0">
                <a:solidFill>
                  <a:schemeClr val="tx1"/>
                </a:solidFill>
              </a:rPr>
            </a:br>
            <a:r>
              <a:rPr lang="it-IT" sz="2800" dirty="0">
                <a:solidFill>
                  <a:schemeClr val="tx1"/>
                </a:solidFill>
              </a:rPr>
              <a:t>Riccardo Motta – 1093277</a:t>
            </a:r>
          </a:p>
          <a:p>
            <a:endParaRPr lang="it-IT" sz="2800" dirty="0">
              <a:solidFill>
                <a:schemeClr val="tx1"/>
              </a:solidFill>
            </a:endParaRPr>
          </a:p>
          <a:p>
            <a:endParaRPr lang="it-IT" sz="2800" dirty="0">
              <a:solidFill>
                <a:schemeClr val="tx1"/>
              </a:solidFill>
            </a:endParaRPr>
          </a:p>
        </p:txBody>
      </p:sp>
      <p:sp>
        <p:nvSpPr>
          <p:cNvPr id="6" name="Titolo 2">
            <a:extLst>
              <a:ext uri="{FF2B5EF4-FFF2-40B4-BE49-F238E27FC236}">
                <a16:creationId xmlns:a16="http://schemas.microsoft.com/office/drawing/2014/main" id="{FEFF139F-64DA-BFD8-A237-9D2F8B135318}"/>
              </a:ext>
            </a:extLst>
          </p:cNvPr>
          <p:cNvSpPr txBox="1">
            <a:spLocks/>
          </p:cNvSpPr>
          <p:nvPr/>
        </p:nvSpPr>
        <p:spPr>
          <a:xfrm>
            <a:off x="7455319" y="4198860"/>
            <a:ext cx="8685962" cy="2019908"/>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1800" dirty="0">
                <a:solidFill>
                  <a:schemeClr val="tx1"/>
                </a:solidFill>
              </a:rPr>
              <a:t>Corso di Progettazione Sistemi elettronici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53F8D5E0-0330-4DF8-63AE-D6106E1F66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a:t>
            </a:fld>
            <a:endParaRPr lang="it-IT"/>
          </a:p>
        </p:txBody>
      </p:sp>
      <p:sp>
        <p:nvSpPr>
          <p:cNvPr id="4" name="CasellaDiTesto 3">
            <a:extLst>
              <a:ext uri="{FF2B5EF4-FFF2-40B4-BE49-F238E27FC236}">
                <a16:creationId xmlns:a16="http://schemas.microsoft.com/office/drawing/2014/main" id="{313784CF-BC41-D444-DBE8-AD9FC1AAE3C4}"/>
              </a:ext>
            </a:extLst>
          </p:cNvPr>
          <p:cNvSpPr txBox="1"/>
          <p:nvPr/>
        </p:nvSpPr>
        <p:spPr>
          <a:xfrm>
            <a:off x="1087968" y="1635225"/>
            <a:ext cx="5062057" cy="3970318"/>
          </a:xfrm>
          <a:prstGeom prst="rect">
            <a:avLst/>
          </a:prstGeom>
          <a:noFill/>
        </p:spPr>
        <p:txBody>
          <a:bodyPr wrap="square">
            <a:spAutoFit/>
          </a:bodyPr>
          <a:lstStyle/>
          <a:p>
            <a:pPr marL="228600" indent="-228600">
              <a:buFont typeface="+mj-lt"/>
              <a:buAutoNum type="arabicPeriod"/>
            </a:pPr>
            <a:r>
              <a:rPr lang="it-IT" b="1" dirty="0"/>
              <a:t>Introduzione ai filtri passa-alto</a:t>
            </a:r>
            <a:r>
              <a:rPr lang="it-IT" dirty="0"/>
              <a:t> </a:t>
            </a:r>
            <a:r>
              <a:rPr lang="it-IT" i="1" dirty="0"/>
              <a:t>(slide 3–5)</a:t>
            </a:r>
            <a:r>
              <a:rPr lang="it-IT" dirty="0"/>
              <a:t> </a:t>
            </a:r>
          </a:p>
          <a:p>
            <a:pPr marL="228600" indent="-228600">
              <a:buFont typeface="+mj-lt"/>
              <a:buAutoNum type="arabicPeriod"/>
            </a:pPr>
            <a:endParaRPr lang="it-IT" b="1" dirty="0"/>
          </a:p>
          <a:p>
            <a:pPr marL="228600" indent="-228600">
              <a:buFont typeface="+mj-lt"/>
              <a:buAutoNum type="arabicPeriod"/>
            </a:pPr>
            <a:r>
              <a:rPr lang="it-IT" b="1" dirty="0"/>
              <a:t>Principi teorici del filtro RC</a:t>
            </a:r>
            <a:r>
              <a:rPr lang="it-IT" dirty="0"/>
              <a:t> </a:t>
            </a:r>
            <a:r>
              <a:rPr lang="it-IT" i="1" dirty="0"/>
              <a:t>(slide 6–19)</a:t>
            </a:r>
            <a:r>
              <a:rPr lang="it-IT" dirty="0"/>
              <a:t> </a:t>
            </a:r>
          </a:p>
          <a:p>
            <a:pPr marL="228600" indent="-228600">
              <a:buFont typeface="+mj-lt"/>
              <a:buAutoNum type="arabicPeriod"/>
            </a:pPr>
            <a:endParaRPr lang="it-IT" b="1" dirty="0"/>
          </a:p>
          <a:p>
            <a:pPr marL="228600" indent="-228600">
              <a:buFont typeface="+mj-lt"/>
              <a:buAutoNum type="arabicPeriod"/>
            </a:pPr>
            <a:r>
              <a:rPr lang="it-IT" b="1" dirty="0"/>
              <a:t>Influenza dei parametri del filtro (R e C)</a:t>
            </a:r>
            <a:r>
              <a:rPr lang="it-IT" dirty="0"/>
              <a:t> </a:t>
            </a:r>
            <a:r>
              <a:rPr lang="it-IT" i="1" dirty="0"/>
              <a:t>(slide 20–25)</a:t>
            </a:r>
            <a:r>
              <a:rPr lang="it-IT" dirty="0"/>
              <a:t> </a:t>
            </a:r>
          </a:p>
          <a:p>
            <a:pPr marL="228600" indent="-228600">
              <a:buFont typeface="+mj-lt"/>
              <a:buAutoNum type="arabicPeriod"/>
            </a:pPr>
            <a:endParaRPr lang="it-IT" b="1" dirty="0"/>
          </a:p>
          <a:p>
            <a:pPr marL="228600" indent="-228600">
              <a:buFont typeface="+mj-lt"/>
              <a:buAutoNum type="arabicPeriod"/>
            </a:pPr>
            <a:r>
              <a:rPr lang="it-IT" b="1" dirty="0"/>
              <a:t>Risposta al gradino e comportamento nel dominio del tempo</a:t>
            </a:r>
            <a:r>
              <a:rPr lang="it-IT" dirty="0"/>
              <a:t> </a:t>
            </a:r>
            <a:r>
              <a:rPr lang="it-IT" i="1" dirty="0"/>
              <a:t>(slide 26–36)</a:t>
            </a:r>
            <a:r>
              <a:rPr lang="it-IT" dirty="0"/>
              <a:t> </a:t>
            </a:r>
          </a:p>
          <a:p>
            <a:pPr marL="228600" indent="-228600">
              <a:buFont typeface="+mj-lt"/>
              <a:buAutoNum type="arabicPeriod"/>
            </a:pPr>
            <a:endParaRPr lang="it-IT" b="1" dirty="0"/>
          </a:p>
          <a:p>
            <a:pPr marL="228600" indent="-228600">
              <a:buFont typeface="+mj-lt"/>
              <a:buAutoNum type="arabicPeriod"/>
            </a:pPr>
            <a:r>
              <a:rPr lang="it-IT" b="1" dirty="0"/>
              <a:t>Effetti reali dei componenti passivi</a:t>
            </a:r>
            <a:r>
              <a:rPr lang="it-IT" dirty="0"/>
              <a:t> </a:t>
            </a:r>
            <a:r>
              <a:rPr lang="it-IT" i="1" dirty="0"/>
              <a:t>(slide 37–50)</a:t>
            </a:r>
            <a:r>
              <a:rPr lang="it-IT" dirty="0"/>
              <a:t> </a:t>
            </a:r>
          </a:p>
          <a:p>
            <a:pPr marL="228600" indent="-228600">
              <a:buFont typeface="+mj-lt"/>
              <a:buAutoNum type="arabicPeriod"/>
            </a:pPr>
            <a:endParaRPr lang="it-IT" b="1" dirty="0"/>
          </a:p>
          <a:p>
            <a:pPr marL="228600" indent="-228600">
              <a:buFont typeface="+mj-lt"/>
              <a:buAutoNum type="arabicPeriod"/>
            </a:pPr>
            <a:r>
              <a:rPr lang="it-IT" b="1" dirty="0"/>
              <a:t>Dal filtro passivo al filtro attivo</a:t>
            </a:r>
            <a:r>
              <a:rPr lang="it-IT" dirty="0"/>
              <a:t> </a:t>
            </a:r>
            <a:r>
              <a:rPr lang="it-IT" i="1" dirty="0"/>
              <a:t>(slide 51–56)</a:t>
            </a:r>
            <a:r>
              <a:rPr lang="it-IT" dirty="0"/>
              <a:t> </a:t>
            </a:r>
          </a:p>
          <a:p>
            <a:pPr marL="228600" indent="-228600">
              <a:buFont typeface="+mj-lt"/>
              <a:buAutoNum type="arabicPeriod"/>
            </a:pPr>
            <a:endParaRPr lang="it-IT" b="1" dirty="0"/>
          </a:p>
          <a:p>
            <a:pPr marL="228600" indent="-228600">
              <a:buFont typeface="+mj-lt"/>
              <a:buAutoNum type="arabicPeriod"/>
            </a:pPr>
            <a:r>
              <a:rPr lang="it-IT" b="1" dirty="0"/>
              <a:t>Filtro passa-alto attivo ideale</a:t>
            </a:r>
            <a:r>
              <a:rPr lang="it-IT" dirty="0"/>
              <a:t> </a:t>
            </a:r>
            <a:r>
              <a:rPr lang="it-IT" i="1" dirty="0"/>
              <a:t>(slide 57–85)</a:t>
            </a:r>
            <a:r>
              <a:rPr lang="it-IT" dirty="0"/>
              <a:t> </a:t>
            </a:r>
          </a:p>
          <a:p>
            <a:pPr marL="228600" indent="-228600">
              <a:buFont typeface="+mj-lt"/>
              <a:buAutoNum type="arabicPeriod"/>
            </a:pPr>
            <a:endParaRPr lang="it-IT" b="1" dirty="0"/>
          </a:p>
          <a:p>
            <a:pPr marL="228600" indent="-228600">
              <a:buFont typeface="+mj-lt"/>
              <a:buAutoNum type="arabicPeriod"/>
            </a:pPr>
            <a:r>
              <a:rPr lang="it-IT" b="1" dirty="0"/>
              <a:t>Filtro passa-alto attivo reale (OP07)</a:t>
            </a:r>
            <a:r>
              <a:rPr lang="it-IT" dirty="0"/>
              <a:t> </a:t>
            </a:r>
            <a:r>
              <a:rPr lang="it-IT" i="1" dirty="0"/>
              <a:t>(slide 86–127)</a:t>
            </a:r>
            <a:r>
              <a:rPr lang="it-IT" dirty="0"/>
              <a:t> </a:t>
            </a:r>
          </a:p>
          <a:p>
            <a:pPr marL="228600" indent="-228600">
              <a:buFont typeface="+mj-lt"/>
              <a:buAutoNum type="arabicPeriod"/>
            </a:pPr>
            <a:endParaRPr lang="it-IT" b="1" dirty="0"/>
          </a:p>
          <a:p>
            <a:pPr marL="228600" indent="-228600">
              <a:buFont typeface="+mj-lt"/>
              <a:buAutoNum type="arabicPeriod"/>
            </a:pPr>
            <a:r>
              <a:rPr lang="it-IT" b="1" dirty="0"/>
              <a:t>Conclusioni</a:t>
            </a:r>
            <a:r>
              <a:rPr lang="it-IT" dirty="0"/>
              <a:t> </a:t>
            </a:r>
            <a:r>
              <a:rPr lang="it-IT" i="1" dirty="0"/>
              <a:t>(slide 128–130)</a:t>
            </a:r>
            <a:r>
              <a:rPr lang="it-IT" dirty="0"/>
              <a:t> </a:t>
            </a:r>
            <a:r>
              <a:rPr lang="it-IT" b="1" dirty="0"/>
              <a:t>Back List</a:t>
            </a:r>
            <a:r>
              <a:rPr lang="it-IT" dirty="0"/>
              <a:t> </a:t>
            </a:r>
            <a:r>
              <a:rPr lang="it-IT" i="1" dirty="0"/>
              <a:t>(slide 131–fine)</a:t>
            </a:r>
            <a:endParaRPr lang="it-IT" dirty="0">
              <a:latin typeface="Segoe UI" panose="020B0502040204020203" pitchFamily="34" charset="0"/>
              <a:cs typeface="Segoe UI" panose="020B0502040204020203" pitchFamily="34" charset="0"/>
            </a:endParaRPr>
          </a:p>
        </p:txBody>
      </p:sp>
      <p:sp>
        <p:nvSpPr>
          <p:cNvPr id="7" name="Google Shape;152;p18">
            <a:extLst>
              <a:ext uri="{FF2B5EF4-FFF2-40B4-BE49-F238E27FC236}">
                <a16:creationId xmlns:a16="http://schemas.microsoft.com/office/drawing/2014/main" id="{51B3873D-A3A5-A062-8C0C-DB374436B1C4}"/>
              </a:ext>
            </a:extLst>
          </p:cNvPr>
          <p:cNvSpPr txBox="1"/>
          <p:nvPr/>
        </p:nvSpPr>
        <p:spPr>
          <a:xfrm>
            <a:off x="-2662629" y="756792"/>
            <a:ext cx="47844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Indice</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Tree>
    <p:extLst>
      <p:ext uri="{BB962C8B-B14F-4D97-AF65-F5344CB8AC3E}">
        <p14:creationId xmlns:p14="http://schemas.microsoft.com/office/powerpoint/2010/main" val="335927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8"/>
          <p:cNvSpPr txBox="1"/>
          <p:nvPr/>
        </p:nvSpPr>
        <p:spPr>
          <a:xfrm>
            <a:off x="1078020" y="1350600"/>
            <a:ext cx="10123380" cy="128339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it-IT" sz="1200" dirty="0">
                <a:latin typeface="Segoe UI" panose="020B0502040204020203" pitchFamily="34" charset="0"/>
                <a:ea typeface="Libre Franklin"/>
                <a:cs typeface="Segoe UI" panose="020B0502040204020203" pitchFamily="34" charset="0"/>
                <a:sym typeface="Libre Franklin"/>
              </a:rPr>
              <a:t>Un filtro passa-alto </a:t>
            </a:r>
            <a:r>
              <a:rPr lang="it-IT" sz="1200" b="1" i="1" dirty="0">
                <a:latin typeface="Segoe UI" panose="020B0502040204020203" pitchFamily="34" charset="0"/>
                <a:ea typeface="Libre Franklin"/>
                <a:cs typeface="Segoe UI" panose="020B0502040204020203" pitchFamily="34" charset="0"/>
                <a:sym typeface="Libre Franklin"/>
              </a:rPr>
              <a:t>(High-Pass Filter, HP)</a:t>
            </a:r>
            <a:r>
              <a:rPr lang="it-IT" sz="1200" dirty="0">
                <a:latin typeface="Segoe UI" panose="020B0502040204020203" pitchFamily="34" charset="0"/>
                <a:ea typeface="Libre Franklin"/>
                <a:cs typeface="Segoe UI" panose="020B0502040204020203" pitchFamily="34" charset="0"/>
                <a:sym typeface="Libre Franklin"/>
              </a:rPr>
              <a:t> è un circuito che </a:t>
            </a:r>
            <a:r>
              <a:rPr lang="it-IT" sz="1200" i="1" u="sng" dirty="0">
                <a:latin typeface="Segoe UI" panose="020B0502040204020203" pitchFamily="34" charset="0"/>
                <a:ea typeface="Libre Franklin"/>
                <a:cs typeface="Segoe UI" panose="020B0502040204020203" pitchFamily="34" charset="0"/>
                <a:sym typeface="Libre Franklin"/>
              </a:rPr>
              <a:t>attenua i segnali a bassa frequenza </a:t>
            </a:r>
            <a:r>
              <a:rPr lang="it-IT" sz="1200" dirty="0">
                <a:latin typeface="Segoe UI" panose="020B0502040204020203" pitchFamily="34" charset="0"/>
                <a:ea typeface="Libre Franklin"/>
                <a:cs typeface="Segoe UI" panose="020B0502040204020203" pitchFamily="34" charset="0"/>
                <a:sym typeface="Libre Franklin"/>
              </a:rPr>
              <a:t>e </a:t>
            </a:r>
            <a:r>
              <a:rPr lang="it-IT" sz="1200" b="1" u="sng" dirty="0">
                <a:latin typeface="Segoe UI" panose="020B0502040204020203" pitchFamily="34" charset="0"/>
                <a:ea typeface="Libre Franklin"/>
                <a:cs typeface="Segoe UI" panose="020B0502040204020203" pitchFamily="34" charset="0"/>
                <a:sym typeface="Libre Franklin"/>
              </a:rPr>
              <a:t>lascia passare quelli a frequenza più elevata</a:t>
            </a:r>
            <a:r>
              <a:rPr lang="it-IT" sz="1200" dirty="0">
                <a:latin typeface="Segoe UI" panose="020B0502040204020203" pitchFamily="34" charset="0"/>
                <a:ea typeface="Libre Franklin"/>
                <a:cs typeface="Segoe UI" panose="020B0502040204020203" pitchFamily="34" charset="0"/>
                <a:sym typeface="Libre Franklin"/>
              </a:rPr>
              <a:t>.</a:t>
            </a:r>
            <a:endParaRPr sz="1200" dirty="0">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Un filtro passa-alto nasce sempre dalla presenza di un elemento reattivo, cioè un componente la cui impedenza cambia con la frequenza.</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Esistono diverse configurazioni circuitali, tra cui le reti RC e RL</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52" name="Google Shape;152;p18"/>
          <p:cNvSpPr txBox="1"/>
          <p:nvPr/>
        </p:nvSpPr>
        <p:spPr>
          <a:xfrm>
            <a:off x="1078020" y="769958"/>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Cos'è un Filtro Passa Alto?</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153" name="Google Shape;153;p18"/>
          <p:cNvSpPr txBox="1"/>
          <p:nvPr/>
        </p:nvSpPr>
        <p:spPr>
          <a:xfrm>
            <a:off x="1078019" y="3823924"/>
            <a:ext cx="4344287" cy="40007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solidFill>
                  <a:schemeClr val="dk1"/>
                </a:solidFill>
                <a:latin typeface="Segoe UI" panose="020B0502040204020203" pitchFamily="34" charset="0"/>
                <a:ea typeface="Libre Franklin"/>
                <a:cs typeface="Segoe UI" panose="020B0502040204020203" pitchFamily="34" charset="0"/>
                <a:sym typeface="Libre Franklin"/>
              </a:rPr>
              <a:t>Le rispettive frequenze di taglio sono:</a:t>
            </a:r>
            <a:endParaRPr sz="1400" i="1" dirty="0">
              <a:solidFill>
                <a:schemeClr val="dk1"/>
              </a:solidFill>
              <a:latin typeface="Segoe UI" panose="020B0502040204020203" pitchFamily="34" charset="0"/>
              <a:ea typeface="Libre Franklin"/>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182F5B3-CF88-2CC6-5686-046B8E54B733}"/>
                  </a:ext>
                </a:extLst>
              </p:cNvPr>
              <p:cNvSpPr txBox="1"/>
              <p:nvPr/>
            </p:nvSpPr>
            <p:spPr>
              <a:xfrm>
                <a:off x="2564724" y="2905795"/>
                <a:ext cx="6595391" cy="646331"/>
              </a:xfrm>
              <a:prstGeom prst="rect">
                <a:avLst/>
              </a:prstGeom>
              <a:noFill/>
            </p:spPr>
            <p:txBody>
              <a:bodyPr wrap="square">
                <a:spAutoFit/>
              </a:bodyPr>
              <a:lstStyle/>
              <a:p>
                <a:pPr algn="ctr">
                  <a:buNone/>
                </a:pPr>
                <a:r>
                  <a:rPr lang="it-IT" sz="1200" dirty="0">
                    <a:latin typeface="Segoe UI" panose="020B0502040204020203" pitchFamily="34" charset="0"/>
                    <a:cs typeface="Segoe UI" panose="020B0502040204020203" pitchFamily="34" charset="0"/>
                  </a:rPr>
                  <a:t>La frequenza di separazione è la </a:t>
                </a:r>
                <a:r>
                  <a:rPr lang="it-IT" sz="1200" b="1" dirty="0">
                    <a:latin typeface="Segoe UI" panose="020B0502040204020203" pitchFamily="34" charset="0"/>
                    <a:cs typeface="Segoe UI" panose="020B0502040204020203" pitchFamily="34" charset="0"/>
                  </a:rPr>
                  <a:t>frequenza di taglio</a:t>
                </a:r>
                <a:r>
                  <a:rPr lang="it-IT" sz="1200" dirty="0">
                    <a:latin typeface="Segoe UI" panose="020B0502040204020203" pitchFamily="34" charset="0"/>
                    <a:cs typeface="Segoe UI" panose="020B0502040204020203" pitchFamily="34" charset="0"/>
                  </a:rPr>
                  <a:t>: </a:t>
                </a:r>
                <a14:m>
                  <m:oMath xmlns:m="http://schemas.openxmlformats.org/officeDocument/2006/math">
                    <m:sSub>
                      <m:sSubPr>
                        <m:ctrlPr>
                          <a:rPr lang="it-IT" sz="1200" b="1" i="1">
                            <a:latin typeface="Cambria Math" panose="02040503050406030204" pitchFamily="18" charset="0"/>
                          </a:rPr>
                        </m:ctrlPr>
                      </m:sSubPr>
                      <m:e>
                        <m:r>
                          <a:rPr lang="it-IT" sz="1200" b="1" i="1">
                            <a:latin typeface="Cambria Math" panose="02040503050406030204" pitchFamily="18" charset="0"/>
                          </a:rPr>
                          <m:t>𝒇</m:t>
                        </m:r>
                      </m:e>
                      <m:sub>
                        <m:r>
                          <a:rPr lang="it-IT" sz="1200" b="1" i="1">
                            <a:latin typeface="Cambria Math" panose="02040503050406030204" pitchFamily="18" charset="0"/>
                          </a:rPr>
                          <m:t>𝒄</m:t>
                        </m:r>
                      </m:sub>
                    </m:sSub>
                  </m:oMath>
                </a14:m>
                <a:endParaRPr lang="it-IT" sz="1200" b="1" dirty="0">
                  <a:latin typeface="Segoe UI" panose="020B0502040204020203" pitchFamily="34" charset="0"/>
                  <a:cs typeface="Segoe UI" panose="020B0502040204020203" pitchFamily="34" charset="0"/>
                </a:endParaRPr>
              </a:p>
              <a:p>
                <a:pPr algn="ctr">
                  <a:buNone/>
                </a:pPr>
                <a:endParaRPr lang="it-IT" sz="1200" dirty="0">
                  <a:latin typeface="Segoe UI" panose="020B0502040204020203" pitchFamily="34" charset="0"/>
                  <a:cs typeface="Segoe UI" panose="020B0502040204020203" pitchFamily="34" charset="0"/>
                </a:endParaRPr>
              </a:p>
              <a:p>
                <a:pPr algn="ctr">
                  <a:buNone/>
                </a:pPr>
                <a:r>
                  <a:rPr lang="it-IT" sz="1200" dirty="0">
                    <a:latin typeface="Segoe UI" panose="020B0502040204020203" pitchFamily="34" charset="0"/>
                    <a:cs typeface="Segoe UI" panose="020B0502040204020203" pitchFamily="34" charset="0"/>
                  </a:rPr>
                  <a:t>Sotto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il segnale attenuato. Sopra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segnale trasmesso</a:t>
                </a:r>
                <a:r>
                  <a:rPr lang="it-IT" sz="1200" dirty="0"/>
                  <a:t>.</a:t>
                </a:r>
              </a:p>
            </p:txBody>
          </p:sp>
        </mc:Choice>
        <mc:Fallback xmlns="">
          <p:sp>
            <p:nvSpPr>
              <p:cNvPr id="5" name="CasellaDiTesto 4">
                <a:extLst>
                  <a:ext uri="{FF2B5EF4-FFF2-40B4-BE49-F238E27FC236}">
                    <a16:creationId xmlns:a16="http://schemas.microsoft.com/office/drawing/2014/main" id="{8182F5B3-CF88-2CC6-5686-046B8E54B733}"/>
                  </a:ext>
                </a:extLst>
              </p:cNvPr>
              <p:cNvSpPr txBox="1">
                <a:spLocks noRot="1" noChangeAspect="1" noMove="1" noResize="1" noEditPoints="1" noAdjustHandles="1" noChangeArrowheads="1" noChangeShapeType="1" noTextEdit="1"/>
              </p:cNvSpPr>
              <p:nvPr/>
            </p:nvSpPr>
            <p:spPr>
              <a:xfrm>
                <a:off x="2564724" y="2905795"/>
                <a:ext cx="6595391" cy="646331"/>
              </a:xfrm>
              <a:prstGeom prst="rect">
                <a:avLst/>
              </a:prstGeom>
              <a:blipFill>
                <a:blip r:embed="rId3"/>
                <a:stretch>
                  <a:fillRect t="-1887" b="-6604"/>
                </a:stretch>
              </a:blipFill>
            </p:spPr>
            <p:txBody>
              <a:bodyPr/>
              <a:lstStyle/>
              <a:p>
                <a:r>
                  <a:rPr lang="it-IT">
                    <a:noFill/>
                  </a:rPr>
                  <a:t> </a:t>
                </a:r>
              </a:p>
            </p:txBody>
          </p:sp>
        </mc:Fallback>
      </mc:AlternateContent>
      <p:grpSp>
        <p:nvGrpSpPr>
          <p:cNvPr id="12" name="Gruppo 11">
            <a:extLst>
              <a:ext uri="{FF2B5EF4-FFF2-40B4-BE49-F238E27FC236}">
                <a16:creationId xmlns:a16="http://schemas.microsoft.com/office/drawing/2014/main" id="{4248A301-5815-C962-F5C2-3390751502F9}"/>
              </a:ext>
            </a:extLst>
          </p:cNvPr>
          <p:cNvGrpSpPr/>
          <p:nvPr/>
        </p:nvGrpSpPr>
        <p:grpSpPr>
          <a:xfrm>
            <a:off x="3816433" y="4357314"/>
            <a:ext cx="4091971" cy="578235"/>
            <a:chOff x="2731862" y="5256118"/>
            <a:chExt cx="6428253" cy="578235"/>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476FEF3-1BF1-7D0A-F85B-E1040588115E}"/>
                    </a:ext>
                  </a:extLst>
                </p:cNvPr>
                <p:cNvSpPr txBox="1"/>
                <p:nvPr/>
              </p:nvSpPr>
              <p:spPr>
                <a:xfrm>
                  <a:off x="2731862" y="5256118"/>
                  <a:ext cx="2162170"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6" name="CasellaDiTesto 5">
                  <a:extLst>
                    <a:ext uri="{FF2B5EF4-FFF2-40B4-BE49-F238E27FC236}">
                      <a16:creationId xmlns:a16="http://schemas.microsoft.com/office/drawing/2014/main" id="{0476FEF3-1BF1-7D0A-F85B-E1040588115E}"/>
                    </a:ext>
                  </a:extLst>
                </p:cNvPr>
                <p:cNvSpPr txBox="1">
                  <a:spLocks noRot="1" noChangeAspect="1" noMove="1" noResize="1" noEditPoints="1" noAdjustHandles="1" noChangeArrowheads="1" noChangeShapeType="1" noTextEdit="1"/>
                </p:cNvSpPr>
                <p:nvPr/>
              </p:nvSpPr>
              <p:spPr>
                <a:xfrm>
                  <a:off x="2731862" y="5256118"/>
                  <a:ext cx="2162170"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B76DFF0-F78C-3323-F184-7076CA51BCEC}"/>
                    </a:ext>
                  </a:extLst>
                </p:cNvPr>
                <p:cNvSpPr txBox="1"/>
                <p:nvPr/>
              </p:nvSpPr>
              <p:spPr>
                <a:xfrm>
                  <a:off x="8116111" y="5256118"/>
                  <a:ext cx="1044004"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𝑅</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𝐿</m:t>
                            </m:r>
                          </m:den>
                        </m:f>
                      </m:oMath>
                    </m:oMathPara>
                  </a14:m>
                  <a:endParaRPr lang="it-IT" sz="2000" dirty="0"/>
                </a:p>
              </p:txBody>
            </p:sp>
          </mc:Choice>
          <mc:Fallback xmlns="">
            <p:sp>
              <p:nvSpPr>
                <p:cNvPr id="7" name="CasellaDiTesto 6">
                  <a:extLst>
                    <a:ext uri="{FF2B5EF4-FFF2-40B4-BE49-F238E27FC236}">
                      <a16:creationId xmlns:a16="http://schemas.microsoft.com/office/drawing/2014/main" id="{FB76DFF0-F78C-3323-F184-7076CA51BCEC}"/>
                    </a:ext>
                  </a:extLst>
                </p:cNvPr>
                <p:cNvSpPr txBox="1">
                  <a:spLocks noRot="1" noChangeAspect="1" noMove="1" noResize="1" noEditPoints="1" noAdjustHandles="1" noChangeArrowheads="1" noChangeShapeType="1" noTextEdit="1"/>
                </p:cNvSpPr>
                <p:nvPr/>
              </p:nvSpPr>
              <p:spPr>
                <a:xfrm>
                  <a:off x="8116111" y="5256118"/>
                  <a:ext cx="1044004" cy="576183"/>
                </a:xfrm>
                <a:prstGeom prst="rect">
                  <a:avLst/>
                </a:prstGeom>
                <a:blipFill>
                  <a:blip r:embed="rId5"/>
                  <a:stretch>
                    <a:fillRect l="-917" r="-45872"/>
                  </a:stretch>
                </a:blipFill>
              </p:spPr>
              <p:txBody>
                <a:bodyPr/>
                <a:lstStyle/>
                <a:p>
                  <a:r>
                    <a:rPr lang="it-IT">
                      <a:noFill/>
                    </a:rPr>
                    <a:t> </a:t>
                  </a:r>
                </a:p>
              </p:txBody>
            </p:sp>
          </mc:Fallback>
        </mc:AlternateContent>
      </p:grpSp>
      <p:sp>
        <p:nvSpPr>
          <p:cNvPr id="11" name="CasellaDiTesto 10">
            <a:extLst>
              <a:ext uri="{FF2B5EF4-FFF2-40B4-BE49-F238E27FC236}">
                <a16:creationId xmlns:a16="http://schemas.microsoft.com/office/drawing/2014/main" id="{FF0907B1-B7EE-9BB4-BDD0-CA38221D4AC3}"/>
              </a:ext>
            </a:extLst>
          </p:cNvPr>
          <p:cNvSpPr txBox="1"/>
          <p:nvPr/>
        </p:nvSpPr>
        <p:spPr>
          <a:xfrm>
            <a:off x="1078020" y="5318309"/>
            <a:ext cx="10123380" cy="569643"/>
          </a:xfrm>
          <a:prstGeom prst="rect">
            <a:avLst/>
          </a:prstGeom>
          <a:noFill/>
        </p:spPr>
        <p:txBody>
          <a:bodyPr wrap="square">
            <a:spAutoFit/>
          </a:bodyPr>
          <a:lstStyle/>
          <a:p>
            <a:pPr marL="0" lvl="0" indent="0" algn="ctr" rtl="0">
              <a:lnSpc>
                <a:spcPct val="115000"/>
              </a:lnSpc>
              <a:spcBef>
                <a:spcPts val="1200"/>
              </a:spcBef>
              <a:spcAft>
                <a:spcPts val="1200"/>
              </a:spcAft>
              <a:buNone/>
            </a:pPr>
            <a:r>
              <a:rPr lang="it-IT" sz="1400" dirty="0">
                <a:latin typeface="Segoe UI Semibold" panose="020B0702040204020203" pitchFamily="34" charset="0"/>
                <a:ea typeface="Libre Franklin"/>
                <a:cs typeface="Segoe UI Semibold" panose="020B0702040204020203" pitchFamily="34" charset="0"/>
                <a:sym typeface="Libre Franklin"/>
              </a:rPr>
              <a:t>La frequenza che separa la banda attenuata dalla banda passante è detta frequenza di taglio (</a:t>
            </a:r>
            <a:r>
              <a:rPr lang="it-IT" sz="1400" dirty="0" err="1">
                <a:latin typeface="Segoe UI Semibold" panose="020B0702040204020203" pitchFamily="34" charset="0"/>
                <a:ea typeface="Libre Franklin"/>
                <a:cs typeface="Segoe UI Semibold" panose="020B0702040204020203" pitchFamily="34" charset="0"/>
                <a:sym typeface="Libre Franklin"/>
              </a:rPr>
              <a:t>ƒc</a:t>
            </a:r>
            <a:r>
              <a:rPr lang="it-IT" sz="1400" dirty="0">
                <a:latin typeface="Segoe UI Semibold" panose="020B0702040204020203" pitchFamily="34" charset="0"/>
                <a:ea typeface="Libre Franklin"/>
                <a:cs typeface="Segoe UI Semibold" panose="020B0702040204020203" pitchFamily="34" charset="0"/>
                <a:sym typeface="Libre Franklin"/>
              </a:rPr>
              <a:t>​). Al di sotto di essa il segnale viene progressivamente attenuato, mentre al di sopra viene trasmesso con guadagno pressoché costante.</a:t>
            </a:r>
          </a:p>
        </p:txBody>
      </p:sp>
      <p:sp>
        <p:nvSpPr>
          <p:cNvPr id="2" name="Segnaposto numero diapositiva 1">
            <a:extLst>
              <a:ext uri="{FF2B5EF4-FFF2-40B4-BE49-F238E27FC236}">
                <a16:creationId xmlns:a16="http://schemas.microsoft.com/office/drawing/2014/main" id="{4957D3F5-B18C-957A-AD35-24BB0D292BD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a:t>
            </a:fld>
            <a:endParaRPr lang="it-IT"/>
          </a:p>
        </p:txBody>
      </p:sp>
      <p:sp>
        <p:nvSpPr>
          <p:cNvPr id="3" name="Freccia in giù 2">
            <a:hlinkClick r:id="rId6" action="ppaction://hlinksldjump"/>
            <a:extLst>
              <a:ext uri="{FF2B5EF4-FFF2-40B4-BE49-F238E27FC236}">
                <a16:creationId xmlns:a16="http://schemas.microsoft.com/office/drawing/2014/main" id="{29DA9F67-61C9-4D4A-2952-7248A1A42D66}"/>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p:cNvPicPr preferRelativeResize="0"/>
          <p:nvPr/>
        </p:nvPicPr>
        <p:blipFill rotWithShape="1">
          <a:blip r:embed="rId3"/>
          <a:srcRect t="17136"/>
          <a:stretch/>
        </p:blipFill>
        <p:spPr>
          <a:xfrm>
            <a:off x="1117200" y="888350"/>
            <a:ext cx="6353196" cy="1326300"/>
          </a:xfrm>
          <a:prstGeom prst="rect">
            <a:avLst/>
          </a:prstGeom>
          <a:ln w="38100">
            <a:solidFill>
              <a:schemeClr val="bg2">
                <a:lumMod val="10000"/>
              </a:schemeClr>
            </a:solidFill>
          </a:ln>
        </p:spPr>
      </p:pic>
      <p:sp>
        <p:nvSpPr>
          <p:cNvPr id="162" name="Google Shape;162;p19"/>
          <p:cNvSpPr txBox="1"/>
          <p:nvPr/>
        </p:nvSpPr>
        <p:spPr>
          <a:xfrm>
            <a:off x="7558481" y="1028295"/>
            <a:ext cx="3642919" cy="104641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latin typeface="Libre Franklin"/>
                <a:ea typeface="Libre Franklin"/>
                <a:cs typeface="Libre Franklin"/>
                <a:sym typeface="Libre Franklin"/>
              </a:rPr>
              <a:t>Per confrontare le due configurazioni, sono stati scelti valori dei componenti tali da ottenere la stessa frequenza di taglio:      </a:t>
            </a:r>
            <a:r>
              <a:rPr lang="it-IT" sz="1400" b="1" i="1" dirty="0">
                <a:latin typeface="Libre Franklin"/>
                <a:ea typeface="Libre Franklin"/>
                <a:cs typeface="Libre Franklin"/>
                <a:sym typeface="Libre Franklin"/>
              </a:rPr>
              <a:t>159 Hz</a:t>
            </a:r>
            <a:endParaRPr sz="1400" b="1" i="1" dirty="0">
              <a:latin typeface="Libre Franklin"/>
              <a:ea typeface="Libre Franklin"/>
              <a:cs typeface="Libre Franklin"/>
              <a:sym typeface="Libre Franklin"/>
            </a:endParaRPr>
          </a:p>
        </p:txBody>
      </p:sp>
      <p:sp>
        <p:nvSpPr>
          <p:cNvPr id="163" name="Google Shape;163;p19"/>
          <p:cNvSpPr txBox="1"/>
          <p:nvPr/>
        </p:nvSpPr>
        <p:spPr>
          <a:xfrm>
            <a:off x="1156050" y="2513000"/>
            <a:ext cx="105081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Libre Franklin"/>
                <a:ea typeface="Libre Franklin"/>
                <a:cs typeface="Libre Franklin"/>
                <a:sym typeface="Libre Franklin"/>
              </a:rPr>
              <a:t>Entrambi i circuiti sono </a:t>
            </a:r>
            <a:r>
              <a:rPr lang="it-IT" sz="1400" dirty="0">
                <a:latin typeface="Segoe UI" panose="020B0502040204020203" pitchFamily="34" charset="0"/>
                <a:cs typeface="Segoe UI" panose="020B0502040204020203" pitchFamily="34" charset="0"/>
                <a:sym typeface="Libre Franklin"/>
              </a:rPr>
              <a:t>stati</a:t>
            </a:r>
            <a:r>
              <a:rPr lang="it-IT" sz="1200" dirty="0">
                <a:latin typeface="Libre Franklin"/>
                <a:ea typeface="Libre Franklin"/>
                <a:cs typeface="Libre Franklin"/>
                <a:sym typeface="Libre Franklin"/>
              </a:rPr>
              <a:t> simulati con un segnale sinusoidale di ingresso a 1 kHz, frequenza ampiamente superiore alla frequenza di taglio.</a:t>
            </a:r>
            <a:endParaRPr sz="1200" dirty="0">
              <a:latin typeface="Libre Franklin"/>
              <a:ea typeface="Libre Franklin"/>
              <a:cs typeface="Libre Franklin"/>
              <a:sym typeface="Libre Franklin"/>
            </a:endParaRPr>
          </a:p>
        </p:txBody>
      </p:sp>
      <p:pic>
        <p:nvPicPr>
          <p:cNvPr id="164" name="Google Shape;164;p19"/>
          <p:cNvPicPr preferRelativeResize="0"/>
          <p:nvPr/>
        </p:nvPicPr>
        <p:blipFill rotWithShape="1">
          <a:blip r:embed="rId4">
            <a:alphaModFix/>
          </a:blip>
          <a:srcRect/>
          <a:stretch/>
        </p:blipFill>
        <p:spPr>
          <a:xfrm>
            <a:off x="1765996" y="3114173"/>
            <a:ext cx="3614275" cy="1771351"/>
          </a:xfrm>
          <a:prstGeom prst="rect">
            <a:avLst/>
          </a:prstGeom>
          <a:noFill/>
          <a:ln>
            <a:noFill/>
          </a:ln>
        </p:spPr>
      </p:pic>
      <p:pic>
        <p:nvPicPr>
          <p:cNvPr id="165" name="Google Shape;165;p19"/>
          <p:cNvPicPr preferRelativeResize="0"/>
          <p:nvPr/>
        </p:nvPicPr>
        <p:blipFill rotWithShape="1">
          <a:blip r:embed="rId5">
            <a:alphaModFix/>
          </a:blip>
          <a:srcRect/>
          <a:stretch/>
        </p:blipFill>
        <p:spPr>
          <a:xfrm>
            <a:off x="6811708" y="3114174"/>
            <a:ext cx="3614296" cy="1771351"/>
          </a:xfrm>
          <a:prstGeom prst="rect">
            <a:avLst/>
          </a:prstGeom>
          <a:noFill/>
          <a:ln>
            <a:noFill/>
          </a:ln>
        </p:spPr>
      </p:pic>
      <p:sp>
        <p:nvSpPr>
          <p:cNvPr id="166" name="Google Shape;166;p19"/>
          <p:cNvSpPr txBox="1"/>
          <p:nvPr/>
        </p:nvSpPr>
        <p:spPr>
          <a:xfrm>
            <a:off x="4869222" y="4503511"/>
            <a:ext cx="511049"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sz="1600" b="1" dirty="0">
                <a:sym typeface="Libre Franklin"/>
              </a:rPr>
              <a:t>RC</a:t>
            </a:r>
            <a:endParaRPr sz="1600" b="1" dirty="0">
              <a:sym typeface="Libre Franklin"/>
            </a:endParaRPr>
          </a:p>
        </p:txBody>
      </p:sp>
      <p:sp>
        <p:nvSpPr>
          <p:cNvPr id="167" name="Google Shape;167;p19"/>
          <p:cNvSpPr txBox="1"/>
          <p:nvPr/>
        </p:nvSpPr>
        <p:spPr>
          <a:xfrm>
            <a:off x="9958144" y="4503511"/>
            <a:ext cx="467860"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600" b="1">
                <a:latin typeface="Libre Franklin"/>
                <a:ea typeface="Libre Franklin"/>
                <a:cs typeface="Libre Franklin"/>
              </a:defRPr>
            </a:lvl1pPr>
          </a:lstStyle>
          <a:p>
            <a:r>
              <a:rPr lang="it-IT" dirty="0">
                <a:sym typeface="Libre Franklin"/>
              </a:rPr>
              <a:t>RL</a:t>
            </a:r>
            <a:endParaRPr dirty="0">
              <a:sym typeface="Libre Franklin"/>
            </a:endParaRPr>
          </a:p>
        </p:txBody>
      </p:sp>
      <p:sp>
        <p:nvSpPr>
          <p:cNvPr id="168" name="Google Shape;168;p19"/>
          <p:cNvSpPr txBox="1"/>
          <p:nvPr/>
        </p:nvSpPr>
        <p:spPr>
          <a:xfrm>
            <a:off x="1117200" y="5086618"/>
            <a:ext cx="10084200" cy="1107965"/>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sym typeface="Libre Franklin"/>
              </a:rPr>
              <a:t>Le forme d'onda ottenute mostrano che le configurazioni RC e RL producono una risposta sostanzialmente equivalente, come previsto dalla teoria dei filtri passa-alto del primo ordine.</a:t>
            </a:r>
            <a:br>
              <a:rPr lang="it-IT" dirty="0">
                <a:sym typeface="Libre Franklin"/>
              </a:rPr>
            </a:br>
            <a:endParaRPr dirty="0">
              <a:sym typeface="Libre Franklin"/>
            </a:endParaRPr>
          </a:p>
          <a:p>
            <a:r>
              <a:rPr lang="it-IT" dirty="0">
                <a:sym typeface="Libre Franklin"/>
              </a:rPr>
              <a:t>Poiché </a:t>
            </a:r>
            <a:r>
              <a:rPr lang="it-IT" b="1" i="1" dirty="0">
                <a:sym typeface="Libre Franklin"/>
              </a:rPr>
              <a:t>entrambe presentano lo stesso comportamento in frequenza e nel dominio del tempo</a:t>
            </a:r>
            <a:r>
              <a:rPr lang="it-IT" dirty="0">
                <a:sym typeface="Libre Franklin"/>
              </a:rPr>
              <a:t>, </a:t>
            </a:r>
            <a:r>
              <a:rPr lang="it-IT" i="1" u="sng" dirty="0">
                <a:sym typeface="Libre Franklin"/>
              </a:rPr>
              <a:t>nelle analisi successive verrà considerata esclusivamente la configurazione RC</a:t>
            </a:r>
            <a:r>
              <a:rPr lang="it-IT" dirty="0">
                <a:sym typeface="Libre Franklin"/>
              </a:rPr>
              <a:t>, che risulta più semplice da implementare e da studiare.</a:t>
            </a:r>
            <a:endParaRPr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92DA4CC5-4DF9-E15F-2B57-542ADD478AD6}"/>
                  </a:ext>
                </a:extLst>
              </p:cNvPr>
              <p:cNvSpPr txBox="1"/>
              <p:nvPr/>
            </p:nvSpPr>
            <p:spPr>
              <a:xfrm>
                <a:off x="5550437" y="3948161"/>
                <a:ext cx="1091126" cy="215444"/>
              </a:xfrm>
              <a:prstGeom prst="rect">
                <a:avLst/>
              </a:prstGeom>
              <a:noFill/>
            </p:spPr>
            <p:txBody>
              <a:bodyPr wrap="square" lIns="0" tIns="0" rIns="0" bIns="0" rtlCol="0">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oMath>
                </a14:m>
                <a:r>
                  <a:rPr lang="it-IT" sz="1400" b="1" dirty="0"/>
                  <a:t>Hz</a:t>
                </a:r>
              </a:p>
            </p:txBody>
          </p:sp>
        </mc:Choice>
        <mc:Fallback xmlns="">
          <p:sp>
            <p:nvSpPr>
              <p:cNvPr id="2" name="CasellaDiTesto 1">
                <a:extLst>
                  <a:ext uri="{FF2B5EF4-FFF2-40B4-BE49-F238E27FC236}">
                    <a16:creationId xmlns:a16="http://schemas.microsoft.com/office/drawing/2014/main" id="{92DA4CC5-4DF9-E15F-2B57-542ADD478AD6}"/>
                  </a:ext>
                </a:extLst>
              </p:cNvPr>
              <p:cNvSpPr txBox="1">
                <a:spLocks noRot="1" noChangeAspect="1" noMove="1" noResize="1" noEditPoints="1" noAdjustHandles="1" noChangeArrowheads="1" noChangeShapeType="1" noTextEdit="1"/>
              </p:cNvSpPr>
              <p:nvPr/>
            </p:nvSpPr>
            <p:spPr>
              <a:xfrm>
                <a:off x="5550437" y="3948161"/>
                <a:ext cx="1091126" cy="215444"/>
              </a:xfrm>
              <a:prstGeom prst="rect">
                <a:avLst/>
              </a:prstGeom>
              <a:blipFill>
                <a:blip r:embed="rId6"/>
                <a:stretch>
                  <a:fillRect l="-7865" t="-28571" b="-5142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2EB78237-223A-7067-0F3A-CE4C62AC88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a:t>
            </a:fld>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4BB0D574-429D-EEDF-7ADD-321602CA0939}"/>
                  </a:ext>
                </a:extLst>
              </p:cNvPr>
              <p:cNvSpPr txBox="1"/>
              <p:nvPr/>
            </p:nvSpPr>
            <p:spPr>
              <a:xfrm>
                <a:off x="1417944" y="3114172"/>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4BB0D574-429D-EEDF-7ADD-321602CA0939}"/>
                  </a:ext>
                </a:extLst>
              </p:cNvPr>
              <p:cNvSpPr txBox="1">
                <a:spLocks noRot="1" noChangeAspect="1" noMove="1" noResize="1" noEditPoints="1" noAdjustHandles="1" noChangeArrowheads="1" noChangeShapeType="1" noTextEdit="1"/>
              </p:cNvSpPr>
              <p:nvPr/>
            </p:nvSpPr>
            <p:spPr>
              <a:xfrm>
                <a:off x="1417944" y="3114172"/>
                <a:ext cx="167610" cy="215444"/>
              </a:xfrm>
              <a:prstGeom prst="rect">
                <a:avLst/>
              </a:prstGeom>
              <a:blipFill>
                <a:blip r:embed="rId7"/>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3CA5B16F-69EF-00DF-12D0-2767226D6EE4}"/>
                  </a:ext>
                </a:extLst>
              </p:cNvPr>
              <p:cNvSpPr txBox="1"/>
              <p:nvPr/>
            </p:nvSpPr>
            <p:spPr>
              <a:xfrm>
                <a:off x="4639261" y="4691032"/>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3CA5B16F-69EF-00DF-12D0-2767226D6EE4}"/>
                  </a:ext>
                </a:extLst>
              </p:cNvPr>
              <p:cNvSpPr txBox="1">
                <a:spLocks noRot="1" noChangeAspect="1" noMove="1" noResize="1" noEditPoints="1" noAdjustHandles="1" noChangeArrowheads="1" noChangeShapeType="1" noTextEdit="1"/>
              </p:cNvSpPr>
              <p:nvPr/>
            </p:nvSpPr>
            <p:spPr>
              <a:xfrm>
                <a:off x="4639261" y="4691032"/>
                <a:ext cx="1723916" cy="215444"/>
              </a:xfrm>
              <a:prstGeom prst="rect">
                <a:avLst/>
              </a:prstGeom>
              <a:blipFill>
                <a:blip r:embed="rId8"/>
                <a:stretch>
                  <a:fillRect b="-5714"/>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AD26C095-9B87-B040-396B-F8338F121520}"/>
                  </a:ext>
                </a:extLst>
              </p:cNvPr>
              <p:cNvSpPr txBox="1"/>
              <p:nvPr/>
            </p:nvSpPr>
            <p:spPr>
              <a:xfrm>
                <a:off x="6593138" y="3096521"/>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6" name="CasellaDiTesto 5">
                <a:extLst>
                  <a:ext uri="{FF2B5EF4-FFF2-40B4-BE49-F238E27FC236}">
                    <a16:creationId xmlns:a16="http://schemas.microsoft.com/office/drawing/2014/main" id="{AD26C095-9B87-B040-396B-F8338F121520}"/>
                  </a:ext>
                </a:extLst>
              </p:cNvPr>
              <p:cNvSpPr txBox="1">
                <a:spLocks noRot="1" noChangeAspect="1" noMove="1" noResize="1" noEditPoints="1" noAdjustHandles="1" noChangeArrowheads="1" noChangeShapeType="1" noTextEdit="1"/>
              </p:cNvSpPr>
              <p:nvPr/>
            </p:nvSpPr>
            <p:spPr>
              <a:xfrm>
                <a:off x="6593138" y="3096521"/>
                <a:ext cx="167610" cy="215444"/>
              </a:xfrm>
              <a:prstGeom prst="rect">
                <a:avLst/>
              </a:prstGeom>
              <a:blipFill>
                <a:blip r:embed="rId7"/>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 name="CasellaDiTesto 6">
                <a:extLst>
                  <a:ext uri="{FF2B5EF4-FFF2-40B4-BE49-F238E27FC236}">
                    <a16:creationId xmlns:a16="http://schemas.microsoft.com/office/drawing/2014/main" id="{80BA1186-576B-1309-ED66-38F57EA3F75D}"/>
                  </a:ext>
                </a:extLst>
              </p:cNvPr>
              <p:cNvSpPr txBox="1"/>
              <p:nvPr/>
            </p:nvSpPr>
            <p:spPr>
              <a:xfrm>
                <a:off x="9814455" y="467338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7" name="CasellaDiTesto 6">
                <a:extLst>
                  <a:ext uri="{FF2B5EF4-FFF2-40B4-BE49-F238E27FC236}">
                    <a16:creationId xmlns:a16="http://schemas.microsoft.com/office/drawing/2014/main" id="{80BA1186-576B-1309-ED66-38F57EA3F75D}"/>
                  </a:ext>
                </a:extLst>
              </p:cNvPr>
              <p:cNvSpPr txBox="1">
                <a:spLocks noRot="1" noChangeAspect="1" noMove="1" noResize="1" noEditPoints="1" noAdjustHandles="1" noChangeArrowheads="1" noChangeShapeType="1" noTextEdit="1"/>
              </p:cNvSpPr>
              <p:nvPr/>
            </p:nvSpPr>
            <p:spPr>
              <a:xfrm>
                <a:off x="9814455" y="4673381"/>
                <a:ext cx="1723916" cy="215444"/>
              </a:xfrm>
              <a:prstGeom prst="rect">
                <a:avLst/>
              </a:prstGeom>
              <a:blipFill>
                <a:blip r:embed="rId8"/>
                <a:stretch>
                  <a:fillRect b="-5714"/>
                </a:stretch>
              </a:blipFill>
            </p:spPr>
            <p:txBody>
              <a:bodyPr/>
              <a:lstStyle/>
              <a:p>
                <a:r>
                  <a:rPr lang="it-IT">
                    <a:noFill/>
                  </a:rPr>
                  <a:t> </a:t>
                </a:r>
              </a:p>
            </p:txBody>
          </p:sp>
        </mc:Fallback>
      </mc:AlternateContent>
      <p:sp>
        <p:nvSpPr>
          <p:cNvPr id="8" name="Freccia in giù 7">
            <a:hlinkClick r:id="rId9" action="ppaction://hlinksldjump"/>
            <a:extLst>
              <a:ext uri="{FF2B5EF4-FFF2-40B4-BE49-F238E27FC236}">
                <a16:creationId xmlns:a16="http://schemas.microsoft.com/office/drawing/2014/main" id="{2CB6F7BA-125F-1B1C-F1E1-7B4A0BDB50E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902634-4B29-0DD4-5E94-EFD452F13F0F}"/>
              </a:ext>
            </a:extLst>
          </p:cNvPr>
          <p:cNvPicPr>
            <a:picLocks noChangeAspect="1"/>
          </p:cNvPicPr>
          <p:nvPr/>
        </p:nvPicPr>
        <p:blipFill>
          <a:blip r:embed="rId2"/>
          <a:srcRect l="6059" t="3694" r="7551" b="10542"/>
          <a:stretch>
            <a:fillRect/>
          </a:stretch>
        </p:blipFill>
        <p:spPr>
          <a:xfrm>
            <a:off x="1195264" y="1838548"/>
            <a:ext cx="3246706" cy="1952564"/>
          </a:xfrm>
          <a:prstGeom prst="rect">
            <a:avLst/>
          </a:prstGeom>
          <a:ln w="38100">
            <a:solidFill>
              <a:srgbClr val="FFC000"/>
            </a:solidFill>
          </a:ln>
        </p:spPr>
      </p:pic>
      <p:sp>
        <p:nvSpPr>
          <p:cNvPr id="4" name="CasellaDiTesto 3">
            <a:extLst>
              <a:ext uri="{FF2B5EF4-FFF2-40B4-BE49-F238E27FC236}">
                <a16:creationId xmlns:a16="http://schemas.microsoft.com/office/drawing/2014/main" id="{AA35433E-5A95-50C3-FC28-0680E09E8BDC}"/>
              </a:ext>
            </a:extLst>
          </p:cNvPr>
          <p:cNvSpPr txBox="1"/>
          <p:nvPr/>
        </p:nvSpPr>
        <p:spPr>
          <a:xfrm>
            <a:off x="1099799" y="983501"/>
            <a:ext cx="6115574" cy="36933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HP come partitore di tensione</a:t>
            </a:r>
          </a:p>
        </p:txBody>
      </p:sp>
      <p:sp>
        <p:nvSpPr>
          <p:cNvPr id="6" name="CasellaDiTesto 5">
            <a:extLst>
              <a:ext uri="{FF2B5EF4-FFF2-40B4-BE49-F238E27FC236}">
                <a16:creationId xmlns:a16="http://schemas.microsoft.com/office/drawing/2014/main" id="{9B85F5B0-9820-1C7E-DFD1-486760AAF456}"/>
              </a:ext>
            </a:extLst>
          </p:cNvPr>
          <p:cNvSpPr txBox="1"/>
          <p:nvPr/>
        </p:nvSpPr>
        <p:spPr>
          <a:xfrm>
            <a:off x="5306037" y="1769682"/>
            <a:ext cx="5895363" cy="523220"/>
          </a:xfrm>
          <a:prstGeom prst="rect">
            <a:avLst/>
          </a:prstGeom>
          <a:noFill/>
        </p:spPr>
        <p:txBody>
          <a:bodyPr wrap="square">
            <a:spAutoFit/>
          </a:bodyPr>
          <a:lstStyle>
            <a:defPPr marR="0" lvl="0" algn="l" rtl="0">
              <a:lnSpc>
                <a:spcPct val="100000"/>
              </a:lnSpc>
              <a:spcBef>
                <a:spcPts val="0"/>
              </a:spcBef>
              <a:spcAft>
                <a:spcPts val="0"/>
              </a:spcAft>
            </a:defPPr>
            <a:lvl1pPr marL="285750" indent="-285750">
              <a:buFont typeface="Arial" panose="020B0604020202020204" pitchFamily="34" charset="0"/>
              <a:buChar char="•"/>
              <a:defRPr>
                <a:latin typeface="Segoe UI" panose="020B0502040204020203" pitchFamily="34" charset="0"/>
                <a:cs typeface="Segoe UI" panose="020B0502040204020203" pitchFamily="34" charset="0"/>
              </a:defRPr>
            </a:lvl1pPr>
          </a:lstStyle>
          <a:p>
            <a:pPr marL="0" indent="0">
              <a:buNone/>
            </a:pPr>
            <a:r>
              <a:rPr lang="it-IT" dirty="0"/>
              <a:t>Il filtro passa-alto RC può essere visto come un partitore di tensione formato da:</a:t>
            </a: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64D83513-B843-EA80-6A06-23712152438F}"/>
                  </a:ext>
                </a:extLst>
              </p:cNvPr>
              <p:cNvSpPr txBox="1"/>
              <p:nvPr/>
            </p:nvSpPr>
            <p:spPr>
              <a:xfrm>
                <a:off x="5306037" y="2358362"/>
                <a:ext cx="1723916" cy="5604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7" name="CasellaDiTesto 6">
                <a:extLst>
                  <a:ext uri="{FF2B5EF4-FFF2-40B4-BE49-F238E27FC236}">
                    <a16:creationId xmlns:a16="http://schemas.microsoft.com/office/drawing/2014/main" id="{64D83513-B843-EA80-6A06-23712152438F}"/>
                  </a:ext>
                </a:extLst>
              </p:cNvPr>
              <p:cNvSpPr txBox="1">
                <a:spLocks noRot="1" noChangeAspect="1" noMove="1" noResize="1" noEditPoints="1" noAdjustHandles="1" noChangeArrowheads="1" noChangeShapeType="1" noTextEdit="1"/>
              </p:cNvSpPr>
              <p:nvPr/>
            </p:nvSpPr>
            <p:spPr>
              <a:xfrm>
                <a:off x="5306037" y="2358362"/>
                <a:ext cx="1723916" cy="560436"/>
              </a:xfrm>
              <a:prstGeom prst="rect">
                <a:avLst/>
              </a:prstGeom>
              <a:blipFill>
                <a:blip r:embed="rId3"/>
                <a:stretch>
                  <a:fillRect/>
                </a:stretch>
              </a:blipFill>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BC9EF961-404B-7918-12C4-65991A7BA668}"/>
              </a:ext>
            </a:extLst>
          </p:cNvPr>
          <p:cNvSpPr txBox="1"/>
          <p:nvPr/>
        </p:nvSpPr>
        <p:spPr>
          <a:xfrm>
            <a:off x="8061820" y="2491680"/>
            <a:ext cx="30200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&amp;</a:t>
            </a:r>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4C33AE91-72D6-551D-3BDC-4AA5F1059BB0}"/>
                  </a:ext>
                </a:extLst>
              </p:cNvPr>
              <p:cNvSpPr txBox="1"/>
              <p:nvPr/>
            </p:nvSpPr>
            <p:spPr>
              <a:xfrm>
                <a:off x="8900719" y="2537831"/>
                <a:ext cx="17239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𝑅</m:t>
                      </m:r>
                    </m:oMath>
                  </m:oMathPara>
                </a14:m>
                <a:endParaRPr lang="it-IT" dirty="0"/>
              </a:p>
            </p:txBody>
          </p:sp>
        </mc:Choice>
        <mc:Fallback xmlns="">
          <p:sp>
            <p:nvSpPr>
              <p:cNvPr id="9" name="CasellaDiTesto 8">
                <a:extLst>
                  <a:ext uri="{FF2B5EF4-FFF2-40B4-BE49-F238E27FC236}">
                    <a16:creationId xmlns:a16="http://schemas.microsoft.com/office/drawing/2014/main" id="{4C33AE91-72D6-551D-3BDC-4AA5F1059BB0}"/>
                  </a:ext>
                </a:extLst>
              </p:cNvPr>
              <p:cNvSpPr txBox="1">
                <a:spLocks noRot="1" noChangeAspect="1" noMove="1" noResize="1" noEditPoints="1" noAdjustHandles="1" noChangeArrowheads="1" noChangeShapeType="1" noTextEdit="1"/>
              </p:cNvSpPr>
              <p:nvPr/>
            </p:nvSpPr>
            <p:spPr>
              <a:xfrm>
                <a:off x="8900719" y="2537831"/>
                <a:ext cx="1723916" cy="276999"/>
              </a:xfrm>
              <a:prstGeom prst="rect">
                <a:avLst/>
              </a:prstGeom>
              <a:blipFill>
                <a:blip r:embed="rId4"/>
                <a:stretch>
                  <a:fillRect b="-6522"/>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7E5A2B81-6DCA-EA74-88CD-1A58C589D15B}"/>
              </a:ext>
            </a:extLst>
          </p:cNvPr>
          <p:cNvSpPr txBox="1"/>
          <p:nvPr/>
        </p:nvSpPr>
        <p:spPr>
          <a:xfrm>
            <a:off x="5306037" y="3157384"/>
            <a:ext cx="6115574" cy="430857"/>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b="1" dirty="0"/>
              <a:t>Formula del partitore</a:t>
            </a: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1FB2F56B-7645-AEEB-DE1D-81D59FBB5A40}"/>
                  </a:ext>
                </a:extLst>
              </p:cNvPr>
              <p:cNvSpPr txBox="1"/>
              <p:nvPr/>
            </p:nvSpPr>
            <p:spPr>
              <a:xfrm>
                <a:off x="733012" y="3953687"/>
                <a:ext cx="363818" cy="439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it-IT" sz="1400" i="1">
                              <a:latin typeface="Cambria Math" panose="02040503050406030204" pitchFamily="18" charset="0"/>
                            </a:rPr>
                          </m:ctrlPr>
                        </m:fPr>
                        <m:num>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𝑜𝑢𝑡</m:t>
                              </m:r>
                            </m:sub>
                          </m:sSub>
                        </m:num>
                        <m:den>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𝑖𝑛</m:t>
                              </m:r>
                            </m:sub>
                          </m:sSub>
                        </m:den>
                      </m:f>
                    </m:oMath>
                  </m:oMathPara>
                </a14:m>
                <a:endParaRPr lang="it-IT" sz="1400" dirty="0"/>
              </a:p>
            </p:txBody>
          </p:sp>
        </mc:Choice>
        <mc:Fallback xmlns="">
          <p:sp>
            <p:nvSpPr>
              <p:cNvPr id="14" name="CasellaDiTesto 13">
                <a:extLst>
                  <a:ext uri="{FF2B5EF4-FFF2-40B4-BE49-F238E27FC236}">
                    <a16:creationId xmlns:a16="http://schemas.microsoft.com/office/drawing/2014/main" id="{1FB2F56B-7645-AEEB-DE1D-81D59FBB5A40}"/>
                  </a:ext>
                </a:extLst>
              </p:cNvPr>
              <p:cNvSpPr txBox="1">
                <a:spLocks noRot="1" noChangeAspect="1" noMove="1" noResize="1" noEditPoints="1" noAdjustHandles="1" noChangeArrowheads="1" noChangeShapeType="1" noTextEdit="1"/>
              </p:cNvSpPr>
              <p:nvPr/>
            </p:nvSpPr>
            <p:spPr>
              <a:xfrm>
                <a:off x="733012" y="3953687"/>
                <a:ext cx="363818" cy="439672"/>
              </a:xfrm>
              <a:prstGeom prst="rect">
                <a:avLst/>
              </a:prstGeom>
              <a:blipFill>
                <a:blip r:embed="rId5"/>
                <a:stretch>
                  <a:fillRect l="-10000" t="-1389" b="-8333"/>
                </a:stretch>
              </a:blipFill>
            </p:spPr>
            <p:txBody>
              <a:bodyPr/>
              <a:lstStyle/>
              <a:p>
                <a:r>
                  <a:rPr lang="it-IT">
                    <a:noFill/>
                  </a:rPr>
                  <a:t> </a:t>
                </a:r>
              </a:p>
            </p:txBody>
          </p:sp>
        </mc:Fallback>
      </mc:AlternateContent>
      <p:cxnSp>
        <p:nvCxnSpPr>
          <p:cNvPr id="16" name="Connettore 2 15">
            <a:extLst>
              <a:ext uri="{FF2B5EF4-FFF2-40B4-BE49-F238E27FC236}">
                <a16:creationId xmlns:a16="http://schemas.microsoft.com/office/drawing/2014/main" id="{EDF813D3-9475-0BD8-EB36-5A9247A8DD9B}"/>
              </a:ext>
            </a:extLst>
          </p:cNvPr>
          <p:cNvCxnSpPr/>
          <p:nvPr/>
        </p:nvCxnSpPr>
        <p:spPr>
          <a:xfrm>
            <a:off x="7621398" y="4131950"/>
            <a:ext cx="11828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CasellaDiTesto 16">
                <a:extLst>
                  <a:ext uri="{FF2B5EF4-FFF2-40B4-BE49-F238E27FC236}">
                    <a16:creationId xmlns:a16="http://schemas.microsoft.com/office/drawing/2014/main" id="{281DAFDB-20D9-6BFE-D433-B296C63749EC}"/>
                  </a:ext>
                </a:extLst>
              </p:cNvPr>
              <p:cNvSpPr txBox="1"/>
              <p:nvPr/>
            </p:nvSpPr>
            <p:spPr>
              <a:xfrm>
                <a:off x="9040998" y="3847481"/>
                <a:ext cx="2051203"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17" name="CasellaDiTesto 16">
                <a:extLst>
                  <a:ext uri="{FF2B5EF4-FFF2-40B4-BE49-F238E27FC236}">
                    <a16:creationId xmlns:a16="http://schemas.microsoft.com/office/drawing/2014/main" id="{281DAFDB-20D9-6BFE-D433-B296C63749EC}"/>
                  </a:ext>
                </a:extLst>
              </p:cNvPr>
              <p:cNvSpPr txBox="1">
                <a:spLocks noRot="1" noChangeAspect="1" noMove="1" noResize="1" noEditPoints="1" noAdjustHandles="1" noChangeArrowheads="1" noChangeShapeType="1" noTextEdit="1"/>
              </p:cNvSpPr>
              <p:nvPr/>
            </p:nvSpPr>
            <p:spPr>
              <a:xfrm>
                <a:off x="9040998" y="3847481"/>
                <a:ext cx="2051203" cy="568938"/>
              </a:xfrm>
              <a:prstGeom prst="rect">
                <a:avLst/>
              </a:prstGeom>
              <a:blipFill>
                <a:blip r:embed="rId6"/>
                <a:stretch>
                  <a:fillRect/>
                </a:stretch>
              </a:blipFill>
            </p:spPr>
            <p:txBody>
              <a:bodyPr/>
              <a:lstStyle/>
              <a:p>
                <a:r>
                  <a:rPr lang="it-IT">
                    <a:noFill/>
                  </a:rPr>
                  <a:t> </a:t>
                </a:r>
              </a:p>
            </p:txBody>
          </p:sp>
        </mc:Fallback>
      </mc:AlternateContent>
      <p:pic>
        <p:nvPicPr>
          <p:cNvPr id="19" name="Immagine 18">
            <a:extLst>
              <a:ext uri="{FF2B5EF4-FFF2-40B4-BE49-F238E27FC236}">
                <a16:creationId xmlns:a16="http://schemas.microsoft.com/office/drawing/2014/main" id="{A38A48EE-A179-6966-2439-AAB065E793B1}"/>
              </a:ext>
            </a:extLst>
          </p:cNvPr>
          <p:cNvPicPr>
            <a:picLocks noChangeAspect="1"/>
          </p:cNvPicPr>
          <p:nvPr/>
        </p:nvPicPr>
        <p:blipFill>
          <a:blip r:embed="rId7"/>
          <a:stretch>
            <a:fillRect/>
          </a:stretch>
        </p:blipFill>
        <p:spPr>
          <a:xfrm>
            <a:off x="5487745" y="4833268"/>
            <a:ext cx="5752158" cy="995099"/>
          </a:xfrm>
          <a:prstGeom prst="rect">
            <a:avLst/>
          </a:prstGeom>
          <a:ln w="19050">
            <a:solidFill>
              <a:schemeClr val="bg1">
                <a:lumMod val="50000"/>
              </a:schemeClr>
            </a:solidFill>
          </a:ln>
        </p:spPr>
      </p:pic>
      <p:pic>
        <p:nvPicPr>
          <p:cNvPr id="25" name="Immagine 24">
            <a:extLst>
              <a:ext uri="{FF2B5EF4-FFF2-40B4-BE49-F238E27FC236}">
                <a16:creationId xmlns:a16="http://schemas.microsoft.com/office/drawing/2014/main" id="{7885376E-AEAB-34CC-1AF1-1F397596E6D6}"/>
              </a:ext>
            </a:extLst>
          </p:cNvPr>
          <p:cNvPicPr>
            <a:picLocks noChangeAspect="1"/>
          </p:cNvPicPr>
          <p:nvPr/>
        </p:nvPicPr>
        <p:blipFill>
          <a:blip r:embed="rId8"/>
          <a:srcRect t="1213" r="25487"/>
          <a:stretch>
            <a:fillRect/>
          </a:stretch>
        </p:blipFill>
        <p:spPr>
          <a:xfrm>
            <a:off x="1195264" y="3990728"/>
            <a:ext cx="3260033" cy="2118220"/>
          </a:xfrm>
          <a:prstGeom prst="rect">
            <a:avLst/>
          </a:prstGeom>
          <a:ln w="9525">
            <a:solidFill>
              <a:schemeClr val="tx1"/>
            </a:solidFill>
          </a:ln>
        </p:spPr>
      </p:pic>
      <p:sp>
        <p:nvSpPr>
          <p:cNvPr id="26" name="Ovale 25">
            <a:extLst>
              <a:ext uri="{FF2B5EF4-FFF2-40B4-BE49-F238E27FC236}">
                <a16:creationId xmlns:a16="http://schemas.microsoft.com/office/drawing/2014/main" id="{22E70BA9-EF41-B3BA-1FF2-56D2DDB54E2B}"/>
              </a:ext>
            </a:extLst>
          </p:cNvPr>
          <p:cNvSpPr/>
          <p:nvPr/>
        </p:nvSpPr>
        <p:spPr>
          <a:xfrm>
            <a:off x="1099799" y="2076275"/>
            <a:ext cx="467566" cy="461556"/>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8" name="Connettore 2 27">
            <a:extLst>
              <a:ext uri="{FF2B5EF4-FFF2-40B4-BE49-F238E27FC236}">
                <a16:creationId xmlns:a16="http://schemas.microsoft.com/office/drawing/2014/main" id="{6B733EB8-7315-B8F4-8F99-4AF514A997CA}"/>
              </a:ext>
            </a:extLst>
          </p:cNvPr>
          <p:cNvCxnSpPr>
            <a:stCxn id="26" idx="4"/>
          </p:cNvCxnSpPr>
          <p:nvPr/>
        </p:nvCxnSpPr>
        <p:spPr>
          <a:xfrm>
            <a:off x="1333582" y="2537831"/>
            <a:ext cx="524579" cy="1635692"/>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33" name="Ovale 32">
            <a:extLst>
              <a:ext uri="{FF2B5EF4-FFF2-40B4-BE49-F238E27FC236}">
                <a16:creationId xmlns:a16="http://schemas.microsoft.com/office/drawing/2014/main" id="{2252CBD5-3059-6AB9-3DDA-B4A4DF37425B}"/>
              </a:ext>
            </a:extLst>
          </p:cNvPr>
          <p:cNvSpPr/>
          <p:nvPr/>
        </p:nvSpPr>
        <p:spPr>
          <a:xfrm>
            <a:off x="3974404" y="2076275"/>
            <a:ext cx="467566" cy="461556"/>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5" name="Connettore 2 34">
            <a:extLst>
              <a:ext uri="{FF2B5EF4-FFF2-40B4-BE49-F238E27FC236}">
                <a16:creationId xmlns:a16="http://schemas.microsoft.com/office/drawing/2014/main" id="{4ABF7833-E689-E852-1349-4DDDBD6D204A}"/>
              </a:ext>
            </a:extLst>
          </p:cNvPr>
          <p:cNvCxnSpPr>
            <a:stCxn id="33" idx="4"/>
          </p:cNvCxnSpPr>
          <p:nvPr/>
        </p:nvCxnSpPr>
        <p:spPr>
          <a:xfrm flipH="1">
            <a:off x="2604782" y="2537831"/>
            <a:ext cx="1603405" cy="2046752"/>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1EED676C-5579-04DB-7D57-BB5B39D54879}"/>
                  </a:ext>
                </a:extLst>
              </p:cNvPr>
              <p:cNvSpPr txBox="1"/>
              <p:nvPr/>
            </p:nvSpPr>
            <p:spPr>
              <a:xfrm>
                <a:off x="3763829" y="58935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xmlns="">
          <p:sp>
            <p:nvSpPr>
              <p:cNvPr id="36" name="CasellaDiTesto 35">
                <a:extLst>
                  <a:ext uri="{FF2B5EF4-FFF2-40B4-BE49-F238E27FC236}">
                    <a16:creationId xmlns:a16="http://schemas.microsoft.com/office/drawing/2014/main" id="{1EED676C-5579-04DB-7D57-BB5B39D54879}"/>
                  </a:ext>
                </a:extLst>
              </p:cNvPr>
              <p:cNvSpPr txBox="1">
                <a:spLocks noRot="1" noChangeAspect="1" noMove="1" noResize="1" noEditPoints="1" noAdjustHandles="1" noChangeArrowheads="1" noChangeShapeType="1" noTextEdit="1"/>
              </p:cNvSpPr>
              <p:nvPr/>
            </p:nvSpPr>
            <p:spPr>
              <a:xfrm>
                <a:off x="3763829" y="5893504"/>
                <a:ext cx="1723916" cy="215444"/>
              </a:xfrm>
              <a:prstGeom prst="rect">
                <a:avLst/>
              </a:prstGeom>
              <a:blipFill>
                <a:blip r:embed="rId9"/>
                <a:stretch>
                  <a:fillRect b="-3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5DFF5001-32E2-FC65-C912-62826C385F6B}"/>
                  </a:ext>
                </a:extLst>
              </p:cNvPr>
              <p:cNvSpPr txBox="1"/>
              <p:nvPr/>
            </p:nvSpPr>
            <p:spPr>
              <a:xfrm>
                <a:off x="5418260" y="3847481"/>
                <a:ext cx="1760995"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i="1">
                              <a:latin typeface="Cambria Math" panose="02040503050406030204" pitchFamily="18" charset="0"/>
                            </a:rPr>
                            <m:t>𝑅</m:t>
                          </m:r>
                        </m:num>
                        <m:den>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𝑅</m:t>
                          </m:r>
                        </m:den>
                      </m:f>
                    </m:oMath>
                  </m:oMathPara>
                </a14:m>
                <a:endParaRPr lang="it-IT" dirty="0"/>
              </a:p>
            </p:txBody>
          </p:sp>
        </mc:Choice>
        <mc:Fallback xmlns="">
          <p:sp>
            <p:nvSpPr>
              <p:cNvPr id="37" name="CasellaDiTesto 36">
                <a:extLst>
                  <a:ext uri="{FF2B5EF4-FFF2-40B4-BE49-F238E27FC236}">
                    <a16:creationId xmlns:a16="http://schemas.microsoft.com/office/drawing/2014/main" id="{5DFF5001-32E2-FC65-C912-62826C385F6B}"/>
                  </a:ext>
                </a:extLst>
              </p:cNvPr>
              <p:cNvSpPr txBox="1">
                <a:spLocks noRot="1" noChangeAspect="1" noMove="1" noResize="1" noEditPoints="1" noAdjustHandles="1" noChangeArrowheads="1" noChangeShapeType="1" noTextEdit="1"/>
              </p:cNvSpPr>
              <p:nvPr/>
            </p:nvSpPr>
            <p:spPr>
              <a:xfrm>
                <a:off x="5418260" y="3847481"/>
                <a:ext cx="1760995" cy="565348"/>
              </a:xfrm>
              <a:prstGeom prst="rect">
                <a:avLst/>
              </a:prstGeom>
              <a:blipFill>
                <a:blip r:embed="rId10"/>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00856F5B-B028-A765-5D1A-2A8D8937EC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a:t>
            </a:fld>
            <a:endParaRPr lang="it-IT"/>
          </a:p>
        </p:txBody>
      </p:sp>
      <p:sp>
        <p:nvSpPr>
          <p:cNvPr id="10" name="Freccia in giù 9">
            <a:hlinkClick r:id="rId11" action="ppaction://hlinksldjump"/>
            <a:extLst>
              <a:ext uri="{FF2B5EF4-FFF2-40B4-BE49-F238E27FC236}">
                <a16:creationId xmlns:a16="http://schemas.microsoft.com/office/drawing/2014/main" id="{D48C0EAA-9FC3-F67C-BC15-93D30105AB30}"/>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564830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DD210EA8-277B-A44C-5734-D44AF8C7231C}"/>
              </a:ext>
            </a:extLst>
          </p:cNvPr>
          <p:cNvPicPr>
            <a:picLocks noChangeAspect="1"/>
          </p:cNvPicPr>
          <p:nvPr/>
        </p:nvPicPr>
        <p:blipFill>
          <a:blip r:embed="rId2"/>
          <a:srcRect r="53693"/>
          <a:stretch>
            <a:fillRect/>
          </a:stretch>
        </p:blipFill>
        <p:spPr>
          <a:xfrm>
            <a:off x="6939093" y="2220025"/>
            <a:ext cx="3639425" cy="3851796"/>
          </a:xfrm>
          <a:prstGeom prst="rect">
            <a:avLst/>
          </a:prstGeom>
          <a:ln w="9525">
            <a:solidFill>
              <a:schemeClr val="tx1"/>
            </a:solidFill>
          </a:ln>
        </p:spPr>
      </p:pic>
      <p:sp>
        <p:nvSpPr>
          <p:cNvPr id="8" name="CasellaDiTesto 7">
            <a:extLst>
              <a:ext uri="{FF2B5EF4-FFF2-40B4-BE49-F238E27FC236}">
                <a16:creationId xmlns:a16="http://schemas.microsoft.com/office/drawing/2014/main" id="{0D0A84FB-3400-1906-3054-DA245BBE08F3}"/>
              </a:ext>
            </a:extLst>
          </p:cNvPr>
          <p:cNvSpPr txBox="1"/>
          <p:nvPr/>
        </p:nvSpPr>
        <p:spPr>
          <a:xfrm>
            <a:off x="1067577" y="1459750"/>
            <a:ext cx="5028423" cy="461665"/>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sz="1200" dirty="0"/>
              <a:t>Quando nel circuito è presente un condensatore, bisogna considerare che la sua tensione non cambia istantaneamente:</a:t>
            </a:r>
          </a:p>
        </p:txBody>
      </p:sp>
      <p:sp>
        <p:nvSpPr>
          <p:cNvPr id="9" name="CasellaDiTesto 8">
            <a:extLst>
              <a:ext uri="{FF2B5EF4-FFF2-40B4-BE49-F238E27FC236}">
                <a16:creationId xmlns:a16="http://schemas.microsoft.com/office/drawing/2014/main" id="{E17B5409-7BFA-B551-A5B3-48914206DA5C}"/>
              </a:ext>
            </a:extLst>
          </p:cNvPr>
          <p:cNvSpPr txBox="1"/>
          <p:nvPr/>
        </p:nvSpPr>
        <p:spPr>
          <a:xfrm>
            <a:off x="1067577" y="786179"/>
            <a:ext cx="6115574"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Condensatore nel transitorio</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927246E8-D14C-11F3-0190-AD289FBDEB39}"/>
                  </a:ext>
                </a:extLst>
              </p:cNvPr>
              <p:cNvSpPr txBox="1"/>
              <p:nvPr/>
            </p:nvSpPr>
            <p:spPr>
              <a:xfrm>
                <a:off x="6096002" y="1353453"/>
                <a:ext cx="510539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oMath>
                  </m:oMathPara>
                </a14:m>
                <a:endParaRPr lang="it-IT" dirty="0"/>
              </a:p>
            </p:txBody>
          </p:sp>
        </mc:Choice>
        <mc:Fallback xmlns="">
          <p:sp>
            <p:nvSpPr>
              <p:cNvPr id="10" name="CasellaDiTesto 9">
                <a:extLst>
                  <a:ext uri="{FF2B5EF4-FFF2-40B4-BE49-F238E27FC236}">
                    <a16:creationId xmlns:a16="http://schemas.microsoft.com/office/drawing/2014/main" id="{927246E8-D14C-11F3-0190-AD289FBDEB39}"/>
                  </a:ext>
                </a:extLst>
              </p:cNvPr>
              <p:cNvSpPr txBox="1">
                <a:spLocks noRot="1" noChangeAspect="1" noMove="1" noResize="1" noEditPoints="1" noAdjustHandles="1" noChangeArrowheads="1" noChangeShapeType="1" noTextEdit="1"/>
              </p:cNvSpPr>
              <p:nvPr/>
            </p:nvSpPr>
            <p:spPr>
              <a:xfrm>
                <a:off x="6096002" y="1353453"/>
                <a:ext cx="5105399" cy="276999"/>
              </a:xfrm>
              <a:prstGeom prst="rect">
                <a:avLst/>
              </a:prstGeom>
              <a:blipFill>
                <a:blip r:embed="rId3"/>
                <a:stretch>
                  <a:fillRect b="-11111"/>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05B3A0A7-4DDC-D49C-3A57-F468ADA78226}"/>
              </a:ext>
            </a:extLst>
          </p:cNvPr>
          <p:cNvSpPr txBox="1"/>
          <p:nvPr/>
        </p:nvSpPr>
        <p:spPr>
          <a:xfrm>
            <a:off x="6096001" y="1736734"/>
            <a:ext cx="51054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rPr>
              <a:t>cioè </a:t>
            </a:r>
            <a:r>
              <a:rPr lang="it-IT" b="1" dirty="0">
                <a:latin typeface="Segoe UI" panose="020B0502040204020203" pitchFamily="34" charset="0"/>
                <a:cs typeface="Segoe UI" panose="020B0502040204020203" pitchFamily="34" charset="0"/>
              </a:rPr>
              <a:t>il condensatore “ricorda” l’energia accumulata prima.</a:t>
            </a:r>
          </a:p>
        </p:txBody>
      </p:sp>
      <p:sp>
        <p:nvSpPr>
          <p:cNvPr id="14" name="CasellaDiTesto 13">
            <a:extLst>
              <a:ext uri="{FF2B5EF4-FFF2-40B4-BE49-F238E27FC236}">
                <a16:creationId xmlns:a16="http://schemas.microsoft.com/office/drawing/2014/main" id="{F45DA9BE-B094-6776-8ED2-F7273DB9E6B4}"/>
              </a:ext>
            </a:extLst>
          </p:cNvPr>
          <p:cNvSpPr txBox="1"/>
          <p:nvPr/>
        </p:nvSpPr>
        <p:spPr>
          <a:xfrm>
            <a:off x="981243" y="2212318"/>
            <a:ext cx="611557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La carica segue una legge esponenziale:</a:t>
            </a:r>
          </a:p>
        </p:txBody>
      </p:sp>
      <p:sp>
        <p:nvSpPr>
          <p:cNvPr id="15" name="Ovale 14">
            <a:extLst>
              <a:ext uri="{FF2B5EF4-FFF2-40B4-BE49-F238E27FC236}">
                <a16:creationId xmlns:a16="http://schemas.microsoft.com/office/drawing/2014/main" id="{D34A8E2F-7715-05D3-22FF-B11507AA0DB8}"/>
              </a:ext>
            </a:extLst>
          </p:cNvPr>
          <p:cNvSpPr/>
          <p:nvPr/>
        </p:nvSpPr>
        <p:spPr>
          <a:xfrm>
            <a:off x="6665053" y="3363985"/>
            <a:ext cx="2176943" cy="1921079"/>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C16921E2-4E9C-B4BF-2167-78C3B7793BD6}"/>
                  </a:ext>
                </a:extLst>
              </p:cNvPr>
              <p:cNvSpPr txBox="1"/>
              <p:nvPr/>
            </p:nvSpPr>
            <p:spPr>
              <a:xfrm>
                <a:off x="2918210" y="2812264"/>
                <a:ext cx="2241639"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r>
                            <a:rPr lang="it-IT" i="1">
                              <a:latin typeface="Cambria Math" panose="02040503050406030204" pitchFamily="18" charset="0"/>
                            </a:rPr>
                            <m:t>𝑡</m:t>
                          </m:r>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𝑓</m:t>
                          </m:r>
                        </m:sub>
                      </m:sSub>
                      <m:d>
                        <m:dPr>
                          <m:ctrlPr>
                            <a:rPr lang="it-IT" i="1">
                              <a:latin typeface="Cambria Math" panose="02040503050406030204" pitchFamily="18" charset="0"/>
                            </a:rPr>
                          </m:ctrlPr>
                        </m:dPr>
                        <m:e>
                          <m:r>
                            <a:rPr lang="it-IT" i="0">
                              <a:latin typeface="Cambria Math" panose="02040503050406030204" pitchFamily="18" charset="0"/>
                            </a:rPr>
                            <m:t>1−</m:t>
                          </m:r>
                          <m:sSup>
                            <m:sSupPr>
                              <m:ctrlPr>
                                <a:rPr lang="it-IT" i="1">
                                  <a:latin typeface="Cambria Math" panose="02040503050406030204" pitchFamily="18" charset="0"/>
                                </a:rPr>
                              </m:ctrlPr>
                            </m:sSupPr>
                            <m:e>
                              <m:r>
                                <a:rPr lang="it-IT" b="0" i="1" smtClean="0">
                                  <a:latin typeface="Cambria Math" panose="02040503050406030204" pitchFamily="18" charset="0"/>
                                </a:rPr>
                                <m:t>𝑒</m:t>
                              </m:r>
                            </m:e>
                            <m:sup>
                              <m:f>
                                <m:fPr>
                                  <m:type m:val="skw"/>
                                  <m:ctrlPr>
                                    <a:rPr lang="it-IT" i="1">
                                      <a:latin typeface="Cambria Math" panose="02040503050406030204" pitchFamily="18" charset="0"/>
                                    </a:rPr>
                                  </m:ctrlPr>
                                </m:fPr>
                                <m:num>
                                  <m:r>
                                    <a:rPr lang="it-IT" b="0" i="1" smtClean="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e>
                      </m:d>
                    </m:oMath>
                  </m:oMathPara>
                </a14:m>
                <a:endParaRPr lang="it-IT" dirty="0"/>
              </a:p>
            </p:txBody>
          </p:sp>
        </mc:Choice>
        <mc:Fallback xmlns="">
          <p:sp>
            <p:nvSpPr>
              <p:cNvPr id="18" name="CasellaDiTesto 17">
                <a:extLst>
                  <a:ext uri="{FF2B5EF4-FFF2-40B4-BE49-F238E27FC236}">
                    <a16:creationId xmlns:a16="http://schemas.microsoft.com/office/drawing/2014/main" id="{C16921E2-4E9C-B4BF-2167-78C3B7793BD6}"/>
                  </a:ext>
                </a:extLst>
              </p:cNvPr>
              <p:cNvSpPr txBox="1">
                <a:spLocks noRot="1" noChangeAspect="1" noMove="1" noResize="1" noEditPoints="1" noAdjustHandles="1" noChangeArrowheads="1" noChangeShapeType="1" noTextEdit="1"/>
              </p:cNvSpPr>
              <p:nvPr/>
            </p:nvSpPr>
            <p:spPr>
              <a:xfrm>
                <a:off x="2918210" y="2812264"/>
                <a:ext cx="2241639" cy="414537"/>
              </a:xfrm>
              <a:prstGeom prst="rect">
                <a:avLst/>
              </a:prstGeom>
              <a:blipFill>
                <a:blip r:embed="rId4"/>
                <a:stretch>
                  <a:fillRect l="-1090" t="-101471" r="-19074" b="-119118"/>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47A6AB90-EC82-E82C-F76F-614AF5EC3EA2}"/>
              </a:ext>
            </a:extLst>
          </p:cNvPr>
          <p:cNvSpPr txBox="1"/>
          <p:nvPr/>
        </p:nvSpPr>
        <p:spPr>
          <a:xfrm>
            <a:off x="1067577" y="3513805"/>
            <a:ext cx="6115574" cy="307777"/>
          </a:xfrm>
          <a:prstGeom prst="rect">
            <a:avLst/>
          </a:prstGeom>
          <a:noFill/>
        </p:spPr>
        <p:txBody>
          <a:bodyPr wrap="square">
            <a:spAutoFit/>
          </a:bodyPr>
          <a:lstStyle/>
          <a:p>
            <a:r>
              <a:rPr lang="it-IT" sz="1200" dirty="0">
                <a:latin typeface="Segoe UI" panose="020B0502040204020203" pitchFamily="34" charset="0"/>
                <a:cs typeface="Segoe UI" panose="020B0502040204020203" pitchFamily="34" charset="0"/>
              </a:rPr>
              <a:t>dove</a:t>
            </a:r>
            <a:r>
              <a:rPr lang="it-IT" dirty="0"/>
              <a:t>:</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C82BC81F-8071-FB7E-4DEC-FB0EE4DEDF48}"/>
                  </a:ext>
                </a:extLst>
              </p:cNvPr>
              <p:cNvSpPr txBox="1"/>
              <p:nvPr/>
            </p:nvSpPr>
            <p:spPr>
              <a:xfrm>
                <a:off x="2918210" y="4153514"/>
                <a:ext cx="96827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𝑒</m:t>
                          </m:r>
                          <m:r>
                            <a:rPr lang="it-IT" b="0" i="1" smtClean="0">
                              <a:latin typeface="Cambria Math" panose="02040503050406030204" pitchFamily="18" charset="0"/>
                            </a:rPr>
                            <m:t>𝑞</m:t>
                          </m:r>
                        </m:sub>
                      </m:sSub>
                      <m:r>
                        <a:rPr lang="it-IT" b="0" i="1" smtClean="0">
                          <a:latin typeface="Cambria Math" panose="02040503050406030204" pitchFamily="18" charset="0"/>
                        </a:rPr>
                        <m:t>𝐶</m:t>
                      </m:r>
                    </m:oMath>
                  </m:oMathPara>
                </a14:m>
                <a:endParaRPr lang="it-IT" dirty="0"/>
              </a:p>
            </p:txBody>
          </p:sp>
        </mc:Choice>
        <mc:Fallback xmlns="">
          <p:sp>
            <p:nvSpPr>
              <p:cNvPr id="21" name="CasellaDiTesto 20">
                <a:extLst>
                  <a:ext uri="{FF2B5EF4-FFF2-40B4-BE49-F238E27FC236}">
                    <a16:creationId xmlns:a16="http://schemas.microsoft.com/office/drawing/2014/main" id="{C82BC81F-8071-FB7E-4DEC-FB0EE4DEDF48}"/>
                  </a:ext>
                </a:extLst>
              </p:cNvPr>
              <p:cNvSpPr txBox="1">
                <a:spLocks noRot="1" noChangeAspect="1" noMove="1" noResize="1" noEditPoints="1" noAdjustHandles="1" noChangeArrowheads="1" noChangeShapeType="1" noTextEdit="1"/>
              </p:cNvSpPr>
              <p:nvPr/>
            </p:nvSpPr>
            <p:spPr>
              <a:xfrm>
                <a:off x="2918210" y="4153514"/>
                <a:ext cx="968278" cy="298415"/>
              </a:xfrm>
              <a:prstGeom prst="rect">
                <a:avLst/>
              </a:prstGeom>
              <a:blipFill>
                <a:blip r:embed="rId5"/>
                <a:stretch>
                  <a:fillRect l="-3145" r="-3774" b="-20408"/>
                </a:stretch>
              </a:blipFill>
            </p:spPr>
            <p:txBody>
              <a:bodyPr/>
              <a:lstStyle/>
              <a:p>
                <a:r>
                  <a:rPr lang="it-IT">
                    <a:noFill/>
                  </a:rPr>
                  <a:t> </a:t>
                </a:r>
              </a:p>
            </p:txBody>
          </p:sp>
        </mc:Fallback>
      </mc:AlternateContent>
      <p:sp>
        <p:nvSpPr>
          <p:cNvPr id="23" name="CasellaDiTesto 22">
            <a:extLst>
              <a:ext uri="{FF2B5EF4-FFF2-40B4-BE49-F238E27FC236}">
                <a16:creationId xmlns:a16="http://schemas.microsoft.com/office/drawing/2014/main" id="{346D53F5-1CAE-386E-2A66-C6DE25AF5313}"/>
              </a:ext>
            </a:extLst>
          </p:cNvPr>
          <p:cNvSpPr txBox="1"/>
          <p:nvPr/>
        </p:nvSpPr>
        <p:spPr>
          <a:xfrm>
            <a:off x="981242" y="4680536"/>
            <a:ext cx="43289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il condensatore non arriva subito al valore finale, ma ci arriva gradualmente.</a:t>
            </a:r>
          </a:p>
        </p:txBody>
      </p:sp>
      <p:sp>
        <p:nvSpPr>
          <p:cNvPr id="27" name="CasellaDiTesto 26">
            <a:extLst>
              <a:ext uri="{FF2B5EF4-FFF2-40B4-BE49-F238E27FC236}">
                <a16:creationId xmlns:a16="http://schemas.microsoft.com/office/drawing/2014/main" id="{78F262C8-0741-5F81-C57D-F37AB078D283}"/>
              </a:ext>
            </a:extLst>
          </p:cNvPr>
          <p:cNvSpPr txBox="1"/>
          <p:nvPr/>
        </p:nvSpPr>
        <p:spPr>
          <a:xfrm>
            <a:off x="981243" y="5340895"/>
            <a:ext cx="5771895"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Nel grafico questo si vede nel segnale blu: </a:t>
            </a:r>
            <a:r>
              <a:rPr lang="it-IT" b="1" dirty="0">
                <a:latin typeface="Segoe UI" panose="020B0502040204020203" pitchFamily="34" charset="0"/>
                <a:cs typeface="Segoe UI" panose="020B0502040204020203" pitchFamily="34" charset="0"/>
              </a:rPr>
              <a:t>all’inizio c’è un transitorio</a:t>
            </a:r>
            <a:r>
              <a:rPr lang="it-IT" dirty="0">
                <a:latin typeface="Segoe UI" panose="020B0502040204020203" pitchFamily="34" charset="0"/>
                <a:cs typeface="Segoe UI" panose="020B0502040204020203" pitchFamily="34" charset="0"/>
              </a:rPr>
              <a:t>, </a:t>
            </a:r>
            <a:r>
              <a:rPr lang="it-IT" u="sng" dirty="0">
                <a:latin typeface="Segoe UI" panose="020B0502040204020203" pitchFamily="34" charset="0"/>
                <a:cs typeface="Segoe UI" panose="020B0502040204020203" pitchFamily="34" charset="0"/>
              </a:rPr>
              <a:t>cioè una parte instabile dovuta alla carica/scarica del condensatore.</a:t>
            </a:r>
            <a:r>
              <a:rPr lang="it-IT" dirty="0">
                <a:latin typeface="Segoe UI" panose="020B0502040204020203" pitchFamily="34" charset="0"/>
                <a:cs typeface="Segoe UI" panose="020B0502040204020203" pitchFamily="34" charset="0"/>
              </a:rPr>
              <a:t> Solo dopo l’assestamento il circuito mostra il comportamento reale a regime.</a:t>
            </a:r>
          </a:p>
        </p:txBody>
      </p:sp>
      <p:sp>
        <p:nvSpPr>
          <p:cNvPr id="28" name="CasellaDiTesto 27">
            <a:extLst>
              <a:ext uri="{FF2B5EF4-FFF2-40B4-BE49-F238E27FC236}">
                <a16:creationId xmlns:a16="http://schemas.microsoft.com/office/drawing/2014/main" id="{C430A221-6755-7D6F-4574-D48496DD55D0}"/>
              </a:ext>
            </a:extLst>
          </p:cNvPr>
          <p:cNvSpPr txBox="1"/>
          <p:nvPr/>
        </p:nvSpPr>
        <p:spPr>
          <a:xfrm>
            <a:off x="7493398" y="5466797"/>
            <a:ext cx="269719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t>Esempio con configurazione </a:t>
            </a:r>
            <a:r>
              <a:rPr lang="it-IT" dirty="0" err="1"/>
              <a:t>opamp</a:t>
            </a:r>
            <a:r>
              <a:rPr lang="it-IT" dirty="0"/>
              <a:t> del disturbo</a:t>
            </a:r>
          </a:p>
        </p:txBody>
      </p:sp>
      <p:sp>
        <p:nvSpPr>
          <p:cNvPr id="2" name="Segnaposto numero diapositiva 1">
            <a:extLst>
              <a:ext uri="{FF2B5EF4-FFF2-40B4-BE49-F238E27FC236}">
                <a16:creationId xmlns:a16="http://schemas.microsoft.com/office/drawing/2014/main" id="{6A590B71-E83D-6F47-56BD-9823BB3C7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a:t>
            </a:fld>
            <a:endParaRPr lang="it-IT"/>
          </a:p>
        </p:txBody>
      </p:sp>
      <p:sp>
        <p:nvSpPr>
          <p:cNvPr id="3" name="Freccia in giù 2">
            <a:hlinkClick r:id="rId6" action="ppaction://hlinksldjump"/>
            <a:extLst>
              <a:ext uri="{FF2B5EF4-FFF2-40B4-BE49-F238E27FC236}">
                <a16:creationId xmlns:a16="http://schemas.microsoft.com/office/drawing/2014/main" id="{4723970F-831D-C144-32BA-7EC70437220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0B8CA1B9-F42C-DECA-C628-C10E9D76E38D}"/>
                  </a:ext>
                </a:extLst>
              </p:cNvPr>
              <p:cNvSpPr txBox="1"/>
              <p:nvPr/>
            </p:nvSpPr>
            <p:spPr>
              <a:xfrm>
                <a:off x="6740399" y="2361210"/>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0B8CA1B9-F42C-DECA-C628-C10E9D76E38D}"/>
                  </a:ext>
                </a:extLst>
              </p:cNvPr>
              <p:cNvSpPr txBox="1">
                <a:spLocks noRot="1" noChangeAspect="1" noMove="1" noResize="1" noEditPoints="1" noAdjustHandles="1" noChangeArrowheads="1" noChangeShapeType="1" noTextEdit="1"/>
              </p:cNvSpPr>
              <p:nvPr/>
            </p:nvSpPr>
            <p:spPr>
              <a:xfrm>
                <a:off x="6740399" y="2361210"/>
                <a:ext cx="167610" cy="215444"/>
              </a:xfrm>
              <a:prstGeom prst="rect">
                <a:avLst/>
              </a:prstGeom>
              <a:blipFill>
                <a:blip r:embed="rId7"/>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9DF86DD5-8042-8F10-6224-DBE81F1B7764}"/>
                  </a:ext>
                </a:extLst>
              </p:cNvPr>
              <p:cNvSpPr txBox="1"/>
              <p:nvPr/>
            </p:nvSpPr>
            <p:spPr>
              <a:xfrm>
                <a:off x="9875600" y="589325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9DF86DD5-8042-8F10-6224-DBE81F1B7764}"/>
                  </a:ext>
                </a:extLst>
              </p:cNvPr>
              <p:cNvSpPr txBox="1">
                <a:spLocks noRot="1" noChangeAspect="1" noMove="1" noResize="1" noEditPoints="1" noAdjustHandles="1" noChangeArrowheads="1" noChangeShapeType="1" noTextEdit="1"/>
              </p:cNvSpPr>
              <p:nvPr/>
            </p:nvSpPr>
            <p:spPr>
              <a:xfrm>
                <a:off x="9875600" y="5893256"/>
                <a:ext cx="1723916" cy="215444"/>
              </a:xfrm>
              <a:prstGeom prst="rect">
                <a:avLst/>
              </a:prstGeom>
              <a:blipFill>
                <a:blip r:embed="rId8"/>
                <a:stretch>
                  <a:fillRect b="-5714"/>
                </a:stretch>
              </a:blipFill>
            </p:spPr>
            <p:txBody>
              <a:bodyPr/>
              <a:lstStyle/>
              <a:p>
                <a:r>
                  <a:rPr lang="it-IT">
                    <a:noFill/>
                  </a:rPr>
                  <a:t> </a:t>
                </a:r>
              </a:p>
            </p:txBody>
          </p:sp>
        </mc:Fallback>
      </mc:AlternateContent>
    </p:spTree>
    <p:extLst>
      <p:ext uri="{BB962C8B-B14F-4D97-AF65-F5344CB8AC3E}">
        <p14:creationId xmlns:p14="http://schemas.microsoft.com/office/powerpoint/2010/main" val="1218733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2" name="Google Shape;174;p20">
            <a:extLst>
              <a:ext uri="{FF2B5EF4-FFF2-40B4-BE49-F238E27FC236}">
                <a16:creationId xmlns:a16="http://schemas.microsoft.com/office/drawing/2014/main" id="{AB5742CF-5145-C84D-926C-7ADF53384A98}"/>
              </a:ext>
            </a:extLst>
          </p:cNvPr>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Sfasamento</a:t>
            </a:r>
          </a:p>
        </p:txBody>
      </p:sp>
      <p:sp>
        <p:nvSpPr>
          <p:cNvPr id="4" name="CasellaDiTesto 3">
            <a:extLst>
              <a:ext uri="{FF2B5EF4-FFF2-40B4-BE49-F238E27FC236}">
                <a16:creationId xmlns:a16="http://schemas.microsoft.com/office/drawing/2014/main" id="{A34B870D-5F8F-1170-D01D-36C4C46B847E}"/>
              </a:ext>
            </a:extLst>
          </p:cNvPr>
          <p:cNvSpPr txBox="1"/>
          <p:nvPr/>
        </p:nvSpPr>
        <p:spPr>
          <a:xfrm>
            <a:off x="1049142" y="1762132"/>
            <a:ext cx="10152258"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u="none" dirty="0">
                <a:latin typeface="Segoe UI" panose="020B0502040204020203" pitchFamily="34" charset="0"/>
                <a:cs typeface="Segoe UI" panose="020B0502040204020203" pitchFamily="34" charset="0"/>
                <a:sym typeface="Libre Franklin"/>
              </a:rPr>
              <a:t>Oltre all'attenuazione del segnale, il filtro passa-alto introduce uno </a:t>
            </a:r>
            <a:r>
              <a:rPr lang="it-IT" i="1" dirty="0">
                <a:latin typeface="Segoe UI" panose="020B0502040204020203" pitchFamily="34" charset="0"/>
                <a:cs typeface="Segoe UI" panose="020B0502040204020203" pitchFamily="34" charset="0"/>
                <a:sym typeface="Libre Franklin"/>
              </a:rPr>
              <a:t>sfasamento tra ingresso e uscita.</a:t>
            </a:r>
          </a:p>
          <a:p>
            <a:r>
              <a:rPr lang="it-IT" u="none" dirty="0">
                <a:latin typeface="Segoe UI" panose="020B0502040204020203" pitchFamily="34" charset="0"/>
                <a:cs typeface="Segoe UI" panose="020B0502040204020203" pitchFamily="34" charset="0"/>
                <a:sym typeface="Libre Franklin"/>
              </a:rPr>
              <a:t>Per il caso con frequenza di ingresso pari a 159 Hz, lo sfasamento può essere ricavato misurando il ritardo temporale (ΔT) tra i picchi dei segnali di ingresso e di uscita.</a:t>
            </a:r>
          </a:p>
        </p:txBody>
      </p:sp>
      <p:pic>
        <p:nvPicPr>
          <p:cNvPr id="7" name="Immagine 6">
            <a:extLst>
              <a:ext uri="{FF2B5EF4-FFF2-40B4-BE49-F238E27FC236}">
                <a16:creationId xmlns:a16="http://schemas.microsoft.com/office/drawing/2014/main" id="{1CCF8EEC-4C5A-DCB6-3A63-505124C6EA38}"/>
              </a:ext>
            </a:extLst>
          </p:cNvPr>
          <p:cNvPicPr>
            <a:picLocks noChangeAspect="1"/>
          </p:cNvPicPr>
          <p:nvPr/>
        </p:nvPicPr>
        <p:blipFill>
          <a:blip r:embed="rId3"/>
          <a:stretch>
            <a:fillRect/>
          </a:stretch>
        </p:blipFill>
        <p:spPr>
          <a:xfrm>
            <a:off x="648510" y="2726421"/>
            <a:ext cx="5444531" cy="2690356"/>
          </a:xfrm>
          <a:prstGeom prst="rect">
            <a:avLst/>
          </a:prstGeom>
        </p:spPr>
      </p:pic>
      <p:pic>
        <p:nvPicPr>
          <p:cNvPr id="8" name="Immagine 7">
            <a:extLst>
              <a:ext uri="{FF2B5EF4-FFF2-40B4-BE49-F238E27FC236}">
                <a16:creationId xmlns:a16="http://schemas.microsoft.com/office/drawing/2014/main" id="{391DDAEB-292C-3786-9A68-A3BD44AD16B3}"/>
              </a:ext>
            </a:extLst>
          </p:cNvPr>
          <p:cNvPicPr>
            <a:picLocks noChangeAspect="1"/>
          </p:cNvPicPr>
          <p:nvPr/>
        </p:nvPicPr>
        <p:blipFill>
          <a:blip r:embed="rId4"/>
          <a:stretch>
            <a:fillRect/>
          </a:stretch>
        </p:blipFill>
        <p:spPr>
          <a:xfrm>
            <a:off x="6093041" y="2726421"/>
            <a:ext cx="5461808" cy="2690356"/>
          </a:xfrm>
          <a:prstGeom prst="rect">
            <a:avLst/>
          </a:prstGeom>
        </p:spPr>
      </p:pic>
      <p:sp>
        <p:nvSpPr>
          <p:cNvPr id="3" name="Segnaposto numero diapositiva 2">
            <a:extLst>
              <a:ext uri="{FF2B5EF4-FFF2-40B4-BE49-F238E27FC236}">
                <a16:creationId xmlns:a16="http://schemas.microsoft.com/office/drawing/2014/main" id="{6EC956C7-BECC-CF90-7F13-EECC59F1FE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a:t>
            </a:fld>
            <a:endParaRPr lang="it-IT"/>
          </a:p>
        </p:txBody>
      </p:sp>
      <p:sp>
        <p:nvSpPr>
          <p:cNvPr id="5" name="Freccia in giù 4">
            <a:hlinkClick r:id="rId5" action="ppaction://hlinksldjump"/>
            <a:extLst>
              <a:ext uri="{FF2B5EF4-FFF2-40B4-BE49-F238E27FC236}">
                <a16:creationId xmlns:a16="http://schemas.microsoft.com/office/drawing/2014/main" id="{ECD8FC47-F609-8747-5CA9-EFDF2166E895}"/>
              </a:ext>
            </a:extLst>
          </p:cNvPr>
          <p:cNvSpPr/>
          <p:nvPr/>
        </p:nvSpPr>
        <p:spPr>
          <a:xfrm>
            <a:off x="10106117"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Freccia in giù 5">
            <a:hlinkClick r:id="rId6" action="ppaction://hlinksldjump"/>
            <a:extLst>
              <a:ext uri="{FF2B5EF4-FFF2-40B4-BE49-F238E27FC236}">
                <a16:creationId xmlns:a16="http://schemas.microsoft.com/office/drawing/2014/main" id="{4EBC0B45-6AAD-6ADB-DCAC-B3F04131464C}"/>
              </a:ext>
            </a:extLst>
          </p:cNvPr>
          <p:cNvSpPr/>
          <p:nvPr/>
        </p:nvSpPr>
        <p:spPr>
          <a:xfrm>
            <a:off x="10861646"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DFFCD30A-2AEE-08D4-9741-4758CA2AD16D}"/>
                  </a:ext>
                </a:extLst>
              </p:cNvPr>
              <p:cNvSpPr txBox="1"/>
              <p:nvPr/>
            </p:nvSpPr>
            <p:spPr>
              <a:xfrm>
                <a:off x="648510" y="27628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9" name="CasellaDiTesto 8">
                <a:extLst>
                  <a:ext uri="{FF2B5EF4-FFF2-40B4-BE49-F238E27FC236}">
                    <a16:creationId xmlns:a16="http://schemas.microsoft.com/office/drawing/2014/main" id="{DFFCD30A-2AEE-08D4-9741-4758CA2AD16D}"/>
                  </a:ext>
                </a:extLst>
              </p:cNvPr>
              <p:cNvSpPr txBox="1">
                <a:spLocks noRot="1" noChangeAspect="1" noMove="1" noResize="1" noEditPoints="1" noAdjustHandles="1" noChangeArrowheads="1" noChangeShapeType="1" noTextEdit="1"/>
              </p:cNvSpPr>
              <p:nvPr/>
            </p:nvSpPr>
            <p:spPr>
              <a:xfrm>
                <a:off x="648510" y="2762805"/>
                <a:ext cx="167610" cy="215444"/>
              </a:xfrm>
              <a:prstGeom prst="rect">
                <a:avLst/>
              </a:prstGeom>
              <a:blipFill>
                <a:blip r:embed="rId7"/>
                <a:stretch>
                  <a:fillRect l="-21429" r="-14286"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0" name="CasellaDiTesto 9">
                <a:extLst>
                  <a:ext uri="{FF2B5EF4-FFF2-40B4-BE49-F238E27FC236}">
                    <a16:creationId xmlns:a16="http://schemas.microsoft.com/office/drawing/2014/main" id="{066A0F5D-1BE4-AFF4-0CBF-167AF19AA3F1}"/>
                  </a:ext>
                </a:extLst>
              </p:cNvPr>
              <p:cNvSpPr txBox="1"/>
              <p:nvPr/>
            </p:nvSpPr>
            <p:spPr>
              <a:xfrm>
                <a:off x="5097494" y="511013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0" name="CasellaDiTesto 9">
                <a:extLst>
                  <a:ext uri="{FF2B5EF4-FFF2-40B4-BE49-F238E27FC236}">
                    <a16:creationId xmlns:a16="http://schemas.microsoft.com/office/drawing/2014/main" id="{066A0F5D-1BE4-AFF4-0CBF-167AF19AA3F1}"/>
                  </a:ext>
                </a:extLst>
              </p:cNvPr>
              <p:cNvSpPr txBox="1">
                <a:spLocks noRot="1" noChangeAspect="1" noMove="1" noResize="1" noEditPoints="1" noAdjustHandles="1" noChangeArrowheads="1" noChangeShapeType="1" noTextEdit="1"/>
              </p:cNvSpPr>
              <p:nvPr/>
            </p:nvSpPr>
            <p:spPr>
              <a:xfrm>
                <a:off x="5097494" y="5110131"/>
                <a:ext cx="1723916"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1" name="CasellaDiTesto 10">
                <a:extLst>
                  <a:ext uri="{FF2B5EF4-FFF2-40B4-BE49-F238E27FC236}">
                    <a16:creationId xmlns:a16="http://schemas.microsoft.com/office/drawing/2014/main" id="{3D929797-0E6A-7053-6091-5E439A07B183}"/>
                  </a:ext>
                </a:extLst>
              </p:cNvPr>
              <p:cNvSpPr txBox="1"/>
              <p:nvPr/>
            </p:nvSpPr>
            <p:spPr>
              <a:xfrm>
                <a:off x="6093041" y="27628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1" name="CasellaDiTesto 10">
                <a:extLst>
                  <a:ext uri="{FF2B5EF4-FFF2-40B4-BE49-F238E27FC236}">
                    <a16:creationId xmlns:a16="http://schemas.microsoft.com/office/drawing/2014/main" id="{3D929797-0E6A-7053-6091-5E439A07B183}"/>
                  </a:ext>
                </a:extLst>
              </p:cNvPr>
              <p:cNvSpPr txBox="1">
                <a:spLocks noRot="1" noChangeAspect="1" noMove="1" noResize="1" noEditPoints="1" noAdjustHandles="1" noChangeArrowheads="1" noChangeShapeType="1" noTextEdit="1"/>
              </p:cNvSpPr>
              <p:nvPr/>
            </p:nvSpPr>
            <p:spPr>
              <a:xfrm>
                <a:off x="6093041" y="2762805"/>
                <a:ext cx="167610" cy="215444"/>
              </a:xfrm>
              <a:prstGeom prst="rect">
                <a:avLst/>
              </a:prstGeom>
              <a:blipFill>
                <a:blip r:embed="rId7"/>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B5F85B23-F403-3A7E-05AC-A42145FA8B7E}"/>
                  </a:ext>
                </a:extLst>
              </p:cNvPr>
              <p:cNvSpPr txBox="1"/>
              <p:nvPr/>
            </p:nvSpPr>
            <p:spPr>
              <a:xfrm>
                <a:off x="10542025" y="511013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2" name="CasellaDiTesto 11">
                <a:extLst>
                  <a:ext uri="{FF2B5EF4-FFF2-40B4-BE49-F238E27FC236}">
                    <a16:creationId xmlns:a16="http://schemas.microsoft.com/office/drawing/2014/main" id="{B5F85B23-F403-3A7E-05AC-A42145FA8B7E}"/>
                  </a:ext>
                </a:extLst>
              </p:cNvPr>
              <p:cNvSpPr txBox="1">
                <a:spLocks noRot="1" noChangeAspect="1" noMove="1" noResize="1" noEditPoints="1" noAdjustHandles="1" noChangeArrowheads="1" noChangeShapeType="1" noTextEdit="1"/>
              </p:cNvSpPr>
              <p:nvPr/>
            </p:nvSpPr>
            <p:spPr>
              <a:xfrm>
                <a:off x="10542025" y="5110131"/>
                <a:ext cx="1723916" cy="215444"/>
              </a:xfrm>
              <a:prstGeom prst="rect">
                <a:avLst/>
              </a:prstGeom>
              <a:blipFill>
                <a:blip r:embed="rId8"/>
                <a:stretch>
                  <a:fillRect b="-5556"/>
                </a:stretch>
              </a:blipFill>
            </p:spPr>
            <p:txBody>
              <a:bodyPr/>
              <a:lstStyle/>
              <a:p>
                <a:r>
                  <a:rPr lang="it-IT">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1EA8E5F0-EC57-D933-7E60-4490AF2BA27E}"/>
              </a:ext>
            </a:extLst>
          </p:cNvPr>
          <p:cNvSpPr txBox="1"/>
          <p:nvPr/>
        </p:nvSpPr>
        <p:spPr>
          <a:xfrm>
            <a:off x="1042099" y="1500459"/>
            <a:ext cx="1010780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r>
              <a:rPr lang="it-IT" sz="1200" dirty="0">
                <a:latin typeface="Segoe UI" panose="020B0502040204020203" pitchFamily="34" charset="0"/>
                <a:cs typeface="Segoe UI" panose="020B0502040204020203" pitchFamily="34" charset="0"/>
              </a:rPr>
              <a:t>Ora possiamo spiegare che, conoscendo la frequenza del segnale da analizzare, è possibile ricavare direttamente il comportamento del filtro.</a:t>
            </a:r>
          </a:p>
        </p:txBody>
      </p:sp>
      <p:sp>
        <p:nvSpPr>
          <p:cNvPr id="10" name="CasellaDiTesto 9">
            <a:extLst>
              <a:ext uri="{FF2B5EF4-FFF2-40B4-BE49-F238E27FC236}">
                <a16:creationId xmlns:a16="http://schemas.microsoft.com/office/drawing/2014/main" id="{66BFD964-EBC2-5BA8-9664-7CCF5369B475}"/>
              </a:ext>
            </a:extLst>
          </p:cNvPr>
          <p:cNvSpPr txBox="1"/>
          <p:nvPr/>
        </p:nvSpPr>
        <p:spPr>
          <a:xfrm>
            <a:off x="1042099" y="2083452"/>
            <a:ext cx="10107802"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Segoe UI" panose="020B0502040204020203" pitchFamily="34" charset="0"/>
                <a:ea typeface="Libre Franklin"/>
                <a:cs typeface="Segoe UI" panose="020B0502040204020203" pitchFamily="34" charset="0"/>
              </a:defRPr>
            </a:lvl1pPr>
          </a:lstStyle>
          <a:p>
            <a:r>
              <a:rPr lang="it-IT" dirty="0"/>
              <a:t>Infatti f si calcola come: </a:t>
            </a:r>
          </a:p>
        </p:txBody>
      </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58BC91AB-7A24-7E55-8CFA-89D0890B53E8}"/>
                  </a:ext>
                </a:extLst>
              </p:cNvPr>
              <p:cNvSpPr txBox="1"/>
              <p:nvPr/>
            </p:nvSpPr>
            <p:spPr>
              <a:xfrm>
                <a:off x="3020036" y="2175770"/>
                <a:ext cx="72295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𝜔</m:t>
                      </m:r>
                      <m:r>
                        <a:rPr lang="it-IT" sz="1400" i="0">
                          <a:latin typeface="Cambria Math" panose="02040503050406030204" pitchFamily="18" charset="0"/>
                        </a:rPr>
                        <m:t>=2</m:t>
                      </m:r>
                      <m:r>
                        <a:rPr lang="it-IT" sz="1400" i="1">
                          <a:latin typeface="Cambria Math" panose="02040503050406030204" pitchFamily="18" charset="0"/>
                        </a:rPr>
                        <m:t>𝜋</m:t>
                      </m:r>
                      <m:r>
                        <a:rPr lang="it-IT" sz="1400" i="1">
                          <a:latin typeface="Cambria Math" panose="02040503050406030204" pitchFamily="18" charset="0"/>
                        </a:rPr>
                        <m:t>𝑓</m:t>
                      </m:r>
                    </m:oMath>
                  </m:oMathPara>
                </a14:m>
                <a:endParaRPr lang="it-IT" sz="1400" dirty="0"/>
              </a:p>
            </p:txBody>
          </p:sp>
        </mc:Choice>
        <mc:Fallback xmlns="">
          <p:sp>
            <p:nvSpPr>
              <p:cNvPr id="11" name="CasellaDiTesto 10">
                <a:extLst>
                  <a:ext uri="{FF2B5EF4-FFF2-40B4-BE49-F238E27FC236}">
                    <a16:creationId xmlns:a16="http://schemas.microsoft.com/office/drawing/2014/main" id="{58BC91AB-7A24-7E55-8CFA-89D0890B53E8}"/>
                  </a:ext>
                </a:extLst>
              </p:cNvPr>
              <p:cNvSpPr txBox="1">
                <a:spLocks noRot="1" noChangeAspect="1" noMove="1" noResize="1" noEditPoints="1" noAdjustHandles="1" noChangeArrowheads="1" noChangeShapeType="1" noTextEdit="1"/>
              </p:cNvSpPr>
              <p:nvPr/>
            </p:nvSpPr>
            <p:spPr>
              <a:xfrm>
                <a:off x="3020036" y="2175770"/>
                <a:ext cx="722955" cy="215444"/>
              </a:xfrm>
              <a:prstGeom prst="rect">
                <a:avLst/>
              </a:prstGeom>
              <a:blipFill>
                <a:blip r:embed="rId2"/>
                <a:stretch>
                  <a:fillRect l="-2521" r="-6723" b="-31429"/>
                </a:stretch>
              </a:blipFill>
            </p:spPr>
            <p:txBody>
              <a:bodyPr/>
              <a:lstStyle/>
              <a:p>
                <a:r>
                  <a:rPr lang="it-IT">
                    <a:noFill/>
                  </a:rPr>
                  <a:t> </a:t>
                </a:r>
              </a:p>
            </p:txBody>
          </p:sp>
        </mc:Fallback>
      </mc:AlternateContent>
      <p:sp>
        <p:nvSpPr>
          <p:cNvPr id="12" name="Google Shape;174;p20">
            <a:extLst>
              <a:ext uri="{FF2B5EF4-FFF2-40B4-BE49-F238E27FC236}">
                <a16:creationId xmlns:a16="http://schemas.microsoft.com/office/drawing/2014/main" id="{A1D8CD0A-7066-1F4B-67C7-3DE9ACEC8283}"/>
              </a:ext>
            </a:extLst>
          </p:cNvPr>
          <p:cNvSpPr txBox="1"/>
          <p:nvPr/>
        </p:nvSpPr>
        <p:spPr>
          <a:xfrm>
            <a:off x="1054250" y="712407"/>
            <a:ext cx="10107802"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Studio tramite guadagno e calcolo della fase</a:t>
            </a:r>
          </a:p>
        </p:txBody>
      </p:sp>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FA748080-75E7-7344-1DBB-A722396E821A}"/>
                  </a:ext>
                </a:extLst>
              </p:cNvPr>
              <p:cNvSpPr txBox="1"/>
              <p:nvPr/>
            </p:nvSpPr>
            <p:spPr>
              <a:xfrm>
                <a:off x="2786359" y="3174443"/>
                <a:ext cx="1588063" cy="353110"/>
              </a:xfrm>
              <a:prstGeom prst="rect">
                <a:avLst/>
              </a:prstGeom>
              <a:noFill/>
            </p:spPr>
            <p:txBody>
              <a:bodyPr wrap="none" lIns="0" tIns="0" rIns="0" bIns="0" rtlCol="0">
                <a:spAutoFit/>
              </a:bodyPr>
              <a:lstStyle/>
              <a:p>
                <a:r>
                  <a:rPr lang="it-IT" sz="1400" dirty="0"/>
                  <a:t>|</a:t>
                </a:r>
                <a14:m>
                  <m:oMath xmlns:m="http://schemas.openxmlformats.org/officeDocument/2006/math">
                    <m:r>
                      <a:rPr lang="it-IT" sz="1400" i="1" smtClean="0">
                        <a:latin typeface="Cambria Math" panose="02040503050406030204" pitchFamily="18" charset="0"/>
                      </a:rPr>
                      <m:t>𝐻</m:t>
                    </m:r>
                    <m:d>
                      <m:dPr>
                        <m:ctrlPr>
                          <a:rPr lang="it-IT" sz="1400" b="0" i="1" smtClean="0">
                            <a:latin typeface="Cambria Math" panose="02040503050406030204" pitchFamily="18" charset="0"/>
                          </a:rPr>
                        </m:ctrlPr>
                      </m:dPr>
                      <m:e>
                        <m:r>
                          <a:rPr lang="it-IT" sz="1400" b="0" i="1" smtClean="0">
                            <a:latin typeface="Cambria Math" panose="02040503050406030204" pitchFamily="18" charset="0"/>
                          </a:rPr>
                          <m:t>𝑗</m:t>
                        </m:r>
                        <m:r>
                          <a:rPr lang="it-IT" sz="1400" i="1">
                            <a:latin typeface="Cambria Math" panose="02040503050406030204" pitchFamily="18" charset="0"/>
                            <a:ea typeface="Cambria Math" panose="02040503050406030204" pitchFamily="18" charset="0"/>
                          </a:rPr>
                          <m:t>𝜔</m:t>
                        </m:r>
                      </m:e>
                    </m:d>
                    <m:r>
                      <a:rPr lang="it-IT" sz="1400" b="0" i="1" smtClean="0">
                        <a:latin typeface="Cambria Math" panose="02040503050406030204" pitchFamily="18" charset="0"/>
                        <a:ea typeface="Cambria Math" panose="02040503050406030204" pitchFamily="18" charset="0"/>
                      </a:rPr>
                      <m:t>|</m:t>
                    </m:r>
                    <m:r>
                      <a:rPr lang="it-IT" sz="1400" i="0">
                        <a:latin typeface="Cambria Math" panose="02040503050406030204" pitchFamily="18" charset="0"/>
                      </a:rPr>
                      <m:t>=</m:t>
                    </m:r>
                    <m:f>
                      <m:fPr>
                        <m:ctrlPr>
                          <a:rPr lang="it-IT" sz="1400" i="1" smtClean="0">
                            <a:latin typeface="Cambria Math" panose="02040503050406030204" pitchFamily="18" charset="0"/>
                          </a:rPr>
                        </m:ctrlPr>
                      </m:fPr>
                      <m:num>
                        <m:r>
                          <a:rPr lang="it-IT" sz="1400" b="0" i="1" smtClean="0">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m:t>
                        </m:r>
                        <m:r>
                          <a:rPr lang="it-IT" sz="1400" b="0" i="1" smtClean="0">
                            <a:latin typeface="Cambria Math" panose="02040503050406030204" pitchFamily="18" charset="0"/>
                          </a:rPr>
                          <m:t>𝐶</m:t>
                        </m:r>
                      </m:num>
                      <m:den>
                        <m:rad>
                          <m:radPr>
                            <m:degHide m:val="on"/>
                            <m:ctrlPr>
                              <a:rPr lang="it-IT" sz="1400" i="1" smtClean="0">
                                <a:latin typeface="Cambria Math" panose="02040503050406030204" pitchFamily="18" charset="0"/>
                              </a:rPr>
                            </m:ctrlPr>
                          </m:radPr>
                          <m:deg/>
                          <m:e>
                            <m:r>
                              <a:rPr lang="it-IT" sz="1400" i="1">
                                <a:latin typeface="Cambria Math" panose="02040503050406030204" pitchFamily="18" charset="0"/>
                              </a:rPr>
                              <m:t>1</m:t>
                            </m:r>
                            <m:r>
                              <a:rPr lang="it-IT" sz="1400">
                                <a:latin typeface="Cambria Math" panose="02040503050406030204" pitchFamily="18" charset="0"/>
                              </a:rPr>
                              <m:t>+</m:t>
                            </m:r>
                            <m:sSup>
                              <m:sSupPr>
                                <m:ctrlPr>
                                  <a:rPr lang="it-IT" sz="1400" i="1" smtClean="0">
                                    <a:latin typeface="Cambria Math" panose="02040503050406030204" pitchFamily="18" charset="0"/>
                                  </a:rPr>
                                </m:ctrlPr>
                              </m:sSupPr>
                              <m:e>
                                <m:r>
                                  <a:rPr lang="it-IT" sz="1400" b="0" i="1" smtClean="0">
                                    <a:latin typeface="Cambria Math" panose="02040503050406030204" pitchFamily="18" charset="0"/>
                                  </a:rPr>
                                  <m:t>(</m:t>
                                </m:r>
                                <m:r>
                                  <a:rPr lang="it-IT" sz="1400" i="1">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𝑅𝐶</m:t>
                                </m:r>
                                <m:r>
                                  <a:rPr lang="it-IT" sz="1400" b="0" i="1" smtClean="0">
                                    <a:latin typeface="Cambria Math" panose="02040503050406030204" pitchFamily="18" charset="0"/>
                                  </a:rPr>
                                  <m:t>)</m:t>
                                </m:r>
                              </m:e>
                              <m:sup>
                                <m:r>
                                  <a:rPr lang="it-IT" sz="1400" b="0" i="1" smtClean="0">
                                    <a:latin typeface="Cambria Math" panose="02040503050406030204" pitchFamily="18" charset="0"/>
                                  </a:rPr>
                                  <m:t>2</m:t>
                                </m:r>
                              </m:sup>
                            </m:sSup>
                          </m:e>
                        </m:rad>
                      </m:den>
                    </m:f>
                  </m:oMath>
                </a14:m>
                <a:endParaRPr lang="it-IT" sz="1400" dirty="0"/>
              </a:p>
            </p:txBody>
          </p:sp>
        </mc:Choice>
        <mc:Fallback xmlns="">
          <p:sp>
            <p:nvSpPr>
              <p:cNvPr id="13" name="CasellaDiTesto 12">
                <a:extLst>
                  <a:ext uri="{FF2B5EF4-FFF2-40B4-BE49-F238E27FC236}">
                    <a16:creationId xmlns:a16="http://schemas.microsoft.com/office/drawing/2014/main" id="{FA748080-75E7-7344-1DBB-A722396E821A}"/>
                  </a:ext>
                </a:extLst>
              </p:cNvPr>
              <p:cNvSpPr txBox="1">
                <a:spLocks noRot="1" noChangeAspect="1" noMove="1" noResize="1" noEditPoints="1" noAdjustHandles="1" noChangeArrowheads="1" noChangeShapeType="1" noTextEdit="1"/>
              </p:cNvSpPr>
              <p:nvPr/>
            </p:nvSpPr>
            <p:spPr>
              <a:xfrm>
                <a:off x="2786359" y="3174443"/>
                <a:ext cx="1588063" cy="353110"/>
              </a:xfrm>
              <a:prstGeom prst="rect">
                <a:avLst/>
              </a:prstGeom>
              <a:blipFill>
                <a:blip r:embed="rId3"/>
                <a:stretch>
                  <a:fillRect l="-6897" t="-3448" r="-1149" b="-15517"/>
                </a:stretch>
              </a:blipFill>
            </p:spPr>
            <p:txBody>
              <a:bodyPr/>
              <a:lstStyle/>
              <a:p>
                <a:r>
                  <a:rPr lang="it-IT">
                    <a:noFill/>
                  </a:rPr>
                  <a:t> </a:t>
                </a:r>
              </a:p>
            </p:txBody>
          </p:sp>
        </mc:Fallback>
      </mc:AlternateContent>
      <p:sp>
        <p:nvSpPr>
          <p:cNvPr id="14" name="CasellaDiTesto 13">
            <a:extLst>
              <a:ext uri="{FF2B5EF4-FFF2-40B4-BE49-F238E27FC236}">
                <a16:creationId xmlns:a16="http://schemas.microsoft.com/office/drawing/2014/main" id="{DEED4A1F-69DE-86AC-C79D-85716F5C2675}"/>
              </a:ext>
            </a:extLst>
          </p:cNvPr>
          <p:cNvSpPr txBox="1"/>
          <p:nvPr/>
        </p:nvSpPr>
        <p:spPr>
          <a:xfrm>
            <a:off x="1042099" y="2616845"/>
            <a:ext cx="5053901"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Guadagno</a:t>
            </a: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27779710-6C89-6A37-75A5-12BF673DADB9}"/>
                  </a:ext>
                </a:extLst>
              </p:cNvPr>
              <p:cNvSpPr txBox="1"/>
              <p:nvPr/>
            </p:nvSpPr>
            <p:spPr>
              <a:xfrm>
                <a:off x="2786359" y="3719344"/>
                <a:ext cx="158857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i="1" smtClean="0">
                              <a:latin typeface="Cambria Math" panose="02040503050406030204" pitchFamily="18" charset="0"/>
                            </a:rPr>
                          </m:ctrlPr>
                        </m:sSubPr>
                        <m:e>
                          <m:r>
                            <a:rPr lang="it-IT" sz="1400" i="1">
                              <a:latin typeface="Cambria Math" panose="02040503050406030204" pitchFamily="18" charset="0"/>
                            </a:rPr>
                            <m:t>𝐺</m:t>
                          </m:r>
                        </m:e>
                        <m:sub>
                          <m:r>
                            <a:rPr lang="it-IT" sz="1400" i="0">
                              <a:latin typeface="Cambria Math" panose="02040503050406030204" pitchFamily="18" charset="0"/>
                            </a:rPr>
                            <m:t>ⅆ</m:t>
                          </m:r>
                          <m:r>
                            <a:rPr lang="it-IT" sz="1400" i="1">
                              <a:latin typeface="Cambria Math" panose="02040503050406030204" pitchFamily="18" charset="0"/>
                            </a:rPr>
                            <m:t>𝐵</m:t>
                          </m:r>
                        </m:sub>
                      </m:sSub>
                      <m:r>
                        <a:rPr lang="it-IT" sz="1400" i="0">
                          <a:latin typeface="Cambria Math" panose="02040503050406030204" pitchFamily="18" charset="0"/>
                        </a:rPr>
                        <m:t>=20</m:t>
                      </m:r>
                      <m:func>
                        <m:funcPr>
                          <m:ctrlPr>
                            <a:rPr lang="it-IT" sz="1400" i="1">
                              <a:latin typeface="Cambria Math" panose="02040503050406030204" pitchFamily="18" charset="0"/>
                            </a:rPr>
                          </m:ctrlPr>
                        </m:funcPr>
                        <m:fName>
                          <m:sSub>
                            <m:sSubPr>
                              <m:ctrlPr>
                                <a:rPr lang="it-IT" sz="1400" i="1">
                                  <a:latin typeface="Cambria Math" panose="02040503050406030204" pitchFamily="18" charset="0"/>
                                </a:rPr>
                              </m:ctrlPr>
                            </m:sSubPr>
                            <m:e>
                              <m:r>
                                <m:rPr>
                                  <m:sty m:val="p"/>
                                </m:rPr>
                                <a:rPr lang="it-IT" sz="1400" i="0">
                                  <a:latin typeface="Cambria Math" panose="02040503050406030204" pitchFamily="18" charset="0"/>
                                </a:rPr>
                                <m:t>log</m:t>
                              </m:r>
                            </m:e>
                            <m:sub>
                              <m:r>
                                <a:rPr lang="it-IT" sz="1400" i="0">
                                  <a:latin typeface="Cambria Math" panose="02040503050406030204" pitchFamily="18" charset="0"/>
                                </a:rPr>
                                <m:t>10</m:t>
                              </m:r>
                            </m:sub>
                          </m:sSub>
                        </m:fName>
                        <m:e>
                          <m:d>
                            <m:dPr>
                              <m:ctrlPr>
                                <a:rPr lang="it-IT" sz="1400" i="1">
                                  <a:latin typeface="Cambria Math" panose="02040503050406030204" pitchFamily="18" charset="0"/>
                                </a:rPr>
                              </m:ctrlPr>
                            </m:dPr>
                            <m:e>
                              <m:d>
                                <m:dPr>
                                  <m:begChr m:val="|"/>
                                  <m:endChr m:val="|"/>
                                  <m:ctrlPr>
                                    <a:rPr lang="it-IT" sz="1400" i="1">
                                      <a:latin typeface="Cambria Math" panose="02040503050406030204" pitchFamily="18" charset="0"/>
                                    </a:rPr>
                                  </m:ctrlPr>
                                </m:dPr>
                                <m:e>
                                  <m:r>
                                    <a:rPr lang="it-IT" sz="1400" i="1">
                                      <a:latin typeface="Cambria Math" panose="02040503050406030204" pitchFamily="18" charset="0"/>
                                    </a:rPr>
                                    <m:t>𝐻</m:t>
                                  </m:r>
                                </m:e>
                              </m:d>
                            </m:e>
                          </m:d>
                        </m:e>
                      </m:func>
                    </m:oMath>
                  </m:oMathPara>
                </a14:m>
                <a:endParaRPr lang="it-IT" sz="1400" dirty="0"/>
              </a:p>
            </p:txBody>
          </p:sp>
        </mc:Choice>
        <mc:Fallback xmlns="">
          <p:sp>
            <p:nvSpPr>
              <p:cNvPr id="15" name="CasellaDiTesto 14">
                <a:extLst>
                  <a:ext uri="{FF2B5EF4-FFF2-40B4-BE49-F238E27FC236}">
                    <a16:creationId xmlns:a16="http://schemas.microsoft.com/office/drawing/2014/main" id="{27779710-6C89-6A37-75A5-12BF673DADB9}"/>
                  </a:ext>
                </a:extLst>
              </p:cNvPr>
              <p:cNvSpPr txBox="1">
                <a:spLocks noRot="1" noChangeAspect="1" noMove="1" noResize="1" noEditPoints="1" noAdjustHandles="1" noChangeArrowheads="1" noChangeShapeType="1" noTextEdit="1"/>
              </p:cNvSpPr>
              <p:nvPr/>
            </p:nvSpPr>
            <p:spPr>
              <a:xfrm>
                <a:off x="2786359" y="3719344"/>
                <a:ext cx="1588575" cy="215444"/>
              </a:xfrm>
              <a:prstGeom prst="rect">
                <a:avLst/>
              </a:prstGeom>
              <a:blipFill>
                <a:blip r:embed="rId4"/>
                <a:stretch>
                  <a:fillRect l="-1916"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68C85F09-1329-4C20-8574-BFC088F4DE8B}"/>
                  </a:ext>
                </a:extLst>
              </p:cNvPr>
              <p:cNvSpPr txBox="1"/>
              <p:nvPr/>
            </p:nvSpPr>
            <p:spPr>
              <a:xfrm>
                <a:off x="7679311" y="3275844"/>
                <a:ext cx="189943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𝜑</m:t>
                      </m:r>
                      <m:r>
                        <a:rPr lang="it-IT" sz="1400" i="0">
                          <a:latin typeface="Cambria Math" panose="02040503050406030204" pitchFamily="18" charset="0"/>
                        </a:rPr>
                        <m:t>=</m:t>
                      </m:r>
                      <m:sSup>
                        <m:sSupPr>
                          <m:ctrlPr>
                            <a:rPr lang="it-IT" sz="1400" i="1">
                              <a:latin typeface="Cambria Math" panose="02040503050406030204" pitchFamily="18" charset="0"/>
                            </a:rPr>
                          </m:ctrlPr>
                        </m:sSupPr>
                        <m:e>
                          <m:r>
                            <a:rPr lang="it-IT" sz="1400" i="0">
                              <a:latin typeface="Cambria Math" panose="02040503050406030204" pitchFamily="18" charset="0"/>
                            </a:rPr>
                            <m:t>90</m:t>
                          </m:r>
                        </m:e>
                        <m:sup>
                          <m:r>
                            <a:rPr lang="it-IT" sz="1400" i="0">
                              <a:latin typeface="Cambria Math" panose="02040503050406030204" pitchFamily="18" charset="0"/>
                            </a:rPr>
                            <m:t>0</m:t>
                          </m:r>
                        </m:sup>
                      </m:sSup>
                      <m:r>
                        <a:rPr lang="it-IT" sz="1400" i="0">
                          <a:latin typeface="Cambria Math" panose="02040503050406030204" pitchFamily="18" charset="0"/>
                        </a:rPr>
                        <m:t>−</m:t>
                      </m:r>
                      <m:func>
                        <m:funcPr>
                          <m:ctrlPr>
                            <a:rPr lang="it-IT" sz="1400" i="1">
                              <a:latin typeface="Cambria Math" panose="02040503050406030204" pitchFamily="18" charset="0"/>
                            </a:rPr>
                          </m:ctrlPr>
                        </m:funcPr>
                        <m:fName>
                          <m:r>
                            <m:rPr>
                              <m:sty m:val="p"/>
                            </m:rPr>
                            <a:rPr lang="it-IT" sz="1400" i="0">
                              <a:latin typeface="Cambria Math" panose="02040503050406030204" pitchFamily="18" charset="0"/>
                            </a:rPr>
                            <m:t>arctan</m:t>
                          </m:r>
                        </m:fName>
                        <m:e>
                          <m:d>
                            <m:dPr>
                              <m:ctrlPr>
                                <a:rPr lang="it-IT" sz="1400" i="1">
                                  <a:latin typeface="Cambria Math" panose="02040503050406030204" pitchFamily="18" charset="0"/>
                                </a:rPr>
                              </m:ctrlPr>
                            </m:dPr>
                            <m:e>
                              <m:r>
                                <a:rPr lang="it-IT" sz="1400" i="1">
                                  <a:latin typeface="Cambria Math" panose="02040503050406030204" pitchFamily="18" charset="0"/>
                                </a:rPr>
                                <m:t>𝜔</m:t>
                              </m:r>
                              <m:r>
                                <a:rPr lang="it-IT" sz="1400" i="1">
                                  <a:latin typeface="Cambria Math" panose="02040503050406030204" pitchFamily="18" charset="0"/>
                                </a:rPr>
                                <m:t>𝑅𝐶</m:t>
                              </m:r>
                            </m:e>
                          </m:d>
                        </m:e>
                      </m:func>
                    </m:oMath>
                  </m:oMathPara>
                </a14:m>
                <a:endParaRPr lang="it-IT" sz="1400" dirty="0"/>
              </a:p>
            </p:txBody>
          </p:sp>
        </mc:Choice>
        <mc:Fallback xmlns="">
          <p:sp>
            <p:nvSpPr>
              <p:cNvPr id="16" name="CasellaDiTesto 15">
                <a:extLst>
                  <a:ext uri="{FF2B5EF4-FFF2-40B4-BE49-F238E27FC236}">
                    <a16:creationId xmlns:a16="http://schemas.microsoft.com/office/drawing/2014/main" id="{68C85F09-1329-4C20-8574-BFC088F4DE8B}"/>
                  </a:ext>
                </a:extLst>
              </p:cNvPr>
              <p:cNvSpPr txBox="1">
                <a:spLocks noRot="1" noChangeAspect="1" noMove="1" noResize="1" noEditPoints="1" noAdjustHandles="1" noChangeArrowheads="1" noChangeShapeType="1" noTextEdit="1"/>
              </p:cNvSpPr>
              <p:nvPr/>
            </p:nvSpPr>
            <p:spPr>
              <a:xfrm>
                <a:off x="7679311" y="3275844"/>
                <a:ext cx="1899430" cy="215444"/>
              </a:xfrm>
              <a:prstGeom prst="rect">
                <a:avLst/>
              </a:prstGeom>
              <a:blipFill>
                <a:blip r:embed="rId5"/>
                <a:stretch>
                  <a:fillRect l="-1929" b="-22222"/>
                </a:stretch>
              </a:blipFill>
            </p:spPr>
            <p:txBody>
              <a:bodyPr/>
              <a:lstStyle/>
              <a:p>
                <a:r>
                  <a:rPr lang="it-IT">
                    <a:noFill/>
                  </a:rPr>
                  <a:t> </a:t>
                </a:r>
              </a:p>
            </p:txBody>
          </p:sp>
        </mc:Fallback>
      </mc:AlternateContent>
      <p:sp>
        <p:nvSpPr>
          <p:cNvPr id="17" name="CasellaDiTesto 16">
            <a:extLst>
              <a:ext uri="{FF2B5EF4-FFF2-40B4-BE49-F238E27FC236}">
                <a16:creationId xmlns:a16="http://schemas.microsoft.com/office/drawing/2014/main" id="{79F44430-1BF5-D1D1-36C2-DFEC8F05C0C9}"/>
              </a:ext>
            </a:extLst>
          </p:cNvPr>
          <p:cNvSpPr txBox="1"/>
          <p:nvPr/>
        </p:nvSpPr>
        <p:spPr>
          <a:xfrm>
            <a:off x="6096000" y="2612317"/>
            <a:ext cx="506605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Fase</a:t>
            </a:r>
          </a:p>
        </p:txBody>
      </p:sp>
      <p:sp>
        <p:nvSpPr>
          <p:cNvPr id="18" name="CasellaDiTesto 17">
            <a:extLst>
              <a:ext uri="{FF2B5EF4-FFF2-40B4-BE49-F238E27FC236}">
                <a16:creationId xmlns:a16="http://schemas.microsoft.com/office/drawing/2014/main" id="{2C5B4EEB-C00C-2D18-58EE-3FF629604CB4}"/>
              </a:ext>
            </a:extLst>
          </p:cNvPr>
          <p:cNvSpPr txBox="1">
            <a:spLocks noGrp="1" noRot="1" noMove="1" noResize="1" noEditPoints="1" noAdjustHandles="1" noChangeArrowheads="1" noChangeShapeType="1"/>
          </p:cNvSpPr>
          <p:nvPr/>
        </p:nvSpPr>
        <p:spPr>
          <a:xfrm>
            <a:off x="1054250" y="4220596"/>
            <a:ext cx="10107802" cy="369302"/>
          </a:xfrm>
          <a:prstGeom prst="rect">
            <a:avLst/>
          </a:prstGeom>
          <a:noFill/>
          <a:ln w="9525">
            <a:solidFill>
              <a:schemeClr val="tx1"/>
            </a:solid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Esempio: </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4190F69F-A77A-FC96-F253-6527C5616AC7}"/>
                  </a:ext>
                </a:extLst>
              </p:cNvPr>
              <p:cNvSpPr txBox="1"/>
              <p:nvPr/>
            </p:nvSpPr>
            <p:spPr>
              <a:xfrm>
                <a:off x="1645674" y="4826365"/>
                <a:ext cx="1083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𝑓</m:t>
                      </m:r>
                      <m:r>
                        <a:rPr lang="it-IT" b="0" i="1" smtClean="0">
                          <a:latin typeface="Cambria Math" panose="02040503050406030204" pitchFamily="18" charset="0"/>
                        </a:rPr>
                        <m:t>=3</m:t>
                      </m:r>
                      <m:r>
                        <a:rPr lang="it-IT" b="0" i="1" smtClean="0">
                          <a:latin typeface="Cambria Math" panose="02040503050406030204" pitchFamily="18" charset="0"/>
                        </a:rPr>
                        <m:t>𝑘𝐻𝑧</m:t>
                      </m:r>
                      <m:r>
                        <a:rPr lang="it-IT" b="0" i="1" smtClean="0">
                          <a:latin typeface="Cambria Math" panose="02040503050406030204" pitchFamily="18" charset="0"/>
                        </a:rPr>
                        <m:t> </m:t>
                      </m:r>
                    </m:oMath>
                  </m:oMathPara>
                </a14:m>
                <a:endParaRPr lang="it-IT" dirty="0"/>
              </a:p>
            </p:txBody>
          </p:sp>
        </mc:Choice>
        <mc:Fallback xmlns="">
          <p:sp>
            <p:nvSpPr>
              <p:cNvPr id="21" name="CasellaDiTesto 20">
                <a:extLst>
                  <a:ext uri="{FF2B5EF4-FFF2-40B4-BE49-F238E27FC236}">
                    <a16:creationId xmlns:a16="http://schemas.microsoft.com/office/drawing/2014/main" id="{4190F69F-A77A-FC96-F253-6527C5616AC7}"/>
                  </a:ext>
                </a:extLst>
              </p:cNvPr>
              <p:cNvSpPr txBox="1">
                <a:spLocks noRot="1" noChangeAspect="1" noMove="1" noResize="1" noEditPoints="1" noAdjustHandles="1" noChangeArrowheads="1" noChangeShapeType="1" noTextEdit="1"/>
              </p:cNvSpPr>
              <p:nvPr/>
            </p:nvSpPr>
            <p:spPr>
              <a:xfrm>
                <a:off x="1645674" y="4826365"/>
                <a:ext cx="1083117" cy="276999"/>
              </a:xfrm>
              <a:prstGeom prst="rect">
                <a:avLst/>
              </a:prstGeom>
              <a:blipFill>
                <a:blip r:embed="rId6"/>
                <a:stretch>
                  <a:fillRect l="-6742" t="-4444"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CasellaDiTesto 21">
                <a:extLst>
                  <a:ext uri="{FF2B5EF4-FFF2-40B4-BE49-F238E27FC236}">
                    <a16:creationId xmlns:a16="http://schemas.microsoft.com/office/drawing/2014/main" id="{B65F7BEF-CD6F-B39E-11EA-27DC6F05805C}"/>
                  </a:ext>
                </a:extLst>
              </p:cNvPr>
              <p:cNvSpPr txBox="1"/>
              <p:nvPr/>
            </p:nvSpPr>
            <p:spPr>
              <a:xfrm>
                <a:off x="1645674" y="5296149"/>
                <a:ext cx="25261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𝑓</m:t>
                      </m:r>
                      <m:r>
                        <a:rPr lang="it-IT" b="0" i="1" smtClean="0">
                          <a:latin typeface="Cambria Math" panose="02040503050406030204" pitchFamily="18" charset="0"/>
                          <a:ea typeface="Cambria Math" panose="02040503050406030204" pitchFamily="18" charset="0"/>
                        </a:rPr>
                        <m:t>=18850 </m:t>
                      </m:r>
                      <m:r>
                        <a:rPr lang="it-IT" b="0" i="1" smtClean="0">
                          <a:latin typeface="Cambria Math" panose="02040503050406030204" pitchFamily="18" charset="0"/>
                          <a:ea typeface="Cambria Math" panose="02040503050406030204" pitchFamily="18" charset="0"/>
                        </a:rPr>
                        <m:t>𝑟𝑎𝑑</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𝑠</m:t>
                      </m:r>
                    </m:oMath>
                  </m:oMathPara>
                </a14:m>
                <a:endParaRPr lang="it-IT" dirty="0"/>
              </a:p>
            </p:txBody>
          </p:sp>
        </mc:Choice>
        <mc:Fallback xmlns="">
          <p:sp>
            <p:nvSpPr>
              <p:cNvPr id="22" name="CasellaDiTesto 21">
                <a:extLst>
                  <a:ext uri="{FF2B5EF4-FFF2-40B4-BE49-F238E27FC236}">
                    <a16:creationId xmlns:a16="http://schemas.microsoft.com/office/drawing/2014/main" id="{B65F7BEF-CD6F-B39E-11EA-27DC6F05805C}"/>
                  </a:ext>
                </a:extLst>
              </p:cNvPr>
              <p:cNvSpPr txBox="1">
                <a:spLocks noRot="1" noChangeAspect="1" noMove="1" noResize="1" noEditPoints="1" noAdjustHandles="1" noChangeArrowheads="1" noChangeShapeType="1" noTextEdit="1"/>
              </p:cNvSpPr>
              <p:nvPr/>
            </p:nvSpPr>
            <p:spPr>
              <a:xfrm>
                <a:off x="1645674" y="5296149"/>
                <a:ext cx="2526141" cy="276999"/>
              </a:xfrm>
              <a:prstGeom prst="rect">
                <a:avLst/>
              </a:prstGeom>
              <a:blipFill>
                <a:blip r:embed="rId7"/>
                <a:stretch>
                  <a:fillRect l="-725" t="-2222" r="-966"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a:extLst>
                  <a:ext uri="{FF2B5EF4-FFF2-40B4-BE49-F238E27FC236}">
                    <a16:creationId xmlns:a16="http://schemas.microsoft.com/office/drawing/2014/main" id="{173F6AAB-77EE-93BA-9616-0AD046DF6733}"/>
                  </a:ext>
                </a:extLst>
              </p:cNvPr>
              <p:cNvSpPr txBox="1"/>
              <p:nvPr/>
            </p:nvSpPr>
            <p:spPr>
              <a:xfrm>
                <a:off x="5672146" y="4783137"/>
                <a:ext cx="6115574" cy="369332"/>
              </a:xfrm>
              <a:prstGeom prst="rect">
                <a:avLst/>
              </a:prstGeom>
              <a:noFill/>
            </p:spPr>
            <p:txBody>
              <a:bodyPr wrap="square">
                <a:spAutoFit/>
              </a:bodyPr>
              <a:lstStyle/>
              <a:p>
                <a:r>
                  <a:rPr lang="it-IT" sz="1800" dirty="0"/>
                  <a:t>|</a:t>
                </a:r>
                <a14:m>
                  <m:oMath xmlns:m="http://schemas.openxmlformats.org/officeDocument/2006/math">
                    <m:r>
                      <a:rPr lang="it-IT" i="1">
                        <a:latin typeface="Cambria Math" panose="02040503050406030204" pitchFamily="18" charset="0"/>
                      </a:rPr>
                      <m:t>𝐻</m:t>
                    </m:r>
                    <m:d>
                      <m:dPr>
                        <m:ctrlPr>
                          <a:rPr lang="it-IT" i="1">
                            <a:latin typeface="Cambria Math" panose="02040503050406030204" pitchFamily="18" charset="0"/>
                          </a:rPr>
                        </m:ctrlPr>
                      </m:dPr>
                      <m:e>
                        <m:r>
                          <a:rPr lang="it-IT" i="1">
                            <a:latin typeface="Cambria Math" panose="02040503050406030204" pitchFamily="18" charset="0"/>
                          </a:rPr>
                          <m:t>𝑗</m:t>
                        </m:r>
                        <m:r>
                          <a:rPr lang="it-IT" i="1">
                            <a:latin typeface="Cambria Math" panose="02040503050406030204" pitchFamily="18" charset="0"/>
                          </a:rPr>
                          <m:t>𝜔</m:t>
                        </m:r>
                      </m:e>
                    </m:d>
                    <m:r>
                      <a:rPr lang="it-IT" i="1">
                        <a:latin typeface="Cambria Math" panose="02040503050406030204" pitchFamily="18" charset="0"/>
                      </a:rPr>
                      <m:t>|=</m:t>
                    </m:r>
                    <m:r>
                      <m:rPr>
                        <m:nor/>
                      </m:rPr>
                      <a:rPr lang="it-IT" i="0">
                        <a:latin typeface="Cambria Math" panose="02040503050406030204" pitchFamily="18" charset="0"/>
                      </a:rPr>
                      <m:t>0.9986</m:t>
                    </m:r>
                  </m:oMath>
                </a14:m>
                <a:endParaRPr lang="it-IT" dirty="0">
                  <a:latin typeface="Cambria Math" panose="02040503050406030204" pitchFamily="18" charset="0"/>
                </a:endParaRPr>
              </a:p>
            </p:txBody>
          </p:sp>
        </mc:Choice>
        <mc:Fallback xmlns="">
          <p:sp>
            <p:nvSpPr>
              <p:cNvPr id="24" name="CasellaDiTesto 23">
                <a:extLst>
                  <a:ext uri="{FF2B5EF4-FFF2-40B4-BE49-F238E27FC236}">
                    <a16:creationId xmlns:a16="http://schemas.microsoft.com/office/drawing/2014/main" id="{173F6AAB-77EE-93BA-9616-0AD046DF6733}"/>
                  </a:ext>
                </a:extLst>
              </p:cNvPr>
              <p:cNvSpPr txBox="1">
                <a:spLocks noRot="1" noChangeAspect="1" noMove="1" noResize="1" noEditPoints="1" noAdjustHandles="1" noChangeArrowheads="1" noChangeShapeType="1" noTextEdit="1"/>
              </p:cNvSpPr>
              <p:nvPr/>
            </p:nvSpPr>
            <p:spPr>
              <a:xfrm>
                <a:off x="5672146" y="4783137"/>
                <a:ext cx="6115574" cy="369332"/>
              </a:xfrm>
              <a:prstGeom prst="rect">
                <a:avLst/>
              </a:prstGeom>
              <a:blipFill>
                <a:blip r:embed="rId8"/>
                <a:stretch>
                  <a:fillRect l="-797" t="-8333" b="-2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901B4927-FCF6-AF91-30E6-47E58F9ED508}"/>
                  </a:ext>
                </a:extLst>
              </p:cNvPr>
              <p:cNvSpPr txBox="1"/>
              <p:nvPr/>
            </p:nvSpPr>
            <p:spPr>
              <a:xfrm>
                <a:off x="3091343" y="5252921"/>
                <a:ext cx="6115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𝜑</m:t>
                      </m:r>
                      <m:r>
                        <a:rPr lang="it-IT" sz="1800" i="0">
                          <a:latin typeface="Cambria Math" panose="02040503050406030204" pitchFamily="18" charset="0"/>
                        </a:rPr>
                        <m:t>=</m:t>
                      </m:r>
                      <m:sSup>
                        <m:sSupPr>
                          <m:ctrlPr>
                            <a:rPr lang="it-IT" sz="1800" i="1">
                              <a:latin typeface="Cambria Math" panose="02040503050406030204" pitchFamily="18" charset="0"/>
                            </a:rPr>
                          </m:ctrlPr>
                        </m:sSupPr>
                        <m:e>
                          <m:r>
                            <a:rPr lang="it-IT" sz="1800" b="0" i="0" smtClean="0">
                              <a:latin typeface="Cambria Math" panose="02040503050406030204" pitchFamily="18" charset="0"/>
                            </a:rPr>
                            <m:t>3</m:t>
                          </m:r>
                        </m:e>
                        <m:sup>
                          <m:r>
                            <a:rPr lang="it-IT" sz="1800" i="0">
                              <a:latin typeface="Cambria Math" panose="02040503050406030204" pitchFamily="18" charset="0"/>
                            </a:rPr>
                            <m:t>0</m:t>
                          </m:r>
                        </m:sup>
                      </m:sSup>
                    </m:oMath>
                  </m:oMathPara>
                </a14:m>
                <a:endParaRPr lang="it-IT" dirty="0"/>
              </a:p>
            </p:txBody>
          </p:sp>
        </mc:Choice>
        <mc:Fallback xmlns="">
          <p:sp>
            <p:nvSpPr>
              <p:cNvPr id="26" name="CasellaDiTesto 25">
                <a:extLst>
                  <a:ext uri="{FF2B5EF4-FFF2-40B4-BE49-F238E27FC236}">
                    <a16:creationId xmlns:a16="http://schemas.microsoft.com/office/drawing/2014/main" id="{901B4927-FCF6-AF91-30E6-47E58F9ED508}"/>
                  </a:ext>
                </a:extLst>
              </p:cNvPr>
              <p:cNvSpPr txBox="1">
                <a:spLocks noRot="1" noChangeAspect="1" noMove="1" noResize="1" noEditPoints="1" noAdjustHandles="1" noChangeArrowheads="1" noChangeShapeType="1" noTextEdit="1"/>
              </p:cNvSpPr>
              <p:nvPr/>
            </p:nvSpPr>
            <p:spPr>
              <a:xfrm>
                <a:off x="3091343" y="5252921"/>
                <a:ext cx="6115574" cy="369332"/>
              </a:xfrm>
              <a:prstGeom prst="rect">
                <a:avLst/>
              </a:prstGeom>
              <a:blipFill>
                <a:blip r:embed="rId9"/>
                <a:stretch>
                  <a:fillRect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CasellaDiTesto 27">
                <a:extLst>
                  <a:ext uri="{FF2B5EF4-FFF2-40B4-BE49-F238E27FC236}">
                    <a16:creationId xmlns:a16="http://schemas.microsoft.com/office/drawing/2014/main" id="{BD074636-AEB3-C826-A35E-1D58C5F7DCC4}"/>
                  </a:ext>
                </a:extLst>
              </p:cNvPr>
              <p:cNvSpPr txBox="1"/>
              <p:nvPr/>
            </p:nvSpPr>
            <p:spPr>
              <a:xfrm>
                <a:off x="4401928" y="5028543"/>
                <a:ext cx="10831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oMath>
                  </m:oMathPara>
                </a14:m>
                <a:endParaRPr lang="it-IT" dirty="0"/>
              </a:p>
            </p:txBody>
          </p:sp>
        </mc:Choice>
        <mc:Fallback xmlns="">
          <p:sp>
            <p:nvSpPr>
              <p:cNvPr id="28" name="CasellaDiTesto 27">
                <a:extLst>
                  <a:ext uri="{FF2B5EF4-FFF2-40B4-BE49-F238E27FC236}">
                    <a16:creationId xmlns:a16="http://schemas.microsoft.com/office/drawing/2014/main" id="{BD074636-AEB3-C826-A35E-1D58C5F7DCC4}"/>
                  </a:ext>
                </a:extLst>
              </p:cNvPr>
              <p:cNvSpPr txBox="1">
                <a:spLocks noRot="1" noChangeAspect="1" noMove="1" noResize="1" noEditPoints="1" noAdjustHandles="1" noChangeArrowheads="1" noChangeShapeType="1" noTextEdit="1"/>
              </p:cNvSpPr>
              <p:nvPr/>
            </p:nvSpPr>
            <p:spPr>
              <a:xfrm>
                <a:off x="4401928" y="5028543"/>
                <a:ext cx="1083116" cy="276999"/>
              </a:xfrm>
              <a:prstGeom prst="rect">
                <a:avLst/>
              </a:prstGeom>
              <a:blipFill>
                <a:blip r:embed="rId10"/>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CasellaDiTesto 30">
                <a:extLst>
                  <a:ext uri="{FF2B5EF4-FFF2-40B4-BE49-F238E27FC236}">
                    <a16:creationId xmlns:a16="http://schemas.microsoft.com/office/drawing/2014/main" id="{6CB8AB5C-813E-3268-AA04-2B823E0627F4}"/>
                  </a:ext>
                </a:extLst>
              </p:cNvPr>
              <p:cNvSpPr txBox="1"/>
              <p:nvPr/>
            </p:nvSpPr>
            <p:spPr>
              <a:xfrm>
                <a:off x="8126169" y="4829304"/>
                <a:ext cx="1758110" cy="276999"/>
              </a:xfrm>
              <a:prstGeom prst="rect">
                <a:avLst/>
              </a:prstGeom>
              <a:noFill/>
            </p:spPr>
            <p:txBody>
              <a:bodyPr wrap="none" lIns="0" tIns="0" rIns="0" bIns="0" rtlCol="0">
                <a:spAutoFit/>
              </a:bodyPr>
              <a:lstStyle>
                <a:defPPr>
                  <a:defRPr lang="en-US"/>
                </a:defPPr>
                <a:lvl1pPr>
                  <a:defRPr b="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𝐺</m:t>
                          </m:r>
                        </m:e>
                        <m:sub>
                          <m:r>
                            <a:rPr lang="it-IT">
                              <a:latin typeface="Cambria Math" panose="02040503050406030204" pitchFamily="18" charset="0"/>
                            </a:rPr>
                            <m:t>ⅆ</m:t>
                          </m:r>
                          <m:r>
                            <a:rPr lang="it-IT">
                              <a:latin typeface="Cambria Math" panose="02040503050406030204" pitchFamily="18" charset="0"/>
                            </a:rPr>
                            <m:t>𝐵</m:t>
                          </m:r>
                        </m:sub>
                      </m:sSub>
                      <m:r>
                        <a:rPr lang="it-IT">
                          <a:latin typeface="Cambria Math" panose="02040503050406030204" pitchFamily="18" charset="0"/>
                        </a:rPr>
                        <m:t>=−0.012</m:t>
                      </m:r>
                      <m:r>
                        <a:rPr lang="it-IT">
                          <a:latin typeface="Cambria Math" panose="02040503050406030204" pitchFamily="18" charset="0"/>
                        </a:rPr>
                        <m:t>𝑑𝐵</m:t>
                      </m:r>
                    </m:oMath>
                  </m:oMathPara>
                </a14:m>
                <a:endParaRPr lang="it-IT" dirty="0"/>
              </a:p>
            </p:txBody>
          </p:sp>
        </mc:Choice>
        <mc:Fallback xmlns="">
          <p:sp>
            <p:nvSpPr>
              <p:cNvPr id="31" name="CasellaDiTesto 30">
                <a:extLst>
                  <a:ext uri="{FF2B5EF4-FFF2-40B4-BE49-F238E27FC236}">
                    <a16:creationId xmlns:a16="http://schemas.microsoft.com/office/drawing/2014/main" id="{6CB8AB5C-813E-3268-AA04-2B823E0627F4}"/>
                  </a:ext>
                </a:extLst>
              </p:cNvPr>
              <p:cNvSpPr txBox="1">
                <a:spLocks noRot="1" noChangeAspect="1" noMove="1" noResize="1" noEditPoints="1" noAdjustHandles="1" noChangeArrowheads="1" noChangeShapeType="1" noTextEdit="1"/>
              </p:cNvSpPr>
              <p:nvPr/>
            </p:nvSpPr>
            <p:spPr>
              <a:xfrm>
                <a:off x="8126169" y="4829304"/>
                <a:ext cx="1758110" cy="276999"/>
              </a:xfrm>
              <a:prstGeom prst="rect">
                <a:avLst/>
              </a:prstGeom>
              <a:blipFill>
                <a:blip r:embed="rId11"/>
                <a:stretch>
                  <a:fillRect l="-2431" r="-3125" b="-17391"/>
                </a:stretch>
              </a:blipFill>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E84AC1BE-8704-0D0D-7540-492BA71346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a:t>
            </a:fld>
            <a:endParaRPr lang="it-IT"/>
          </a:p>
        </p:txBody>
      </p:sp>
      <p:sp>
        <p:nvSpPr>
          <p:cNvPr id="3" name="Freccia in giù 2">
            <a:hlinkClick r:id="rId12" action="ppaction://hlinksldjump"/>
            <a:extLst>
              <a:ext uri="{FF2B5EF4-FFF2-40B4-BE49-F238E27FC236}">
                <a16:creationId xmlns:a16="http://schemas.microsoft.com/office/drawing/2014/main" id="{57980B3C-D6BC-6E49-021D-57F84BC5324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73352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454" name="Google Shape;454;p44"/>
          <p:cNvPicPr preferRelativeResize="0"/>
          <p:nvPr/>
        </p:nvPicPr>
        <p:blipFill rotWithShape="1">
          <a:blip r:embed="rId3">
            <a:alphaModFix/>
          </a:blip>
          <a:srcRect/>
          <a:stretch/>
        </p:blipFill>
        <p:spPr>
          <a:xfrm>
            <a:off x="2473240" y="752144"/>
            <a:ext cx="7245519" cy="4077757"/>
          </a:xfrm>
          <a:prstGeom prst="rect">
            <a:avLst/>
          </a:prstGeom>
          <a:noFill/>
          <a:ln>
            <a:solidFill>
              <a:schemeClr val="tx1"/>
            </a:solidFill>
          </a:ln>
        </p:spPr>
      </p:pic>
      <p:sp>
        <p:nvSpPr>
          <p:cNvPr id="455" name="Google Shape;455;p44"/>
          <p:cNvSpPr txBox="1"/>
          <p:nvPr/>
        </p:nvSpPr>
        <p:spPr>
          <a:xfrm>
            <a:off x="1052818" y="5018438"/>
            <a:ext cx="10104540" cy="1261854"/>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b="1" dirty="0">
                <a:solidFill>
                  <a:schemeClr val="dk1"/>
                </a:solidFill>
                <a:latin typeface="Segoe UI" panose="020B0502040204020203" pitchFamily="34" charset="0"/>
                <a:ea typeface="Libre Franklin"/>
                <a:cs typeface="Segoe UI" panose="020B0502040204020203" pitchFamily="34" charset="0"/>
                <a:sym typeface="Libre Franklin"/>
              </a:rPr>
              <a:t>Il grafico mostra la relazione tra la frequenza di taglio </a:t>
            </a:r>
            <a:r>
              <a:rPr lang="it-IT" b="1" dirty="0" err="1">
                <a:solidFill>
                  <a:schemeClr val="dk1"/>
                </a:solidFill>
                <a:latin typeface="Segoe UI" panose="020B0502040204020203" pitchFamily="34" charset="0"/>
                <a:ea typeface="Libre Franklin"/>
                <a:cs typeface="Segoe UI" panose="020B0502040204020203" pitchFamily="34" charset="0"/>
                <a:sym typeface="Libre Franklin"/>
              </a:rPr>
              <a:t>fc</a:t>
            </a:r>
            <a:r>
              <a:rPr lang="it-IT" b="1" dirty="0">
                <a:solidFill>
                  <a:schemeClr val="dk1"/>
                </a:solidFill>
                <a:latin typeface="Segoe UI" panose="020B0502040204020203" pitchFamily="34" charset="0"/>
                <a:ea typeface="Libre Franklin"/>
                <a:cs typeface="Segoe UI" panose="020B0502040204020203" pitchFamily="34" charset="0"/>
                <a:sym typeface="Libre Franklin"/>
              </a:rPr>
              <a:t>​ e il valore 1/R, mantenendo costante la capacità a C=100nF. </a:t>
            </a:r>
          </a:p>
          <a:p>
            <a:pPr marL="0" marR="0" lvl="0" indent="0" algn="ctr" rtl="0">
              <a:spcBef>
                <a:spcPts val="0"/>
              </a:spcBef>
              <a:spcAft>
                <a:spcPts val="0"/>
              </a:spcAft>
              <a:buClr>
                <a:schemeClr val="dk1"/>
              </a:buClr>
              <a:buSzPts val="1300"/>
              <a:buFont typeface="Libre Franklin"/>
              <a:buNone/>
            </a:pPr>
            <a:br>
              <a:rPr lang="it-IT" b="1" dirty="0">
                <a:solidFill>
                  <a:schemeClr val="dk1"/>
                </a:solidFill>
                <a:latin typeface="Segoe UI" panose="020B0502040204020203" pitchFamily="34" charset="0"/>
                <a:ea typeface="Libre Franklin"/>
                <a:cs typeface="Segoe UI" panose="020B0502040204020203" pitchFamily="34" charset="0"/>
                <a:sym typeface="Libre Franklin"/>
              </a:rPr>
            </a:br>
            <a:r>
              <a:rPr lang="it-IT" b="1" dirty="0">
                <a:solidFill>
                  <a:schemeClr val="dk1"/>
                </a:solidFill>
                <a:latin typeface="Segoe UI" panose="020B0502040204020203" pitchFamily="34" charset="0"/>
                <a:ea typeface="Libre Franklin"/>
                <a:cs typeface="Segoe UI" panose="020B0502040204020203" pitchFamily="34" charset="0"/>
                <a:sym typeface="Libre Franklin"/>
              </a:rPr>
              <a:t>Si osserva un andamento lineare: quando la resistenza diminuisce, 1/R aumenta e di conseguenza aumenta anche la frequenza di taglio. Questo conferma che, a capacità costante, il filtro passa-alto può essere regolato agendo direttamente sul valore della resistenza.</a:t>
            </a:r>
            <a:endParaRPr b="1"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50990E-DAFA-EB3E-0989-FA98CDCE2D2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a:t>
            </a:fld>
            <a:endParaRPr lang="it-IT"/>
          </a:p>
        </p:txBody>
      </p:sp>
      <p:sp>
        <p:nvSpPr>
          <p:cNvPr id="3" name="Freccia in giù 2">
            <a:hlinkClick r:id="rId4" action="ppaction://hlinksldjump"/>
            <a:extLst>
              <a:ext uri="{FF2B5EF4-FFF2-40B4-BE49-F238E27FC236}">
                <a16:creationId xmlns:a16="http://schemas.microsoft.com/office/drawing/2014/main" id="{2357EDE9-04A9-B029-6EE9-9F88BD907AEE}"/>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6"/>
          <p:cNvSpPr txBox="1"/>
          <p:nvPr/>
        </p:nvSpPr>
        <p:spPr>
          <a:xfrm>
            <a:off x="1054225" y="893492"/>
            <a:ext cx="504177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Carica del condensatore</a:t>
            </a:r>
          </a:p>
          <a:p>
            <a:endParaRPr lang="it-IT" b="1" dirty="0">
              <a:latin typeface="Segoe UI" panose="020B0502040204020203" pitchFamily="34" charset="0"/>
              <a:cs typeface="Segoe UI" panose="020B0502040204020203" pitchFamily="34" charset="0"/>
              <a:sym typeface="Libre Franklin"/>
            </a:endParaRPr>
          </a:p>
          <a:p>
            <a:endParaRPr lang="it-IT"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Quando Vin passa da -1 V a +1 V, il condensatore inizia a caricarsi. La tensione non cambia istantaneamente, ma cresce con andamento esponenziale:</a:t>
            </a:r>
            <a:endParaRPr dirty="0">
              <a:latin typeface="Segoe UI" panose="020B0502040204020203" pitchFamily="34" charset="0"/>
              <a:cs typeface="Segoe UI" panose="020B0502040204020203" pitchFamily="34" charset="0"/>
              <a:sym typeface="Libre Franklin"/>
            </a:endParaRPr>
          </a:p>
        </p:txBody>
      </p:sp>
      <p:sp>
        <p:nvSpPr>
          <p:cNvPr id="475" name="Google Shape;475;p46"/>
          <p:cNvSpPr txBox="1"/>
          <p:nvPr/>
        </p:nvSpPr>
        <p:spPr>
          <a:xfrm>
            <a:off x="1054225" y="2824220"/>
            <a:ext cx="5041775" cy="166196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dove Vi​ è il valore iniziale, </a:t>
            </a:r>
            <a:r>
              <a:rPr lang="it-IT" b="0" dirty="0" err="1">
                <a:latin typeface="Segoe UI" panose="020B0502040204020203" pitchFamily="34" charset="0"/>
                <a:cs typeface="Segoe UI" panose="020B0502040204020203" pitchFamily="34" charset="0"/>
                <a:sym typeface="Libre Franklin"/>
              </a:rPr>
              <a:t>Vf</a:t>
            </a:r>
            <a:r>
              <a:rPr lang="it-IT" b="0" dirty="0">
                <a:latin typeface="Segoe UI" panose="020B0502040204020203" pitchFamily="34" charset="0"/>
                <a:cs typeface="Segoe UI" panose="020B0502040204020203" pitchFamily="34" charset="0"/>
                <a:sym typeface="Libre Franklin"/>
              </a:rPr>
              <a:t> il valore finale e RC è la costante di tempo del circuito. </a:t>
            </a:r>
            <a:r>
              <a:rPr lang="it-IT"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Scarica del condensatore</a:t>
            </a:r>
            <a:endParaRPr dirty="0">
              <a:latin typeface="Segoe UI" panose="020B0502040204020203" pitchFamily="34" charset="0"/>
              <a:cs typeface="Segoe UI" panose="020B0502040204020203" pitchFamily="34" charset="0"/>
              <a:sym typeface="Libre Franklin"/>
            </a:endParaRPr>
          </a:p>
          <a:p>
            <a:br>
              <a:rPr lang="it-IT" b="0" dirty="0">
                <a:latin typeface="Segoe UI" panose="020B0502040204020203" pitchFamily="34" charset="0"/>
                <a:cs typeface="Segoe UI" panose="020B0502040204020203" pitchFamily="34" charset="0"/>
                <a:sym typeface="Libre Franklin"/>
              </a:rPr>
            </a:br>
            <a:r>
              <a:rPr lang="it-IT" b="0" i="1" u="sng" dirty="0">
                <a:latin typeface="Segoe UI" panose="020B0502040204020203" pitchFamily="34" charset="0"/>
                <a:cs typeface="Segoe UI" panose="020B0502040204020203" pitchFamily="34" charset="0"/>
                <a:sym typeface="Libre Franklin"/>
              </a:rPr>
              <a:t>Quando Vin passa da +1 V a -1 V, il condensatore si scarica e poi si porta verso il nuovo livello negativo. Anche in questo caso l’andamento è esponenziale:</a:t>
            </a:r>
            <a:endParaRPr b="0" i="1" u="sng" dirty="0">
              <a:latin typeface="Segoe UI" panose="020B0502040204020203" pitchFamily="34" charset="0"/>
              <a:cs typeface="Segoe UI" panose="020B0502040204020203" pitchFamily="34" charset="0"/>
              <a:sym typeface="Libre Franklin"/>
            </a:endParaRPr>
          </a:p>
        </p:txBody>
      </p:sp>
      <p:sp>
        <p:nvSpPr>
          <p:cNvPr id="477" name="Google Shape;477;p46"/>
          <p:cNvSpPr txBox="1"/>
          <p:nvPr/>
        </p:nvSpPr>
        <p:spPr>
          <a:xfrm>
            <a:off x="1040239" y="5289742"/>
            <a:ext cx="5041775"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la curva blu scende velocemente subito dopo il fronte di discesa di Vin e poi rallenta progressivamente.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1195E40-292E-0A55-6B69-376F505117C4}"/>
                  </a:ext>
                </a:extLst>
              </p:cNvPr>
              <p:cNvSpPr txBox="1"/>
              <p:nvPr/>
            </p:nvSpPr>
            <p:spPr>
              <a:xfrm>
                <a:off x="1054225" y="2195753"/>
                <a:ext cx="5041775"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2" name="CasellaDiTesto 1">
                <a:extLst>
                  <a:ext uri="{FF2B5EF4-FFF2-40B4-BE49-F238E27FC236}">
                    <a16:creationId xmlns:a16="http://schemas.microsoft.com/office/drawing/2014/main" id="{E1195E40-292E-0A55-6B69-376F505117C4}"/>
                  </a:ext>
                </a:extLst>
              </p:cNvPr>
              <p:cNvSpPr txBox="1">
                <a:spLocks noRot="1" noChangeAspect="1" noMove="1" noResize="1" noEditPoints="1" noAdjustHandles="1" noChangeArrowheads="1" noChangeShapeType="1" noTextEdit="1"/>
              </p:cNvSpPr>
              <p:nvPr/>
            </p:nvSpPr>
            <p:spPr>
              <a:xfrm>
                <a:off x="1054225" y="2195753"/>
                <a:ext cx="5041775" cy="333168"/>
              </a:xfrm>
              <a:prstGeom prst="rect">
                <a:avLst/>
              </a:prstGeom>
              <a:blipFill>
                <a:blip r:embed="rId3"/>
                <a:stretch>
                  <a:fillRect b="-1636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672AEF5-5A75-A619-4395-0C7FBAA701A6}"/>
                  </a:ext>
                </a:extLst>
              </p:cNvPr>
              <p:cNvSpPr txBox="1"/>
              <p:nvPr/>
            </p:nvSpPr>
            <p:spPr>
              <a:xfrm>
                <a:off x="1054225" y="4532776"/>
                <a:ext cx="5041776"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3" name="CasellaDiTesto 2">
                <a:extLst>
                  <a:ext uri="{FF2B5EF4-FFF2-40B4-BE49-F238E27FC236}">
                    <a16:creationId xmlns:a16="http://schemas.microsoft.com/office/drawing/2014/main" id="{F672AEF5-5A75-A619-4395-0C7FBAA701A6}"/>
                  </a:ext>
                </a:extLst>
              </p:cNvPr>
              <p:cNvSpPr txBox="1">
                <a:spLocks noRot="1" noChangeAspect="1" noMove="1" noResize="1" noEditPoints="1" noAdjustHandles="1" noChangeArrowheads="1" noChangeShapeType="1" noTextEdit="1"/>
              </p:cNvSpPr>
              <p:nvPr/>
            </p:nvSpPr>
            <p:spPr>
              <a:xfrm>
                <a:off x="1054225" y="4532776"/>
                <a:ext cx="5041776" cy="333168"/>
              </a:xfrm>
              <a:prstGeom prst="rect">
                <a:avLst/>
              </a:prstGeom>
              <a:blipFill>
                <a:blip r:embed="rId4"/>
                <a:stretch>
                  <a:fillRect b="-18519"/>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81BBAD98-C26B-CEDC-BC71-ECA60BC38BDC}"/>
              </a:ext>
            </a:extLst>
          </p:cNvPr>
          <p:cNvPicPr>
            <a:picLocks noChangeAspect="1"/>
          </p:cNvPicPr>
          <p:nvPr/>
        </p:nvPicPr>
        <p:blipFill>
          <a:blip r:embed="rId5"/>
          <a:srcRect r="49388"/>
          <a:stretch>
            <a:fillRect/>
          </a:stretch>
        </p:blipFill>
        <p:spPr>
          <a:xfrm>
            <a:off x="6172901" y="3429000"/>
            <a:ext cx="5177491" cy="2362768"/>
          </a:xfrm>
          <a:prstGeom prst="rect">
            <a:avLst/>
          </a:prstGeom>
          <a:ln>
            <a:solidFill>
              <a:schemeClr val="tx1"/>
            </a:solidFill>
          </a:ln>
        </p:spPr>
      </p:pic>
      <p:pic>
        <p:nvPicPr>
          <p:cNvPr id="6" name="Google Shape;462;p45">
            <a:extLst>
              <a:ext uri="{FF2B5EF4-FFF2-40B4-BE49-F238E27FC236}">
                <a16:creationId xmlns:a16="http://schemas.microsoft.com/office/drawing/2014/main" id="{32747625-D7E8-8B2E-11AD-10FBE294BFAB}"/>
              </a:ext>
            </a:extLst>
          </p:cNvPr>
          <p:cNvPicPr preferRelativeResize="0"/>
          <p:nvPr/>
        </p:nvPicPr>
        <p:blipFill rotWithShape="1">
          <a:blip r:embed="rId6">
            <a:alphaModFix/>
          </a:blip>
          <a:srcRect/>
          <a:stretch/>
        </p:blipFill>
        <p:spPr>
          <a:xfrm>
            <a:off x="6096000" y="930412"/>
            <a:ext cx="5186977" cy="2074790"/>
          </a:xfrm>
          <a:prstGeom prst="rect">
            <a:avLst/>
          </a:prstGeom>
          <a:noFill/>
          <a:ln>
            <a:solidFill>
              <a:schemeClr val="tx1"/>
            </a:solidFill>
          </a:ln>
        </p:spPr>
      </p:pic>
      <p:sp>
        <p:nvSpPr>
          <p:cNvPr id="8" name="Segnaposto numero diapositiva 7">
            <a:extLst>
              <a:ext uri="{FF2B5EF4-FFF2-40B4-BE49-F238E27FC236}">
                <a16:creationId xmlns:a16="http://schemas.microsoft.com/office/drawing/2014/main" id="{CE2CE60F-9243-16C8-A1C4-1748A0E8E2C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a:t>
            </a:fld>
            <a:endParaRPr lang="it-IT"/>
          </a:p>
        </p:txBody>
      </p:sp>
      <p:sp>
        <p:nvSpPr>
          <p:cNvPr id="4" name="Freccia in giù 3">
            <a:hlinkClick r:id="rId7" action="ppaction://hlinksldjump"/>
            <a:extLst>
              <a:ext uri="{FF2B5EF4-FFF2-40B4-BE49-F238E27FC236}">
                <a16:creationId xmlns:a16="http://schemas.microsoft.com/office/drawing/2014/main" id="{632528E9-CD34-68B2-929E-FB4EF08AC863}"/>
              </a:ext>
            </a:extLst>
          </p:cNvPr>
          <p:cNvSpPr/>
          <p:nvPr/>
        </p:nvSpPr>
        <p:spPr>
          <a:xfrm>
            <a:off x="91747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8" action="ppaction://hlinksldjump"/>
            <a:extLst>
              <a:ext uri="{FF2B5EF4-FFF2-40B4-BE49-F238E27FC236}">
                <a16:creationId xmlns:a16="http://schemas.microsoft.com/office/drawing/2014/main" id="{A00DA78A-CC4E-BF6E-F053-799A3DB2FB5F}"/>
              </a:ext>
            </a:extLst>
          </p:cNvPr>
          <p:cNvSpPr/>
          <p:nvPr/>
        </p:nvSpPr>
        <p:spPr>
          <a:xfrm>
            <a:off x="9698565"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Freccia in giù 8">
            <a:hlinkClick r:id="rId9" action="ppaction://hlinksldjump"/>
            <a:extLst>
              <a:ext uri="{FF2B5EF4-FFF2-40B4-BE49-F238E27FC236}">
                <a16:creationId xmlns:a16="http://schemas.microsoft.com/office/drawing/2014/main" id="{ABD52A7E-6691-16AF-768E-E602AF7A0FDD}"/>
              </a:ext>
            </a:extLst>
          </p:cNvPr>
          <p:cNvSpPr/>
          <p:nvPr/>
        </p:nvSpPr>
        <p:spPr>
          <a:xfrm>
            <a:off x="10129206"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Freccia in giù 9">
            <a:hlinkClick r:id="rId10" action="ppaction://hlinksldjump"/>
            <a:extLst>
              <a:ext uri="{FF2B5EF4-FFF2-40B4-BE49-F238E27FC236}">
                <a16:creationId xmlns:a16="http://schemas.microsoft.com/office/drawing/2014/main" id="{EB09F096-A6CE-A6D8-6C64-3D74D465DA3A}"/>
              </a:ext>
            </a:extLst>
          </p:cNvPr>
          <p:cNvSpPr/>
          <p:nvPr/>
        </p:nvSpPr>
        <p:spPr>
          <a:xfrm>
            <a:off x="10739799"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9E0F520E-B3C2-66AE-2751-21D39E36C472}"/>
                  </a:ext>
                </a:extLst>
              </p:cNvPr>
              <p:cNvSpPr txBox="1"/>
              <p:nvPr/>
            </p:nvSpPr>
            <p:spPr>
              <a:xfrm>
                <a:off x="6045931" y="3472978"/>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2" name="CasellaDiTesto 11">
                <a:extLst>
                  <a:ext uri="{FF2B5EF4-FFF2-40B4-BE49-F238E27FC236}">
                    <a16:creationId xmlns:a16="http://schemas.microsoft.com/office/drawing/2014/main" id="{9E0F520E-B3C2-66AE-2751-21D39E36C472}"/>
                  </a:ext>
                </a:extLst>
              </p:cNvPr>
              <p:cNvSpPr txBox="1">
                <a:spLocks noRot="1" noChangeAspect="1" noMove="1" noResize="1" noEditPoints="1" noAdjustHandles="1" noChangeArrowheads="1" noChangeShapeType="1" noTextEdit="1"/>
              </p:cNvSpPr>
              <p:nvPr/>
            </p:nvSpPr>
            <p:spPr>
              <a:xfrm>
                <a:off x="6045931" y="3472978"/>
                <a:ext cx="167610" cy="215444"/>
              </a:xfrm>
              <a:prstGeom prst="rect">
                <a:avLst/>
              </a:prstGeom>
              <a:blipFill>
                <a:blip r:embed="rId11"/>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9E6CA8C5-2C4E-56D4-9C89-90DAD2B05B1E}"/>
                  </a:ext>
                </a:extLst>
              </p:cNvPr>
              <p:cNvSpPr txBox="1"/>
              <p:nvPr/>
            </p:nvSpPr>
            <p:spPr>
              <a:xfrm>
                <a:off x="10339442" y="54590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3" name="CasellaDiTesto 12">
                <a:extLst>
                  <a:ext uri="{FF2B5EF4-FFF2-40B4-BE49-F238E27FC236}">
                    <a16:creationId xmlns:a16="http://schemas.microsoft.com/office/drawing/2014/main" id="{9E6CA8C5-2C4E-56D4-9C89-90DAD2B05B1E}"/>
                  </a:ext>
                </a:extLst>
              </p:cNvPr>
              <p:cNvSpPr txBox="1">
                <a:spLocks noRot="1" noChangeAspect="1" noMove="1" noResize="1" noEditPoints="1" noAdjustHandles="1" noChangeArrowheads="1" noChangeShapeType="1" noTextEdit="1"/>
              </p:cNvSpPr>
              <p:nvPr/>
            </p:nvSpPr>
            <p:spPr>
              <a:xfrm>
                <a:off x="10339442" y="5459004"/>
                <a:ext cx="1723916" cy="215444"/>
              </a:xfrm>
              <a:prstGeom prst="rect">
                <a:avLst/>
              </a:prstGeom>
              <a:blipFill>
                <a:blip r:embed="rId12"/>
                <a:stretch>
                  <a:fillRect b="-5714"/>
                </a:stretch>
              </a:blipFill>
            </p:spPr>
            <p:txBody>
              <a:bodyPr/>
              <a:lstStyle/>
              <a:p>
                <a:r>
                  <a:rPr lang="it-IT">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9"/>
          <p:cNvSpPr txBox="1"/>
          <p:nvPr/>
        </p:nvSpPr>
        <p:spPr>
          <a:xfrm>
            <a:off x="1073791" y="756125"/>
            <a:ext cx="1009615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Condensatore reale con parassiti</a:t>
            </a:r>
            <a:endParaRPr dirty="0">
              <a:sym typeface="Libre Franklin SemiBold"/>
            </a:endParaRPr>
          </a:p>
        </p:txBody>
      </p:sp>
      <p:sp>
        <p:nvSpPr>
          <p:cNvPr id="600" name="Google Shape;600;p59"/>
          <p:cNvSpPr txBox="1"/>
          <p:nvPr/>
        </p:nvSpPr>
        <p:spPr>
          <a:xfrm>
            <a:off x="1073791" y="1399675"/>
            <a:ext cx="6476301"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realtà un condensatore non si comporta come un componente ideale. </a:t>
            </a:r>
            <a:r>
              <a:rPr lang="it-IT" sz="1200" i="1" u="sng" dirty="0">
                <a:latin typeface="Segoe UI" panose="020B0502040204020203" pitchFamily="34" charset="0"/>
                <a:cs typeface="Segoe UI" panose="020B0502040204020203" pitchFamily="34" charset="0"/>
                <a:sym typeface="Libre Franklin"/>
              </a:rPr>
              <a:t>Oltre alla capacità nominale C = 100 </a:t>
            </a:r>
            <a:r>
              <a:rPr lang="it-IT" sz="1200" i="1" u="sng" dirty="0" err="1">
                <a:latin typeface="Segoe UI" panose="020B0502040204020203" pitchFamily="34" charset="0"/>
                <a:cs typeface="Segoe UI" panose="020B0502040204020203" pitchFamily="34" charset="0"/>
                <a:sym typeface="Libre Franklin"/>
              </a:rPr>
              <a:t>nF</a:t>
            </a:r>
            <a:r>
              <a:rPr lang="it-IT" sz="1200" i="1" u="sng" dirty="0">
                <a:latin typeface="Segoe UI" panose="020B0502040204020203" pitchFamily="34" charset="0"/>
                <a:cs typeface="Segoe UI" panose="020B0502040204020203" pitchFamily="34" charset="0"/>
                <a:sym typeface="Libre Franklin"/>
              </a:rPr>
              <a:t>, sono sempre presenti elementi parassiti interni, principalmente una resistenza serie equivalente e una induttanza serie equivalente.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Nell’immagine dei parametri del condensatore si vede infatti che, oltre alla capacità, vengono inseriti valori realistici come:</a:t>
            </a:r>
            <a:endParaRPr sz="1200" b="1" i="1" dirty="0">
              <a:latin typeface="Segoe UI" panose="020B0502040204020203" pitchFamily="34" charset="0"/>
              <a:cs typeface="Segoe UI" panose="020B0502040204020203" pitchFamily="34" charset="0"/>
              <a:sym typeface="Libre Franklin"/>
            </a:endParaRPr>
          </a:p>
        </p:txBody>
      </p:sp>
      <p:sp>
        <p:nvSpPr>
          <p:cNvPr id="602" name="Google Shape;602;p59"/>
          <p:cNvSpPr txBox="1"/>
          <p:nvPr/>
        </p:nvSpPr>
        <p:spPr>
          <a:xfrm>
            <a:off x="1073791" y="4112925"/>
            <a:ext cx="6476301" cy="1129510"/>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300"/>
            </a:pPr>
            <a:r>
              <a:rPr lang="it-IT" sz="1200" dirty="0">
                <a:latin typeface="Segoe UI" panose="020B0502040204020203" pitchFamily="34" charset="0"/>
                <a:cs typeface="Segoe UI" panose="020B0502040204020203" pitchFamily="34" charset="0"/>
                <a:sym typeface="Libre Franklin"/>
              </a:rPr>
              <a:t>Questi valori rappresentano il comportamento reale di un condensatore MLCC ceramico SMD, molto usato nei filtri. </a:t>
            </a:r>
            <a:r>
              <a:rPr lang="it-IT" sz="1200" b="1" dirty="0">
                <a:latin typeface="Segoe UI" panose="020B0502040204020203" pitchFamily="34" charset="0"/>
                <a:cs typeface="Segoe UI" panose="020B0502040204020203" pitchFamily="34" charset="0"/>
                <a:sym typeface="Libre Franklin"/>
              </a:rPr>
              <a:t>Per un condensatore tipico da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X7R in package 0603 / 0805, valori realistici sono circa:</a:t>
            </a:r>
            <a:endParaRPr sz="1200" b="1" dirty="0">
              <a:latin typeface="Segoe UI" panose="020B0502040204020203" pitchFamily="34" charset="0"/>
              <a:cs typeface="Segoe UI" panose="020B0502040204020203" pitchFamily="34" charset="0"/>
              <a:sym typeface="Garamond"/>
            </a:endParaRPr>
          </a:p>
        </p:txBody>
      </p:sp>
      <p:pic>
        <p:nvPicPr>
          <p:cNvPr id="604" name="Google Shape;604;p59"/>
          <p:cNvPicPr preferRelativeResize="0"/>
          <p:nvPr/>
        </p:nvPicPr>
        <p:blipFill rotWithShape="1">
          <a:blip r:embed="rId3">
            <a:alphaModFix/>
          </a:blip>
          <a:srcRect/>
          <a:stretch/>
        </p:blipFill>
        <p:spPr>
          <a:xfrm>
            <a:off x="7683850" y="1483704"/>
            <a:ext cx="3517550" cy="4035080"/>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BF41901-4E60-0708-9E0B-12BB43C1910E}"/>
                  </a:ext>
                </a:extLst>
              </p:cNvPr>
              <p:cNvSpPr txBox="1"/>
              <p:nvPr/>
            </p:nvSpPr>
            <p:spPr>
              <a:xfrm>
                <a:off x="1073789" y="3107805"/>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2" name="CasellaDiTesto 1">
                <a:extLst>
                  <a:ext uri="{FF2B5EF4-FFF2-40B4-BE49-F238E27FC236}">
                    <a16:creationId xmlns:a16="http://schemas.microsoft.com/office/drawing/2014/main" id="{6BF41901-4E60-0708-9E0B-12BB43C1910E}"/>
                  </a:ext>
                </a:extLst>
              </p:cNvPr>
              <p:cNvSpPr txBox="1">
                <a:spLocks noRot="1" noChangeAspect="1" noMove="1" noResize="1" noEditPoints="1" noAdjustHandles="1" noChangeArrowheads="1" noChangeShapeType="1" noTextEdit="1"/>
              </p:cNvSpPr>
              <p:nvPr/>
            </p:nvSpPr>
            <p:spPr>
              <a:xfrm>
                <a:off x="1073789" y="3107805"/>
                <a:ext cx="6476301" cy="215444"/>
              </a:xfrm>
              <a:prstGeom prst="rect">
                <a:avLst/>
              </a:prstGeom>
              <a:blipFill>
                <a:blip r:embed="rId4"/>
                <a:stretch>
                  <a:fillRect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6F587DB-92DF-A4E9-8DA3-68504BD684A5}"/>
                  </a:ext>
                </a:extLst>
              </p:cNvPr>
              <p:cNvSpPr txBox="1"/>
              <p:nvPr/>
            </p:nvSpPr>
            <p:spPr>
              <a:xfrm>
                <a:off x="1073789" y="3650055"/>
                <a:ext cx="6476301"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3" name="CasellaDiTesto 2">
                <a:extLst>
                  <a:ext uri="{FF2B5EF4-FFF2-40B4-BE49-F238E27FC236}">
                    <a16:creationId xmlns:a16="http://schemas.microsoft.com/office/drawing/2014/main" id="{16F587DB-92DF-A4E9-8DA3-68504BD684A5}"/>
                  </a:ext>
                </a:extLst>
              </p:cNvPr>
              <p:cNvSpPr txBox="1">
                <a:spLocks noRot="1" noChangeAspect="1" noMove="1" noResize="1" noEditPoints="1" noAdjustHandles="1" noChangeArrowheads="1" noChangeShapeType="1" noTextEdit="1"/>
              </p:cNvSpPr>
              <p:nvPr/>
            </p:nvSpPr>
            <p:spPr>
              <a:xfrm>
                <a:off x="1073789" y="3650055"/>
                <a:ext cx="6476301" cy="215444"/>
              </a:xfrm>
              <a:prstGeom prst="rect">
                <a:avLst/>
              </a:prstGeom>
              <a:blipFill>
                <a:blip r:embed="rId5"/>
                <a:stretch>
                  <a:fillRect t="-25714"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82F7419-8239-C8D6-C005-002830F61AF6}"/>
                  </a:ext>
                </a:extLst>
              </p:cNvPr>
              <p:cNvSpPr txBox="1"/>
              <p:nvPr/>
            </p:nvSpPr>
            <p:spPr>
              <a:xfrm>
                <a:off x="1073790" y="5134713"/>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=0,05 −0,2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4" name="CasellaDiTesto 3">
                <a:extLst>
                  <a:ext uri="{FF2B5EF4-FFF2-40B4-BE49-F238E27FC236}">
                    <a16:creationId xmlns:a16="http://schemas.microsoft.com/office/drawing/2014/main" id="{882F7419-8239-C8D6-C005-002830F61AF6}"/>
                  </a:ext>
                </a:extLst>
              </p:cNvPr>
              <p:cNvSpPr txBox="1">
                <a:spLocks noRot="1" noChangeAspect="1" noMove="1" noResize="1" noEditPoints="1" noAdjustHandles="1" noChangeArrowheads="1" noChangeShapeType="1" noTextEdit="1"/>
              </p:cNvSpPr>
              <p:nvPr/>
            </p:nvSpPr>
            <p:spPr>
              <a:xfrm>
                <a:off x="1073790" y="5134713"/>
                <a:ext cx="6476301" cy="215444"/>
              </a:xfrm>
              <a:prstGeom prst="rect">
                <a:avLst/>
              </a:prstGeom>
              <a:blipFill>
                <a:blip r:embed="rId6"/>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A859AD9-9466-AB1F-00C6-17045DE8D35E}"/>
                  </a:ext>
                </a:extLst>
              </p:cNvPr>
              <p:cNvSpPr txBox="1"/>
              <p:nvPr/>
            </p:nvSpPr>
            <p:spPr>
              <a:xfrm>
                <a:off x="1044429" y="5676963"/>
                <a:ext cx="6505662"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=1−3</m:t>
                    </m:r>
                    <m:r>
                      <a:rPr lang="it-IT" b="0" i="1" smtClean="0">
                        <a:latin typeface="Cambria Math" panose="02040503050406030204" pitchFamily="18" charset="0"/>
                      </a:rPr>
                      <m:t>𝑛</m:t>
                    </m:r>
                  </m:oMath>
                </a14:m>
                <a:r>
                  <a:rPr lang="it-IT" dirty="0"/>
                  <a:t>H</a:t>
                </a:r>
              </a:p>
            </p:txBody>
          </p:sp>
        </mc:Choice>
        <mc:Fallback xmlns="">
          <p:sp>
            <p:nvSpPr>
              <p:cNvPr id="5" name="CasellaDiTesto 4">
                <a:extLst>
                  <a:ext uri="{FF2B5EF4-FFF2-40B4-BE49-F238E27FC236}">
                    <a16:creationId xmlns:a16="http://schemas.microsoft.com/office/drawing/2014/main" id="{1A859AD9-9466-AB1F-00C6-17045DE8D35E}"/>
                  </a:ext>
                </a:extLst>
              </p:cNvPr>
              <p:cNvSpPr txBox="1">
                <a:spLocks noRot="1" noChangeAspect="1" noMove="1" noResize="1" noEditPoints="1" noAdjustHandles="1" noChangeArrowheads="1" noChangeShapeType="1" noTextEdit="1"/>
              </p:cNvSpPr>
              <p:nvPr/>
            </p:nvSpPr>
            <p:spPr>
              <a:xfrm>
                <a:off x="1044429" y="5676963"/>
                <a:ext cx="6505662" cy="215444"/>
              </a:xfrm>
              <a:prstGeom prst="rect">
                <a:avLst/>
              </a:prstGeom>
              <a:blipFill>
                <a:blip r:embed="rId7"/>
                <a:stretch>
                  <a:fillRect t="-25000" b="-47222"/>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3E79575-7017-F164-14DD-16E5D7D778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a:t>
            </a:fld>
            <a:endParaRPr lang="it-IT"/>
          </a:p>
        </p:txBody>
      </p:sp>
      <p:sp>
        <p:nvSpPr>
          <p:cNvPr id="7" name="Freccia in giù 6">
            <a:hlinkClick r:id="rId8" action="ppaction://hlinksldjump"/>
            <a:extLst>
              <a:ext uri="{FF2B5EF4-FFF2-40B4-BE49-F238E27FC236}">
                <a16:creationId xmlns:a16="http://schemas.microsoft.com/office/drawing/2014/main" id="{1DE40119-14CF-E4CD-CB21-073125AD2F34}"/>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62"/>
          <p:cNvSpPr txBox="1"/>
          <p:nvPr/>
        </p:nvSpPr>
        <p:spPr>
          <a:xfrm>
            <a:off x="1054216" y="758081"/>
            <a:ext cx="10083567" cy="136213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Comportamento da filtro passa-basso dovuto ai parassiti</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a:t>
            </a:r>
            <a:r>
              <a:rPr lang="it-IT" sz="1200" i="1" dirty="0">
                <a:latin typeface="Segoe UI" panose="020B0502040204020203" pitchFamily="34" charset="0"/>
                <a:cs typeface="Segoe UI" panose="020B0502040204020203" pitchFamily="34" charset="0"/>
                <a:sym typeface="Libre Franklin"/>
              </a:rPr>
              <a:t>modello reale, </a:t>
            </a:r>
            <a:r>
              <a:rPr lang="it-IT" sz="1200" dirty="0">
                <a:latin typeface="Segoe UI" panose="020B0502040204020203" pitchFamily="34" charset="0"/>
                <a:cs typeface="Segoe UI" panose="020B0502040204020203" pitchFamily="34" charset="0"/>
                <a:sym typeface="Libre Franklin"/>
              </a:rPr>
              <a:t>il condensatore non è più solo una capacità ideale: la presenza dell’ESL introduce un comportamento risonante. La frequenza di risonanza è</a:t>
            </a:r>
            <a:r>
              <a:rPr lang="it-IT" sz="1300" dirty="0">
                <a:solidFill>
                  <a:schemeClr val="dk1"/>
                </a:solidFill>
                <a:latin typeface="Libre Franklin"/>
                <a:ea typeface="Libre Franklin"/>
                <a:cs typeface="Libre Franklin"/>
                <a:sym typeface="Libre Franklin"/>
              </a:rPr>
              <a:t>:</a:t>
            </a:r>
            <a:endParaRPr sz="1300" dirty="0">
              <a:solidFill>
                <a:schemeClr val="dk1"/>
              </a:solidFill>
              <a:latin typeface="Libre Franklin"/>
              <a:ea typeface="Libre Franklin"/>
              <a:cs typeface="Libre Franklin"/>
              <a:sym typeface="Libre Franklin"/>
            </a:endParaRPr>
          </a:p>
        </p:txBody>
      </p:sp>
      <p:sp>
        <p:nvSpPr>
          <p:cNvPr id="628" name="Google Shape;628;p62"/>
          <p:cNvSpPr txBox="1"/>
          <p:nvPr/>
        </p:nvSpPr>
        <p:spPr>
          <a:xfrm>
            <a:off x="1073379" y="2963502"/>
            <a:ext cx="10064403"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Sotto la frequenza di risonanza, il componente si comporta prevalentemente da condensatore. In questa zona la risposta cresce e il circuito lascia passare sempre meglio il segnale.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Intorno a:</a:t>
            </a:r>
            <a:endParaRPr sz="1200" i="1" dirty="0">
              <a:latin typeface="Segoe UI" panose="020B0502040204020203" pitchFamily="34" charset="0"/>
              <a:cs typeface="Segoe UI" panose="020B0502040204020203" pitchFamily="34" charset="0"/>
              <a:sym typeface="Libre Franklin"/>
            </a:endParaRPr>
          </a:p>
        </p:txBody>
      </p:sp>
      <p:sp>
        <p:nvSpPr>
          <p:cNvPr id="630" name="Google Shape;630;p62"/>
          <p:cNvSpPr txBox="1"/>
          <p:nvPr/>
        </p:nvSpPr>
        <p:spPr>
          <a:xfrm>
            <a:off x="1073379" y="4240582"/>
            <a:ext cx="4308159" cy="763256"/>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0"/>
              </a:spcAft>
              <a:buClr>
                <a:schemeClr val="dk1"/>
              </a:buClr>
              <a:buSzPts val="1300"/>
            </a:pPr>
            <a:r>
              <a:rPr lang="it-IT" sz="1200" dirty="0">
                <a:latin typeface="Segoe UI" panose="020B0502040204020203" pitchFamily="34" charset="0"/>
                <a:cs typeface="Segoe UI" panose="020B0502040204020203" pitchFamily="34" charset="0"/>
                <a:sym typeface="Libre Franklin"/>
              </a:rPr>
              <a:t>si ha il punto di risonanza: la reattanza capacitiva e quella induttiva si compensano:</a:t>
            </a:r>
            <a:endParaRPr sz="1200" dirty="0">
              <a:latin typeface="Segoe UI" panose="020B0502040204020203" pitchFamily="34" charset="0"/>
              <a:cs typeface="Segoe UI" panose="020B0502040204020203" pitchFamily="34" charset="0"/>
              <a:sym typeface="Libre Franklin"/>
            </a:endParaRPr>
          </a:p>
        </p:txBody>
      </p:sp>
      <p:sp>
        <p:nvSpPr>
          <p:cNvPr id="632" name="Google Shape;632;p62"/>
          <p:cNvSpPr txBox="1"/>
          <p:nvPr/>
        </p:nvSpPr>
        <p:spPr>
          <a:xfrm>
            <a:off x="1073379" y="5223866"/>
            <a:ext cx="69594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In questa zona la risposta raggiunge il valore massimo.</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A8216B01-DB17-CD37-DC95-4CDB94C65B9C}"/>
                  </a:ext>
                </a:extLst>
              </p:cNvPr>
              <p:cNvSpPr txBox="1"/>
              <p:nvPr/>
            </p:nvSpPr>
            <p:spPr>
              <a:xfrm>
                <a:off x="1073380" y="2303456"/>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2" name="CasellaDiTesto 1">
                <a:extLst>
                  <a:ext uri="{FF2B5EF4-FFF2-40B4-BE49-F238E27FC236}">
                    <a16:creationId xmlns:a16="http://schemas.microsoft.com/office/drawing/2014/main" id="{A8216B01-DB17-CD37-DC95-4CDB94C65B9C}"/>
                  </a:ext>
                </a:extLst>
              </p:cNvPr>
              <p:cNvSpPr txBox="1">
                <a:spLocks noRot="1" noChangeAspect="1" noMove="1" noResize="1" noEditPoints="1" noAdjustHandles="1" noChangeArrowheads="1" noChangeShapeType="1" noTextEdit="1"/>
              </p:cNvSpPr>
              <p:nvPr/>
            </p:nvSpPr>
            <p:spPr>
              <a:xfrm>
                <a:off x="1073380" y="2303456"/>
                <a:ext cx="1134606" cy="444994"/>
              </a:xfrm>
              <a:prstGeom prst="rect">
                <a:avLst/>
              </a:prstGeom>
              <a:blipFill>
                <a:blip r:embed="rId3"/>
                <a:stretch>
                  <a:fillRect l="-4301" r="-538" b="-95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E3D5EDA-5D4D-2AE4-E72D-C848D31017E1}"/>
                  </a:ext>
                </a:extLst>
              </p:cNvPr>
              <p:cNvSpPr txBox="1"/>
              <p:nvPr/>
            </p:nvSpPr>
            <p:spPr>
              <a:xfrm>
                <a:off x="3242344" y="2412528"/>
                <a:ext cx="9161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𝐶</m:t>
                      </m:r>
                      <m:r>
                        <a:rPr lang="it-IT" b="0" i="1" smtClean="0">
                          <a:latin typeface="Cambria Math" panose="02040503050406030204" pitchFamily="18" charset="0"/>
                        </a:rPr>
                        <m:t>=100</m:t>
                      </m:r>
                      <m:r>
                        <a:rPr lang="it-IT" b="0" i="1" smtClean="0">
                          <a:latin typeface="Cambria Math" panose="02040503050406030204" pitchFamily="18" charset="0"/>
                        </a:rPr>
                        <m:t>𝑛𝐹</m:t>
                      </m:r>
                    </m:oMath>
                  </m:oMathPara>
                </a14:m>
                <a:endParaRPr lang="it-IT" dirty="0"/>
              </a:p>
            </p:txBody>
          </p:sp>
        </mc:Choice>
        <mc:Fallback xmlns="">
          <p:sp>
            <p:nvSpPr>
              <p:cNvPr id="3" name="CasellaDiTesto 2">
                <a:extLst>
                  <a:ext uri="{FF2B5EF4-FFF2-40B4-BE49-F238E27FC236}">
                    <a16:creationId xmlns:a16="http://schemas.microsoft.com/office/drawing/2014/main" id="{9E3D5EDA-5D4D-2AE4-E72D-C848D31017E1}"/>
                  </a:ext>
                </a:extLst>
              </p:cNvPr>
              <p:cNvSpPr txBox="1">
                <a:spLocks noRot="1" noChangeAspect="1" noMove="1" noResize="1" noEditPoints="1" noAdjustHandles="1" noChangeArrowheads="1" noChangeShapeType="1" noTextEdit="1"/>
              </p:cNvSpPr>
              <p:nvPr/>
            </p:nvSpPr>
            <p:spPr>
              <a:xfrm>
                <a:off x="3242344" y="2412528"/>
                <a:ext cx="916148" cy="215444"/>
              </a:xfrm>
              <a:prstGeom prst="rect">
                <a:avLst/>
              </a:prstGeom>
              <a:blipFill>
                <a:blip r:embed="rId4"/>
                <a:stretch>
                  <a:fillRect l="-3333" r="-3333"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087467C-007E-FBDC-8478-2C444141F726}"/>
                  </a:ext>
                </a:extLst>
              </p:cNvPr>
              <p:cNvSpPr txBox="1"/>
              <p:nvPr/>
            </p:nvSpPr>
            <p:spPr>
              <a:xfrm>
                <a:off x="5127110" y="2395657"/>
                <a:ext cx="906010"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4" name="CasellaDiTesto 3">
                <a:extLst>
                  <a:ext uri="{FF2B5EF4-FFF2-40B4-BE49-F238E27FC236}">
                    <a16:creationId xmlns:a16="http://schemas.microsoft.com/office/drawing/2014/main" id="{8087467C-007E-FBDC-8478-2C444141F726}"/>
                  </a:ext>
                </a:extLst>
              </p:cNvPr>
              <p:cNvSpPr txBox="1">
                <a:spLocks noRot="1" noChangeAspect="1" noMove="1" noResize="1" noEditPoints="1" noAdjustHandles="1" noChangeArrowheads="1" noChangeShapeType="1" noTextEdit="1"/>
              </p:cNvSpPr>
              <p:nvPr/>
            </p:nvSpPr>
            <p:spPr>
              <a:xfrm>
                <a:off x="5127110" y="2395657"/>
                <a:ext cx="906010" cy="215444"/>
              </a:xfrm>
              <a:prstGeom prst="rect">
                <a:avLst/>
              </a:prstGeom>
              <a:blipFill>
                <a:blip r:embed="rId5"/>
                <a:stretch>
                  <a:fillRect l="-2685" t="-25714" r="-7383"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BE84F7B-A8A8-F7C4-45FD-C0A6DF5ED29F}"/>
                  </a:ext>
                </a:extLst>
              </p:cNvPr>
              <p:cNvSpPr txBox="1"/>
              <p:nvPr/>
            </p:nvSpPr>
            <p:spPr>
              <a:xfrm>
                <a:off x="7754928" y="2407160"/>
                <a:ext cx="10780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5" name="CasellaDiTesto 4">
                <a:extLst>
                  <a:ext uri="{FF2B5EF4-FFF2-40B4-BE49-F238E27FC236}">
                    <a16:creationId xmlns:a16="http://schemas.microsoft.com/office/drawing/2014/main" id="{4BE84F7B-A8A8-F7C4-45FD-C0A6DF5ED29F}"/>
                  </a:ext>
                </a:extLst>
              </p:cNvPr>
              <p:cNvSpPr txBox="1">
                <a:spLocks noRot="1" noChangeAspect="1" noMove="1" noResize="1" noEditPoints="1" noAdjustHandles="1" noChangeArrowheads="1" noChangeShapeType="1" noTextEdit="1"/>
              </p:cNvSpPr>
              <p:nvPr/>
            </p:nvSpPr>
            <p:spPr>
              <a:xfrm>
                <a:off x="7754928" y="2407160"/>
                <a:ext cx="1078052" cy="215444"/>
              </a:xfrm>
              <a:prstGeom prst="rect">
                <a:avLst/>
              </a:prstGeom>
              <a:blipFill>
                <a:blip r:embed="rId6"/>
                <a:stretch>
                  <a:fillRect l="-4520" r="-2260"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E74DED3-F023-9AD5-2F9D-8748204A9FCE}"/>
                  </a:ext>
                </a:extLst>
              </p:cNvPr>
              <p:cNvSpPr txBox="1"/>
              <p:nvPr/>
            </p:nvSpPr>
            <p:spPr>
              <a:xfrm>
                <a:off x="2293695" y="3731342"/>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6" name="CasellaDiTesto 5">
                <a:extLst>
                  <a:ext uri="{FF2B5EF4-FFF2-40B4-BE49-F238E27FC236}">
                    <a16:creationId xmlns:a16="http://schemas.microsoft.com/office/drawing/2014/main" id="{FE74DED3-F023-9AD5-2F9D-8748204A9FCE}"/>
                  </a:ext>
                </a:extLst>
              </p:cNvPr>
              <p:cNvSpPr txBox="1">
                <a:spLocks noRot="1" noChangeAspect="1" noMove="1" noResize="1" noEditPoints="1" noAdjustHandles="1" noChangeArrowheads="1" noChangeShapeType="1" noTextEdit="1"/>
              </p:cNvSpPr>
              <p:nvPr/>
            </p:nvSpPr>
            <p:spPr>
              <a:xfrm>
                <a:off x="2293695" y="3731342"/>
                <a:ext cx="1242264" cy="215444"/>
              </a:xfrm>
              <a:prstGeom prst="rect">
                <a:avLst/>
              </a:prstGeom>
              <a:blipFill>
                <a:blip r:embed="rId7"/>
                <a:stretch>
                  <a:fillRect b="-32432"/>
                </a:stretch>
              </a:blipFill>
              <a:ln>
                <a:solidFill>
                  <a:schemeClr val="tx1"/>
                </a:solidFill>
              </a:ln>
            </p:spPr>
            <p:txBody>
              <a:bodyPr/>
              <a:lstStyle/>
              <a:p>
                <a:r>
                  <a:rPr lang="it-IT">
                    <a:noFill/>
                  </a:rPr>
                  <a:t> </a:t>
                </a:r>
              </a:p>
            </p:txBody>
          </p:sp>
        </mc:Fallback>
      </mc:AlternateContent>
      <p:cxnSp>
        <p:nvCxnSpPr>
          <p:cNvPr id="8" name="Connettore 2 7">
            <a:extLst>
              <a:ext uri="{FF2B5EF4-FFF2-40B4-BE49-F238E27FC236}">
                <a16:creationId xmlns:a16="http://schemas.microsoft.com/office/drawing/2014/main" id="{FFAA1808-C419-1AF5-DCE2-E678C76120AD}"/>
              </a:ext>
            </a:extLst>
          </p:cNvPr>
          <p:cNvCxnSpPr/>
          <p:nvPr/>
        </p:nvCxnSpPr>
        <p:spPr>
          <a:xfrm>
            <a:off x="6153325" y="2503379"/>
            <a:ext cx="14135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2CD854B5-33F5-D818-F01A-6665FF976C26}"/>
                  </a:ext>
                </a:extLst>
              </p:cNvPr>
              <p:cNvSpPr txBox="1"/>
              <p:nvPr/>
            </p:nvSpPr>
            <p:spPr>
              <a:xfrm>
                <a:off x="2608901" y="5014740"/>
                <a:ext cx="63344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𝑐</m:t>
                          </m:r>
                        </m:sub>
                      </m:sSub>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𝐿</m:t>
                          </m:r>
                        </m:sub>
                      </m:sSub>
                    </m:oMath>
                  </m:oMathPara>
                </a14:m>
                <a:endParaRPr lang="it-IT" dirty="0"/>
              </a:p>
            </p:txBody>
          </p:sp>
        </mc:Choice>
        <mc:Fallback xmlns="">
          <p:sp>
            <p:nvSpPr>
              <p:cNvPr id="9" name="CasellaDiTesto 8">
                <a:extLst>
                  <a:ext uri="{FF2B5EF4-FFF2-40B4-BE49-F238E27FC236}">
                    <a16:creationId xmlns:a16="http://schemas.microsoft.com/office/drawing/2014/main" id="{2CD854B5-33F5-D818-F01A-6665FF976C26}"/>
                  </a:ext>
                </a:extLst>
              </p:cNvPr>
              <p:cNvSpPr txBox="1">
                <a:spLocks noRot="1" noChangeAspect="1" noMove="1" noResize="1" noEditPoints="1" noAdjustHandles="1" noChangeArrowheads="1" noChangeShapeType="1" noTextEdit="1"/>
              </p:cNvSpPr>
              <p:nvPr/>
            </p:nvSpPr>
            <p:spPr>
              <a:xfrm>
                <a:off x="2608901" y="5014740"/>
                <a:ext cx="633443" cy="215444"/>
              </a:xfrm>
              <a:prstGeom prst="rect">
                <a:avLst/>
              </a:prstGeom>
              <a:blipFill>
                <a:blip r:embed="rId8"/>
                <a:stretch>
                  <a:fillRect l="-2885" b="-17143"/>
                </a:stretch>
              </a:blipFill>
            </p:spPr>
            <p:txBody>
              <a:bodyPr/>
              <a:lstStyle/>
              <a:p>
                <a:r>
                  <a:rPr lang="it-IT">
                    <a:noFill/>
                  </a:rPr>
                  <a:t> </a:t>
                </a:r>
              </a:p>
            </p:txBody>
          </p:sp>
        </mc:Fallback>
      </mc:AlternateContent>
      <p:pic>
        <p:nvPicPr>
          <p:cNvPr id="10" name="Immagine 9">
            <a:extLst>
              <a:ext uri="{FF2B5EF4-FFF2-40B4-BE49-F238E27FC236}">
                <a16:creationId xmlns:a16="http://schemas.microsoft.com/office/drawing/2014/main" id="{8932A1C4-6D5E-4E4E-6104-3D8BA3E88D0C}"/>
              </a:ext>
            </a:extLst>
          </p:cNvPr>
          <p:cNvPicPr>
            <a:picLocks noChangeAspect="1"/>
          </p:cNvPicPr>
          <p:nvPr/>
        </p:nvPicPr>
        <p:blipFill>
          <a:blip r:embed="rId9"/>
          <a:stretch>
            <a:fillRect/>
          </a:stretch>
        </p:blipFill>
        <p:spPr>
          <a:xfrm>
            <a:off x="5381538" y="3454385"/>
            <a:ext cx="5473816" cy="2693420"/>
          </a:xfrm>
          <a:prstGeom prst="rect">
            <a:avLst/>
          </a:prstGeom>
        </p:spPr>
      </p:pic>
      <p:sp>
        <p:nvSpPr>
          <p:cNvPr id="11" name="Segnaposto numero diapositiva 10">
            <a:extLst>
              <a:ext uri="{FF2B5EF4-FFF2-40B4-BE49-F238E27FC236}">
                <a16:creationId xmlns:a16="http://schemas.microsoft.com/office/drawing/2014/main" id="{01B313C0-B12B-DA32-D256-9FB543E75ED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a:t>
            </a:fld>
            <a:endParaRPr lang="it-IT"/>
          </a:p>
        </p:txBody>
      </p:sp>
      <p:sp>
        <p:nvSpPr>
          <p:cNvPr id="7" name="Freccia in giù 6">
            <a:hlinkClick r:id="rId10" action="ppaction://hlinksldjump"/>
            <a:extLst>
              <a:ext uri="{FF2B5EF4-FFF2-40B4-BE49-F238E27FC236}">
                <a16:creationId xmlns:a16="http://schemas.microsoft.com/office/drawing/2014/main" id="{B1028384-B26E-AC18-2C09-FFF0E596E7BB}"/>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Freccia in giù 11">
            <a:hlinkClick r:id="rId11" action="ppaction://hlinksldjump"/>
            <a:extLst>
              <a:ext uri="{FF2B5EF4-FFF2-40B4-BE49-F238E27FC236}">
                <a16:creationId xmlns:a16="http://schemas.microsoft.com/office/drawing/2014/main" id="{ED0FA7F1-92A3-F696-92B8-533AAE8A94B7}"/>
              </a:ext>
            </a:extLst>
          </p:cNvPr>
          <p:cNvSpPr/>
          <p:nvPr/>
        </p:nvSpPr>
        <p:spPr>
          <a:xfrm>
            <a:off x="111712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2083D3E6-17FB-AB38-A14F-E27F42D8960F}"/>
                  </a:ext>
                </a:extLst>
              </p:cNvPr>
              <p:cNvSpPr txBox="1"/>
              <p:nvPr/>
            </p:nvSpPr>
            <p:spPr>
              <a:xfrm>
                <a:off x="5086612" y="3515898"/>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13" name="CasellaDiTesto 12">
                <a:extLst>
                  <a:ext uri="{FF2B5EF4-FFF2-40B4-BE49-F238E27FC236}">
                    <a16:creationId xmlns:a16="http://schemas.microsoft.com/office/drawing/2014/main" id="{2083D3E6-17FB-AB38-A14F-E27F42D8960F}"/>
                  </a:ext>
                </a:extLst>
              </p:cNvPr>
              <p:cNvSpPr txBox="1">
                <a:spLocks noRot="1" noChangeAspect="1" noMove="1" noResize="1" noEditPoints="1" noAdjustHandles="1" noChangeArrowheads="1" noChangeShapeType="1" noTextEdit="1"/>
              </p:cNvSpPr>
              <p:nvPr/>
            </p:nvSpPr>
            <p:spPr>
              <a:xfrm>
                <a:off x="5086612" y="3515898"/>
                <a:ext cx="277320" cy="215444"/>
              </a:xfrm>
              <a:prstGeom prst="rect">
                <a:avLst/>
              </a:prstGeom>
              <a:blipFill>
                <a:blip r:embed="rId12"/>
                <a:stretch>
                  <a:fillRect l="-13043" r="-10870"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4" name="CasellaDiTesto 13">
                <a:extLst>
                  <a:ext uri="{FF2B5EF4-FFF2-40B4-BE49-F238E27FC236}">
                    <a16:creationId xmlns:a16="http://schemas.microsoft.com/office/drawing/2014/main" id="{09FD721E-2C3E-5C30-DAF0-846418F5FA12}"/>
                  </a:ext>
                </a:extLst>
              </p:cNvPr>
              <p:cNvSpPr txBox="1"/>
              <p:nvPr/>
            </p:nvSpPr>
            <p:spPr>
              <a:xfrm>
                <a:off x="9272652" y="591005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14" name="CasellaDiTesto 13">
                <a:extLst>
                  <a:ext uri="{FF2B5EF4-FFF2-40B4-BE49-F238E27FC236}">
                    <a16:creationId xmlns:a16="http://schemas.microsoft.com/office/drawing/2014/main" id="{09FD721E-2C3E-5C30-DAF0-846418F5FA12}"/>
                  </a:ext>
                </a:extLst>
              </p:cNvPr>
              <p:cNvSpPr txBox="1">
                <a:spLocks noRot="1" noChangeAspect="1" noMove="1" noResize="1" noEditPoints="1" noAdjustHandles="1" noChangeArrowheads="1" noChangeShapeType="1" noTextEdit="1"/>
              </p:cNvSpPr>
              <p:nvPr/>
            </p:nvSpPr>
            <p:spPr>
              <a:xfrm>
                <a:off x="9272652" y="5910051"/>
                <a:ext cx="1723916" cy="215444"/>
              </a:xfrm>
              <a:prstGeom prst="rect">
                <a:avLst/>
              </a:prstGeom>
              <a:blipFill>
                <a:blip r:embed="rId13"/>
                <a:stretch>
                  <a:fillRect b="-33333"/>
                </a:stretch>
              </a:blipFill>
            </p:spPr>
            <p:txBody>
              <a:bodyPr/>
              <a:lstStyle/>
              <a:p>
                <a:r>
                  <a:rPr lang="it-IT">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2" name="Google Shape;672;p67"/>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A27DB711-25BF-5EE7-4928-2B3EF3B79110}"/>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B5A8E229-7DFA-6835-B019-88C49D6431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a:t>
            </a:fld>
            <a:endParaRPr lang="it-IT"/>
          </a:p>
        </p:txBody>
      </p:sp>
      <p:sp>
        <p:nvSpPr>
          <p:cNvPr id="3" name="Freccia in giù 2">
            <a:hlinkClick r:id="rId6" action="ppaction://hlinksldjump"/>
            <a:extLst>
              <a:ext uri="{FF2B5EF4-FFF2-40B4-BE49-F238E27FC236}">
                <a16:creationId xmlns:a16="http://schemas.microsoft.com/office/drawing/2014/main" id="{90D657E4-6FAC-CBDD-89C8-9AC7F463F43B}"/>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6"/>
          <p:cNvSpPr txBox="1"/>
          <p:nvPr/>
        </p:nvSpPr>
        <p:spPr>
          <a:xfrm>
            <a:off x="1061207" y="756125"/>
            <a:ext cx="805236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passivo al filtro HP attivo ideale</a:t>
            </a:r>
            <a:endParaRPr dirty="0">
              <a:sym typeface="Libre Franklin SemiBold"/>
            </a:endParaRPr>
          </a:p>
        </p:txBody>
      </p:sp>
      <p:sp>
        <p:nvSpPr>
          <p:cNvPr id="664" name="Google Shape;664;p66"/>
          <p:cNvSpPr txBox="1"/>
          <p:nvPr/>
        </p:nvSpPr>
        <p:spPr>
          <a:xfrm>
            <a:off x="1061207" y="1514225"/>
            <a:ext cx="10079373" cy="1164904"/>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dirty="0">
                <a:sym typeface="Libre Franklin"/>
              </a:rPr>
              <a:t>Dopo aver concluso l’analisi del filtro passa-alto passivo, passiamo ora allo studio del filtro passa-alto attivo con operazionale ideale.</a:t>
            </a:r>
            <a:endParaRPr dirty="0">
              <a:sym typeface="Libre Franklin"/>
            </a:endParaRPr>
          </a:p>
          <a:p>
            <a:r>
              <a:rPr lang="it-IT" dirty="0">
                <a:sym typeface="Libre Franklin"/>
              </a:rPr>
              <a:t>Nel filtro passivo abbiamo visto che il comportamento principale dipende dalla rete RC: il condensatore blocca le basse frequenze e lascia passare progressivamente le alte frequenze. La frequenza di taglio è determinata dalla relazione:</a:t>
            </a:r>
            <a:endParaRPr dirty="0">
              <a:sym typeface="Libre Franklin"/>
            </a:endParaRPr>
          </a:p>
        </p:txBody>
      </p:sp>
      <p:sp>
        <p:nvSpPr>
          <p:cNvPr id="666" name="Google Shape;666;p66"/>
          <p:cNvSpPr txBox="1"/>
          <p:nvPr/>
        </p:nvSpPr>
        <p:spPr>
          <a:xfrm>
            <a:off x="1061206" y="3662348"/>
            <a:ext cx="10079373" cy="21328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i="1" u="sng" dirty="0">
                <a:sym typeface="Libre Franklin"/>
              </a:rPr>
              <a:t>Questo concetto rimane valido anche nel filtro attivo, perché la parte selettiva del circuito è ancora basata sul prodotto RC.</a:t>
            </a:r>
            <a:endParaRPr i="1" u="sng" dirty="0">
              <a:sym typeface="Libre Franklin"/>
            </a:endParaRPr>
          </a:p>
          <a:p>
            <a:r>
              <a:rPr lang="it-IT" b="1" i="1" dirty="0">
                <a:sym typeface="Libre Franklin"/>
              </a:rPr>
              <a:t>La differenza principale è che nel filtro attivo viene introdotto un amplificatore operazionale, che permette non solo di filtrare il segnale, ma anche di controllarne il guadagno. Quindi, mentre il filtro passivo può solo attenuare o al massimo arrivare a un guadagno unitario, il filtro attivo può fornire anche amplificazione.</a:t>
            </a:r>
            <a:endParaRPr b="1" i="1" dirty="0">
              <a:sym typeface="Libre Franklin"/>
            </a:endParaRPr>
          </a:p>
          <a:p>
            <a:r>
              <a:rPr lang="it-IT" dirty="0">
                <a:sym typeface="Libre Franklin"/>
              </a:rPr>
              <a:t>Ritroveremo quindi gli stessi concetti già osservati nel passivo: frequenza di taglio, andamento del Bode, effetto della variazione di R e C, risposta transitoria e influenza dei componenti reali. </a:t>
            </a:r>
            <a:r>
              <a:rPr lang="it-IT" i="1" dirty="0">
                <a:sym typeface="Libre Franklin"/>
              </a:rPr>
              <a:t>La differenza è che ora il comportamento del filtro sarà combinato con l’azione dell’operazionale, che migliora il controllo del segnale e permette una risposta più adatta alle applicazioni pratiche.</a:t>
            </a:r>
            <a:endParaRPr i="1"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4252536B-C1CF-19A0-DEA4-F8757FC97F08}"/>
                  </a:ext>
                </a:extLst>
              </p:cNvPr>
              <p:cNvSpPr txBox="1"/>
              <p:nvPr/>
            </p:nvSpPr>
            <p:spPr>
              <a:xfrm>
                <a:off x="5168677" y="2758432"/>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2" name="CasellaDiTesto 1">
                <a:extLst>
                  <a:ext uri="{FF2B5EF4-FFF2-40B4-BE49-F238E27FC236}">
                    <a16:creationId xmlns:a16="http://schemas.microsoft.com/office/drawing/2014/main" id="{4252536B-C1CF-19A0-DEA4-F8757FC97F08}"/>
                  </a:ext>
                </a:extLst>
              </p:cNvPr>
              <p:cNvSpPr txBox="1">
                <a:spLocks noRot="1" noChangeAspect="1" noMove="1" noResize="1" noEditPoints="1" noAdjustHandles="1" noChangeArrowheads="1" noChangeShapeType="1" noTextEdit="1"/>
              </p:cNvSpPr>
              <p:nvPr/>
            </p:nvSpPr>
            <p:spPr>
              <a:xfrm>
                <a:off x="5168677" y="2758432"/>
                <a:ext cx="1392573" cy="670568"/>
              </a:xfrm>
              <a:prstGeom prst="rect">
                <a:avLst/>
              </a:prstGeom>
              <a:blipFill>
                <a:blip r:embed="rId3"/>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94640DAC-DEE7-47BF-7C97-BAB6C32F1B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14</a:t>
            </a:fld>
            <a:endParaRPr lang="it-IT"/>
          </a:p>
        </p:txBody>
      </p:sp>
      <p:sp>
        <p:nvSpPr>
          <p:cNvPr id="4" name="Freccia in giù 3">
            <a:hlinkClick r:id="rId4" action="ppaction://hlinksldjump"/>
            <a:extLst>
              <a:ext uri="{FF2B5EF4-FFF2-40B4-BE49-F238E27FC236}">
                <a16:creationId xmlns:a16="http://schemas.microsoft.com/office/drawing/2014/main" id="{89E35A0F-C4F7-F035-D766-E395FCB7995B}"/>
              </a:ext>
            </a:extLst>
          </p:cNvPr>
          <p:cNvSpPr/>
          <p:nvPr/>
        </p:nvSpPr>
        <p:spPr>
          <a:xfrm>
            <a:off x="96599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Freccia in giù 4">
            <a:hlinkClick r:id="rId5" action="ppaction://hlinksldjump"/>
            <a:extLst>
              <a:ext uri="{FF2B5EF4-FFF2-40B4-BE49-F238E27FC236}">
                <a16:creationId xmlns:a16="http://schemas.microsoft.com/office/drawing/2014/main" id="{4E5D10C7-95E4-3B03-ABBC-4580DE8023ED}"/>
              </a:ext>
            </a:extLst>
          </p:cNvPr>
          <p:cNvSpPr/>
          <p:nvPr/>
        </p:nvSpPr>
        <p:spPr>
          <a:xfrm>
            <a:off x="10073779"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Freccia in giù 5">
            <a:hlinkClick r:id="rId6" action="ppaction://hlinksldjump"/>
            <a:extLst>
              <a:ext uri="{FF2B5EF4-FFF2-40B4-BE49-F238E27FC236}">
                <a16:creationId xmlns:a16="http://schemas.microsoft.com/office/drawing/2014/main" id="{6F643415-9798-5D19-BAA2-7A1B39802532}"/>
              </a:ext>
            </a:extLst>
          </p:cNvPr>
          <p:cNvSpPr/>
          <p:nvPr/>
        </p:nvSpPr>
        <p:spPr>
          <a:xfrm>
            <a:off x="10767759"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1" name="Google Shape;721;p72"/>
          <p:cNvSpPr txBox="1"/>
          <p:nvPr/>
        </p:nvSpPr>
        <p:spPr>
          <a:xfrm>
            <a:off x="1122026" y="954018"/>
            <a:ext cx="10100346" cy="91714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differenza rispetto al passivo è che ora il guadagno può essere impostato tramite la retroazione dell’operazionale. In banda passante, il guadagno vale:</a:t>
            </a:r>
            <a:endParaRPr sz="1200" dirty="0">
              <a:latin typeface="Segoe UI" panose="020B0502040204020203" pitchFamily="34" charset="0"/>
              <a:cs typeface="Segoe UI" panose="020B0502040204020203" pitchFamily="34" charset="0"/>
              <a:sym typeface="Libre Franklin"/>
            </a:endParaRPr>
          </a:p>
        </p:txBody>
      </p:sp>
      <p:sp>
        <p:nvSpPr>
          <p:cNvPr id="723" name="Google Shape;723;p72"/>
          <p:cNvSpPr txBox="1"/>
          <p:nvPr/>
        </p:nvSpPr>
        <p:spPr>
          <a:xfrm>
            <a:off x="1279322" y="2529361"/>
            <a:ext cx="3598877" cy="271148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dirty="0">
                <a:sym typeface="Libre Franklin"/>
              </a:rPr>
              <a:t>Quindi il circuito ha guadagno 2 in ampiezza, ma essendo una configurazione invertente l’uscita è sfasata di 180° rispetto all’ingresso.</a:t>
            </a:r>
          </a:p>
          <a:p>
            <a:pPr algn="ctr"/>
            <a:r>
              <a:rPr lang="it-IT" i="1" dirty="0">
                <a:sym typeface="Libre Franklin"/>
              </a:rPr>
              <a:t>Nel grafico si osserva infatti che, superata la frequenza di taglio, la risposta si stabilizza a un valore doppio rispetto al riferimento d’ingresso. In sintesi, la rete RC definisce il taglio, mentre l’operazionale permette di ottenere un’uscita amplificata di fattore 2.</a:t>
            </a:r>
            <a:endParaRPr i="1" dirty="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EC0FD-9E5A-3F25-293C-AA0E584F5D01}"/>
                  </a:ext>
                </a:extLst>
              </p:cNvPr>
              <p:cNvSpPr txBox="1"/>
              <p:nvPr/>
            </p:nvSpPr>
            <p:spPr>
              <a:xfrm>
                <a:off x="7040757" y="1671604"/>
                <a:ext cx="9392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𝑨</m:t>
                          </m:r>
                        </m:e>
                        <m:sub>
                          <m:r>
                            <a:rPr lang="it-IT" sz="1800" b="1" i="1">
                              <a:latin typeface="Cambria Math" panose="02040503050406030204" pitchFamily="18" charset="0"/>
                            </a:rPr>
                            <m:t>𝒗</m:t>
                          </m:r>
                        </m:sub>
                      </m:sSub>
                      <m:r>
                        <a:rPr lang="it-IT" sz="1800" b="1" i="0">
                          <a:latin typeface="Cambria Math" panose="02040503050406030204" pitchFamily="18" charset="0"/>
                        </a:rPr>
                        <m:t>=</m:t>
                      </m:r>
                      <m:r>
                        <a:rPr lang="it-IT" sz="1800" b="1" i="0" smtClean="0">
                          <a:latin typeface="Cambria Math" panose="02040503050406030204" pitchFamily="18" charset="0"/>
                        </a:rPr>
                        <m:t>−</m:t>
                      </m:r>
                      <m:r>
                        <a:rPr lang="it-IT" sz="1800" b="1" i="1" smtClean="0">
                          <a:latin typeface="Cambria Math" panose="02040503050406030204" pitchFamily="18" charset="0"/>
                        </a:rPr>
                        <m:t>𝟐</m:t>
                      </m:r>
                    </m:oMath>
                  </m:oMathPara>
                </a14:m>
                <a:endParaRPr lang="it-IT" sz="1800" b="1" dirty="0"/>
              </a:p>
            </p:txBody>
          </p:sp>
        </mc:Choice>
        <mc:Fallback xmlns="">
          <p:sp>
            <p:nvSpPr>
              <p:cNvPr id="3" name="CasellaDiTesto 2">
                <a:extLst>
                  <a:ext uri="{FF2B5EF4-FFF2-40B4-BE49-F238E27FC236}">
                    <a16:creationId xmlns:a16="http://schemas.microsoft.com/office/drawing/2014/main" id="{76CEC0FD-9E5A-3F25-293C-AA0E584F5D01}"/>
                  </a:ext>
                </a:extLst>
              </p:cNvPr>
              <p:cNvSpPr txBox="1">
                <a:spLocks noRot="1" noChangeAspect="1" noMove="1" noResize="1" noEditPoints="1" noAdjustHandles="1" noChangeArrowheads="1" noChangeShapeType="1" noTextEdit="1"/>
              </p:cNvSpPr>
              <p:nvPr/>
            </p:nvSpPr>
            <p:spPr>
              <a:xfrm>
                <a:off x="7040757" y="1671604"/>
                <a:ext cx="939295" cy="276999"/>
              </a:xfrm>
              <a:prstGeom prst="rect">
                <a:avLst/>
              </a:prstGeom>
              <a:blipFill>
                <a:blip r:embed="rId3"/>
                <a:stretch>
                  <a:fillRect l="-5195" r="-5195" b="-10870"/>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752BF569-8AD7-99D4-32D4-99F4E5862008}"/>
              </a:ext>
            </a:extLst>
          </p:cNvPr>
          <p:cNvPicPr>
            <a:picLocks noChangeAspect="1"/>
          </p:cNvPicPr>
          <p:nvPr/>
        </p:nvPicPr>
        <p:blipFill>
          <a:blip r:embed="rId4"/>
          <a:stretch>
            <a:fillRect/>
          </a:stretch>
        </p:blipFill>
        <p:spPr>
          <a:xfrm>
            <a:off x="5075992" y="2529361"/>
            <a:ext cx="5494461" cy="2711481"/>
          </a:xfrm>
          <a:prstGeom prst="rect">
            <a:avLst/>
          </a:prstGeom>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B54EB8D-24A8-ADE8-EAC8-80AB773F9AB8}"/>
                  </a:ext>
                </a:extLst>
              </p:cNvPr>
              <p:cNvSpPr txBox="1"/>
              <p:nvPr/>
            </p:nvSpPr>
            <p:spPr>
              <a:xfrm>
                <a:off x="3708484" y="1587221"/>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EB54EB8D-24A8-ADE8-EAC8-80AB773F9AB8}"/>
                  </a:ext>
                </a:extLst>
              </p:cNvPr>
              <p:cNvSpPr txBox="1">
                <a:spLocks noRot="1" noChangeAspect="1" noMove="1" noResize="1" noEditPoints="1" noAdjustHandles="1" noChangeArrowheads="1" noChangeShapeType="1" noTextEdit="1"/>
              </p:cNvSpPr>
              <p:nvPr/>
            </p:nvSpPr>
            <p:spPr>
              <a:xfrm>
                <a:off x="3708484" y="1587221"/>
                <a:ext cx="836447" cy="445763"/>
              </a:xfrm>
              <a:prstGeom prst="rect">
                <a:avLst/>
              </a:prstGeom>
              <a:blipFill>
                <a:blip r:embed="rId5"/>
                <a:stretch>
                  <a:fillRect l="-3623" r="-2174" b="-684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DF0BE5E-483A-112A-1CA9-DA435FC9EB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15</a:t>
            </a:fld>
            <a:endParaRPr lang="it-IT"/>
          </a:p>
        </p:txBody>
      </p:sp>
      <p:sp>
        <p:nvSpPr>
          <p:cNvPr id="2" name="Freccia in giù 1">
            <a:hlinkClick r:id="rId6" action="ppaction://hlinksldjump"/>
            <a:extLst>
              <a:ext uri="{FF2B5EF4-FFF2-40B4-BE49-F238E27FC236}">
                <a16:creationId xmlns:a16="http://schemas.microsoft.com/office/drawing/2014/main" id="{22F44D53-0EBF-917E-DA0B-09F43DC7D2E5}"/>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7"/>
          <p:cNvSpPr txBox="1"/>
          <p:nvPr/>
        </p:nvSpPr>
        <p:spPr>
          <a:xfrm>
            <a:off x="1084100" y="755063"/>
            <a:ext cx="73710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Variazione di </a:t>
            </a:r>
            <a:r>
              <a:rPr lang="it-IT" dirty="0" err="1">
                <a:sym typeface="Libre Franklin"/>
              </a:rPr>
              <a:t>Rs</a:t>
            </a:r>
            <a:r>
              <a:rPr lang="it-IT" dirty="0">
                <a:sym typeface="Libre Franklin"/>
              </a:rPr>
              <a:t>​ e </a:t>
            </a:r>
            <a:r>
              <a:rPr lang="it-IT" dirty="0" err="1">
                <a:sym typeface="Libre Franklin"/>
              </a:rPr>
              <a:t>Rf</a:t>
            </a:r>
            <a:r>
              <a:rPr lang="it-IT" dirty="0">
                <a:sym typeface="Libre Franklin"/>
              </a:rPr>
              <a:t>​ nell’analisi del guadagno</a:t>
            </a:r>
            <a:endParaRPr dirty="0">
              <a:sym typeface="Libre Franklin"/>
            </a:endParaRPr>
          </a:p>
        </p:txBody>
      </p:sp>
      <p:sp>
        <p:nvSpPr>
          <p:cNvPr id="772" name="Google Shape;772;p77"/>
          <p:cNvSpPr txBox="1"/>
          <p:nvPr/>
        </p:nvSpPr>
        <p:spPr>
          <a:xfrm>
            <a:off x="1084100" y="1449475"/>
            <a:ext cx="8778600" cy="91714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Nella configurazione invertente, il guadagno del filtro attivo dipende dal rapporto tra la resistenza di retroazione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e la resistenza di ingresso </a:t>
            </a:r>
            <a:r>
              <a:rPr lang="it-IT" sz="1200" dirty="0" err="1">
                <a:latin typeface="Segoe UI" panose="020B0502040204020203" pitchFamily="34" charset="0"/>
                <a:cs typeface="Segoe UI" panose="020B0502040204020203" pitchFamily="34" charset="0"/>
              </a:rPr>
              <a:t>Rs</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774" name="Google Shape;774;p77"/>
          <p:cNvSpPr txBox="1"/>
          <p:nvPr/>
        </p:nvSpPr>
        <p:spPr>
          <a:xfrm>
            <a:off x="1084100" y="2548000"/>
            <a:ext cx="10064868" cy="16496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Questo vale sia per l’operazionale ideale sia per quello reale, almeno finché 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lavora entro i propri limiti.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modificare il guadagno non è necessario variare entrambe le resistenze contemporaneamente: essendo un rapporto, basta aumentare una delle due oppure diminuire l’altra.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Se vogliamo aumentare il guadagno, possiamo aumentare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diminuire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5" name="Google Shape;775;p77"/>
          <p:cNvPicPr preferRelativeResize="0"/>
          <p:nvPr/>
        </p:nvPicPr>
        <p:blipFill>
          <a:blip r:embed="rId3">
            <a:alphaModFix/>
          </a:blip>
          <a:stretch>
            <a:fillRect/>
          </a:stretch>
        </p:blipFill>
        <p:spPr>
          <a:xfrm>
            <a:off x="7597759" y="3414678"/>
            <a:ext cx="1138529" cy="695285"/>
          </a:xfrm>
          <a:prstGeom prst="rect">
            <a:avLst/>
          </a:prstGeom>
          <a:noFill/>
          <a:ln>
            <a:solidFill>
              <a:schemeClr val="tx1"/>
            </a:solidFill>
          </a:ln>
        </p:spPr>
      </p:pic>
      <p:sp>
        <p:nvSpPr>
          <p:cNvPr id="776" name="Google Shape;776;p77"/>
          <p:cNvSpPr txBox="1"/>
          <p:nvPr/>
        </p:nvSpPr>
        <p:spPr>
          <a:xfrm>
            <a:off x="1084100" y="4244425"/>
            <a:ext cx="7134425"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b="1" dirty="0">
                <a:latin typeface="Segoe UI" panose="020B0502040204020203" pitchFamily="34" charset="0"/>
                <a:cs typeface="Segoe UI" panose="020B0502040204020203" pitchFamily="34" charset="0"/>
              </a:rPr>
              <a:t>Se invece vogliamo ridurre il guadagno, possiamo diminuire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aumentare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7" name="Google Shape;777;p77"/>
          <p:cNvPicPr preferRelativeResize="0"/>
          <p:nvPr/>
        </p:nvPicPr>
        <p:blipFill>
          <a:blip r:embed="rId4">
            <a:alphaModFix/>
          </a:blip>
          <a:stretch>
            <a:fillRect/>
          </a:stretch>
        </p:blipFill>
        <p:spPr>
          <a:xfrm>
            <a:off x="9029700" y="3414678"/>
            <a:ext cx="1086655" cy="695285"/>
          </a:xfrm>
          <a:prstGeom prst="rect">
            <a:avLst/>
          </a:prstGeom>
          <a:noFill/>
          <a:ln>
            <a:solidFill>
              <a:schemeClr val="tx1"/>
            </a:solidFill>
          </a:ln>
        </p:spPr>
      </p:pic>
      <p:sp>
        <p:nvSpPr>
          <p:cNvPr id="778" name="Google Shape;778;p77"/>
          <p:cNvSpPr txBox="1"/>
          <p:nvPr/>
        </p:nvSpPr>
        <p:spPr>
          <a:xfrm>
            <a:off x="1084099" y="5234850"/>
            <a:ext cx="5113501"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i="1" dirty="0">
                <a:latin typeface="Segoe UI" panose="020B0502040204020203" pitchFamily="34" charset="0"/>
                <a:cs typeface="Segoe UI" panose="020B0502040204020203" pitchFamily="34" charset="0"/>
              </a:rPr>
              <a:t>Per questo motivo, nell’analisi è sufficiente agire su una delle due resistenze alla volta: cambiare </a:t>
            </a:r>
            <a:r>
              <a:rPr lang="it-IT" sz="1200" i="1" dirty="0" err="1">
                <a:latin typeface="Segoe UI" panose="020B0502040204020203" pitchFamily="34" charset="0"/>
                <a:cs typeface="Segoe UI" panose="020B0502040204020203" pitchFamily="34" charset="0"/>
              </a:rPr>
              <a:t>Rs</a:t>
            </a:r>
            <a:r>
              <a:rPr lang="it-IT" sz="1200" i="1" dirty="0">
                <a:latin typeface="Segoe UI" panose="020B0502040204020203" pitchFamily="34" charset="0"/>
                <a:cs typeface="Segoe UI" panose="020B0502040204020203" pitchFamily="34" charset="0"/>
              </a:rPr>
              <a:t>​ o </a:t>
            </a:r>
            <a:r>
              <a:rPr lang="it-IT" sz="1200" i="1" dirty="0" err="1">
                <a:latin typeface="Segoe UI" panose="020B0502040204020203" pitchFamily="34" charset="0"/>
                <a:cs typeface="Segoe UI" panose="020B0502040204020203" pitchFamily="34" charset="0"/>
              </a:rPr>
              <a:t>Rf</a:t>
            </a:r>
            <a:r>
              <a:rPr lang="it-IT" sz="1200" i="1" dirty="0">
                <a:latin typeface="Segoe UI" panose="020B0502040204020203" pitchFamily="34" charset="0"/>
                <a:cs typeface="Segoe UI" panose="020B0502040204020203" pitchFamily="34" charset="0"/>
              </a:rPr>
              <a:t>​ produce effetti equivalenti sul guadagno, perché ciò che conta è il loro rapporto.</a:t>
            </a:r>
            <a:endParaRPr sz="1200" i="1" dirty="0">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05E5262-961B-5759-D53F-724AE77EF508}"/>
                  </a:ext>
                </a:extLst>
              </p:cNvPr>
              <p:cNvSpPr txBox="1"/>
              <p:nvPr/>
            </p:nvSpPr>
            <p:spPr>
              <a:xfrm>
                <a:off x="4627079" y="2077678"/>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2" name="CasellaDiTesto 1">
                <a:extLst>
                  <a:ext uri="{FF2B5EF4-FFF2-40B4-BE49-F238E27FC236}">
                    <a16:creationId xmlns:a16="http://schemas.microsoft.com/office/drawing/2014/main" id="{B05E5262-961B-5759-D53F-724AE77EF508}"/>
                  </a:ext>
                </a:extLst>
              </p:cNvPr>
              <p:cNvSpPr txBox="1">
                <a:spLocks noRot="1" noChangeAspect="1" noMove="1" noResize="1" noEditPoints="1" noAdjustHandles="1" noChangeArrowheads="1" noChangeShapeType="1" noTextEdit="1"/>
              </p:cNvSpPr>
              <p:nvPr/>
            </p:nvSpPr>
            <p:spPr>
              <a:xfrm>
                <a:off x="4627079" y="2077678"/>
                <a:ext cx="836447" cy="445763"/>
              </a:xfrm>
              <a:prstGeom prst="rect">
                <a:avLst/>
              </a:prstGeom>
              <a:blipFill>
                <a:blip r:embed="rId5"/>
                <a:stretch>
                  <a:fillRect l="-3650" r="-2920" b="-547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F21C37D-395F-ABF7-7F9E-EEF7CA90CC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16</a:t>
            </a:fld>
            <a:endParaRPr lang="it-IT"/>
          </a:p>
        </p:txBody>
      </p:sp>
      <p:pic>
        <p:nvPicPr>
          <p:cNvPr id="4" name="Google Shape;702;p70">
            <a:extLst>
              <a:ext uri="{FF2B5EF4-FFF2-40B4-BE49-F238E27FC236}">
                <a16:creationId xmlns:a16="http://schemas.microsoft.com/office/drawing/2014/main" id="{90060E56-F904-23F6-6A0C-91C26DA6A6E1}"/>
              </a:ext>
            </a:extLst>
          </p:cNvPr>
          <p:cNvPicPr preferRelativeResize="0"/>
          <p:nvPr/>
        </p:nvPicPr>
        <p:blipFill rotWithShape="1">
          <a:blip r:embed="rId6">
            <a:alphaModFix/>
          </a:blip>
          <a:srcRect/>
          <a:stretch/>
        </p:blipFill>
        <p:spPr>
          <a:xfrm>
            <a:off x="7272866" y="4625352"/>
            <a:ext cx="3978968" cy="1477585"/>
          </a:xfrm>
          <a:prstGeom prst="rect">
            <a:avLst/>
          </a:prstGeom>
          <a:noFill/>
          <a:ln>
            <a:noFill/>
          </a:ln>
        </p:spPr>
      </p:pic>
      <p:sp>
        <p:nvSpPr>
          <p:cNvPr id="6" name="Freccia in giù 5">
            <a:hlinkClick r:id="rId7" action="ppaction://hlinksldjump"/>
            <a:extLst>
              <a:ext uri="{FF2B5EF4-FFF2-40B4-BE49-F238E27FC236}">
                <a16:creationId xmlns:a16="http://schemas.microsoft.com/office/drawing/2014/main" id="{F9757776-7FE0-EF9B-815A-770524A16C84}"/>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8" action="ppaction://hlinksldjump"/>
            <a:extLst>
              <a:ext uri="{FF2B5EF4-FFF2-40B4-BE49-F238E27FC236}">
                <a16:creationId xmlns:a16="http://schemas.microsoft.com/office/drawing/2014/main" id="{6217DD84-2F1A-F96B-FE23-24221878CA26}"/>
              </a:ext>
            </a:extLst>
          </p:cNvPr>
          <p:cNvSpPr/>
          <p:nvPr/>
        </p:nvSpPr>
        <p:spPr>
          <a:xfrm>
            <a:off x="6197600" y="57169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Freccia in giù 7">
            <a:hlinkClick r:id="rId9" action="ppaction://hlinksldjump"/>
            <a:extLst>
              <a:ext uri="{FF2B5EF4-FFF2-40B4-BE49-F238E27FC236}">
                <a16:creationId xmlns:a16="http://schemas.microsoft.com/office/drawing/2014/main" id="{5AB46436-D85F-1F02-4103-9746AF1AA27C}"/>
              </a:ext>
            </a:extLst>
          </p:cNvPr>
          <p:cNvSpPr/>
          <p:nvPr/>
        </p:nvSpPr>
        <p:spPr>
          <a:xfrm>
            <a:off x="6671734" y="57169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0"/>
          <p:cNvSpPr txBox="1"/>
          <p:nvPr/>
        </p:nvSpPr>
        <p:spPr>
          <a:xfrm>
            <a:off x="1036040" y="756125"/>
            <a:ext cx="807753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Non idealità → modifica OPAMP GBW</a:t>
            </a:r>
            <a:endParaRPr dirty="0">
              <a:sym typeface="Libre Franklin SemiBold"/>
            </a:endParaRPr>
          </a:p>
        </p:txBody>
      </p:sp>
      <p:sp>
        <p:nvSpPr>
          <p:cNvPr id="803" name="Google Shape;803;p80"/>
          <p:cNvSpPr txBox="1"/>
          <p:nvPr/>
        </p:nvSpPr>
        <p:spPr>
          <a:xfrm>
            <a:off x="1036040" y="1383975"/>
            <a:ext cx="1115596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Garamond"/>
              <a:buNone/>
            </a:pPr>
            <a:r>
              <a:rPr lang="it-IT" b="1" dirty="0">
                <a:latin typeface="Segoe UI" panose="020B0502040204020203" pitchFamily="34" charset="0"/>
                <a:cs typeface="Segoe UI" panose="020B0502040204020203" pitchFamily="34" charset="0"/>
                <a:sym typeface="Garamond"/>
              </a:rPr>
              <a:t>Effetto della GBW sull’</a:t>
            </a:r>
            <a:r>
              <a:rPr lang="it-IT" b="1" dirty="0" err="1">
                <a:latin typeface="Segoe UI" panose="020B0502040204020203" pitchFamily="34" charset="0"/>
                <a:cs typeface="Segoe UI" panose="020B0502040204020203" pitchFamily="34" charset="0"/>
                <a:sym typeface="Garamond"/>
              </a:rPr>
              <a:t>opamp</a:t>
            </a:r>
            <a:r>
              <a:rPr lang="it-IT" b="1" dirty="0">
                <a:latin typeface="Segoe UI" panose="020B0502040204020203" pitchFamily="34" charset="0"/>
                <a:cs typeface="Segoe UI" panose="020B0502040204020203" pitchFamily="34" charset="0"/>
                <a:sym typeface="Garamond"/>
              </a:rPr>
              <a:t> ideale</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questa simulazione si osserva che l’operazionale non si comporta ancora in modo perfettamente ideale. Nel grafico la curva verde dovrebbe mantenere una risposta regolare, ma alle frequenze molto alte compare una crescita anomala con picco.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effetto è dovuto ai limiti interni dell’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in particolare alla GBW (Gain </a:t>
            </a:r>
            <a:r>
              <a:rPr lang="it-IT" sz="1200" dirty="0" err="1">
                <a:latin typeface="Segoe UI" panose="020B0502040204020203" pitchFamily="34" charset="0"/>
                <a:cs typeface="Segoe UI" panose="020B0502040204020203" pitchFamily="34" charset="0"/>
                <a:sym typeface="Garamond"/>
              </a:rPr>
              <a:t>Bandwidth</a:t>
            </a:r>
            <a:r>
              <a:rPr lang="it-IT" sz="1200" dirty="0">
                <a:latin typeface="Segoe UI" panose="020B0502040204020203" pitchFamily="34" charset="0"/>
                <a:cs typeface="Segoe UI" panose="020B0502040204020203" pitchFamily="34" charset="0"/>
                <a:sym typeface="Garamond"/>
              </a:rPr>
              <a:t> Product). </a:t>
            </a:r>
            <a:r>
              <a:rPr lang="it-IT" sz="1200" b="1" dirty="0">
                <a:latin typeface="Segoe UI" panose="020B0502040204020203" pitchFamily="34" charset="0"/>
                <a:cs typeface="Segoe UI" panose="020B0502040204020203" pitchFamily="34" charset="0"/>
                <a:sym typeface="Garamond"/>
              </a:rPr>
              <a:t>Se la GBW non è sufficientemente alta, l’operazionale introduce ritardo di fase e perde capacità di seguire correttamente il segnale alle alte frequenze.</a:t>
            </a:r>
            <a:endParaRPr sz="1200" b="1" dirty="0">
              <a:latin typeface="Segoe UI" panose="020B0502040204020203" pitchFamily="34" charset="0"/>
              <a:cs typeface="Segoe UI" panose="020B0502040204020203" pitchFamily="34" charset="0"/>
              <a:sym typeface="Garamond"/>
            </a:endParaRPr>
          </a:p>
        </p:txBody>
      </p:sp>
      <p:pic>
        <p:nvPicPr>
          <p:cNvPr id="804" name="Google Shape;804;p80"/>
          <p:cNvPicPr preferRelativeResize="0"/>
          <p:nvPr/>
        </p:nvPicPr>
        <p:blipFill rotWithShape="1">
          <a:blip r:embed="rId3">
            <a:alphaModFix/>
          </a:blip>
          <a:srcRect/>
          <a:stretch/>
        </p:blipFill>
        <p:spPr>
          <a:xfrm>
            <a:off x="3264519" y="3166490"/>
            <a:ext cx="5662962" cy="2775403"/>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F6DDC68E-5485-9E6A-30F7-9BDE8B83D98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17</a:t>
            </a:fld>
            <a:endParaRPr lang="it-IT"/>
          </a:p>
        </p:txBody>
      </p:sp>
      <p:sp>
        <p:nvSpPr>
          <p:cNvPr id="3" name="Freccia in giù 2">
            <a:hlinkClick r:id="rId4" action="ppaction://hlinksldjump"/>
            <a:extLst>
              <a:ext uri="{FF2B5EF4-FFF2-40B4-BE49-F238E27FC236}">
                <a16:creationId xmlns:a16="http://schemas.microsoft.com/office/drawing/2014/main" id="{597EA0F0-D4D7-24E5-F99A-D12029833841}"/>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22471F9B-7D49-1EA1-9D54-E9B01044896A}"/>
                  </a:ext>
                </a:extLst>
              </p:cNvPr>
              <p:cNvSpPr txBox="1"/>
              <p:nvPr/>
            </p:nvSpPr>
            <p:spPr>
              <a:xfrm>
                <a:off x="2872542" y="3150041"/>
                <a:ext cx="27731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4" name="CasellaDiTesto 3">
                <a:extLst>
                  <a:ext uri="{FF2B5EF4-FFF2-40B4-BE49-F238E27FC236}">
                    <a16:creationId xmlns:a16="http://schemas.microsoft.com/office/drawing/2014/main" id="{22471F9B-7D49-1EA1-9D54-E9B01044896A}"/>
                  </a:ext>
                </a:extLst>
              </p:cNvPr>
              <p:cNvSpPr txBox="1">
                <a:spLocks noRot="1" noChangeAspect="1" noMove="1" noResize="1" noEditPoints="1" noAdjustHandles="1" noChangeArrowheads="1" noChangeShapeType="1" noTextEdit="1"/>
              </p:cNvSpPr>
              <p:nvPr/>
            </p:nvSpPr>
            <p:spPr>
              <a:xfrm>
                <a:off x="2872542" y="3150041"/>
                <a:ext cx="277319" cy="215444"/>
              </a:xfrm>
              <a:prstGeom prst="rect">
                <a:avLst/>
              </a:prstGeom>
              <a:blipFill>
                <a:blip r:embed="rId5"/>
                <a:stretch>
                  <a:fillRect l="-13043" r="-10870"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517E51AB-15AD-98DC-C4AB-0DA7BD483985}"/>
                  </a:ext>
                </a:extLst>
              </p:cNvPr>
              <p:cNvSpPr txBox="1"/>
              <p:nvPr/>
            </p:nvSpPr>
            <p:spPr>
              <a:xfrm>
                <a:off x="7766026" y="5647359"/>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5" name="CasellaDiTesto 4">
                <a:extLst>
                  <a:ext uri="{FF2B5EF4-FFF2-40B4-BE49-F238E27FC236}">
                    <a16:creationId xmlns:a16="http://schemas.microsoft.com/office/drawing/2014/main" id="{517E51AB-15AD-98DC-C4AB-0DA7BD483985}"/>
                  </a:ext>
                </a:extLst>
              </p:cNvPr>
              <p:cNvSpPr txBox="1">
                <a:spLocks noRot="1" noChangeAspect="1" noMove="1" noResize="1" noEditPoints="1" noAdjustHandles="1" noChangeArrowheads="1" noChangeShapeType="1" noTextEdit="1"/>
              </p:cNvSpPr>
              <p:nvPr/>
            </p:nvSpPr>
            <p:spPr>
              <a:xfrm>
                <a:off x="7766026" y="5647359"/>
                <a:ext cx="1723916" cy="215444"/>
              </a:xfrm>
              <a:prstGeom prst="rect">
                <a:avLst/>
              </a:prstGeom>
              <a:blipFill>
                <a:blip r:embed="rId6"/>
                <a:stretch>
                  <a:fillRect b="-33333"/>
                </a:stretch>
              </a:blipFill>
            </p:spPr>
            <p:txBody>
              <a:bodyPr/>
              <a:lstStyle/>
              <a:p>
                <a:r>
                  <a:rPr lang="it-IT">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pic>
        <p:nvPicPr>
          <p:cNvPr id="843" name="Google Shape;843;p85"/>
          <p:cNvPicPr preferRelativeResize="0"/>
          <p:nvPr/>
        </p:nvPicPr>
        <p:blipFill rotWithShape="1">
          <a:blip r:embed="rId3">
            <a:alphaModFix/>
          </a:blip>
          <a:srcRect/>
          <a:stretch/>
        </p:blipFill>
        <p:spPr>
          <a:xfrm>
            <a:off x="1041633" y="4154868"/>
            <a:ext cx="5786430" cy="1336474"/>
          </a:xfrm>
          <a:prstGeom prst="rect">
            <a:avLst/>
          </a:prstGeom>
          <a:noFill/>
          <a:ln>
            <a:noFill/>
          </a:ln>
        </p:spPr>
      </p:pic>
      <p:pic>
        <p:nvPicPr>
          <p:cNvPr id="844" name="Google Shape;844;p85"/>
          <p:cNvPicPr preferRelativeResize="0"/>
          <p:nvPr/>
        </p:nvPicPr>
        <p:blipFill rotWithShape="1">
          <a:blip r:embed="rId4">
            <a:alphaModFix/>
          </a:blip>
          <a:srcRect l="10807" t="32112" r="8767" b="9181"/>
          <a:stretch>
            <a:fillRect/>
          </a:stretch>
        </p:blipFill>
        <p:spPr>
          <a:xfrm>
            <a:off x="7049036" y="3853152"/>
            <a:ext cx="4064280" cy="1645768"/>
          </a:xfrm>
          <a:prstGeom prst="rect">
            <a:avLst/>
          </a:prstGeom>
          <a:noFill/>
          <a:ln>
            <a:noFill/>
          </a:ln>
        </p:spPr>
      </p:pic>
      <p:sp>
        <p:nvSpPr>
          <p:cNvPr id="845" name="Google Shape;845;p85"/>
          <p:cNvSpPr txBox="1"/>
          <p:nvPr/>
        </p:nvSpPr>
        <p:spPr>
          <a:xfrm>
            <a:off x="1082180" y="756125"/>
            <a:ext cx="803139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nel filtro HP attivo ideale</a:t>
            </a:r>
            <a:endParaRPr dirty="0">
              <a:sym typeface="Libre Franklin SemiBold"/>
            </a:endParaRPr>
          </a:p>
        </p:txBody>
      </p:sp>
      <p:sp>
        <p:nvSpPr>
          <p:cNvPr id="846" name="Google Shape;846;p85"/>
          <p:cNvSpPr txBox="1"/>
          <p:nvPr/>
        </p:nvSpPr>
        <p:spPr>
          <a:xfrm>
            <a:off x="1041633" y="1359080"/>
            <a:ext cx="10108734" cy="22282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circuito viene applicato un segnale Vin, rappresentato in rosso, che commuta tra -1 V e +1 V. La curva blu rappresenta invece il segnale sul nodo </a:t>
            </a:r>
            <a:r>
              <a:rPr lang="it-IT" sz="1200" dirty="0" err="1">
                <a:latin typeface="Segoe UI" panose="020B0502040204020203" pitchFamily="34" charset="0"/>
                <a:cs typeface="Segoe UI" panose="020B0502040204020203" pitchFamily="34" charset="0"/>
                <a:sym typeface="Libre Franklin"/>
              </a:rPr>
              <a:t>outC</a:t>
            </a:r>
            <a:r>
              <a:rPr lang="it-IT" sz="1200" dirty="0">
                <a:latin typeface="Segoe UI" panose="020B0502040204020203" pitchFamily="34" charset="0"/>
                <a:cs typeface="Segoe UI" panose="020B0502040204020203" pitchFamily="34" charset="0"/>
                <a:sym typeface="Libre Franklin"/>
              </a:rPr>
              <a:t>, cioè la tensione dopo il condensatore C7 e prima della resistenza R16.</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punto permette di osservare direttamente il comportamento della rete RC del filtro, prima dell’amplificazione dell’operazionale.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Quando Vin passa da -1 V a +1 V, il condensatore si carica e la tensione su </a:t>
            </a:r>
            <a:r>
              <a:rPr lang="it-IT" sz="1200" i="1" dirty="0" err="1">
                <a:latin typeface="Segoe UI" panose="020B0502040204020203" pitchFamily="34" charset="0"/>
                <a:cs typeface="Segoe UI" panose="020B0502040204020203" pitchFamily="34" charset="0"/>
                <a:sym typeface="Libre Franklin"/>
              </a:rPr>
              <a:t>outC</a:t>
            </a:r>
            <a:r>
              <a:rPr lang="it-IT" sz="1200" i="1" dirty="0">
                <a:latin typeface="Segoe UI" panose="020B0502040204020203" pitchFamily="34" charset="0"/>
                <a:cs typeface="Segoe UI" panose="020B0502040204020203" pitchFamily="34" charset="0"/>
                <a:sym typeface="Libre Franklin"/>
              </a:rPr>
              <a:t> varia gradualmente con andamento esponenziale. Quando invece Vin passa da +1 V a -1 V, il condensatore si scarica e la curva blu decresce progressivamente.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La velocità della carica e scarica dipende dalla costante di tempo:</a:t>
            </a:r>
            <a:endParaRPr sz="1200" dirty="0">
              <a:latin typeface="Segoe UI" panose="020B0502040204020203" pitchFamily="34" charset="0"/>
              <a:cs typeface="Segoe UI" panose="020B0502040204020203" pitchFamily="34" charset="0"/>
              <a:sym typeface="Libre Franklin"/>
            </a:endParaRPr>
          </a:p>
        </p:txBody>
      </p:sp>
      <p:sp>
        <p:nvSpPr>
          <p:cNvPr id="848" name="Google Shape;848;p85"/>
          <p:cNvSpPr txBox="1"/>
          <p:nvPr/>
        </p:nvSpPr>
        <p:spPr>
          <a:xfrm>
            <a:off x="1098259" y="5580801"/>
            <a:ext cx="9995482" cy="738633"/>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Quindi il grafico mostra la risposta transitoria della sola rete RC: il condensatore non segue istantaneamente i salti di Vin, ma si carica e si scarica gradualmente. L’operazionale interviene dopo questo nodo, amplificando il segnale secondo il guadagno impostato dalla retroazione.</a:t>
            </a:r>
            <a:endParaRPr sz="1500" b="1" dirty="0">
              <a:solidFill>
                <a:schemeClr val="dk1"/>
              </a:solidFill>
              <a:latin typeface="Libre Franklin"/>
              <a:ea typeface="Libre Franklin"/>
              <a:cs typeface="Libre Franklin"/>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FF165AD-99BE-FCBF-BBF1-29ACFAFFC927}"/>
                  </a:ext>
                </a:extLst>
              </p:cNvPr>
              <p:cNvSpPr txBox="1"/>
              <p:nvPr/>
            </p:nvSpPr>
            <p:spPr>
              <a:xfrm>
                <a:off x="5576562" y="3099991"/>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2" name="CasellaDiTesto 1">
                <a:extLst>
                  <a:ext uri="{FF2B5EF4-FFF2-40B4-BE49-F238E27FC236}">
                    <a16:creationId xmlns:a16="http://schemas.microsoft.com/office/drawing/2014/main" id="{8FF165AD-99BE-FCBF-BBF1-29ACFAFFC927}"/>
                  </a:ext>
                </a:extLst>
              </p:cNvPr>
              <p:cNvSpPr txBox="1">
                <a:spLocks noRot="1" noChangeAspect="1" noMove="1" noResize="1" noEditPoints="1" noAdjustHandles="1" noChangeArrowheads="1" noChangeShapeType="1" noTextEdit="1"/>
              </p:cNvSpPr>
              <p:nvPr/>
            </p:nvSpPr>
            <p:spPr>
              <a:xfrm>
                <a:off x="5576562" y="3099991"/>
                <a:ext cx="739370" cy="215444"/>
              </a:xfrm>
              <a:prstGeom prst="rect">
                <a:avLst/>
              </a:prstGeom>
              <a:blipFill>
                <a:blip r:embed="rId5"/>
                <a:stretch>
                  <a:fillRect l="-2479" r="-4132" b="-8571"/>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04119BE-7A8B-DB09-4A13-F66187052C2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18</a:t>
            </a:fld>
            <a:endParaRPr lang="it-IT"/>
          </a:p>
        </p:txBody>
      </p:sp>
      <p:sp>
        <p:nvSpPr>
          <p:cNvPr id="4" name="Freccia in giù 3">
            <a:hlinkClick r:id="rId6" action="ppaction://hlinksldjump"/>
            <a:extLst>
              <a:ext uri="{FF2B5EF4-FFF2-40B4-BE49-F238E27FC236}">
                <a16:creationId xmlns:a16="http://schemas.microsoft.com/office/drawing/2014/main" id="{86367738-7EC6-3969-98FF-0C0702382523}"/>
              </a:ext>
            </a:extLst>
          </p:cNvPr>
          <p:cNvSpPr/>
          <p:nvPr/>
        </p:nvSpPr>
        <p:spPr>
          <a:xfrm>
            <a:off x="11093741" y="573619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1844C3C7-30DE-12BC-55B7-AE9137393009}"/>
                  </a:ext>
                </a:extLst>
              </p:cNvPr>
              <p:cNvSpPr txBox="1"/>
              <p:nvPr/>
            </p:nvSpPr>
            <p:spPr>
              <a:xfrm>
                <a:off x="957828" y="4092072"/>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5" name="CasellaDiTesto 4">
                <a:extLst>
                  <a:ext uri="{FF2B5EF4-FFF2-40B4-BE49-F238E27FC236}">
                    <a16:creationId xmlns:a16="http://schemas.microsoft.com/office/drawing/2014/main" id="{1844C3C7-30DE-12BC-55B7-AE9137393009}"/>
                  </a:ext>
                </a:extLst>
              </p:cNvPr>
              <p:cNvSpPr txBox="1">
                <a:spLocks noRot="1" noChangeAspect="1" noMove="1" noResize="1" noEditPoints="1" noAdjustHandles="1" noChangeArrowheads="1" noChangeShapeType="1" noTextEdit="1"/>
              </p:cNvSpPr>
              <p:nvPr/>
            </p:nvSpPr>
            <p:spPr>
              <a:xfrm>
                <a:off x="957828" y="4092072"/>
                <a:ext cx="167610" cy="215444"/>
              </a:xfrm>
              <a:prstGeom prst="rect">
                <a:avLst/>
              </a:prstGeom>
              <a:blipFill>
                <a:blip r:embed="rId7"/>
                <a:stretch>
                  <a:fillRect l="-21429" r="-14286"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109A9563-580A-61EF-BC24-AA188A604F7F}"/>
                  </a:ext>
                </a:extLst>
              </p:cNvPr>
              <p:cNvSpPr txBox="1"/>
              <p:nvPr/>
            </p:nvSpPr>
            <p:spPr>
              <a:xfrm>
                <a:off x="5834378" y="5275898"/>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6" name="CasellaDiTesto 5">
                <a:extLst>
                  <a:ext uri="{FF2B5EF4-FFF2-40B4-BE49-F238E27FC236}">
                    <a16:creationId xmlns:a16="http://schemas.microsoft.com/office/drawing/2014/main" id="{109A9563-580A-61EF-BC24-AA188A604F7F}"/>
                  </a:ext>
                </a:extLst>
              </p:cNvPr>
              <p:cNvSpPr txBox="1">
                <a:spLocks noRot="1" noChangeAspect="1" noMove="1" noResize="1" noEditPoints="1" noAdjustHandles="1" noChangeArrowheads="1" noChangeShapeType="1" noTextEdit="1"/>
              </p:cNvSpPr>
              <p:nvPr/>
            </p:nvSpPr>
            <p:spPr>
              <a:xfrm>
                <a:off x="5834378" y="5275898"/>
                <a:ext cx="1723916" cy="215444"/>
              </a:xfrm>
              <a:prstGeom prst="rect">
                <a:avLst/>
              </a:prstGeom>
              <a:blipFill>
                <a:blip r:embed="rId8"/>
                <a:stretch>
                  <a:fillRect b="-5556"/>
                </a:stretch>
              </a:blipFill>
            </p:spPr>
            <p:txBody>
              <a:bodyPr/>
              <a:lstStyle/>
              <a:p>
                <a:r>
                  <a:rPr lang="it-IT">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87"/>
          <p:cNvSpPr txBox="1"/>
          <p:nvPr/>
        </p:nvSpPr>
        <p:spPr>
          <a:xfrm>
            <a:off x="1081950" y="749434"/>
            <a:ext cx="10119450" cy="1923060"/>
          </a:xfrm>
          <a:prstGeom prst="rect">
            <a:avLst/>
          </a:prstGeom>
          <a:noFill/>
          <a:ln>
            <a:noFill/>
          </a:ln>
        </p:spPr>
        <p:txBody>
          <a:bodyPr spcFirstLastPara="1" wrap="square" lIns="91425" tIns="91425" rIns="91425" bIns="91425" anchor="t" anchorCtr="0">
            <a:spAutoFit/>
          </a:bodyPr>
          <a:lstStyle/>
          <a:p>
            <a:pPr>
              <a:lnSpc>
                <a:spcPct val="115000"/>
              </a:lnSpc>
              <a:spcBef>
                <a:spcPts val="1400"/>
              </a:spcBef>
              <a:buClr>
                <a:schemeClr val="dk1"/>
              </a:buClr>
              <a:buSzPts val="1800"/>
            </a:pPr>
            <a:r>
              <a:rPr lang="it-IT" b="1" dirty="0">
                <a:latin typeface="Segoe UI" panose="020B0502040204020203" pitchFamily="34" charset="0"/>
                <a:cs typeface="Segoe UI" panose="020B0502040204020203" pitchFamily="34" charset="0"/>
                <a:sym typeface="Libre Franklin"/>
              </a:rPr>
              <a:t>Nodo intermedio del filtro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La curva blu rappresenta il segnale sul nodo intermedio della rete RC, cioè il punto tra Vin e l’ingresso dell’operazionale.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Si osserva che, a ogni fronte della curva rossa, la curva blu presenta una variazione rapida seguita da un decadimento esponenziale. Questo è il comportamento tipico del filtro passa-alto: vengono evidenziate le variazioni rapide del segnale, mentre il valore continuo tende progressivamente a zero.</a:t>
            </a:r>
            <a:endParaRPr sz="1200" dirty="0">
              <a:latin typeface="Segoe UI" panose="020B0502040204020203" pitchFamily="34" charset="0"/>
              <a:cs typeface="Segoe UI" panose="020B0502040204020203" pitchFamily="34" charset="0"/>
              <a:sym typeface="Libre Franklin"/>
            </a:endParaRPr>
          </a:p>
        </p:txBody>
      </p:sp>
      <p:pic>
        <p:nvPicPr>
          <p:cNvPr id="863" name="Google Shape;863;p87"/>
          <p:cNvPicPr preferRelativeResize="0"/>
          <p:nvPr/>
        </p:nvPicPr>
        <p:blipFill rotWithShape="1">
          <a:blip r:embed="rId3">
            <a:alphaModFix/>
          </a:blip>
          <a:srcRect/>
          <a:stretch/>
        </p:blipFill>
        <p:spPr>
          <a:xfrm>
            <a:off x="5251724" y="2512369"/>
            <a:ext cx="6085997" cy="3346275"/>
          </a:xfrm>
          <a:prstGeom prst="rect">
            <a:avLst/>
          </a:prstGeom>
          <a:noFill/>
          <a:ln>
            <a:noFill/>
          </a:ln>
        </p:spPr>
      </p:pic>
      <p:sp>
        <p:nvSpPr>
          <p:cNvPr id="864" name="Google Shape;864;p87"/>
          <p:cNvSpPr txBox="1"/>
          <p:nvPr/>
        </p:nvSpPr>
        <p:spPr>
          <a:xfrm>
            <a:off x="1081950" y="2630882"/>
            <a:ext cx="3862951" cy="2772524"/>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800"/>
              <a:buFont typeface="Arial"/>
              <a:buNone/>
            </a:pPr>
            <a:r>
              <a:rPr lang="it-IT" b="1" dirty="0">
                <a:solidFill>
                  <a:srgbClr val="5CFF61"/>
                </a:solidFill>
                <a:latin typeface="Segoe UI" panose="020B0502040204020203" pitchFamily="34" charset="0"/>
                <a:cs typeface="Segoe UI" panose="020B0502040204020203" pitchFamily="34" charset="0"/>
                <a:sym typeface="Libre Franklin"/>
              </a:rPr>
              <a:t>Uscita amplificata</a:t>
            </a:r>
            <a:endParaRPr b="1" dirty="0">
              <a:solidFill>
                <a:srgbClr val="5CFF61"/>
              </a:solidFill>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0"/>
              </a:spcAft>
              <a:buClr>
                <a:schemeClr val="dk1"/>
              </a:buClr>
              <a:buSzPts val="1200"/>
            </a:pPr>
            <a:r>
              <a:rPr lang="it-IT" sz="1200" dirty="0">
                <a:latin typeface="Segoe UI" panose="020B0502040204020203" pitchFamily="34" charset="0"/>
                <a:cs typeface="Segoe UI" panose="020B0502040204020203" pitchFamily="34" charset="0"/>
                <a:sym typeface="Libre Franklin"/>
              </a:rPr>
              <a:t>La curva verde rappresenta l’uscita dell’operazionale. Rispetto alla curva blu, mantiene lo stesso andamento esponenziale, ma risulta invertita e con ampiezza circa doppia.</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200"/>
            </a:pPr>
            <a:r>
              <a:rPr lang="it-IT" sz="1200" b="1" i="1" dirty="0">
                <a:latin typeface="Segoe UI" panose="020B0502040204020203" pitchFamily="34" charset="0"/>
                <a:cs typeface="Segoe UI" panose="020B0502040204020203" pitchFamily="34" charset="0"/>
                <a:sym typeface="Libre Franklin"/>
              </a:rPr>
              <a:t>Questo significa che il filtro attivo conserva il comportamento del filtro RC, ma aggiunge l’effetto dell’operazionale: il segnale viene amplificato di un fattore 2 e invertito di fase.</a:t>
            </a:r>
            <a:endParaRPr sz="1200" b="1" i="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79EF986-EFE0-75D8-387F-BBB1D75C11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19</a:t>
            </a:fld>
            <a:endParaRPr lang="it-IT"/>
          </a:p>
        </p:txBody>
      </p:sp>
      <p:sp>
        <p:nvSpPr>
          <p:cNvPr id="3" name="Freccia in giù 2">
            <a:hlinkClick r:id="rId4" action="ppaction://hlinksldjump"/>
            <a:extLst>
              <a:ext uri="{FF2B5EF4-FFF2-40B4-BE49-F238E27FC236}">
                <a16:creationId xmlns:a16="http://schemas.microsoft.com/office/drawing/2014/main" id="{AF7126EF-FC01-D157-369F-473AEC8ACA21}"/>
              </a:ext>
            </a:extLst>
          </p:cNvPr>
          <p:cNvSpPr/>
          <p:nvPr/>
        </p:nvSpPr>
        <p:spPr>
          <a:xfrm>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9BDCDC93-DFC9-CFD7-3A89-3A75D1A323B0}"/>
                  </a:ext>
                </a:extLst>
              </p:cNvPr>
              <p:cNvSpPr txBox="1"/>
              <p:nvPr/>
            </p:nvSpPr>
            <p:spPr>
              <a:xfrm>
                <a:off x="5109411" y="264312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9BDCDC93-DFC9-CFD7-3A89-3A75D1A323B0}"/>
                  </a:ext>
                </a:extLst>
              </p:cNvPr>
              <p:cNvSpPr txBox="1">
                <a:spLocks noRot="1" noChangeAspect="1" noMove="1" noResize="1" noEditPoints="1" noAdjustHandles="1" noChangeArrowheads="1" noChangeShapeType="1" noTextEdit="1"/>
              </p:cNvSpPr>
              <p:nvPr/>
            </p:nvSpPr>
            <p:spPr>
              <a:xfrm>
                <a:off x="5109411" y="2643125"/>
                <a:ext cx="167610" cy="215444"/>
              </a:xfrm>
              <a:prstGeom prst="rect">
                <a:avLst/>
              </a:prstGeom>
              <a:blipFill>
                <a:blip r:embed="rId5"/>
                <a:stretch>
                  <a:fillRect l="-21429" r="-14286"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5354EF18-4836-494E-C956-D682B8194DC7}"/>
                  </a:ext>
                </a:extLst>
              </p:cNvPr>
              <p:cNvSpPr txBox="1"/>
              <p:nvPr/>
            </p:nvSpPr>
            <p:spPr>
              <a:xfrm>
                <a:off x="10299228" y="543080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5354EF18-4836-494E-C956-D682B8194DC7}"/>
                  </a:ext>
                </a:extLst>
              </p:cNvPr>
              <p:cNvSpPr txBox="1">
                <a:spLocks noRot="1" noChangeAspect="1" noMove="1" noResize="1" noEditPoints="1" noAdjustHandles="1" noChangeArrowheads="1" noChangeShapeType="1" noTextEdit="1"/>
              </p:cNvSpPr>
              <p:nvPr/>
            </p:nvSpPr>
            <p:spPr>
              <a:xfrm>
                <a:off x="10299228" y="5430806"/>
                <a:ext cx="1723916" cy="215444"/>
              </a:xfrm>
              <a:prstGeom prst="rect">
                <a:avLst/>
              </a:prstGeom>
              <a:blipFill>
                <a:blip r:embed="rId6"/>
                <a:stretch>
                  <a:fillRect b="-5714"/>
                </a:stretch>
              </a:blipFill>
            </p:spPr>
            <p:txBody>
              <a:bodyPr/>
              <a:lstStyle/>
              <a:p>
                <a:r>
                  <a:rPr lang="it-IT">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03A89FD9-8FFE-51EC-77BF-9DE4B5A97606}"/>
              </a:ext>
            </a:extLst>
          </p:cNvPr>
          <p:cNvSpPr txBox="1"/>
          <p:nvPr/>
        </p:nvSpPr>
        <p:spPr>
          <a:xfrm>
            <a:off x="1036040" y="780927"/>
            <a:ext cx="10165360" cy="1865382"/>
          </a:xfrm>
          <a:prstGeom prst="rect">
            <a:avLst/>
          </a:prstGeom>
          <a:noFill/>
        </p:spPr>
        <p:txBody>
          <a:bodyPr wrap="square">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Aumento della frequenza</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Quando aumentiamo molto la frequenza del gradino, il comportamento cambia. Come nel filtro passivo, il condensatore non ha abbastanza tempo per caricarsi e scaricarsi completamente, quindi la risposta risulta molto compressa e non segue più il transitorio classico osservato a frequenze più basse.</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In questa condizione il filtro sta lavorando in una zona molto rapida, in cui ogni fronte del segnale sollecita fortemente il condensatore.</a:t>
            </a:r>
          </a:p>
        </p:txBody>
      </p:sp>
      <p:pic>
        <p:nvPicPr>
          <p:cNvPr id="6" name="Google Shape;931;p95">
            <a:extLst>
              <a:ext uri="{FF2B5EF4-FFF2-40B4-BE49-F238E27FC236}">
                <a16:creationId xmlns:a16="http://schemas.microsoft.com/office/drawing/2014/main" id="{39C60601-CB34-9A2E-FFEC-77AD58D1D374}"/>
              </a:ext>
            </a:extLst>
          </p:cNvPr>
          <p:cNvPicPr preferRelativeResize="0"/>
          <p:nvPr/>
        </p:nvPicPr>
        <p:blipFill rotWithShape="1">
          <a:blip r:embed="rId2">
            <a:alphaModFix/>
          </a:blip>
          <a:srcRect/>
          <a:stretch/>
        </p:blipFill>
        <p:spPr>
          <a:xfrm>
            <a:off x="995492" y="2636068"/>
            <a:ext cx="7217330" cy="3537170"/>
          </a:xfrm>
          <a:prstGeom prst="rect">
            <a:avLst/>
          </a:prstGeom>
          <a:noFill/>
          <a:ln>
            <a:solidFill>
              <a:schemeClr val="tx1"/>
            </a:solidFill>
          </a:ln>
        </p:spPr>
      </p:pic>
      <p:pic>
        <p:nvPicPr>
          <p:cNvPr id="5" name="Google Shape;930;p95">
            <a:extLst>
              <a:ext uri="{FF2B5EF4-FFF2-40B4-BE49-F238E27FC236}">
                <a16:creationId xmlns:a16="http://schemas.microsoft.com/office/drawing/2014/main" id="{69DE96BA-8682-B926-C558-4B546C14AA70}"/>
              </a:ext>
            </a:extLst>
          </p:cNvPr>
          <p:cNvPicPr preferRelativeResize="0"/>
          <p:nvPr/>
        </p:nvPicPr>
        <p:blipFill rotWithShape="1">
          <a:blip r:embed="rId3">
            <a:alphaModFix/>
          </a:blip>
          <a:srcRect l="27504" r="27945"/>
          <a:stretch>
            <a:fillRect/>
          </a:stretch>
        </p:blipFill>
        <p:spPr>
          <a:xfrm>
            <a:off x="7583646" y="2565848"/>
            <a:ext cx="3343014" cy="3677609"/>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4731C5E5-FC49-1F9F-2EE5-42E351E734A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20</a:t>
            </a:fld>
            <a:endParaRPr lang="it-IT"/>
          </a:p>
        </p:txBody>
      </p:sp>
      <p:sp>
        <p:nvSpPr>
          <p:cNvPr id="7" name="CasellaDiTesto 6">
            <a:extLst>
              <a:ext uri="{FF2B5EF4-FFF2-40B4-BE49-F238E27FC236}">
                <a16:creationId xmlns:a16="http://schemas.microsoft.com/office/drawing/2014/main" id="{01A56A6E-11E1-8974-BA71-F493BC20DE68}"/>
              </a:ext>
            </a:extLst>
          </p:cNvPr>
          <p:cNvSpPr txBox="1"/>
          <p:nvPr/>
        </p:nvSpPr>
        <p:spPr>
          <a:xfrm>
            <a:off x="1036040" y="565778"/>
            <a:ext cx="6115050" cy="307777"/>
          </a:xfrm>
          <a:prstGeom prst="rect">
            <a:avLst/>
          </a:prstGeom>
          <a:noFill/>
        </p:spPr>
        <p:txBody>
          <a:bodyPr wrap="square">
            <a:spAutoFit/>
          </a:bodyPr>
          <a:lstStyle/>
          <a:p>
            <a:r>
              <a:rPr lang="it-IT" b="1" dirty="0">
                <a:latin typeface="Segoe UI" panose="020B0502040204020203" pitchFamily="34" charset="0"/>
                <a:cs typeface="Segoe UI" panose="020B0502040204020203" pitchFamily="34" charset="0"/>
              </a:rPr>
              <a:t>Risposta al gradino con parassiti </a:t>
            </a:r>
            <a:endParaRPr lang="it-IT" dirty="0"/>
          </a:p>
        </p:txBody>
      </p:sp>
      <p:sp>
        <p:nvSpPr>
          <p:cNvPr id="10" name="Freccia in giù 9">
            <a:hlinkClick r:id="rId4" action="ppaction://hlinksldjump"/>
            <a:extLst>
              <a:ext uri="{FF2B5EF4-FFF2-40B4-BE49-F238E27FC236}">
                <a16:creationId xmlns:a16="http://schemas.microsoft.com/office/drawing/2014/main" id="{ED0D4E5C-3F17-8D58-203C-B805A2BDD55D}"/>
              </a:ext>
            </a:extLst>
          </p:cNvPr>
          <p:cNvSpPr/>
          <p:nvPr/>
        </p:nvSpPr>
        <p:spPr>
          <a:xfrm>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Freccia in giù 10">
            <a:hlinkClick r:id="rId5" action="ppaction://hlinksldjump"/>
            <a:extLst>
              <a:ext uri="{FF2B5EF4-FFF2-40B4-BE49-F238E27FC236}">
                <a16:creationId xmlns:a16="http://schemas.microsoft.com/office/drawing/2014/main" id="{B6B4A1AF-D1D0-DBAC-5DCB-19314E2C7350}"/>
              </a:ext>
            </a:extLst>
          </p:cNvPr>
          <p:cNvSpPr/>
          <p:nvPr/>
        </p:nvSpPr>
        <p:spPr>
          <a:xfrm>
            <a:off x="11196508"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AF772490-566D-5378-698A-DB37C60A6C90}"/>
                  </a:ext>
                </a:extLst>
              </p:cNvPr>
              <p:cNvSpPr txBox="1"/>
              <p:nvPr/>
            </p:nvSpPr>
            <p:spPr>
              <a:xfrm>
                <a:off x="795236" y="25977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2" name="CasellaDiTesto 11">
                <a:extLst>
                  <a:ext uri="{FF2B5EF4-FFF2-40B4-BE49-F238E27FC236}">
                    <a16:creationId xmlns:a16="http://schemas.microsoft.com/office/drawing/2014/main" id="{AF772490-566D-5378-698A-DB37C60A6C90}"/>
                  </a:ext>
                </a:extLst>
              </p:cNvPr>
              <p:cNvSpPr txBox="1">
                <a:spLocks noRot="1" noChangeAspect="1" noMove="1" noResize="1" noEditPoints="1" noAdjustHandles="1" noChangeArrowheads="1" noChangeShapeType="1" noTextEdit="1"/>
              </p:cNvSpPr>
              <p:nvPr/>
            </p:nvSpPr>
            <p:spPr>
              <a:xfrm>
                <a:off x="795236" y="2597705"/>
                <a:ext cx="167610" cy="215444"/>
              </a:xfrm>
              <a:prstGeom prst="rect">
                <a:avLst/>
              </a:prstGeom>
              <a:blipFill>
                <a:blip r:embed="rId6"/>
                <a:stretch>
                  <a:fillRect l="-21429" r="-14286"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22C217BB-F690-0598-386E-596CA036AD3F}"/>
                  </a:ext>
                </a:extLst>
              </p:cNvPr>
              <p:cNvSpPr txBox="1"/>
              <p:nvPr/>
            </p:nvSpPr>
            <p:spPr>
              <a:xfrm>
                <a:off x="9337668" y="5922763"/>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3" name="CasellaDiTesto 12">
                <a:extLst>
                  <a:ext uri="{FF2B5EF4-FFF2-40B4-BE49-F238E27FC236}">
                    <a16:creationId xmlns:a16="http://schemas.microsoft.com/office/drawing/2014/main" id="{22C217BB-F690-0598-386E-596CA036AD3F}"/>
                  </a:ext>
                </a:extLst>
              </p:cNvPr>
              <p:cNvSpPr txBox="1">
                <a:spLocks noRot="1" noChangeAspect="1" noMove="1" noResize="1" noEditPoints="1" noAdjustHandles="1" noChangeArrowheads="1" noChangeShapeType="1" noTextEdit="1"/>
              </p:cNvSpPr>
              <p:nvPr/>
            </p:nvSpPr>
            <p:spPr>
              <a:xfrm>
                <a:off x="9337668" y="5922763"/>
                <a:ext cx="1723916" cy="215444"/>
              </a:xfrm>
              <a:prstGeom prst="rect">
                <a:avLst/>
              </a:prstGeom>
              <a:blipFill>
                <a:blip r:embed="rId7"/>
                <a:stretch>
                  <a:fillRect b="-5714"/>
                </a:stretch>
              </a:blipFill>
            </p:spPr>
            <p:txBody>
              <a:bodyPr/>
              <a:lstStyle/>
              <a:p>
                <a:r>
                  <a:rPr lang="it-IT">
                    <a:noFill/>
                  </a:rPr>
                  <a:t> </a:t>
                </a:r>
              </a:p>
            </p:txBody>
          </p:sp>
        </mc:Fallback>
      </mc:AlternateContent>
    </p:spTree>
    <p:extLst>
      <p:ext uri="{BB962C8B-B14F-4D97-AF65-F5344CB8AC3E}">
        <p14:creationId xmlns:p14="http://schemas.microsoft.com/office/powerpoint/2010/main" val="1654427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96"/>
          <p:cNvSpPr txBox="1"/>
          <p:nvPr/>
        </p:nvSpPr>
        <p:spPr>
          <a:xfrm>
            <a:off x="1040235" y="650275"/>
            <a:ext cx="988816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Filtro attivo con condensatore reale e parassiti</a:t>
            </a:r>
            <a:endParaRPr dirty="0">
              <a:sym typeface="Libre Franklin SemiBold"/>
            </a:endParaRPr>
          </a:p>
        </p:txBody>
      </p:sp>
      <p:sp>
        <p:nvSpPr>
          <p:cNvPr id="941" name="Google Shape;941;p96"/>
          <p:cNvSpPr txBox="1"/>
          <p:nvPr/>
        </p:nvSpPr>
        <p:spPr>
          <a:xfrm>
            <a:off x="1040234" y="1253368"/>
            <a:ext cx="10117123"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In questa simulazione viene confrontato il filtro passa-alto attivo ideale con una versione in cui il condensatore non è più considerato perfetto. Nel circuito inferiore, infatti, il condensatore è modellato con i suoi parassiti principali: una ESR in serie e una ESL in serie.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Il modello reale diventa quindi:</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C+ESR+ESLC + ESR + ESLC+ESR+ESL</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dove la ESR rappresenta le perdite resistive del condensatore, mentre la ESL rappresenta la piccola induttanza parassita dovuta alla struttura fisica del componente.</a:t>
            </a:r>
            <a:endParaRPr sz="1200" dirty="0">
              <a:latin typeface="Segoe UI" panose="020B0502040204020203" pitchFamily="34" charset="0"/>
              <a:cs typeface="Segoe UI" panose="020B0502040204020203" pitchFamily="34" charset="0"/>
              <a:sym typeface="Libre Franklin"/>
            </a:endParaRPr>
          </a:p>
        </p:txBody>
      </p:sp>
      <p:pic>
        <p:nvPicPr>
          <p:cNvPr id="942" name="Google Shape;942;p96"/>
          <p:cNvPicPr preferRelativeResize="0"/>
          <p:nvPr/>
        </p:nvPicPr>
        <p:blipFill rotWithShape="1">
          <a:blip r:embed="rId3">
            <a:alphaModFix/>
          </a:blip>
          <a:srcRect r="62808"/>
          <a:stretch>
            <a:fillRect/>
          </a:stretch>
        </p:blipFill>
        <p:spPr>
          <a:xfrm>
            <a:off x="905143" y="3350196"/>
            <a:ext cx="2828657" cy="1389584"/>
          </a:xfrm>
          <a:prstGeom prst="rect">
            <a:avLst/>
          </a:prstGeom>
          <a:noFill/>
          <a:ln>
            <a:noFill/>
          </a:ln>
        </p:spPr>
      </p:pic>
      <p:pic>
        <p:nvPicPr>
          <p:cNvPr id="943" name="Google Shape;943;p96"/>
          <p:cNvPicPr preferRelativeResize="0"/>
          <p:nvPr/>
        </p:nvPicPr>
        <p:blipFill rotWithShape="1">
          <a:blip r:embed="rId4">
            <a:alphaModFix/>
          </a:blip>
          <a:srcRect/>
          <a:stretch/>
        </p:blipFill>
        <p:spPr>
          <a:xfrm>
            <a:off x="9457267" y="3707037"/>
            <a:ext cx="1861510" cy="2261963"/>
          </a:xfrm>
          <a:prstGeom prst="rect">
            <a:avLst/>
          </a:prstGeom>
          <a:noFill/>
          <a:ln>
            <a:noFill/>
          </a:ln>
        </p:spPr>
      </p:pic>
      <p:sp>
        <p:nvSpPr>
          <p:cNvPr id="2" name="Segnaposto numero diapositiva 1">
            <a:extLst>
              <a:ext uri="{FF2B5EF4-FFF2-40B4-BE49-F238E27FC236}">
                <a16:creationId xmlns:a16="http://schemas.microsoft.com/office/drawing/2014/main" id="{56828E16-1B7E-4602-268A-170C741B95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21</a:t>
            </a:fld>
            <a:endParaRPr lang="it-IT"/>
          </a:p>
        </p:txBody>
      </p:sp>
      <p:pic>
        <p:nvPicPr>
          <p:cNvPr id="4" name="Google Shape;942;p96">
            <a:extLst>
              <a:ext uri="{FF2B5EF4-FFF2-40B4-BE49-F238E27FC236}">
                <a16:creationId xmlns:a16="http://schemas.microsoft.com/office/drawing/2014/main" id="{5864C694-106A-CD63-CFD3-C0E9427B2033}"/>
              </a:ext>
            </a:extLst>
          </p:cNvPr>
          <p:cNvPicPr preferRelativeResize="0"/>
          <p:nvPr/>
        </p:nvPicPr>
        <p:blipFill rotWithShape="1">
          <a:blip r:embed="rId3">
            <a:alphaModFix/>
          </a:blip>
          <a:srcRect l="47044" r="74"/>
          <a:stretch>
            <a:fillRect/>
          </a:stretch>
        </p:blipFill>
        <p:spPr>
          <a:xfrm>
            <a:off x="905143" y="4700084"/>
            <a:ext cx="4021968" cy="1389584"/>
          </a:xfrm>
          <a:prstGeom prst="rect">
            <a:avLst/>
          </a:prstGeom>
          <a:noFill/>
          <a:ln>
            <a:noFill/>
          </a:ln>
        </p:spPr>
      </p:pic>
      <p:pic>
        <p:nvPicPr>
          <p:cNvPr id="3" name="Google Shape;958;p98">
            <a:extLst>
              <a:ext uri="{FF2B5EF4-FFF2-40B4-BE49-F238E27FC236}">
                <a16:creationId xmlns:a16="http://schemas.microsoft.com/office/drawing/2014/main" id="{C61435B8-0768-D9C4-7E51-76C31A9A4634}"/>
              </a:ext>
            </a:extLst>
          </p:cNvPr>
          <p:cNvPicPr preferRelativeResize="0"/>
          <p:nvPr/>
        </p:nvPicPr>
        <p:blipFill rotWithShape="1">
          <a:blip r:embed="rId5">
            <a:alphaModFix/>
          </a:blip>
          <a:srcRect/>
          <a:stretch/>
        </p:blipFill>
        <p:spPr>
          <a:xfrm>
            <a:off x="4487334" y="3481640"/>
            <a:ext cx="4826000" cy="2545832"/>
          </a:xfrm>
          <a:prstGeom prst="rect">
            <a:avLst/>
          </a:prstGeom>
          <a:noFill/>
          <a:ln>
            <a:noFill/>
          </a:ln>
        </p:spPr>
      </p:pic>
      <p:sp>
        <p:nvSpPr>
          <p:cNvPr id="6" name="Freccia in giù 5">
            <a:hlinkClick r:id="rId6" action="ppaction://hlinksldjump"/>
            <a:extLst>
              <a:ext uri="{FF2B5EF4-FFF2-40B4-BE49-F238E27FC236}">
                <a16:creationId xmlns:a16="http://schemas.microsoft.com/office/drawing/2014/main" id="{AAFC727E-5B96-57CA-EA59-A1E7AD7AE852}"/>
              </a:ext>
            </a:extLst>
          </p:cNvPr>
          <p:cNvSpPr/>
          <p:nvPr/>
        </p:nvSpPr>
        <p:spPr>
          <a:xfrm>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7" action="ppaction://hlinksldjump"/>
            <a:extLst>
              <a:ext uri="{FF2B5EF4-FFF2-40B4-BE49-F238E27FC236}">
                <a16:creationId xmlns:a16="http://schemas.microsoft.com/office/drawing/2014/main" id="{8A2AE3F6-AD2E-EF7C-3441-9D0D6082C3C6}"/>
              </a:ext>
            </a:extLst>
          </p:cNvPr>
          <p:cNvSpPr/>
          <p:nvPr/>
        </p:nvSpPr>
        <p:spPr>
          <a:xfrm>
            <a:off x="9725714" y="57090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56057216-D63D-84D7-B0BE-63A6D9E623C9}"/>
                  </a:ext>
                </a:extLst>
              </p:cNvPr>
              <p:cNvSpPr txBox="1"/>
              <p:nvPr/>
            </p:nvSpPr>
            <p:spPr>
              <a:xfrm>
                <a:off x="4319724" y="3481640"/>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8" name="CasellaDiTesto 7">
                <a:extLst>
                  <a:ext uri="{FF2B5EF4-FFF2-40B4-BE49-F238E27FC236}">
                    <a16:creationId xmlns:a16="http://schemas.microsoft.com/office/drawing/2014/main" id="{56057216-D63D-84D7-B0BE-63A6D9E623C9}"/>
                  </a:ext>
                </a:extLst>
              </p:cNvPr>
              <p:cNvSpPr txBox="1">
                <a:spLocks noRot="1" noChangeAspect="1" noMove="1" noResize="1" noEditPoints="1" noAdjustHandles="1" noChangeArrowheads="1" noChangeShapeType="1" noTextEdit="1"/>
              </p:cNvSpPr>
              <p:nvPr/>
            </p:nvSpPr>
            <p:spPr>
              <a:xfrm>
                <a:off x="4319724" y="3481640"/>
                <a:ext cx="277320" cy="215444"/>
              </a:xfrm>
              <a:prstGeom prst="rect">
                <a:avLst/>
              </a:prstGeom>
              <a:blipFill>
                <a:blip r:embed="rId8"/>
                <a:stretch>
                  <a:fillRect l="-15556" r="-11111" b="-11429"/>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FE00A1B2-E7EC-A131-6849-A4BE7E52F3EC}"/>
                  </a:ext>
                </a:extLst>
              </p:cNvPr>
              <p:cNvSpPr txBox="1"/>
              <p:nvPr/>
            </p:nvSpPr>
            <p:spPr>
              <a:xfrm>
                <a:off x="8171675" y="5736108"/>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9" name="CasellaDiTesto 8">
                <a:extLst>
                  <a:ext uri="{FF2B5EF4-FFF2-40B4-BE49-F238E27FC236}">
                    <a16:creationId xmlns:a16="http://schemas.microsoft.com/office/drawing/2014/main" id="{FE00A1B2-E7EC-A131-6849-A4BE7E52F3EC}"/>
                  </a:ext>
                </a:extLst>
              </p:cNvPr>
              <p:cNvSpPr txBox="1">
                <a:spLocks noRot="1" noChangeAspect="1" noMove="1" noResize="1" noEditPoints="1" noAdjustHandles="1" noChangeArrowheads="1" noChangeShapeType="1" noTextEdit="1"/>
              </p:cNvSpPr>
              <p:nvPr/>
            </p:nvSpPr>
            <p:spPr>
              <a:xfrm>
                <a:off x="8171675" y="5736108"/>
                <a:ext cx="1723916" cy="215444"/>
              </a:xfrm>
              <a:prstGeom prst="rect">
                <a:avLst/>
              </a:prstGeom>
              <a:blipFill>
                <a:blip r:embed="rId9"/>
                <a:stretch>
                  <a:fillRect b="-34286"/>
                </a:stretch>
              </a:blipFill>
            </p:spPr>
            <p:txBody>
              <a:bodyPr/>
              <a:lstStyle/>
              <a:p>
                <a:r>
                  <a:rPr lang="it-IT">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C65D9B62-C6A3-4576-1206-68FB8120978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2"/>
          <p:cNvSpPr txBox="1"/>
          <p:nvPr/>
        </p:nvSpPr>
        <p:spPr>
          <a:xfrm>
            <a:off x="851423" y="641866"/>
            <a:ext cx="6234900" cy="3693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Open Sans"/>
              </a:rPr>
              <a:t>Effetto del guadagno elevato nell’OP07</a:t>
            </a:r>
            <a:endParaRPr dirty="0"/>
          </a:p>
        </p:txBody>
      </p:sp>
      <p:pic>
        <p:nvPicPr>
          <p:cNvPr id="184" name="Google Shape;184;p22"/>
          <p:cNvPicPr preferRelativeResize="0"/>
          <p:nvPr/>
        </p:nvPicPr>
        <p:blipFill rotWithShape="1">
          <a:blip r:embed="rId3">
            <a:alphaModFix/>
          </a:blip>
          <a:srcRect/>
          <a:stretch/>
        </p:blipFill>
        <p:spPr>
          <a:xfrm>
            <a:off x="906091" y="1221371"/>
            <a:ext cx="4301627" cy="2108201"/>
          </a:xfrm>
          <a:prstGeom prst="rect">
            <a:avLst/>
          </a:prstGeom>
          <a:noFill/>
          <a:ln>
            <a:noFill/>
          </a:ln>
        </p:spPr>
      </p:pic>
      <p:sp>
        <p:nvSpPr>
          <p:cNvPr id="185" name="Google Shape;185;p22"/>
          <p:cNvSpPr txBox="1"/>
          <p:nvPr/>
        </p:nvSpPr>
        <p:spPr>
          <a:xfrm>
            <a:off x="5405700" y="1569052"/>
            <a:ext cx="5795700" cy="402260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aumentando molto il guadagno richiesto, il circuito non mantiene più il comportamento ideale osservato in precedenza.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particolare, con un guadagno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 limiti reali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banda passante finita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ritardo di fase</a:t>
            </a:r>
            <a:r>
              <a:rPr lang="it-IT" sz="1200" dirty="0">
                <a:solidFill>
                  <a:schemeClr val="dk1"/>
                </a:solidFill>
                <a:latin typeface="Segoe UI" panose="020B0502040204020203" pitchFamily="34" charset="0"/>
                <a:cs typeface="Segoe UI" panose="020B0502040204020203" pitchFamily="34" charset="0"/>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diventano dominanti.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osserva infatti che, nel caso ad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alto guadagno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risposta mostra un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picco anticipato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un successivo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crollo più rapido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risonanza e la perdita di guadagno compaiono prima, perché l’operazionale non riesce più a sostenere correttamente l’amplificazione richiesta alle frequenze più alte.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guadagni moderati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comportamento rimane molto più regolare: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segue meglio l’andamento teorico del filtro e il decadimento compare più tardi. In sintesi,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il guadagno richiesto è elevato, più presto emergono le non idealità dell’</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EBA69B4D-12BB-6940-5837-CC73ADD993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23</a:t>
            </a:fld>
            <a:endParaRPr lang="it-IT"/>
          </a:p>
        </p:txBody>
      </p:sp>
      <p:pic>
        <p:nvPicPr>
          <p:cNvPr id="3" name="Google Shape;192;p23">
            <a:extLst>
              <a:ext uri="{FF2B5EF4-FFF2-40B4-BE49-F238E27FC236}">
                <a16:creationId xmlns:a16="http://schemas.microsoft.com/office/drawing/2014/main" id="{D21438DD-DBA0-B886-BB28-C6A6B6F97691}"/>
              </a:ext>
            </a:extLst>
          </p:cNvPr>
          <p:cNvPicPr preferRelativeResize="0"/>
          <p:nvPr/>
        </p:nvPicPr>
        <p:blipFill rotWithShape="1">
          <a:blip r:embed="rId4">
            <a:alphaModFix/>
          </a:blip>
          <a:srcRect l="4982" t="8818" r="9262" b="11955"/>
          <a:stretch/>
        </p:blipFill>
        <p:spPr>
          <a:xfrm>
            <a:off x="906092" y="4776234"/>
            <a:ext cx="3597400" cy="1435835"/>
          </a:xfrm>
          <a:prstGeom prst="rect">
            <a:avLst/>
          </a:prstGeom>
          <a:noFill/>
          <a:ln>
            <a:noFill/>
          </a:ln>
        </p:spPr>
      </p:pic>
      <p:pic>
        <p:nvPicPr>
          <p:cNvPr id="4" name="Google Shape;193;p23">
            <a:extLst>
              <a:ext uri="{FF2B5EF4-FFF2-40B4-BE49-F238E27FC236}">
                <a16:creationId xmlns:a16="http://schemas.microsoft.com/office/drawing/2014/main" id="{C79EC5BD-03DE-1F76-29C1-05F5636313BD}"/>
              </a:ext>
            </a:extLst>
          </p:cNvPr>
          <p:cNvPicPr preferRelativeResize="0"/>
          <p:nvPr/>
        </p:nvPicPr>
        <p:blipFill rotWithShape="1">
          <a:blip r:embed="rId5">
            <a:alphaModFix/>
          </a:blip>
          <a:srcRect r="1127"/>
          <a:stretch/>
        </p:blipFill>
        <p:spPr>
          <a:xfrm>
            <a:off x="906091" y="3390530"/>
            <a:ext cx="3647669" cy="1472639"/>
          </a:xfrm>
          <a:prstGeom prst="rect">
            <a:avLst/>
          </a:prstGeom>
          <a:noFill/>
          <a:ln>
            <a:noFill/>
          </a:ln>
        </p:spPr>
      </p:pic>
      <p:sp>
        <p:nvSpPr>
          <p:cNvPr id="5" name="Google Shape;194;p23">
            <a:extLst>
              <a:ext uri="{FF2B5EF4-FFF2-40B4-BE49-F238E27FC236}">
                <a16:creationId xmlns:a16="http://schemas.microsoft.com/office/drawing/2014/main" id="{FE901802-2EBD-B5CF-8E65-B4E532C1BD43}"/>
              </a:ext>
            </a:extLst>
          </p:cNvPr>
          <p:cNvSpPr/>
          <p:nvPr/>
        </p:nvSpPr>
        <p:spPr>
          <a:xfrm>
            <a:off x="3963791" y="3950161"/>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6" name="Google Shape;195;p23">
            <a:extLst>
              <a:ext uri="{FF2B5EF4-FFF2-40B4-BE49-F238E27FC236}">
                <a16:creationId xmlns:a16="http://schemas.microsoft.com/office/drawing/2014/main" id="{D1436910-C3C0-BF8A-10FD-FE39812A0059}"/>
              </a:ext>
            </a:extLst>
          </p:cNvPr>
          <p:cNvSpPr/>
          <p:nvPr/>
        </p:nvSpPr>
        <p:spPr>
          <a:xfrm>
            <a:off x="877272" y="3867838"/>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7" name="Google Shape;196;p23">
            <a:extLst>
              <a:ext uri="{FF2B5EF4-FFF2-40B4-BE49-F238E27FC236}">
                <a16:creationId xmlns:a16="http://schemas.microsoft.com/office/drawing/2014/main" id="{2A5DD7E5-BC90-7419-C56F-04D62D2AA57D}"/>
              </a:ext>
            </a:extLst>
          </p:cNvPr>
          <p:cNvSpPr/>
          <p:nvPr/>
        </p:nvSpPr>
        <p:spPr>
          <a:xfrm>
            <a:off x="3963791" y="5332611"/>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470A3712-10FC-8508-F794-290C58FD4032}"/>
                  </a:ext>
                </a:extLst>
              </p:cNvPr>
              <p:cNvSpPr txBox="1"/>
              <p:nvPr/>
            </p:nvSpPr>
            <p:spPr>
              <a:xfrm>
                <a:off x="808691" y="1403492"/>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8" name="CasellaDiTesto 7">
                <a:extLst>
                  <a:ext uri="{FF2B5EF4-FFF2-40B4-BE49-F238E27FC236}">
                    <a16:creationId xmlns:a16="http://schemas.microsoft.com/office/drawing/2014/main" id="{470A3712-10FC-8508-F794-290C58FD4032}"/>
                  </a:ext>
                </a:extLst>
              </p:cNvPr>
              <p:cNvSpPr txBox="1">
                <a:spLocks noRot="1" noChangeAspect="1" noMove="1" noResize="1" noEditPoints="1" noAdjustHandles="1" noChangeArrowheads="1" noChangeShapeType="1" noTextEdit="1"/>
              </p:cNvSpPr>
              <p:nvPr/>
            </p:nvSpPr>
            <p:spPr>
              <a:xfrm>
                <a:off x="808691" y="1403492"/>
                <a:ext cx="277320" cy="215444"/>
              </a:xfrm>
              <a:prstGeom prst="rect">
                <a:avLst/>
              </a:prstGeom>
              <a:blipFill>
                <a:blip r:embed="rId6"/>
                <a:stretch>
                  <a:fillRect l="-15556" r="-11111" b="-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EDBBC809-D827-CDA1-1FB1-6BBE26A005E0}"/>
                  </a:ext>
                </a:extLst>
              </p:cNvPr>
              <p:cNvSpPr txBox="1"/>
              <p:nvPr/>
            </p:nvSpPr>
            <p:spPr>
              <a:xfrm>
                <a:off x="4092638" y="3036885"/>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9" name="CasellaDiTesto 8">
                <a:extLst>
                  <a:ext uri="{FF2B5EF4-FFF2-40B4-BE49-F238E27FC236}">
                    <a16:creationId xmlns:a16="http://schemas.microsoft.com/office/drawing/2014/main" id="{EDBBC809-D827-CDA1-1FB1-6BBE26A005E0}"/>
                  </a:ext>
                </a:extLst>
              </p:cNvPr>
              <p:cNvSpPr txBox="1">
                <a:spLocks noRot="1" noChangeAspect="1" noMove="1" noResize="1" noEditPoints="1" noAdjustHandles="1" noChangeArrowheads="1" noChangeShapeType="1" noTextEdit="1"/>
              </p:cNvSpPr>
              <p:nvPr/>
            </p:nvSpPr>
            <p:spPr>
              <a:xfrm>
                <a:off x="4092638" y="3036885"/>
                <a:ext cx="1723916" cy="215444"/>
              </a:xfrm>
              <a:prstGeom prst="rect">
                <a:avLst/>
              </a:prstGeom>
              <a:blipFill>
                <a:blip r:embed="rId7"/>
                <a:stretch>
                  <a:fillRect b="-33333"/>
                </a:stretch>
              </a:blipFill>
            </p:spPr>
            <p:txBody>
              <a:bodyPr/>
              <a:lstStyle/>
              <a:p>
                <a:r>
                  <a:rPr lang="it-IT">
                    <a:noFill/>
                  </a:rPr>
                  <a:t> </a:t>
                </a:r>
              </a:p>
            </p:txBody>
          </p:sp>
        </mc:Fallback>
      </mc:AlternateContent>
      <p:sp>
        <p:nvSpPr>
          <p:cNvPr id="10" name="Freccia in giù 9">
            <a:hlinkClick r:id="rId8" action="ppaction://hlinksldjump"/>
            <a:extLst>
              <a:ext uri="{FF2B5EF4-FFF2-40B4-BE49-F238E27FC236}">
                <a16:creationId xmlns:a16="http://schemas.microsoft.com/office/drawing/2014/main" id="{392A5828-A250-29A3-E422-A55076EFE85F}"/>
              </a:ext>
            </a:extLst>
          </p:cNvPr>
          <p:cNvSpPr/>
          <p:nvPr/>
        </p:nvSpPr>
        <p:spPr>
          <a:xfrm>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26"/>
          <p:cNvPicPr preferRelativeResize="0"/>
          <p:nvPr/>
        </p:nvPicPr>
        <p:blipFill rotWithShape="1">
          <a:blip r:embed="rId3">
            <a:alphaModFix/>
          </a:blip>
          <a:srcRect/>
          <a:stretch/>
        </p:blipFill>
        <p:spPr>
          <a:xfrm>
            <a:off x="1305153" y="1370443"/>
            <a:ext cx="4459942" cy="2185790"/>
          </a:xfrm>
          <a:prstGeom prst="rect">
            <a:avLst/>
          </a:prstGeom>
          <a:noFill/>
          <a:ln>
            <a:noFill/>
          </a:ln>
        </p:spPr>
      </p:pic>
      <p:sp>
        <p:nvSpPr>
          <p:cNvPr id="218" name="Google Shape;218;p26"/>
          <p:cNvSpPr txBox="1"/>
          <p:nvPr/>
        </p:nvSpPr>
        <p:spPr>
          <a:xfrm>
            <a:off x="1010920" y="778625"/>
            <a:ext cx="966724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Limitazione dell’uscita reale:    Clipping &amp; Saturazione</a:t>
            </a:r>
            <a:endParaRPr dirty="0">
              <a:sym typeface="Libre Franklin"/>
            </a:endParaRPr>
          </a:p>
        </p:txBody>
      </p:sp>
      <p:sp>
        <p:nvSpPr>
          <p:cNvPr id="219" name="Google Shape;219;p26"/>
          <p:cNvSpPr txBox="1"/>
          <p:nvPr/>
        </p:nvSpPr>
        <p:spPr>
          <a:xfrm>
            <a:off x="1082040" y="3701395"/>
            <a:ext cx="10083800" cy="249911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la 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(blu) non può assumere valori arbitrari, ma deve restare compresa entro 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imposti dall’alimentazione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guadagno richiesto è troppo elevato, oppure se il segnale di ingresso è tale da richiedere un’uscita troppo ampia, l’OP07 non riesce più a riprodurre fedelmente il segnale amplificato. In questo caso l’uscita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valori massimi e minimi consentiti dall’alimentazione: si verifica quindi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questo effetto si riconosce perché il segnale amplificato non continua a crescere come previsto teoricamente, ma viene “schiacciato” ai limiti superiori e inferiori. Quindi, mentre il modello ideale permetteva qualsiasi ampiezza di uscita, nel caso reale è necessario verificare sempre 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resti compatibile con la tensione di alimentazione disponibile.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20" name="Google Shape;220;p26"/>
          <p:cNvPicPr preferRelativeResize="0"/>
          <p:nvPr/>
        </p:nvPicPr>
        <p:blipFill rotWithShape="1">
          <a:blip r:embed="rId4">
            <a:alphaModFix/>
          </a:blip>
          <a:srcRect l="4985" t="8818" r="10233" b="11955"/>
          <a:stretch/>
        </p:blipFill>
        <p:spPr>
          <a:xfrm>
            <a:off x="5901500" y="1370450"/>
            <a:ext cx="5414125" cy="2185775"/>
          </a:xfrm>
          <a:prstGeom prst="rect">
            <a:avLst/>
          </a:prstGeom>
          <a:noFill/>
          <a:ln>
            <a:noFill/>
          </a:ln>
        </p:spPr>
      </p:pic>
      <p:sp>
        <p:nvSpPr>
          <p:cNvPr id="2" name="Segnaposto numero diapositiva 1">
            <a:extLst>
              <a:ext uri="{FF2B5EF4-FFF2-40B4-BE49-F238E27FC236}">
                <a16:creationId xmlns:a16="http://schemas.microsoft.com/office/drawing/2014/main" id="{B189412A-D844-7887-662B-0E5DEDC06CD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24</a:t>
            </a:fld>
            <a:endParaRPr lang="it-IT"/>
          </a:p>
        </p:txBody>
      </p:sp>
      <p:sp>
        <p:nvSpPr>
          <p:cNvPr id="3" name="Freccia in giù 2">
            <a:hlinkClick r:id="rId5" action="ppaction://hlinksldjump"/>
            <a:extLst>
              <a:ext uri="{FF2B5EF4-FFF2-40B4-BE49-F238E27FC236}">
                <a16:creationId xmlns:a16="http://schemas.microsoft.com/office/drawing/2014/main" id="{AE6F57D5-65EC-5E32-7A46-DA5D895901B1}"/>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0CB2522D-4077-C776-82D4-0AF00CF08E8B}"/>
                  </a:ext>
                </a:extLst>
              </p:cNvPr>
              <p:cNvSpPr txBox="1"/>
              <p:nvPr/>
            </p:nvSpPr>
            <p:spPr>
              <a:xfrm>
                <a:off x="1137543" y="1385421"/>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0CB2522D-4077-C776-82D4-0AF00CF08E8B}"/>
                  </a:ext>
                </a:extLst>
              </p:cNvPr>
              <p:cNvSpPr txBox="1">
                <a:spLocks noRot="1" noChangeAspect="1" noMove="1" noResize="1" noEditPoints="1" noAdjustHandles="1" noChangeArrowheads="1" noChangeShapeType="1" noTextEdit="1"/>
              </p:cNvSpPr>
              <p:nvPr/>
            </p:nvSpPr>
            <p:spPr>
              <a:xfrm>
                <a:off x="1137543" y="1385421"/>
                <a:ext cx="167610" cy="215444"/>
              </a:xfrm>
              <a:prstGeom prst="rect">
                <a:avLst/>
              </a:prstGeom>
              <a:blipFill>
                <a:blip r:embed="rId6"/>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7098FB68-9E8F-4E30-A53B-0628C8E81583}"/>
                  </a:ext>
                </a:extLst>
              </p:cNvPr>
              <p:cNvSpPr txBox="1"/>
              <p:nvPr/>
            </p:nvSpPr>
            <p:spPr>
              <a:xfrm>
                <a:off x="4702991" y="32570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7098FB68-9E8F-4E30-A53B-0628C8E81583}"/>
                  </a:ext>
                </a:extLst>
              </p:cNvPr>
              <p:cNvSpPr txBox="1">
                <a:spLocks noRot="1" noChangeAspect="1" noMove="1" noResize="1" noEditPoints="1" noAdjustHandles="1" noChangeArrowheads="1" noChangeShapeType="1" noTextEdit="1"/>
              </p:cNvSpPr>
              <p:nvPr/>
            </p:nvSpPr>
            <p:spPr>
              <a:xfrm>
                <a:off x="4702991" y="3257004"/>
                <a:ext cx="1723916" cy="215444"/>
              </a:xfrm>
              <a:prstGeom prst="rect">
                <a:avLst/>
              </a:prstGeom>
              <a:blipFill>
                <a:blip r:embed="rId7"/>
                <a:stretch>
                  <a:fillRect b="-5556"/>
                </a:stretch>
              </a:blipFill>
            </p:spPr>
            <p:txBody>
              <a:bodyPr/>
              <a:lstStyle/>
              <a:p>
                <a:r>
                  <a:rPr lang="it-IT">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p:nvPr/>
        </p:nvSpPr>
        <p:spPr>
          <a:xfrm>
            <a:off x="1082040" y="715975"/>
            <a:ext cx="8407399"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Frequenza di taglio identica con </a:t>
            </a:r>
            <a:r>
              <a:rPr lang="it-IT" dirty="0" err="1">
                <a:sym typeface="Libre Franklin"/>
              </a:rPr>
              <a:t>opamp</a:t>
            </a:r>
            <a:r>
              <a:rPr lang="it-IT" dirty="0">
                <a:sym typeface="Libre Franklin"/>
              </a:rPr>
              <a:t> reale</a:t>
            </a:r>
            <a:endParaRPr dirty="0">
              <a:sym typeface="Libre Franklin"/>
            </a:endParaRPr>
          </a:p>
        </p:txBody>
      </p:sp>
      <p:sp>
        <p:nvSpPr>
          <p:cNvPr id="240" name="Google Shape;240;p28"/>
          <p:cNvSpPr txBox="1"/>
          <p:nvPr/>
        </p:nvSpPr>
        <p:spPr>
          <a:xfrm>
            <a:off x="1036320" y="1253375"/>
            <a:ext cx="9667705"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viene verificato che, anche sostituendo l’operazionale ideale con un 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frequenza di taglio del filtro rimane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la frequenza di taglio è fissata dalla rete di ingresso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dal condensatore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dalla resistenza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1" name="Google Shape;241;p28"/>
          <p:cNvPicPr preferRelativeResize="0"/>
          <p:nvPr/>
        </p:nvPicPr>
        <p:blipFill rotWithShape="1">
          <a:blip r:embed="rId3">
            <a:alphaModFix/>
          </a:blip>
          <a:srcRect b="73544"/>
          <a:stretch/>
        </p:blipFill>
        <p:spPr>
          <a:xfrm>
            <a:off x="3601560" y="2388831"/>
            <a:ext cx="1310000" cy="616150"/>
          </a:xfrm>
          <a:prstGeom prst="rect">
            <a:avLst/>
          </a:prstGeom>
          <a:noFill/>
          <a:ln>
            <a:noFill/>
          </a:ln>
        </p:spPr>
      </p:pic>
      <p:sp>
        <p:nvSpPr>
          <p:cNvPr id="242" name="Google Shape;242;p28"/>
          <p:cNvSpPr txBox="1"/>
          <p:nvPr/>
        </p:nvSpPr>
        <p:spPr>
          <a:xfrm>
            <a:off x="1082040" y="2979125"/>
            <a:ext cx="9996385"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L’operazionale reale può introdurre limiti di banda, ritardi di fase, saturazione e riduzione del guadagno alle alte frequenze, </a:t>
            </a:r>
            <a:r>
              <a:rPr lang="it-IT" sz="1200" b="1" i="0" u="none" strike="noStrike" cap="none" dirty="0">
                <a:solidFill>
                  <a:schemeClr val="dk1"/>
                </a:solidFill>
                <a:latin typeface="Segoe UI" panose="020B0502040204020203" pitchFamily="34" charset="0"/>
                <a:cs typeface="Segoe UI" panose="020B0502040204020203" pitchFamily="34" charset="0"/>
              </a:rPr>
              <a:t>ma non modifica direttamente il valore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fc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taglio dipende principalmente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Dal confronto dei grafici si osserva infatti che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punto di taglio rimane nella stessa zona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strike="noStrike" cap="none" dirty="0">
                <a:solidFill>
                  <a:schemeClr val="dk1"/>
                </a:solidFill>
                <a:latin typeface="Segoe UI" panose="020B0502040204020203" pitchFamily="34" charset="0"/>
                <a:cs typeface="Segoe UI" panose="020B0502040204020203" pitchFamily="34" charset="0"/>
                <a:sym typeface="Arial"/>
              </a:rPr>
              <a:t>La differenza tra ideale e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quindi sulla frequenza di taglio, </a:t>
            </a:r>
            <a:r>
              <a:rPr lang="it-IT" sz="1200" b="1" i="0" u="none" strike="noStrike" cap="none" dirty="0">
                <a:solidFill>
                  <a:schemeClr val="dk1"/>
                </a:solidFill>
                <a:latin typeface="Segoe UI" panose="020B0502040204020203" pitchFamily="34" charset="0"/>
                <a:cs typeface="Segoe UI" panose="020B0502040204020203" pitchFamily="34" charset="0"/>
              </a:rPr>
              <a:t>ma sul comportamento successivo del segnale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quando si richiede guadagno elevato o quando ci si avvicina ai limiti dell’OP07.</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3" name="Google Shape;243;p28"/>
          <p:cNvPicPr preferRelativeResize="0"/>
          <p:nvPr/>
        </p:nvPicPr>
        <p:blipFill rotWithShape="1">
          <a:blip r:embed="rId3">
            <a:alphaModFix/>
          </a:blip>
          <a:srcRect t="41837" b="27846"/>
          <a:stretch/>
        </p:blipFill>
        <p:spPr>
          <a:xfrm>
            <a:off x="5345885" y="2421018"/>
            <a:ext cx="1310000" cy="706050"/>
          </a:xfrm>
          <a:prstGeom prst="rect">
            <a:avLst/>
          </a:prstGeom>
          <a:noFill/>
          <a:ln>
            <a:noFill/>
          </a:ln>
        </p:spPr>
      </p:pic>
      <p:pic>
        <p:nvPicPr>
          <p:cNvPr id="244" name="Google Shape;244;p28"/>
          <p:cNvPicPr preferRelativeResize="0"/>
          <p:nvPr/>
        </p:nvPicPr>
        <p:blipFill rotWithShape="1">
          <a:blip r:embed="rId3">
            <a:alphaModFix/>
          </a:blip>
          <a:srcRect t="85632"/>
          <a:stretch/>
        </p:blipFill>
        <p:spPr>
          <a:xfrm>
            <a:off x="7090210" y="2604993"/>
            <a:ext cx="1310000" cy="334625"/>
          </a:xfrm>
          <a:prstGeom prst="rect">
            <a:avLst/>
          </a:prstGeom>
          <a:noFill/>
          <a:ln>
            <a:noFill/>
          </a:ln>
        </p:spPr>
      </p:pic>
      <p:grpSp>
        <p:nvGrpSpPr>
          <p:cNvPr id="2" name="Gruppo 1">
            <a:extLst>
              <a:ext uri="{FF2B5EF4-FFF2-40B4-BE49-F238E27FC236}">
                <a16:creationId xmlns:a16="http://schemas.microsoft.com/office/drawing/2014/main" id="{CBF0F603-39BD-5DF5-7D66-9E473D16CF0B}"/>
              </a:ext>
            </a:extLst>
          </p:cNvPr>
          <p:cNvGrpSpPr/>
          <p:nvPr/>
        </p:nvGrpSpPr>
        <p:grpSpPr>
          <a:xfrm>
            <a:off x="3042920" y="4407589"/>
            <a:ext cx="6793167" cy="1734436"/>
            <a:chOff x="1973428" y="4301460"/>
            <a:chExt cx="7613739" cy="1943945"/>
          </a:xfrm>
        </p:grpSpPr>
        <p:pic>
          <p:nvPicPr>
            <p:cNvPr id="245" name="Google Shape;245;p28"/>
            <p:cNvPicPr preferRelativeResize="0"/>
            <p:nvPr/>
          </p:nvPicPr>
          <p:blipFill rotWithShape="1">
            <a:blip r:embed="rId4">
              <a:alphaModFix/>
            </a:blip>
            <a:srcRect/>
            <a:stretch/>
          </p:blipFill>
          <p:spPr>
            <a:xfrm>
              <a:off x="1973428" y="4301460"/>
              <a:ext cx="4869923" cy="1943945"/>
            </a:xfrm>
            <a:prstGeom prst="rect">
              <a:avLst/>
            </a:prstGeom>
            <a:noFill/>
            <a:ln>
              <a:noFill/>
            </a:ln>
          </p:spPr>
        </p:pic>
        <p:pic>
          <p:nvPicPr>
            <p:cNvPr id="246" name="Google Shape;246;p28"/>
            <p:cNvPicPr preferRelativeResize="0"/>
            <p:nvPr/>
          </p:nvPicPr>
          <p:blipFill rotWithShape="1">
            <a:blip r:embed="rId5">
              <a:alphaModFix/>
            </a:blip>
            <a:srcRect/>
            <a:stretch/>
          </p:blipFill>
          <p:spPr>
            <a:xfrm>
              <a:off x="6836719" y="4301461"/>
              <a:ext cx="2750448" cy="1943944"/>
            </a:xfrm>
            <a:prstGeom prst="rect">
              <a:avLst/>
            </a:prstGeom>
            <a:noFill/>
            <a:ln>
              <a:noFill/>
            </a:ln>
          </p:spPr>
        </p:pic>
      </p:grpSp>
      <p:sp>
        <p:nvSpPr>
          <p:cNvPr id="3" name="Segnaposto numero diapositiva 2">
            <a:extLst>
              <a:ext uri="{FF2B5EF4-FFF2-40B4-BE49-F238E27FC236}">
                <a16:creationId xmlns:a16="http://schemas.microsoft.com/office/drawing/2014/main" id="{ACD4745A-2189-A4B2-0BF4-5F76EAB0C16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25</a:t>
            </a:fld>
            <a:endParaRPr lang="it-IT"/>
          </a:p>
        </p:txBody>
      </p:sp>
      <p:sp>
        <p:nvSpPr>
          <p:cNvPr id="4" name="Freccia in giù 3">
            <a:hlinkClick r:id="rId6" action="ppaction://hlinksldjump"/>
            <a:extLst>
              <a:ext uri="{FF2B5EF4-FFF2-40B4-BE49-F238E27FC236}">
                <a16:creationId xmlns:a16="http://schemas.microsoft.com/office/drawing/2014/main" id="{AD0F2F2F-23AC-C36C-A31F-2C7D48D54615}"/>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txBox="1"/>
          <p:nvPr/>
        </p:nvSpPr>
        <p:spPr>
          <a:xfrm>
            <a:off x="1128050" y="1513550"/>
            <a:ext cx="91380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 osserva che la variazione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produce </a:t>
            </a:r>
            <a:r>
              <a:rPr lang="it-IT" sz="1200" b="0" i="0" u="sng" strike="noStrike" cap="none" dirty="0">
                <a:solidFill>
                  <a:srgbClr val="000000"/>
                </a:solidFill>
                <a:latin typeface="Segoe UI" panose="020B0502040204020203" pitchFamily="34" charset="0"/>
                <a:cs typeface="Segoe UI" panose="020B0502040204020203" pitchFamily="34" charset="0"/>
                <a:sym typeface="Arial"/>
              </a:rPr>
              <a:t>lo stesso effetto già visto nel modello ideale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r>
              <a:rPr lang="it-IT" sz="1200" b="1" i="0" u="none" strike="noStrike" cap="none" dirty="0">
                <a:solidFill>
                  <a:srgbClr val="000000"/>
                </a:solidFill>
                <a:latin typeface="Segoe UI" panose="020B0502040204020203" pitchFamily="34" charset="0"/>
                <a:cs typeface="Segoe UI" panose="020B0502040204020203" pitchFamily="34" charset="0"/>
              </a:rPr>
              <a:t>cambia la frequenza di taglio del filtro</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La frequenza di taglio dipende infatti dalla rete di ingresso formata da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e dal condensatore: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22" name="Google Shape;322;p37"/>
          <p:cNvSpPr txBox="1"/>
          <p:nvPr/>
        </p:nvSpPr>
        <p:spPr>
          <a:xfrm>
            <a:off x="1155450" y="724325"/>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Cambio Rs</a:t>
            </a:r>
            <a:endParaRPr dirty="0">
              <a:sym typeface="Libre Franklin SemiBold"/>
            </a:endParaRPr>
          </a:p>
        </p:txBody>
      </p:sp>
      <p:pic>
        <p:nvPicPr>
          <p:cNvPr id="323" name="Google Shape;323;p37"/>
          <p:cNvPicPr preferRelativeResize="0"/>
          <p:nvPr/>
        </p:nvPicPr>
        <p:blipFill rotWithShape="1">
          <a:blip r:embed="rId3">
            <a:alphaModFix/>
          </a:blip>
          <a:srcRect/>
          <a:stretch/>
        </p:blipFill>
        <p:spPr>
          <a:xfrm>
            <a:off x="7694550" y="1958637"/>
            <a:ext cx="1219200" cy="581025"/>
          </a:xfrm>
          <a:prstGeom prst="rect">
            <a:avLst/>
          </a:prstGeom>
          <a:noFill/>
          <a:ln>
            <a:noFill/>
          </a:ln>
        </p:spPr>
      </p:pic>
      <p:sp>
        <p:nvSpPr>
          <p:cNvPr id="324" name="Google Shape;324;p37"/>
          <p:cNvSpPr txBox="1"/>
          <p:nvPr/>
        </p:nvSpPr>
        <p:spPr>
          <a:xfrm>
            <a:off x="1155450" y="2468975"/>
            <a:ext cx="96795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diminuisce, diminuisce anche il prodotto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r>
              <a:rPr lang="it-IT" sz="1200" dirty="0">
                <a:latin typeface="Segoe UI" panose="020B0502040204020203" pitchFamily="34" charset="0"/>
                <a:cs typeface="Segoe UI" panose="020B0502040204020203" pitchFamily="34" charset="0"/>
              </a:rPr>
              <a:t>·</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C e la frequenza di taglio aumenta. Al contrario,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aumenta, la frequenza di taglio si sposta verso frequenze più basse.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confronto mostrato, passando da: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5" name="Google Shape;325;p37"/>
          <p:cNvPicPr preferRelativeResize="0"/>
          <p:nvPr/>
        </p:nvPicPr>
        <p:blipFill rotWithShape="1">
          <a:blip r:embed="rId4">
            <a:alphaModFix/>
          </a:blip>
          <a:srcRect b="66394"/>
          <a:stretch/>
        </p:blipFill>
        <p:spPr>
          <a:xfrm>
            <a:off x="4187800" y="3172175"/>
            <a:ext cx="1123950" cy="393713"/>
          </a:xfrm>
          <a:prstGeom prst="rect">
            <a:avLst/>
          </a:prstGeom>
          <a:noFill/>
          <a:ln>
            <a:noFill/>
          </a:ln>
        </p:spPr>
      </p:pic>
      <p:sp>
        <p:nvSpPr>
          <p:cNvPr id="326" name="Google Shape;326;p37"/>
          <p:cNvSpPr txBox="1"/>
          <p:nvPr/>
        </p:nvSpPr>
        <p:spPr>
          <a:xfrm>
            <a:off x="1155450" y="3802950"/>
            <a:ext cx="9754800"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frequenza di taglio aumenta enormemente, perché la resistenza della rete RC diventa molto più piccola.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cambiamento non riguarda solo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fc</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ma influenza anche il comportamento reale dell’operazionale.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Spostando il taglio verso frequenze più alte, il filtro si avvicina maggiormente ai limiti dell’OP07, come la banda passante finita e i ritardi interni. Per questo nel grafico compaiono picchi, deformazioni e una perdita di comportamento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sintesi: anche con l’</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opamp</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reale,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continua a controllare la frequenza di taglio; però, quando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diventa troppo piccola, il filtro richiede prestazioni che l’OP07 reale non riesce più a garantire perfettamente.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7" name="Google Shape;327;p37"/>
          <p:cNvPicPr preferRelativeResize="0"/>
          <p:nvPr/>
        </p:nvPicPr>
        <p:blipFill rotWithShape="1">
          <a:blip r:embed="rId4">
            <a:alphaModFix/>
          </a:blip>
          <a:srcRect t="70051"/>
          <a:stretch/>
        </p:blipFill>
        <p:spPr>
          <a:xfrm>
            <a:off x="6222150" y="3193593"/>
            <a:ext cx="1123950" cy="350875"/>
          </a:xfrm>
          <a:prstGeom prst="rect">
            <a:avLst/>
          </a:prstGeom>
          <a:noFill/>
          <a:ln>
            <a:noFill/>
          </a:ln>
        </p:spPr>
      </p:pic>
      <p:cxnSp>
        <p:nvCxnSpPr>
          <p:cNvPr id="328" name="Google Shape;328;p37"/>
          <p:cNvCxnSpPr>
            <a:cxnSpLocks/>
            <a:stCxn id="325" idx="3"/>
            <a:endCxn id="327" idx="1"/>
          </p:cNvCxnSpPr>
          <p:nvPr/>
        </p:nvCxnSpPr>
        <p:spPr>
          <a:xfrm flipV="1">
            <a:off x="5311750" y="3369031"/>
            <a:ext cx="910400" cy="1"/>
          </a:xfrm>
          <a:prstGeom prst="straightConnector1">
            <a:avLst/>
          </a:prstGeom>
          <a:noFill/>
          <a:ln w="28575" cap="flat" cmpd="sng">
            <a:solidFill>
              <a:schemeClr val="dk2"/>
            </a:solidFill>
            <a:prstDash val="solid"/>
            <a:round/>
            <a:headEnd type="none" w="med" len="med"/>
            <a:tailEnd type="triangle" w="med" len="med"/>
          </a:ln>
        </p:spPr>
      </p:cxnSp>
      <p:sp>
        <p:nvSpPr>
          <p:cNvPr id="7" name="Segnaposto numero diapositiva 6">
            <a:extLst>
              <a:ext uri="{FF2B5EF4-FFF2-40B4-BE49-F238E27FC236}">
                <a16:creationId xmlns:a16="http://schemas.microsoft.com/office/drawing/2014/main" id="{DE678EB1-8847-313E-03DD-A9FBA1C634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26</a:t>
            </a:fld>
            <a:endParaRPr lang="it-IT"/>
          </a:p>
        </p:txBody>
      </p:sp>
      <p:pic>
        <p:nvPicPr>
          <p:cNvPr id="2" name="Google Shape;314;p36">
            <a:extLst>
              <a:ext uri="{FF2B5EF4-FFF2-40B4-BE49-F238E27FC236}">
                <a16:creationId xmlns:a16="http://schemas.microsoft.com/office/drawing/2014/main" id="{581960DF-21CA-A342-90C6-0EC2A26CFA18}"/>
              </a:ext>
            </a:extLst>
          </p:cNvPr>
          <p:cNvPicPr preferRelativeResize="0"/>
          <p:nvPr/>
        </p:nvPicPr>
        <p:blipFill rotWithShape="1">
          <a:blip r:embed="rId5">
            <a:alphaModFix/>
          </a:blip>
          <a:srcRect l="7434" t="21055" r="10153"/>
          <a:stretch/>
        </p:blipFill>
        <p:spPr>
          <a:xfrm>
            <a:off x="8304150" y="3082100"/>
            <a:ext cx="2775588" cy="915814"/>
          </a:xfrm>
          <a:prstGeom prst="rect">
            <a:avLst/>
          </a:prstGeom>
          <a:noFill/>
          <a:ln>
            <a:noFill/>
          </a:ln>
        </p:spPr>
      </p:pic>
      <p:sp>
        <p:nvSpPr>
          <p:cNvPr id="3" name="Google Shape;337;p38">
            <a:extLst>
              <a:ext uri="{FF2B5EF4-FFF2-40B4-BE49-F238E27FC236}">
                <a16:creationId xmlns:a16="http://schemas.microsoft.com/office/drawing/2014/main" id="{802802DD-ED21-F937-1325-44CA46B555DF}"/>
              </a:ext>
            </a:extLst>
          </p:cNvPr>
          <p:cNvSpPr/>
          <p:nvPr/>
        </p:nvSpPr>
        <p:spPr>
          <a:xfrm>
            <a:off x="8820716" y="3240056"/>
            <a:ext cx="393834" cy="404938"/>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5" name="CasellaDiTesto 4">
            <a:extLst>
              <a:ext uri="{FF2B5EF4-FFF2-40B4-BE49-F238E27FC236}">
                <a16:creationId xmlns:a16="http://schemas.microsoft.com/office/drawing/2014/main" id="{2B63EC82-771B-521D-B7E4-4CA839207F1E}"/>
              </a:ext>
            </a:extLst>
          </p:cNvPr>
          <p:cNvSpPr txBox="1"/>
          <p:nvPr/>
        </p:nvSpPr>
        <p:spPr>
          <a:xfrm>
            <a:off x="8883941" y="2928211"/>
            <a:ext cx="393834" cy="307777"/>
          </a:xfrm>
          <a:prstGeom prst="rect">
            <a:avLst/>
          </a:prstGeom>
          <a:noFill/>
        </p:spPr>
        <p:txBody>
          <a:bodyPr wrap="square">
            <a:spAutoFit/>
          </a:bodyPr>
          <a:lstStyle/>
          <a:p>
            <a:r>
              <a:rPr lang="it-IT" sz="1400" b="1" i="0" u="none" strike="noStrike" cap="none" dirty="0" err="1">
                <a:solidFill>
                  <a:srgbClr val="5CFF61"/>
                </a:solidFill>
                <a:latin typeface="Segoe UI" panose="020B0502040204020203" pitchFamily="34" charset="0"/>
                <a:cs typeface="Segoe UI" panose="020B0502040204020203" pitchFamily="34" charset="0"/>
                <a:sym typeface="Arial"/>
              </a:rPr>
              <a:t>Rs</a:t>
            </a:r>
            <a:endParaRPr lang="it-IT" b="1" dirty="0">
              <a:solidFill>
                <a:srgbClr val="5CFF61"/>
              </a:solidFill>
            </a:endParaRPr>
          </a:p>
        </p:txBody>
      </p:sp>
      <p:sp>
        <p:nvSpPr>
          <p:cNvPr id="6" name="CasellaDiTesto 5">
            <a:extLst>
              <a:ext uri="{FF2B5EF4-FFF2-40B4-BE49-F238E27FC236}">
                <a16:creationId xmlns:a16="http://schemas.microsoft.com/office/drawing/2014/main" id="{474C14EA-CF60-C42A-55A3-63C970D813CF}"/>
              </a:ext>
            </a:extLst>
          </p:cNvPr>
          <p:cNvSpPr txBox="1"/>
          <p:nvPr/>
        </p:nvSpPr>
        <p:spPr>
          <a:xfrm>
            <a:off x="9773174" y="2885988"/>
            <a:ext cx="393834" cy="307777"/>
          </a:xfrm>
          <a:prstGeom prst="rect">
            <a:avLst/>
          </a:prstGeom>
          <a:noFill/>
        </p:spPr>
        <p:txBody>
          <a:bodyPr wrap="square">
            <a:spAutoFit/>
          </a:bodyPr>
          <a:lstStyle/>
          <a:p>
            <a:r>
              <a:rPr lang="it-IT" sz="1400" b="1" i="0" u="none" strike="noStrike" cap="none" dirty="0" err="1">
                <a:solidFill>
                  <a:srgbClr val="FF0000"/>
                </a:solidFill>
                <a:latin typeface="Segoe UI" panose="020B0502040204020203" pitchFamily="34" charset="0"/>
                <a:cs typeface="Segoe UI" panose="020B0502040204020203" pitchFamily="34" charset="0"/>
                <a:sym typeface="Arial"/>
              </a:rPr>
              <a:t>Rf</a:t>
            </a:r>
            <a:endParaRPr lang="it-IT" b="1" dirty="0">
              <a:solidFill>
                <a:srgbClr val="FF0000"/>
              </a:solidFill>
            </a:endParaRPr>
          </a:p>
        </p:txBody>
      </p:sp>
      <p:sp>
        <p:nvSpPr>
          <p:cNvPr id="8" name="Google Shape;339;p38">
            <a:extLst>
              <a:ext uri="{FF2B5EF4-FFF2-40B4-BE49-F238E27FC236}">
                <a16:creationId xmlns:a16="http://schemas.microsoft.com/office/drawing/2014/main" id="{B1FF18EE-F2E4-95F6-B884-C4C01A26A587}"/>
              </a:ext>
            </a:extLst>
          </p:cNvPr>
          <p:cNvSpPr/>
          <p:nvPr/>
        </p:nvSpPr>
        <p:spPr>
          <a:xfrm>
            <a:off x="9528386" y="3054557"/>
            <a:ext cx="258471" cy="248094"/>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9" name="Freccia in giù 8">
            <a:hlinkClick r:id="rId6" action="ppaction://hlinksldjump"/>
            <a:extLst>
              <a:ext uri="{FF2B5EF4-FFF2-40B4-BE49-F238E27FC236}">
                <a16:creationId xmlns:a16="http://schemas.microsoft.com/office/drawing/2014/main" id="{58241978-27C7-B994-E7D8-F33241E58BC7}"/>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p:nvPr/>
        </p:nvSpPr>
        <p:spPr>
          <a:xfrm>
            <a:off x="959175" y="789400"/>
            <a:ext cx="7758300" cy="5541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Rf</a:t>
            </a:r>
            <a:r>
              <a:rPr lang="it-IT" dirty="0">
                <a:sym typeface="Libre Franklin SemiBold"/>
              </a:rPr>
              <a:t>: quando influenza la frequenza di taglio</a:t>
            </a:r>
            <a:endParaRPr dirty="0">
              <a:sym typeface="Libre Franklin SemiBold"/>
            </a:endParaRPr>
          </a:p>
        </p:txBody>
      </p:sp>
      <p:sp>
        <p:nvSpPr>
          <p:cNvPr id="345" name="Google Shape;345;p39"/>
          <p:cNvSpPr txBox="1"/>
          <p:nvPr/>
        </p:nvSpPr>
        <p:spPr>
          <a:xfrm>
            <a:off x="1029425" y="1423850"/>
            <a:ext cx="103872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questa analisi viene modificata la resistenza di retroazione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In condizioni ideali, cambiare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dovrebbe modificare solo il guadagno del filtro invertente: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6" name="Google Shape;346;p39"/>
          <p:cNvPicPr preferRelativeResize="0"/>
          <p:nvPr/>
        </p:nvPicPr>
        <p:blipFill rotWithShape="1">
          <a:blip r:embed="rId3">
            <a:alphaModFix/>
          </a:blip>
          <a:srcRect/>
          <a:stretch/>
        </p:blipFill>
        <p:spPr>
          <a:xfrm>
            <a:off x="5487099" y="1755950"/>
            <a:ext cx="1066800" cy="695325"/>
          </a:xfrm>
          <a:prstGeom prst="rect">
            <a:avLst/>
          </a:prstGeom>
          <a:noFill/>
          <a:ln>
            <a:noFill/>
          </a:ln>
        </p:spPr>
      </p:pic>
      <p:sp>
        <p:nvSpPr>
          <p:cNvPr id="347" name="Google Shape;347;p39"/>
          <p:cNvSpPr txBox="1"/>
          <p:nvPr/>
        </p:nvSpPr>
        <p:spPr>
          <a:xfrm>
            <a:off x="1086250" y="2451275"/>
            <a:ext cx="802515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mentre la frequenza di taglio dovrebbe restare fissata dalla rete di ingresso: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8" name="Google Shape;348;p39"/>
          <p:cNvPicPr preferRelativeResize="0"/>
          <p:nvPr/>
        </p:nvPicPr>
        <p:blipFill rotWithShape="1">
          <a:blip r:embed="rId4">
            <a:alphaModFix/>
          </a:blip>
          <a:srcRect/>
          <a:stretch/>
        </p:blipFill>
        <p:spPr>
          <a:xfrm>
            <a:off x="6553899" y="2332888"/>
            <a:ext cx="1181100" cy="647700"/>
          </a:xfrm>
          <a:prstGeom prst="rect">
            <a:avLst/>
          </a:prstGeom>
          <a:noFill/>
          <a:ln>
            <a:noFill/>
          </a:ln>
        </p:spPr>
      </p:pic>
      <p:sp>
        <p:nvSpPr>
          <p:cNvPr id="349" name="Google Shape;349;p39"/>
          <p:cNvSpPr txBox="1"/>
          <p:nvPr/>
        </p:nvSpPr>
        <p:spPr>
          <a:xfrm>
            <a:off x="1086250" y="3085650"/>
            <a:ext cx="100041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per valori moderati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la frequenza di taglio rimane praticamente invariata: cambia l’ampiezza del segnale, ma il punto di taglio resta lo stesso.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0" name="Google Shape;350;p39"/>
          <p:cNvSpPr txBox="1"/>
          <p:nvPr/>
        </p:nvSpPr>
        <p:spPr>
          <a:xfrm>
            <a:off x="1122075" y="3596500"/>
            <a:ext cx="97350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però, se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molto grande, la retroazione diventa meno efficace e il nodo invertente non rimane più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più grande.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relazione approssimata diventa: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51" name="Google Shape;351;p39"/>
          <p:cNvPicPr preferRelativeResize="0"/>
          <p:nvPr/>
        </p:nvPicPr>
        <p:blipFill rotWithShape="1">
          <a:blip r:embed="rId5">
            <a:alphaModFix/>
          </a:blip>
          <a:srcRect/>
          <a:stretch/>
        </p:blipFill>
        <p:spPr>
          <a:xfrm>
            <a:off x="3626101" y="4272312"/>
            <a:ext cx="1516675" cy="510975"/>
          </a:xfrm>
          <a:prstGeom prst="rect">
            <a:avLst/>
          </a:prstGeom>
          <a:noFill/>
          <a:ln>
            <a:solidFill>
              <a:schemeClr val="tx1"/>
            </a:solidFill>
          </a:ln>
        </p:spPr>
      </p:pic>
      <p:sp>
        <p:nvSpPr>
          <p:cNvPr id="352" name="Google Shape;352;p39"/>
          <p:cNvSpPr txBox="1"/>
          <p:nvPr/>
        </p:nvSpPr>
        <p:spPr>
          <a:xfrm>
            <a:off x="5309689" y="4193504"/>
            <a:ext cx="49692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dove A è il guadagno ad anello aperto dell’operazionale.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3" name="Google Shape;353;p39"/>
          <p:cNvSpPr txBox="1"/>
          <p:nvPr/>
        </p:nvSpPr>
        <p:spPr>
          <a:xfrm>
            <a:off x="1086250" y="4819000"/>
            <a:ext cx="5861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questo punto la costante di tempo non è più solo: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4" name="Google Shape;354;p39"/>
          <p:cNvPicPr preferRelativeResize="0"/>
          <p:nvPr/>
        </p:nvPicPr>
        <p:blipFill rotWithShape="1">
          <a:blip r:embed="rId6">
            <a:alphaModFix/>
          </a:blip>
          <a:srcRect/>
          <a:stretch/>
        </p:blipFill>
        <p:spPr>
          <a:xfrm>
            <a:off x="4796600" y="4809148"/>
            <a:ext cx="866775" cy="361950"/>
          </a:xfrm>
          <a:prstGeom prst="rect">
            <a:avLst/>
          </a:prstGeom>
          <a:noFill/>
          <a:ln>
            <a:noFill/>
          </a:ln>
        </p:spPr>
      </p:pic>
      <p:sp>
        <p:nvSpPr>
          <p:cNvPr id="355" name="Google Shape;355;p39"/>
          <p:cNvSpPr txBox="1"/>
          <p:nvPr/>
        </p:nvSpPr>
        <p:spPr>
          <a:xfrm>
            <a:off x="5748502" y="4654621"/>
            <a:ext cx="3000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ma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6" name="Google Shape;356;p39"/>
          <p:cNvPicPr preferRelativeResize="0"/>
          <p:nvPr/>
        </p:nvPicPr>
        <p:blipFill rotWithShape="1">
          <a:blip r:embed="rId7">
            <a:alphaModFix/>
          </a:blip>
          <a:srcRect/>
          <a:stretch/>
        </p:blipFill>
        <p:spPr>
          <a:xfrm>
            <a:off x="6813214" y="4791212"/>
            <a:ext cx="981075" cy="485775"/>
          </a:xfrm>
          <a:prstGeom prst="rect">
            <a:avLst/>
          </a:prstGeom>
          <a:noFill/>
          <a:ln>
            <a:noFill/>
          </a:ln>
        </p:spPr>
      </p:pic>
      <p:sp>
        <p:nvSpPr>
          <p:cNvPr id="357" name="Google Shape;357;p39"/>
          <p:cNvSpPr txBox="1"/>
          <p:nvPr/>
        </p:nvSpPr>
        <p:spPr>
          <a:xfrm>
            <a:off x="1026375" y="5408750"/>
            <a:ext cx="3873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e quindi la frequenza di taglio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8" name="Google Shape;358;p39"/>
          <p:cNvPicPr preferRelativeResize="0"/>
          <p:nvPr/>
        </p:nvPicPr>
        <p:blipFill rotWithShape="1">
          <a:blip r:embed="rId8">
            <a:alphaModFix/>
          </a:blip>
          <a:srcRect/>
          <a:stretch/>
        </p:blipFill>
        <p:spPr>
          <a:xfrm>
            <a:off x="3765602" y="5293362"/>
            <a:ext cx="1219200" cy="600075"/>
          </a:xfrm>
          <a:prstGeom prst="rect">
            <a:avLst/>
          </a:prstGeom>
          <a:noFill/>
          <a:ln>
            <a:noFill/>
          </a:ln>
        </p:spPr>
      </p:pic>
      <p:sp>
        <p:nvSpPr>
          <p:cNvPr id="4" name="Segnaposto numero diapositiva 3">
            <a:extLst>
              <a:ext uri="{FF2B5EF4-FFF2-40B4-BE49-F238E27FC236}">
                <a16:creationId xmlns:a16="http://schemas.microsoft.com/office/drawing/2014/main" id="{9DE843B2-A6D3-DC1A-547A-310CD824D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27</a:t>
            </a:fld>
            <a:endParaRPr lang="it-IT"/>
          </a:p>
        </p:txBody>
      </p:sp>
      <p:sp>
        <p:nvSpPr>
          <p:cNvPr id="2" name="Freccia in giù 1">
            <a:hlinkClick r:id="rId9" action="ppaction://hlinksldjump"/>
            <a:extLst>
              <a:ext uri="{FF2B5EF4-FFF2-40B4-BE49-F238E27FC236}">
                <a16:creationId xmlns:a16="http://schemas.microsoft.com/office/drawing/2014/main" id="{CBABA045-3ED8-384C-C657-D76205B8DD0E}"/>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Freccia in giù 2">
            <a:hlinkClick r:id="rId10" action="ppaction://hlinksldjump"/>
            <a:extLst>
              <a:ext uri="{FF2B5EF4-FFF2-40B4-BE49-F238E27FC236}">
                <a16:creationId xmlns:a16="http://schemas.microsoft.com/office/drawing/2014/main" id="{92FB6542-9F81-63C2-D3FF-D69C1ABE82A7}"/>
              </a:ext>
            </a:extLst>
          </p:cNvPr>
          <p:cNvSpPr/>
          <p:nvPr/>
        </p:nvSpPr>
        <p:spPr>
          <a:xfrm>
            <a:off x="1006703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0"/>
          <p:cNvSpPr txBox="1"/>
          <p:nvPr/>
        </p:nvSpPr>
        <p:spPr>
          <a:xfrm>
            <a:off x="1089800" y="750350"/>
            <a:ext cx="980679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con parassiti del condensatore nella risposta al gradino</a:t>
            </a:r>
            <a:endParaRPr dirty="0">
              <a:sym typeface="Libre Franklin SemiBold"/>
            </a:endParaRPr>
          </a:p>
        </p:txBody>
      </p:sp>
      <p:sp>
        <p:nvSpPr>
          <p:cNvPr id="477" name="Google Shape;477;p50"/>
          <p:cNvSpPr txBox="1"/>
          <p:nvPr/>
        </p:nvSpPr>
        <p:spPr>
          <a:xfrm>
            <a:off x="1057200" y="1747204"/>
            <a:ext cx="101442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prima cosa osserviamo il comportamento del filtro con i parassiti del condensatore a una frequenza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questa condizione la risposta rimane praticamente regolare: non compaiono oscillazioni evidenti e il circuito si comporta quasi come nel caso senza parassiti.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una frequenza ancora molto lontana dalla zona in cui i parassiti del condensatore diventano dominanti.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capacità continua quindi a comportarsi quasi come un componente ideale e la risposta del filtro resta stabile.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8" name="Google Shape;478;p50"/>
          <p:cNvPicPr preferRelativeResize="0"/>
          <p:nvPr/>
        </p:nvPicPr>
        <p:blipFill rotWithShape="1">
          <a:blip r:embed="rId3">
            <a:alphaModFix/>
          </a:blip>
          <a:srcRect/>
          <a:stretch/>
        </p:blipFill>
        <p:spPr>
          <a:xfrm>
            <a:off x="9269950" y="2891225"/>
            <a:ext cx="1931450" cy="1202825"/>
          </a:xfrm>
          <a:prstGeom prst="rect">
            <a:avLst/>
          </a:prstGeom>
          <a:noFill/>
          <a:ln>
            <a:noFill/>
          </a:ln>
        </p:spPr>
      </p:pic>
      <p:pic>
        <p:nvPicPr>
          <p:cNvPr id="479" name="Google Shape;479;p50"/>
          <p:cNvPicPr preferRelativeResize="0"/>
          <p:nvPr/>
        </p:nvPicPr>
        <p:blipFill rotWithShape="1">
          <a:blip r:embed="rId4">
            <a:alphaModFix/>
          </a:blip>
          <a:srcRect/>
          <a:stretch/>
        </p:blipFill>
        <p:spPr>
          <a:xfrm>
            <a:off x="1089725" y="4203025"/>
            <a:ext cx="5166897" cy="1975200"/>
          </a:xfrm>
          <a:prstGeom prst="rect">
            <a:avLst/>
          </a:prstGeom>
          <a:noFill/>
          <a:ln>
            <a:noFill/>
          </a:ln>
        </p:spPr>
      </p:pic>
      <p:pic>
        <p:nvPicPr>
          <p:cNvPr id="480" name="Google Shape;480;p50"/>
          <p:cNvPicPr preferRelativeResize="0"/>
          <p:nvPr/>
        </p:nvPicPr>
        <p:blipFill rotWithShape="1">
          <a:blip r:embed="rId5">
            <a:alphaModFix/>
          </a:blip>
          <a:srcRect b="2315"/>
          <a:stretch/>
        </p:blipFill>
        <p:spPr>
          <a:xfrm>
            <a:off x="6216225" y="4203025"/>
            <a:ext cx="5017850" cy="1975200"/>
          </a:xfrm>
          <a:prstGeom prst="rect">
            <a:avLst/>
          </a:prstGeom>
          <a:noFill/>
          <a:ln>
            <a:noFill/>
          </a:ln>
        </p:spPr>
      </p:pic>
      <p:sp>
        <p:nvSpPr>
          <p:cNvPr id="481" name="Google Shape;481;p50"/>
          <p:cNvSpPr/>
          <p:nvPr/>
        </p:nvSpPr>
        <p:spPr>
          <a:xfrm>
            <a:off x="1857814" y="4627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2" name="Google Shape;482;p50"/>
          <p:cNvSpPr/>
          <p:nvPr/>
        </p:nvSpPr>
        <p:spPr>
          <a:xfrm>
            <a:off x="7263600" y="4684075"/>
            <a:ext cx="1049100" cy="1013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3" name="Google Shape;483;p50"/>
          <p:cNvSpPr/>
          <p:nvPr/>
        </p:nvSpPr>
        <p:spPr>
          <a:xfrm>
            <a:off x="9359275" y="284427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22BDAA47-6BA0-E2B7-B84D-A99028F1F54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28</a:t>
            </a:fld>
            <a:endParaRPr lang="it-IT"/>
          </a:p>
        </p:txBody>
      </p:sp>
      <p:sp>
        <p:nvSpPr>
          <p:cNvPr id="3" name="Freccia in giù 2">
            <a:hlinkClick r:id="rId6" action="ppaction://hlinksldjump"/>
            <a:extLst>
              <a:ext uri="{FF2B5EF4-FFF2-40B4-BE49-F238E27FC236}">
                <a16:creationId xmlns:a16="http://schemas.microsoft.com/office/drawing/2014/main" id="{A5E905C2-3929-2DD1-F73E-2E773139E0E6}"/>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2"/>
          <p:cNvSpPr txBox="1"/>
          <p:nvPr/>
        </p:nvSpPr>
        <p:spPr>
          <a:xfrm>
            <a:off x="1061207" y="736300"/>
            <a:ext cx="9876118" cy="207694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Passaggio alle alte frequenze</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Successivamente aumentiamo la frequenza fino a circa </a:t>
            </a:r>
            <a:r>
              <a:rPr lang="it-IT" sz="1200" b="1" dirty="0">
                <a:solidFill>
                  <a:schemeClr val="dk1"/>
                </a:solidFill>
                <a:latin typeface="Segoe UI" panose="020B0502040204020203" pitchFamily="34" charset="0"/>
                <a:cs typeface="Segoe UI" panose="020B0502040204020203" pitchFamily="34" charset="0"/>
              </a:rPr>
              <a:t>10 MHz</a:t>
            </a:r>
            <a:r>
              <a:rPr lang="it-IT" sz="1200" dirty="0">
                <a:solidFill>
                  <a:schemeClr val="dk1"/>
                </a:solidFill>
                <a:latin typeface="Segoe UI" panose="020B0502040204020203" pitchFamily="34" charset="0"/>
                <a:cs typeface="Segoe UI" panose="020B0502040204020203" pitchFamily="34" charset="0"/>
              </a:rPr>
              <a:t>. In questa zona il comportamento cambia in modo evidente: il circuito non riesce più a rispondere come nel caso ideale e compaiono effetti anomali sui fronti del segnale.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Il motivo è che questa frequenza è molto vicina alla frequenza di risonanza del condensatore reale.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Considerando:</a:t>
            </a:r>
            <a:endParaRPr sz="1200" dirty="0">
              <a:solidFill>
                <a:schemeClr val="dk1"/>
              </a:solidFill>
              <a:latin typeface="Segoe UI" panose="020B0502040204020203" pitchFamily="34" charset="0"/>
              <a:cs typeface="Segoe UI" panose="020B0502040204020203" pitchFamily="34" charset="0"/>
            </a:endParaRPr>
          </a:p>
        </p:txBody>
      </p:sp>
      <p:pic>
        <p:nvPicPr>
          <p:cNvPr id="495" name="Google Shape;495;p52"/>
          <p:cNvPicPr preferRelativeResize="0"/>
          <p:nvPr/>
        </p:nvPicPr>
        <p:blipFill rotWithShape="1">
          <a:blip r:embed="rId3">
            <a:alphaModFix/>
          </a:blip>
          <a:srcRect b="63598"/>
          <a:stretch/>
        </p:blipFill>
        <p:spPr>
          <a:xfrm>
            <a:off x="3588721" y="2381625"/>
            <a:ext cx="1202875" cy="671400"/>
          </a:xfrm>
          <a:prstGeom prst="rect">
            <a:avLst/>
          </a:prstGeom>
          <a:noFill/>
          <a:ln>
            <a:solidFill>
              <a:schemeClr val="tx1"/>
            </a:solidFill>
          </a:ln>
        </p:spPr>
      </p:pic>
      <p:sp>
        <p:nvSpPr>
          <p:cNvPr id="496" name="Google Shape;496;p52"/>
          <p:cNvSpPr txBox="1"/>
          <p:nvPr/>
        </p:nvSpPr>
        <p:spPr>
          <a:xfrm>
            <a:off x="1061207" y="3177975"/>
            <a:ext cx="7459618"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lavorando intorno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siamo praticamente nella zona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a:t>
            </a:r>
            <a:r>
              <a:rPr lang="it-IT" sz="1200" b="0" i="0" u="none" strike="noStrike" cap="none" dirty="0">
                <a:solidFill>
                  <a:schemeClr val="dk1"/>
                </a:solidFill>
                <a:latin typeface="Arial"/>
                <a:ea typeface="Arial"/>
                <a:cs typeface="Arial"/>
                <a:sym typeface="Arial"/>
              </a:rPr>
              <a:t>.</a:t>
            </a:r>
            <a:endParaRPr sz="1500" b="0" i="0" u="none" strike="noStrike" cap="none" dirty="0">
              <a:solidFill>
                <a:srgbClr val="000000"/>
              </a:solidFill>
              <a:latin typeface="Arial"/>
              <a:ea typeface="Arial"/>
              <a:cs typeface="Arial"/>
              <a:sym typeface="Arial"/>
            </a:endParaRPr>
          </a:p>
        </p:txBody>
      </p:sp>
      <p:pic>
        <p:nvPicPr>
          <p:cNvPr id="497" name="Google Shape;497;p52"/>
          <p:cNvPicPr preferRelativeResize="0"/>
          <p:nvPr/>
        </p:nvPicPr>
        <p:blipFill rotWithShape="1">
          <a:blip r:embed="rId3">
            <a:alphaModFix/>
          </a:blip>
          <a:srcRect t="55369"/>
          <a:stretch/>
        </p:blipFill>
        <p:spPr>
          <a:xfrm>
            <a:off x="6046946" y="2305730"/>
            <a:ext cx="1202875" cy="823175"/>
          </a:xfrm>
          <a:prstGeom prst="rect">
            <a:avLst/>
          </a:prstGeom>
          <a:noFill/>
          <a:ln>
            <a:solidFill>
              <a:schemeClr val="tx1"/>
            </a:solidFill>
          </a:ln>
        </p:spPr>
      </p:pic>
      <p:cxnSp>
        <p:nvCxnSpPr>
          <p:cNvPr id="498" name="Google Shape;498;p52"/>
          <p:cNvCxnSpPr>
            <a:cxnSpLocks/>
            <a:stCxn id="495" idx="3"/>
            <a:endCxn id="497" idx="1"/>
          </p:cNvCxnSpPr>
          <p:nvPr/>
        </p:nvCxnSpPr>
        <p:spPr>
          <a:xfrm flipV="1">
            <a:off x="4791596" y="2717318"/>
            <a:ext cx="1255350" cy="7"/>
          </a:xfrm>
          <a:prstGeom prst="straightConnector1">
            <a:avLst/>
          </a:prstGeom>
          <a:noFill/>
          <a:ln w="28575" cap="flat" cmpd="sng">
            <a:solidFill>
              <a:schemeClr val="dk2"/>
            </a:solidFill>
            <a:prstDash val="solid"/>
            <a:round/>
            <a:headEnd type="none" w="med" len="med"/>
            <a:tailEnd type="triangle" w="med" len="med"/>
          </a:ln>
        </p:spPr>
      </p:cxnSp>
      <p:sp>
        <p:nvSpPr>
          <p:cNvPr id="500" name="Google Shape;500;p52"/>
          <p:cNvSpPr txBox="1"/>
          <p:nvPr/>
        </p:nvSpPr>
        <p:spPr>
          <a:xfrm>
            <a:off x="1061207" y="3915875"/>
            <a:ext cx="10183618"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Effetto dei parassiti sui fronti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queste frequenze, ogni fronte del segnale eccita i parassiti del condensatore.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presenza dell’induttanza serie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fa sì che il condensatore reale non si comporti più come una sola capacità, ma come un sistema risonante.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quando il segnale passa da basso ad alto oppure da alto a basso, sulla tensione del condensatore con parassiti compaiono picchi e oscillazioni ad alta frequenza. Questo fenomeno è il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ringing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una risposta oscillatoria generata dalla risonanza tra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 name="Segnaposto numero diapositiva 3">
            <a:extLst>
              <a:ext uri="{FF2B5EF4-FFF2-40B4-BE49-F238E27FC236}">
                <a16:creationId xmlns:a16="http://schemas.microsoft.com/office/drawing/2014/main" id="{5B9E4B25-6AE4-799A-39A1-471AF9B7D1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29</a:t>
            </a:fld>
            <a:endParaRPr lang="it-IT"/>
          </a:p>
        </p:txBody>
      </p:sp>
      <p:sp>
        <p:nvSpPr>
          <p:cNvPr id="2" name="Freccia in giù 1">
            <a:hlinkClick r:id="rId4" action="ppaction://hlinksldjump"/>
            <a:extLst>
              <a:ext uri="{FF2B5EF4-FFF2-40B4-BE49-F238E27FC236}">
                <a16:creationId xmlns:a16="http://schemas.microsoft.com/office/drawing/2014/main" id="{93D4CF1D-CE6C-0335-2A13-FD83B7FC62D7}"/>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7"/>
          <p:cNvSpPr txBox="1"/>
          <p:nvPr/>
        </p:nvSpPr>
        <p:spPr>
          <a:xfrm>
            <a:off x="1052817" y="825500"/>
            <a:ext cx="10096152" cy="30218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Confronto più interessante: senza</a:t>
            </a:r>
            <a:r>
              <a:rPr lang="it-IT" dirty="0">
                <a:solidFill>
                  <a:schemeClr val="dk1"/>
                </a:solidFill>
                <a:latin typeface="Segoe UI" panose="020B0502040204020203" pitchFamily="34" charset="0"/>
                <a:cs typeface="Segoe UI" panose="020B0502040204020203" pitchFamily="34" charset="0"/>
              </a:rPr>
              <a:t> parassiti</a:t>
            </a:r>
            <a:r>
              <a:rPr lang="it-IT" b="1" dirty="0">
                <a:solidFill>
                  <a:schemeClr val="dk1"/>
                </a:solidFill>
                <a:latin typeface="Segoe UI" panose="020B0502040204020203" pitchFamily="34" charset="0"/>
                <a:cs typeface="Segoe UI" panose="020B0502040204020203" pitchFamily="34" charset="0"/>
              </a:rPr>
              <a:t>  vs  con</a:t>
            </a:r>
            <a:r>
              <a:rPr lang="it-IT" dirty="0">
                <a:solidFill>
                  <a:schemeClr val="dk1"/>
                </a:solidFill>
                <a:latin typeface="Segoe UI" panose="020B0502040204020203" pitchFamily="34" charset="0"/>
                <a:cs typeface="Segoe UI" panose="020B0502040204020203" pitchFamily="34" charset="0"/>
              </a:rPr>
              <a:t> parassiti</a:t>
            </a:r>
            <a:endParaRPr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secondo grafico il confronto importante è tra il caso </a:t>
            </a:r>
            <a:r>
              <a:rPr lang="it-IT" sz="1200" b="1" dirty="0">
                <a:solidFill>
                  <a:schemeClr val="dk1"/>
                </a:solidFill>
                <a:highlight>
                  <a:srgbClr val="00FF00"/>
                </a:highlight>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e quello </a:t>
            </a:r>
            <a:r>
              <a:rPr lang="it-IT" sz="1200" b="1" dirty="0">
                <a:solidFill>
                  <a:schemeClr val="dk1"/>
                </a:solidFill>
                <a:highlight>
                  <a:srgbClr val="6D9EEB"/>
                </a:highlight>
                <a:latin typeface="Segoe UI" panose="020B0502040204020203" pitchFamily="34" charset="0"/>
                <a:cs typeface="Segoe UI" panose="020B0502040204020203" pitchFamily="34" charset="0"/>
              </a:rPr>
              <a:t>con parassiti</a:t>
            </a:r>
            <a:r>
              <a:rPr lang="it-IT" sz="1200" dirty="0">
                <a:solidFill>
                  <a:schemeClr val="dk1"/>
                </a:solidFill>
                <a:latin typeface="Segoe UI" panose="020B0502040204020203" pitchFamily="34" charset="0"/>
                <a:cs typeface="Segoe UI" panose="020B0502040204020203" pitchFamily="34" charset="0"/>
              </a:rPr>
              <a:t>.</a:t>
            </a:r>
            <a:br>
              <a:rPr lang="it-IT" sz="1200" dirty="0">
                <a:solidFill>
                  <a:schemeClr val="dk1"/>
                </a:solidFill>
                <a:latin typeface="Segoe UI" panose="020B0502040204020203" pitchFamily="34" charset="0"/>
                <a:cs typeface="Segoe UI" panose="020B0502040204020203" pitchFamily="34" charset="0"/>
              </a:rPr>
            </a:br>
            <a:r>
              <a:rPr lang="it-IT" sz="1200" dirty="0">
                <a:solidFill>
                  <a:schemeClr val="dk1"/>
                </a:solidFill>
                <a:latin typeface="Segoe UI" panose="020B0502040204020203" pitchFamily="34" charset="0"/>
                <a:cs typeface="Segoe UI" panose="020B0502040204020203" pitchFamily="34" charset="0"/>
              </a:rPr>
              <a:t> All’inizio il comportamento è simile: il filtro passa-alto sale come atteso e raggiunge la banda passante.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La differenza vera compare invece nella parte finale, evidenziata dal </a:t>
            </a:r>
            <a:r>
              <a:rPr lang="it-IT" sz="1200" b="1" dirty="0">
                <a:solidFill>
                  <a:schemeClr val="dk1"/>
                </a:solidFill>
                <a:latin typeface="Segoe UI" panose="020B0502040204020203" pitchFamily="34" charset="0"/>
                <a:cs typeface="Segoe UI" panose="020B0502040204020203" pitchFamily="34" charset="0"/>
              </a:rPr>
              <a:t>cerchio rosso</a:t>
            </a:r>
            <a:r>
              <a:rPr lang="it-IT" sz="1200" dirty="0">
                <a:solidFill>
                  <a:schemeClr val="dk1"/>
                </a:solidFill>
                <a:latin typeface="Segoe UI" panose="020B0502040204020203" pitchFamily="34" charset="0"/>
                <a:cs typeface="Segoe UI" panose="020B0502040204020203" pitchFamily="34" charset="0"/>
              </a:rPr>
              <a:t>, cioè alle frequenze molto elevate.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caso </a:t>
            </a:r>
            <a:r>
              <a:rPr lang="it-IT" sz="1200" b="1" dirty="0">
                <a:solidFill>
                  <a:schemeClr val="dk1"/>
                </a:solidFill>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il condensatore è ideale: la sua impedenza continua a diminuire all’aumentare della frequenza, quindi il filtro continua a comportarsi come un normale </a:t>
            </a:r>
            <a:r>
              <a:rPr lang="it-IT" sz="1200" b="1" dirty="0">
                <a:solidFill>
                  <a:schemeClr val="dk1"/>
                </a:solidFill>
                <a:latin typeface="Segoe UI" panose="020B0502040204020203" pitchFamily="34" charset="0"/>
                <a:cs typeface="Segoe UI" panose="020B0502040204020203" pitchFamily="34" charset="0"/>
              </a:rPr>
              <a:t>passa-alto</a:t>
            </a:r>
            <a:r>
              <a:rPr lang="it-IT" sz="1200" dirty="0">
                <a:solidFill>
                  <a:schemeClr val="dk1"/>
                </a:solidFill>
                <a:latin typeface="Segoe UI" panose="020B0502040204020203" pitchFamily="34" charset="0"/>
                <a:cs typeface="Segoe UI" panose="020B0502040204020203" pitchFamily="34" charset="0"/>
              </a:rPr>
              <a:t>, mantenendo il guadagno fino a quando i limiti dell’operazionale reale iniziano a dominare.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solidFill>
                <a:schemeClr val="dk1"/>
              </a:solidFill>
            </a:endParaRPr>
          </a:p>
          <a:p>
            <a:pPr marL="0" lvl="0" indent="0" algn="l" rtl="0">
              <a:lnSpc>
                <a:spcPct val="115000"/>
              </a:lnSpc>
              <a:spcBef>
                <a:spcPts val="1200"/>
              </a:spcBef>
              <a:spcAft>
                <a:spcPts val="1200"/>
              </a:spcAft>
              <a:buNone/>
            </a:pPr>
            <a:endParaRPr sz="1200" dirty="0">
              <a:solidFill>
                <a:schemeClr val="dk1"/>
              </a:solidFill>
            </a:endParaRPr>
          </a:p>
        </p:txBody>
      </p:sp>
      <p:pic>
        <p:nvPicPr>
          <p:cNvPr id="545" name="Google Shape;545;p57"/>
          <p:cNvPicPr preferRelativeResize="0"/>
          <p:nvPr/>
        </p:nvPicPr>
        <p:blipFill rotWithShape="1">
          <a:blip r:embed="rId3">
            <a:alphaModFix/>
          </a:blip>
          <a:srcRect/>
          <a:stretch/>
        </p:blipFill>
        <p:spPr>
          <a:xfrm>
            <a:off x="948313" y="2926346"/>
            <a:ext cx="6528886" cy="3199768"/>
          </a:xfrm>
          <a:prstGeom prst="rect">
            <a:avLst/>
          </a:prstGeom>
          <a:noFill/>
          <a:ln>
            <a:noFill/>
          </a:ln>
        </p:spPr>
      </p:pic>
      <p:sp>
        <p:nvSpPr>
          <p:cNvPr id="546" name="Google Shape;546;p57"/>
          <p:cNvSpPr/>
          <p:nvPr/>
        </p:nvSpPr>
        <p:spPr>
          <a:xfrm>
            <a:off x="5721515" y="4058799"/>
            <a:ext cx="2310000" cy="2202900"/>
          </a:xfrm>
          <a:prstGeom prst="ellipse">
            <a:avLst/>
          </a:prstGeom>
          <a:noFill/>
          <a:ln w="10650" cap="flat" cmpd="sng">
            <a:solidFill>
              <a:srgbClr val="FF0000"/>
            </a:solidFill>
            <a:prstDash val="solid"/>
            <a:round/>
            <a:headEnd type="none" w="sm" len="sm"/>
            <a:tailEnd type="none" w="sm" len="sm"/>
          </a:ln>
        </p:spPr>
        <p:txBody>
          <a:bodyPr spcFirstLastPara="1" wrap="square" lIns="102200" tIns="102200" rIns="102200" bIns="102200" anchor="ctr" anchorCtr="0">
            <a:noAutofit/>
          </a:bodyPr>
          <a:lstStyle/>
          <a:p>
            <a:pPr marL="0" marR="0" lvl="0" indent="0" algn="ctr" rtl="0">
              <a:lnSpc>
                <a:spcPct val="100000"/>
              </a:lnSpc>
              <a:spcBef>
                <a:spcPts val="0"/>
              </a:spcBef>
              <a:spcAft>
                <a:spcPts val="0"/>
              </a:spcAft>
              <a:buClr>
                <a:srgbClr val="000000"/>
              </a:buClr>
              <a:buSzPts val="1565"/>
              <a:buFont typeface="Arial"/>
              <a:buNone/>
            </a:pPr>
            <a:endParaRPr sz="1565" b="0" i="0" u="none" strike="noStrike" cap="none">
              <a:solidFill>
                <a:srgbClr val="000000"/>
              </a:solidFill>
              <a:latin typeface="Garamond"/>
              <a:ea typeface="Garamond"/>
              <a:cs typeface="Garamond"/>
              <a:sym typeface="Garamond"/>
            </a:endParaRPr>
          </a:p>
        </p:txBody>
      </p:sp>
      <p:pic>
        <p:nvPicPr>
          <p:cNvPr id="547" name="Google Shape;547;p57"/>
          <p:cNvPicPr preferRelativeResize="0"/>
          <p:nvPr/>
        </p:nvPicPr>
        <p:blipFill rotWithShape="1">
          <a:blip r:embed="rId4">
            <a:alphaModFix/>
          </a:blip>
          <a:srcRect/>
          <a:stretch/>
        </p:blipFill>
        <p:spPr>
          <a:xfrm>
            <a:off x="8300584" y="3478411"/>
            <a:ext cx="2025000" cy="2375726"/>
          </a:xfrm>
          <a:prstGeom prst="rect">
            <a:avLst/>
          </a:prstGeom>
          <a:noFill/>
          <a:ln>
            <a:noFill/>
          </a:ln>
        </p:spPr>
      </p:pic>
      <p:sp>
        <p:nvSpPr>
          <p:cNvPr id="2" name="Segnaposto numero diapositiva 1">
            <a:extLst>
              <a:ext uri="{FF2B5EF4-FFF2-40B4-BE49-F238E27FC236}">
                <a16:creationId xmlns:a16="http://schemas.microsoft.com/office/drawing/2014/main" id="{E0BAD229-9AEB-C4E9-4D0C-0F6940DD8B7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30</a:t>
            </a:fld>
            <a:endParaRPr lang="it-IT"/>
          </a:p>
        </p:txBody>
      </p:sp>
      <p:sp>
        <p:nvSpPr>
          <p:cNvPr id="3" name="Freccia in giù 2">
            <a:hlinkClick r:id="rId5" action="ppaction://hlinksldjump"/>
            <a:extLst>
              <a:ext uri="{FF2B5EF4-FFF2-40B4-BE49-F238E27FC236}">
                <a16:creationId xmlns:a16="http://schemas.microsoft.com/office/drawing/2014/main" id="{3B3043EB-F0E7-3660-7990-E88AC7F79F9D}"/>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E588123A-73BE-5AE2-D6E1-8B46FD1C70B3}"/>
                  </a:ext>
                </a:extLst>
              </p:cNvPr>
              <p:cNvSpPr txBox="1"/>
              <p:nvPr/>
            </p:nvSpPr>
            <p:spPr>
              <a:xfrm>
                <a:off x="864508" y="3018964"/>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4" name="CasellaDiTesto 3">
                <a:extLst>
                  <a:ext uri="{FF2B5EF4-FFF2-40B4-BE49-F238E27FC236}">
                    <a16:creationId xmlns:a16="http://schemas.microsoft.com/office/drawing/2014/main" id="{E588123A-73BE-5AE2-D6E1-8B46FD1C70B3}"/>
                  </a:ext>
                </a:extLst>
              </p:cNvPr>
              <p:cNvSpPr txBox="1">
                <a:spLocks noRot="1" noChangeAspect="1" noMove="1" noResize="1" noEditPoints="1" noAdjustHandles="1" noChangeArrowheads="1" noChangeShapeType="1" noTextEdit="1"/>
              </p:cNvSpPr>
              <p:nvPr/>
            </p:nvSpPr>
            <p:spPr>
              <a:xfrm>
                <a:off x="864508" y="3018964"/>
                <a:ext cx="277320" cy="215444"/>
              </a:xfrm>
              <a:prstGeom prst="rect">
                <a:avLst/>
              </a:prstGeom>
              <a:blipFill>
                <a:blip r:embed="rId6"/>
                <a:stretch>
                  <a:fillRect l="-15556" r="-11111" b="-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831E72AB-332F-B04F-1A75-83FC0044BE63}"/>
                  </a:ext>
                </a:extLst>
              </p:cNvPr>
              <p:cNvSpPr txBox="1"/>
              <p:nvPr/>
            </p:nvSpPr>
            <p:spPr>
              <a:xfrm>
                <a:off x="5887818" y="581705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5" name="CasellaDiTesto 4">
                <a:extLst>
                  <a:ext uri="{FF2B5EF4-FFF2-40B4-BE49-F238E27FC236}">
                    <a16:creationId xmlns:a16="http://schemas.microsoft.com/office/drawing/2014/main" id="{831E72AB-332F-B04F-1A75-83FC0044BE63}"/>
                  </a:ext>
                </a:extLst>
              </p:cNvPr>
              <p:cNvSpPr txBox="1">
                <a:spLocks noRot="1" noChangeAspect="1" noMove="1" noResize="1" noEditPoints="1" noAdjustHandles="1" noChangeArrowheads="1" noChangeShapeType="1" noTextEdit="1"/>
              </p:cNvSpPr>
              <p:nvPr/>
            </p:nvSpPr>
            <p:spPr>
              <a:xfrm>
                <a:off x="5887818" y="5817056"/>
                <a:ext cx="1723916" cy="215444"/>
              </a:xfrm>
              <a:prstGeom prst="rect">
                <a:avLst/>
              </a:prstGeom>
              <a:blipFill>
                <a:blip r:embed="rId7"/>
                <a:stretch>
                  <a:fillRect b="-33333"/>
                </a:stretch>
              </a:blipFill>
            </p:spPr>
            <p:txBody>
              <a:bodyPr/>
              <a:lstStyle/>
              <a:p>
                <a:r>
                  <a:rPr lang="it-IT">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8"/>
          <p:cNvSpPr txBox="1"/>
          <p:nvPr/>
        </p:nvSpPr>
        <p:spPr>
          <a:xfrm>
            <a:off x="820900" y="842075"/>
            <a:ext cx="5952575" cy="155680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Perché con i parassiti il comportamento finale cambia?</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introducono i parassiti, il condensatore non si comporta più come una capacità pura.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modello reale diventa infatti:</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54" name="Google Shape;554;p58"/>
          <p:cNvPicPr preferRelativeResize="0"/>
          <p:nvPr/>
        </p:nvPicPr>
        <p:blipFill rotWithShape="1">
          <a:blip r:embed="rId3">
            <a:alphaModFix/>
          </a:blip>
          <a:srcRect/>
          <a:stretch/>
        </p:blipFill>
        <p:spPr>
          <a:xfrm>
            <a:off x="3335366" y="1865481"/>
            <a:ext cx="2505075" cy="533400"/>
          </a:xfrm>
          <a:prstGeom prst="rect">
            <a:avLst/>
          </a:prstGeom>
          <a:noFill/>
          <a:ln>
            <a:solidFill>
              <a:schemeClr val="tx1"/>
            </a:solidFill>
          </a:ln>
        </p:spPr>
      </p:pic>
      <p:sp>
        <p:nvSpPr>
          <p:cNvPr id="555" name="Google Shape;555;p58"/>
          <p:cNvSpPr txBox="1"/>
          <p:nvPr/>
        </p:nvSpPr>
        <p:spPr>
          <a:xfrm>
            <a:off x="820900" y="2479050"/>
            <a:ext cx="5935475"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aumentando la frequenza, entrano in gioco due fenomeni: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120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alla frequenza di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parte capacitiva e quella induttiva si compensano;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oltre la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domina l’induttanza parassita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 vale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56" name="Google Shape;556;p58"/>
          <p:cNvPicPr preferRelativeResize="0"/>
          <p:nvPr/>
        </p:nvPicPr>
        <p:blipFill rotWithShape="1">
          <a:blip r:embed="rId4">
            <a:alphaModFix/>
          </a:blip>
          <a:srcRect/>
          <a:stretch/>
        </p:blipFill>
        <p:spPr>
          <a:xfrm>
            <a:off x="5316732" y="3496942"/>
            <a:ext cx="1109525" cy="587883"/>
          </a:xfrm>
          <a:prstGeom prst="rect">
            <a:avLst/>
          </a:prstGeom>
          <a:noFill/>
          <a:ln>
            <a:solidFill>
              <a:schemeClr val="tx1"/>
            </a:solidFill>
          </a:ln>
        </p:spPr>
      </p:pic>
      <p:sp>
        <p:nvSpPr>
          <p:cNvPr id="557" name="Google Shape;557;p58"/>
          <p:cNvSpPr txBox="1"/>
          <p:nvPr/>
        </p:nvSpPr>
        <p:spPr>
          <a:xfrm>
            <a:off x="820900" y="4084825"/>
            <a:ext cx="5924075" cy="134187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1" i="0" u="none" strike="noStrike" cap="none" dirty="0">
                <a:solidFill>
                  <a:schemeClr val="dk1"/>
                </a:solidFill>
                <a:latin typeface="Segoe UI" panose="020B0502040204020203" pitchFamily="34" charset="0"/>
                <a:cs typeface="Segoe UI" panose="020B0502040204020203" pitchFamily="34" charset="0"/>
              </a:rPr>
              <a:t>Sotto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componente si comporta ancora da condensatore.</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Intorno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l’impedenza diventa minima.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Sopra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condensatore reale comincia a comportarsi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come un</a:t>
            </a:r>
            <a:r>
              <a:rPr lang="it-IT" sz="1200" b="1"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cxnSp>
        <p:nvCxnSpPr>
          <p:cNvPr id="558" name="Google Shape;558;p58"/>
          <p:cNvCxnSpPr/>
          <p:nvPr/>
        </p:nvCxnSpPr>
        <p:spPr>
          <a:xfrm flipH="1">
            <a:off x="6779175" y="1220850"/>
            <a:ext cx="5700" cy="4416300"/>
          </a:xfrm>
          <a:prstGeom prst="straightConnector1">
            <a:avLst/>
          </a:prstGeom>
          <a:noFill/>
          <a:ln w="9525" cap="flat" cmpd="sng">
            <a:solidFill>
              <a:schemeClr val="dk1"/>
            </a:solidFill>
            <a:prstDash val="solid"/>
            <a:round/>
            <a:headEnd type="none" w="med" len="med"/>
            <a:tailEnd type="none" w="med" len="med"/>
          </a:ln>
        </p:spPr>
      </p:cxnSp>
      <p:sp>
        <p:nvSpPr>
          <p:cNvPr id="559" name="Google Shape;559;p58"/>
          <p:cNvSpPr txBox="1"/>
          <p:nvPr/>
        </p:nvSpPr>
        <p:spPr>
          <a:xfrm>
            <a:off x="6894575" y="1220850"/>
            <a:ext cx="4364100" cy="423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Il tratto finale diverso, cerchiato in rosso, nasce proprio da questo effetto: alle altissime frequenze il condensatore con parassiti </a:t>
            </a:r>
            <a:r>
              <a:rPr lang="it-IT" sz="1200" b="1" dirty="0">
                <a:solidFill>
                  <a:schemeClr val="dk1"/>
                </a:solidFill>
                <a:latin typeface="Segoe UI" panose="020B0502040204020203" pitchFamily="34" charset="0"/>
                <a:cs typeface="Segoe UI" panose="020B0502040204020203" pitchFamily="34" charset="0"/>
              </a:rPr>
              <a:t>non favorisce più il comportamento passa-alto</a:t>
            </a:r>
            <a:r>
              <a:rPr lang="it-IT" sz="1200" dirty="0">
                <a:solidFill>
                  <a:schemeClr val="dk1"/>
                </a:solidFill>
                <a:latin typeface="Segoe UI" panose="020B0502040204020203" pitchFamily="34" charset="0"/>
                <a:cs typeface="Segoe UI" panose="020B0502040204020203" pitchFamily="34" charset="0"/>
              </a:rPr>
              <a:t>, perché smette di essere “capacitivo” e diventa progressivamente “induttivo”.</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Di conseguenza il filtro:</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120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non mantiene più la banda passante ideale;</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introduce una </a:t>
            </a:r>
            <a:r>
              <a:rPr lang="it-IT" sz="1200" b="1" dirty="0">
                <a:solidFill>
                  <a:schemeClr val="dk1"/>
                </a:solidFill>
                <a:latin typeface="Segoe UI" panose="020B0502040204020203" pitchFamily="34" charset="0"/>
                <a:cs typeface="Segoe UI" panose="020B0502040204020203" pitchFamily="34" charset="0"/>
              </a:rPr>
              <a:t>seconda attenuazione alle alte frequenze</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assume un comportamento che tende più a un </a:t>
            </a:r>
            <a:r>
              <a:rPr lang="it-IT" sz="1200" b="1" dirty="0">
                <a:solidFill>
                  <a:schemeClr val="dk1"/>
                </a:solidFill>
                <a:latin typeface="Segoe UI" panose="020B0502040204020203" pitchFamily="34" charset="0"/>
                <a:cs typeface="Segoe UI" panose="020B0502040204020203" pitchFamily="34" charset="0"/>
              </a:rPr>
              <a:t>passa-banda reale</a:t>
            </a:r>
            <a:r>
              <a:rPr lang="it-IT" sz="1200" dirty="0">
                <a:solidFill>
                  <a:schemeClr val="dk1"/>
                </a:solidFill>
                <a:latin typeface="Segoe UI" panose="020B0502040204020203" pitchFamily="34" charset="0"/>
                <a:cs typeface="Segoe UI" panose="020B0502040204020203" pitchFamily="34" charset="0"/>
              </a:rPr>
              <a:t> che a un passa-alto ideale.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In pratica, il filtro lascia passare bene una certa banda di frequenze, ma poi, molto in alto, il guadagno ricomincia a scendere.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È proprio questo che spiega la differenza finale tra la curva con parassiti e quella senza parassiti.</a:t>
            </a:r>
            <a:endParaRPr sz="1200" dirty="0">
              <a:solidFill>
                <a:srgbClr val="262626"/>
              </a:solidFill>
              <a:latin typeface="Segoe UI" panose="020B0502040204020203" pitchFamily="34" charset="0"/>
              <a:ea typeface="Garamond"/>
              <a:cs typeface="Segoe UI" panose="020B0502040204020203" pitchFamily="34" charset="0"/>
              <a:sym typeface="Garamond"/>
            </a:endParaRPr>
          </a:p>
        </p:txBody>
      </p:sp>
      <p:sp>
        <p:nvSpPr>
          <p:cNvPr id="2" name="Segnaposto numero diapositiva 1">
            <a:extLst>
              <a:ext uri="{FF2B5EF4-FFF2-40B4-BE49-F238E27FC236}">
                <a16:creationId xmlns:a16="http://schemas.microsoft.com/office/drawing/2014/main" id="{3EC8642D-6CAE-6CA7-4B6E-77A83C2B06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778516D7-FF57-4427-B445-E33108271B1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32</a:t>
            </a:fld>
            <a:endParaRPr lang="it-IT"/>
          </a:p>
        </p:txBody>
      </p:sp>
      <p:sp>
        <p:nvSpPr>
          <p:cNvPr id="3" name="CasellaDiTesto 2">
            <a:extLst>
              <a:ext uri="{FF2B5EF4-FFF2-40B4-BE49-F238E27FC236}">
                <a16:creationId xmlns:a16="http://schemas.microsoft.com/office/drawing/2014/main" id="{F6BC59A3-B96E-AA20-AE61-010225025070}"/>
              </a:ext>
            </a:extLst>
          </p:cNvPr>
          <p:cNvSpPr txBox="1"/>
          <p:nvPr/>
        </p:nvSpPr>
        <p:spPr>
          <a:xfrm>
            <a:off x="3404532" y="2463747"/>
            <a:ext cx="9106249" cy="1569660"/>
          </a:xfrm>
          <a:prstGeom prst="rect">
            <a:avLst/>
          </a:prstGeom>
          <a:noFill/>
        </p:spPr>
        <p:txBody>
          <a:bodyPr wrap="square" rtlCol="0">
            <a:spAutoFit/>
          </a:bodyPr>
          <a:lstStyle/>
          <a:p>
            <a:r>
              <a:rPr lang="it-IT" sz="9600" dirty="0"/>
              <a:t>Back list</a:t>
            </a:r>
          </a:p>
        </p:txBody>
      </p:sp>
    </p:spTree>
    <p:extLst>
      <p:ext uri="{BB962C8B-B14F-4D97-AF65-F5344CB8AC3E}">
        <p14:creationId xmlns:p14="http://schemas.microsoft.com/office/powerpoint/2010/main" val="664496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1CA81D29-7978-EC4A-974C-7F079A9BBF99}"/>
              </a:ext>
            </a:extLst>
          </p:cNvPr>
          <p:cNvSpPr txBox="1"/>
          <p:nvPr/>
        </p:nvSpPr>
        <p:spPr>
          <a:xfrm>
            <a:off x="1011636" y="5526016"/>
            <a:ext cx="10168727" cy="523220"/>
          </a:xfrm>
          <a:prstGeom prst="rect">
            <a:avLst/>
          </a:prstGeom>
          <a:noFill/>
          <a:ln w="19050">
            <a:noFill/>
          </a:ln>
        </p:spPr>
        <p:txBody>
          <a:bodyPr wrap="square">
            <a:spAutoFit/>
          </a:bodyPr>
          <a:lstStyle>
            <a:defPPr marR="0" lvl="0" algn="l" rtl="0">
              <a:lnSpc>
                <a:spcPct val="100000"/>
              </a:lnSpc>
              <a:spcBef>
                <a:spcPts val="0"/>
              </a:spcBef>
              <a:spcAft>
                <a:spcPts val="0"/>
              </a:spcAft>
              <a:defRPr/>
            </a:defPPr>
            <a:lvl1pPr marL="0" indent="0" algn="ctr">
              <a:defRPr>
                <a:latin typeface="Segoe UI" panose="020B0502040204020203" pitchFamily="34" charset="0"/>
                <a:cs typeface="Segoe UI" panose="020B0502040204020203" pitchFamily="34" charset="0"/>
              </a:defRPr>
            </a:lvl1pPr>
          </a:lstStyle>
          <a:p>
            <a:r>
              <a:rPr lang="it-IT" sz="1400" dirty="0">
                <a:sym typeface="Libre Franklin"/>
              </a:rPr>
              <a:t>In entrambi i casi </a:t>
            </a:r>
            <a:r>
              <a:rPr lang="it-IT" sz="1400" b="1" dirty="0">
                <a:sym typeface="Libre Franklin"/>
              </a:rPr>
              <a:t>la resistenza </a:t>
            </a:r>
            <a:r>
              <a:rPr lang="it-IT" sz="1400" dirty="0">
                <a:sym typeface="Libre Franklin"/>
              </a:rPr>
              <a:t>non genera da sola l’effetto di filtro, ma </a:t>
            </a:r>
            <a:r>
              <a:rPr lang="it-IT" sz="1400" b="1" u="sng" dirty="0">
                <a:sym typeface="Libre Franklin"/>
              </a:rPr>
              <a:t>serve a fissare i parametri principali del circuito, come la frequenza di taglio e la rapidità della risposta transitoria</a:t>
            </a:r>
            <a:r>
              <a:rPr lang="it-IT" sz="1400" dirty="0">
                <a:sym typeface="Libre Franklin"/>
              </a:rPr>
              <a:t>.</a:t>
            </a:r>
          </a:p>
        </p:txBody>
      </p:sp>
      <p:pic>
        <p:nvPicPr>
          <p:cNvPr id="8" name="Immagine 7">
            <a:extLst>
              <a:ext uri="{FF2B5EF4-FFF2-40B4-BE49-F238E27FC236}">
                <a16:creationId xmlns:a16="http://schemas.microsoft.com/office/drawing/2014/main" id="{4E3C6F84-016F-B2F2-6BC5-5F92F17D0A5D}"/>
              </a:ext>
            </a:extLst>
          </p:cNvPr>
          <p:cNvPicPr>
            <a:picLocks noChangeAspect="1"/>
          </p:cNvPicPr>
          <p:nvPr/>
        </p:nvPicPr>
        <p:blipFill>
          <a:blip r:embed="rId2"/>
          <a:srcRect l="6059" t="3694" r="7551" b="10542"/>
          <a:stretch>
            <a:fillRect/>
          </a:stretch>
        </p:blipFill>
        <p:spPr>
          <a:xfrm>
            <a:off x="1074632" y="722119"/>
            <a:ext cx="3666146" cy="2204815"/>
          </a:xfrm>
          <a:prstGeom prst="rect">
            <a:avLst/>
          </a:prstGeom>
          <a:ln w="38100">
            <a:solidFill>
              <a:srgbClr val="FFC000"/>
            </a:solidFill>
          </a:ln>
        </p:spPr>
      </p:pic>
      <p:pic>
        <p:nvPicPr>
          <p:cNvPr id="10" name="Immagine 9">
            <a:extLst>
              <a:ext uri="{FF2B5EF4-FFF2-40B4-BE49-F238E27FC236}">
                <a16:creationId xmlns:a16="http://schemas.microsoft.com/office/drawing/2014/main" id="{0EAB93FB-786A-06B1-0BD3-5F2A509313EF}"/>
              </a:ext>
            </a:extLst>
          </p:cNvPr>
          <p:cNvPicPr>
            <a:picLocks noChangeAspect="1"/>
          </p:cNvPicPr>
          <p:nvPr/>
        </p:nvPicPr>
        <p:blipFill>
          <a:blip r:embed="rId3"/>
          <a:srcRect l="3718" t="3618" r="13284" b="10841"/>
          <a:stretch>
            <a:fillRect/>
          </a:stretch>
        </p:blipFill>
        <p:spPr>
          <a:xfrm>
            <a:off x="7872010" y="3124068"/>
            <a:ext cx="3329390" cy="2204815"/>
          </a:xfrm>
          <a:prstGeom prst="rect">
            <a:avLst/>
          </a:prstGeom>
          <a:ln w="38100">
            <a:solidFill>
              <a:srgbClr val="00B050"/>
            </a:solidFill>
          </a:ln>
        </p:spPr>
      </p:pic>
      <p:sp>
        <p:nvSpPr>
          <p:cNvPr id="11" name="Rettangolo con angoli arrotondati 10">
            <a:extLst>
              <a:ext uri="{FF2B5EF4-FFF2-40B4-BE49-F238E27FC236}">
                <a16:creationId xmlns:a16="http://schemas.microsoft.com/office/drawing/2014/main" id="{4759CF74-3CBC-54B8-B7DB-806D191F9936}"/>
              </a:ext>
            </a:extLst>
          </p:cNvPr>
          <p:cNvSpPr/>
          <p:nvPr/>
        </p:nvSpPr>
        <p:spPr>
          <a:xfrm>
            <a:off x="5294118" y="722120"/>
            <a:ext cx="5907281" cy="2204815"/>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RC, il comportamento passa-alto è legato al condensatore: alle basse frequenze la sua impedenza è alta e il segnale viene attenuato; alle alte frequenze l’impedenza diminuisce e il segnale passa più facilmente.</a:t>
            </a:r>
          </a:p>
        </p:txBody>
      </p:sp>
      <p:sp>
        <p:nvSpPr>
          <p:cNvPr id="12" name="Rettangolo con angoli arrotondati 11">
            <a:extLst>
              <a:ext uri="{FF2B5EF4-FFF2-40B4-BE49-F238E27FC236}">
                <a16:creationId xmlns:a16="http://schemas.microsoft.com/office/drawing/2014/main" id="{DC2E4A7B-4EA9-2A4A-753D-EAAB4DAEE5FE}"/>
              </a:ext>
            </a:extLst>
          </p:cNvPr>
          <p:cNvSpPr/>
          <p:nvPr/>
        </p:nvSpPr>
        <p:spPr>
          <a:xfrm>
            <a:off x="1074632" y="3079763"/>
            <a:ext cx="6415757" cy="2204815"/>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RL, invece, il ruolo selettivo è svolto dall’induttore: la sua impedenza aumenta con la frequenza e modifica la distribuzione della tensione nel circuito, permettendo di ottenere una risposta passa-alto in modo analogo ma con un principio fisico diverso.</a:t>
            </a:r>
          </a:p>
        </p:txBody>
      </p:sp>
      <p:sp>
        <p:nvSpPr>
          <p:cNvPr id="2" name="Segnaposto numero diapositiva 1">
            <a:extLst>
              <a:ext uri="{FF2B5EF4-FFF2-40B4-BE49-F238E27FC236}">
                <a16:creationId xmlns:a16="http://schemas.microsoft.com/office/drawing/2014/main" id="{A9D6EDD8-5785-84D6-06F4-F33464CFDD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33</a:t>
            </a:fld>
            <a:endParaRPr lang="it-IT"/>
          </a:p>
        </p:txBody>
      </p:sp>
      <p:sp>
        <p:nvSpPr>
          <p:cNvPr id="4" name="Freccia in giù 3">
            <a:hlinkClick r:id="rId4" action="ppaction://hlinksldjump"/>
            <a:extLst>
              <a:ext uri="{FF2B5EF4-FFF2-40B4-BE49-F238E27FC236}">
                <a16:creationId xmlns:a16="http://schemas.microsoft.com/office/drawing/2014/main" id="{6223B13E-48E8-4AA0-F66E-346A2E72FE42}"/>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55869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BCB3247D-87BD-04E0-720A-AA82F0DEA626}"/>
              </a:ext>
            </a:extLst>
          </p:cNvPr>
          <p:cNvSpPr txBox="1"/>
          <p:nvPr/>
        </p:nvSpPr>
        <p:spPr>
          <a:xfrm>
            <a:off x="1073791" y="765520"/>
            <a:ext cx="10127609"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Impedenza del condensatore</a:t>
            </a:r>
          </a:p>
        </p:txBody>
      </p:sp>
      <p:pic>
        <p:nvPicPr>
          <p:cNvPr id="15" name="Immagine 14">
            <a:extLst>
              <a:ext uri="{FF2B5EF4-FFF2-40B4-BE49-F238E27FC236}">
                <a16:creationId xmlns:a16="http://schemas.microsoft.com/office/drawing/2014/main" id="{562F4A1A-F8DA-F5EA-7D70-3C4D545E71FE}"/>
              </a:ext>
            </a:extLst>
          </p:cNvPr>
          <p:cNvPicPr>
            <a:picLocks noChangeAspect="1"/>
          </p:cNvPicPr>
          <p:nvPr/>
        </p:nvPicPr>
        <p:blipFill>
          <a:blip r:embed="rId2"/>
          <a:srcRect r="24648"/>
          <a:stretch>
            <a:fillRect/>
          </a:stretch>
        </p:blipFill>
        <p:spPr>
          <a:xfrm>
            <a:off x="6550341" y="2019927"/>
            <a:ext cx="4317079" cy="1823655"/>
          </a:xfrm>
          <a:prstGeom prst="rect">
            <a:avLst/>
          </a:prstGeom>
          <a:ln w="19050">
            <a:solidFill>
              <a:schemeClr val="bg1">
                <a:lumMod val="50000"/>
              </a:schemeClr>
            </a:solidFill>
          </a:ln>
        </p:spPr>
      </p:pic>
      <p:sp>
        <p:nvSpPr>
          <p:cNvPr id="29" name="CasellaDiTesto 28">
            <a:extLst>
              <a:ext uri="{FF2B5EF4-FFF2-40B4-BE49-F238E27FC236}">
                <a16:creationId xmlns:a16="http://schemas.microsoft.com/office/drawing/2014/main" id="{78B4F30F-C993-001D-39C6-B26A76D84776}"/>
              </a:ext>
            </a:extLst>
          </p:cNvPr>
          <p:cNvSpPr txBox="1"/>
          <p:nvPr/>
        </p:nvSpPr>
        <p:spPr>
          <a:xfrm>
            <a:off x="5641596" y="2971800"/>
            <a:ext cx="65" cy="276999"/>
          </a:xfrm>
          <a:prstGeom prst="rect">
            <a:avLst/>
          </a:prstGeom>
          <a:noFill/>
        </p:spPr>
        <p:txBody>
          <a:bodyPr wrap="none" lIns="0" tIns="0" rIns="0" bIns="0" rtlCol="0">
            <a:spAutoFit/>
          </a:bodyPr>
          <a:lstStyle/>
          <a:p>
            <a:endParaRPr lang="it-IT" dirty="0"/>
          </a:p>
        </p:txBody>
      </p:sp>
      <p:grpSp>
        <p:nvGrpSpPr>
          <p:cNvPr id="33" name="Gruppo 32">
            <a:extLst>
              <a:ext uri="{FF2B5EF4-FFF2-40B4-BE49-F238E27FC236}">
                <a16:creationId xmlns:a16="http://schemas.microsoft.com/office/drawing/2014/main" id="{AF568ACC-338A-13BF-A08C-20509A6AB4DA}"/>
              </a:ext>
            </a:extLst>
          </p:cNvPr>
          <p:cNvGrpSpPr/>
          <p:nvPr/>
        </p:nvGrpSpPr>
        <p:grpSpPr>
          <a:xfrm>
            <a:off x="1258370" y="2006563"/>
            <a:ext cx="4198708" cy="3033082"/>
            <a:chOff x="1073789" y="2617794"/>
            <a:chExt cx="3586295" cy="3043009"/>
          </a:xfrm>
        </p:grpSpPr>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2310CFA4-ACD2-9F17-7C89-23153A936B34}"/>
                    </a:ext>
                  </a:extLst>
                </p:cNvPr>
                <p:cNvSpPr txBox="1"/>
                <p:nvPr/>
              </p:nvSpPr>
              <p:spPr>
                <a:xfrm>
                  <a:off x="1073789" y="3032823"/>
                  <a:ext cx="3586294" cy="562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18" name="CasellaDiTesto 17">
                  <a:extLst>
                    <a:ext uri="{FF2B5EF4-FFF2-40B4-BE49-F238E27FC236}">
                      <a16:creationId xmlns:a16="http://schemas.microsoft.com/office/drawing/2014/main" id="{2310CFA4-ACD2-9F17-7C89-23153A936B34}"/>
                    </a:ext>
                  </a:extLst>
                </p:cNvPr>
                <p:cNvSpPr txBox="1">
                  <a:spLocks noRot="1" noChangeAspect="1" noMove="1" noResize="1" noEditPoints="1" noAdjustHandles="1" noChangeArrowheads="1" noChangeShapeType="1" noTextEdit="1"/>
                </p:cNvSpPr>
                <p:nvPr/>
              </p:nvSpPr>
              <p:spPr>
                <a:xfrm>
                  <a:off x="1073789" y="3032823"/>
                  <a:ext cx="3586294" cy="562270"/>
                </a:xfrm>
                <a:prstGeom prst="rect">
                  <a:avLst/>
                </a:prstGeom>
                <a:blipFill>
                  <a:blip r:embed="rId3"/>
                  <a:stretch>
                    <a:fillRect/>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80F8B64C-A1AF-936A-A119-3ED95B9D7044}"/>
                </a:ext>
              </a:extLst>
            </p:cNvPr>
            <p:cNvSpPr txBox="1"/>
            <p:nvPr/>
          </p:nvSpPr>
          <p:spPr>
            <a:xfrm>
              <a:off x="1073790" y="2617794"/>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b="1" dirty="0"/>
                <a:t>Un condensatore in AC si descrive con:</a:t>
              </a:r>
            </a:p>
          </p:txBody>
        </p:sp>
        <p:sp>
          <p:nvSpPr>
            <p:cNvPr id="24" name="CasellaDiTesto 23">
              <a:extLst>
                <a:ext uri="{FF2B5EF4-FFF2-40B4-BE49-F238E27FC236}">
                  <a16:creationId xmlns:a16="http://schemas.microsoft.com/office/drawing/2014/main" id="{75B76D7D-D795-A787-C798-2EEECCFC3B44}"/>
                </a:ext>
              </a:extLst>
            </p:cNvPr>
            <p:cNvSpPr txBox="1"/>
            <p:nvPr/>
          </p:nvSpPr>
          <p:spPr>
            <a:xfrm>
              <a:off x="1073790" y="3639133"/>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dirty="0"/>
                <a:t>dove:</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624A5D03-D6F4-C510-1D3D-C9633F821BE4}"/>
                    </a:ext>
                  </a:extLst>
                </p:cNvPr>
                <p:cNvSpPr txBox="1"/>
                <p:nvPr/>
              </p:nvSpPr>
              <p:spPr>
                <a:xfrm>
                  <a:off x="1073789" y="4094619"/>
                  <a:ext cx="358629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𝜔</m:t>
                        </m:r>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m:t>
                        </m:r>
                      </m:oMath>
                    </m:oMathPara>
                  </a14:m>
                  <a:endParaRPr lang="it-IT" dirty="0"/>
                </a:p>
              </p:txBody>
            </p:sp>
          </mc:Choice>
          <mc:Fallback xmlns="">
            <p:sp>
              <p:nvSpPr>
                <p:cNvPr id="26" name="CasellaDiTesto 25">
                  <a:extLst>
                    <a:ext uri="{FF2B5EF4-FFF2-40B4-BE49-F238E27FC236}">
                      <a16:creationId xmlns:a16="http://schemas.microsoft.com/office/drawing/2014/main" id="{624A5D03-D6F4-C510-1D3D-C9633F821BE4}"/>
                    </a:ext>
                  </a:extLst>
                </p:cNvPr>
                <p:cNvSpPr txBox="1">
                  <a:spLocks noRot="1" noChangeAspect="1" noMove="1" noResize="1" noEditPoints="1" noAdjustHandles="1" noChangeArrowheads="1" noChangeShapeType="1" noTextEdit="1"/>
                </p:cNvSpPr>
                <p:nvPr/>
              </p:nvSpPr>
              <p:spPr>
                <a:xfrm>
                  <a:off x="1073789" y="4094619"/>
                  <a:ext cx="3586294" cy="276999"/>
                </a:xfrm>
                <a:prstGeom prst="rect">
                  <a:avLst/>
                </a:prstGeom>
                <a:blipFill>
                  <a:blip r:embed="rId4"/>
                  <a:stretch>
                    <a:fillRect t="-4444" b="-35556"/>
                  </a:stretch>
                </a:blipFill>
              </p:spPr>
              <p:txBody>
                <a:bodyPr/>
                <a:lstStyle/>
                <a:p>
                  <a:r>
                    <a:rPr lang="it-IT">
                      <a:noFill/>
                    </a:rPr>
                    <a:t> </a:t>
                  </a:r>
                </a:p>
              </p:txBody>
            </p:sp>
          </mc:Fallback>
        </mc:AlternateContent>
        <p:sp>
          <p:nvSpPr>
            <p:cNvPr id="28" name="CasellaDiTesto 27">
              <a:extLst>
                <a:ext uri="{FF2B5EF4-FFF2-40B4-BE49-F238E27FC236}">
                  <a16:creationId xmlns:a16="http://schemas.microsoft.com/office/drawing/2014/main" id="{2064E443-E228-7868-D897-F1FE36111AFC}"/>
                </a:ext>
              </a:extLst>
            </p:cNvPr>
            <p:cNvSpPr txBox="1"/>
            <p:nvPr/>
          </p:nvSpPr>
          <p:spPr>
            <a:xfrm>
              <a:off x="1073789" y="4577821"/>
              <a:ext cx="3586294"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rPr>
                <a:t>Quindi il modulo vale:</a:t>
              </a:r>
            </a:p>
          </p:txBody>
        </p:sp>
        <mc:AlternateContent xmlns:mc="http://schemas.openxmlformats.org/markup-compatibility/2006" xmlns:a14="http://schemas.microsoft.com/office/drawing/2010/main">
          <mc:Choice Requires="a14">
            <p:sp>
              <p:nvSpPr>
                <p:cNvPr id="30" name="CasellaDiTesto 29">
                  <a:extLst>
                    <a:ext uri="{FF2B5EF4-FFF2-40B4-BE49-F238E27FC236}">
                      <a16:creationId xmlns:a16="http://schemas.microsoft.com/office/drawing/2014/main" id="{27949FE3-FF27-60D3-E246-258C53F283C2}"/>
                    </a:ext>
                  </a:extLst>
                </p:cNvPr>
                <p:cNvSpPr txBox="1"/>
                <p:nvPr/>
              </p:nvSpPr>
              <p:spPr>
                <a:xfrm>
                  <a:off x="1073789" y="5091801"/>
                  <a:ext cx="3586295" cy="5690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it-IT" i="1" smtClean="0">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e>
                        </m:d>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𝑓𝐶</m:t>
                            </m:r>
                          </m:den>
                        </m:f>
                      </m:oMath>
                    </m:oMathPara>
                  </a14:m>
                  <a:endParaRPr lang="it-IT" dirty="0"/>
                </a:p>
              </p:txBody>
            </p:sp>
          </mc:Choice>
          <mc:Fallback xmlns="">
            <p:sp>
              <p:nvSpPr>
                <p:cNvPr id="30" name="CasellaDiTesto 29">
                  <a:extLst>
                    <a:ext uri="{FF2B5EF4-FFF2-40B4-BE49-F238E27FC236}">
                      <a16:creationId xmlns:a16="http://schemas.microsoft.com/office/drawing/2014/main" id="{27949FE3-FF27-60D3-E246-258C53F283C2}"/>
                    </a:ext>
                  </a:extLst>
                </p:cNvPr>
                <p:cNvSpPr txBox="1">
                  <a:spLocks noRot="1" noChangeAspect="1" noMove="1" noResize="1" noEditPoints="1" noAdjustHandles="1" noChangeArrowheads="1" noChangeShapeType="1" noTextEdit="1"/>
                </p:cNvSpPr>
                <p:nvPr/>
              </p:nvSpPr>
              <p:spPr>
                <a:xfrm>
                  <a:off x="1073789" y="5091801"/>
                  <a:ext cx="3586295" cy="569002"/>
                </a:xfrm>
                <a:prstGeom prst="rect">
                  <a:avLst/>
                </a:prstGeom>
                <a:blipFill>
                  <a:blip r:embed="rId5"/>
                  <a:stretch>
                    <a:fillRect/>
                  </a:stretch>
                </a:blipFill>
              </p:spPr>
              <p:txBody>
                <a:bodyPr/>
                <a:lstStyle/>
                <a:p>
                  <a:r>
                    <a:rPr lang="it-IT">
                      <a:noFill/>
                    </a:rPr>
                    <a:t> </a:t>
                  </a:r>
                </a:p>
              </p:txBody>
            </p:sp>
          </mc:Fallback>
        </mc:AlternateContent>
      </p:grpSp>
      <p:sp>
        <p:nvSpPr>
          <p:cNvPr id="36" name="CasellaDiTesto 35">
            <a:extLst>
              <a:ext uri="{FF2B5EF4-FFF2-40B4-BE49-F238E27FC236}">
                <a16:creationId xmlns:a16="http://schemas.microsoft.com/office/drawing/2014/main" id="{D391E939-98FB-B6C7-CD42-981C24D0406C}"/>
              </a:ext>
            </a:extLst>
          </p:cNvPr>
          <p:cNvSpPr txBox="1"/>
          <p:nvPr/>
        </p:nvSpPr>
        <p:spPr>
          <a:xfrm>
            <a:off x="6550340" y="4241460"/>
            <a:ext cx="4355369" cy="1384995"/>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pPr marL="285750" indent="-285750">
              <a:buFont typeface="Arial" panose="020B0604020202020204" pitchFamily="34" charset="0"/>
              <a:buChar char="•"/>
            </a:pPr>
            <a:r>
              <a:rPr lang="it-IT" dirty="0"/>
              <a:t>A frequenza o capacità alte il condensatore tende al cortocircuito.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A frequenza o capacità basse, invece, l’impedenza cresce e il condensatore si comporta come circuito aperto.</a:t>
            </a:r>
          </a:p>
        </p:txBody>
      </p:sp>
      <p:sp>
        <p:nvSpPr>
          <p:cNvPr id="38" name="CasellaDiTesto 37">
            <a:extLst>
              <a:ext uri="{FF2B5EF4-FFF2-40B4-BE49-F238E27FC236}">
                <a16:creationId xmlns:a16="http://schemas.microsoft.com/office/drawing/2014/main" id="{BE8F1436-EAFA-D34F-F901-A1CD6D9F7E64}"/>
              </a:ext>
            </a:extLst>
          </p:cNvPr>
          <p:cNvSpPr txBox="1"/>
          <p:nvPr/>
        </p:nvSpPr>
        <p:spPr>
          <a:xfrm>
            <a:off x="6550340" y="1372383"/>
            <a:ext cx="4317079" cy="369332"/>
          </a:xfrm>
          <a:prstGeom prst="rect">
            <a:avLst/>
          </a:prstGeom>
          <a:noFill/>
        </p:spPr>
        <p:txBody>
          <a:bodyPr wrap="square">
            <a:spAutoFit/>
          </a:bodyPr>
          <a:lstStyle/>
          <a:p>
            <a:pPr algn="ctr"/>
            <a:r>
              <a:rPr lang="it-IT" dirty="0">
                <a:latin typeface="Segoe UI Semibold" panose="020B0702040204020203" pitchFamily="34" charset="0"/>
                <a:cs typeface="Segoe UI Semibold" panose="020B0702040204020203" pitchFamily="34" charset="0"/>
              </a:rPr>
              <a:t>Una tabella che mostra le tendenze </a:t>
            </a:r>
            <a:endParaRPr lang="it-IT" dirty="0"/>
          </a:p>
        </p:txBody>
      </p:sp>
      <p:sp>
        <p:nvSpPr>
          <p:cNvPr id="2" name="Segnaposto numero diapositiva 1">
            <a:extLst>
              <a:ext uri="{FF2B5EF4-FFF2-40B4-BE49-F238E27FC236}">
                <a16:creationId xmlns:a16="http://schemas.microsoft.com/office/drawing/2014/main" id="{164BAAF1-A322-8520-716A-F598A0A5F97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34</a:t>
            </a:fld>
            <a:endParaRPr lang="it-IT"/>
          </a:p>
        </p:txBody>
      </p:sp>
      <p:sp>
        <p:nvSpPr>
          <p:cNvPr id="5" name="Freccia in giù 4">
            <a:hlinkClick r:id="rId6" action="ppaction://hlinksldjump"/>
            <a:extLst>
              <a:ext uri="{FF2B5EF4-FFF2-40B4-BE49-F238E27FC236}">
                <a16:creationId xmlns:a16="http://schemas.microsoft.com/office/drawing/2014/main" id="{C5771516-44E1-63CC-4AD7-D1F8748BCD1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9462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asellaDiTesto 24">
            <a:extLst>
              <a:ext uri="{FF2B5EF4-FFF2-40B4-BE49-F238E27FC236}">
                <a16:creationId xmlns:a16="http://schemas.microsoft.com/office/drawing/2014/main" id="{A9E49883-A9D1-4BF7-B97B-1E43A34A3D92}"/>
              </a:ext>
            </a:extLst>
          </p:cNvPr>
          <p:cNvSpPr txBox="1"/>
          <p:nvPr/>
        </p:nvSpPr>
        <p:spPr>
          <a:xfrm>
            <a:off x="989901" y="990856"/>
            <a:ext cx="101422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a:t>
            </a:r>
            <a:r>
              <a:rPr lang="it-IT"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in simulazione, conviene far passare un certo tempo prima di osservare il segnale, così il condensatore è già “saturo” </a:t>
            </a:r>
            <a:r>
              <a:rPr lang="it-IT" dirty="0">
                <a:latin typeface="Segoe UI" panose="020B0502040204020203" pitchFamily="34" charset="0"/>
                <a:cs typeface="Segoe UI" panose="020B0502040204020203" pitchFamily="34" charset="0"/>
              </a:rPr>
              <a:t>e non altera più l’analisi del circuito.</a:t>
            </a: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D4E5782-86B4-3AE9-A88D-979DF52412CB}"/>
                  </a:ext>
                </a:extLst>
              </p:cNvPr>
              <p:cNvSpPr txBox="1"/>
              <p:nvPr/>
            </p:nvSpPr>
            <p:spPr>
              <a:xfrm>
                <a:off x="989901" y="1544824"/>
                <a:ext cx="901082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Facciamo quindi un’analisi transitoria lasciando prima saturare/assestare il condensatore.</a:t>
                </a:r>
              </a:p>
              <a:p>
                <a:r>
                  <a:rPr lang="it-IT" dirty="0">
                    <a:latin typeface="Segoe UI" panose="020B0502040204020203" pitchFamily="34" charset="0"/>
                    <a:cs typeface="Segoe UI" panose="020B0502040204020203" pitchFamily="34" charset="0"/>
                  </a:rPr>
                  <a:t>In simulazione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non guardiamo subito da </a:t>
                </a:r>
                <a14:m>
                  <m:oMath xmlns:m="http://schemas.openxmlformats.org/officeDocument/2006/math">
                    <m:r>
                      <a:rPr lang="it-IT">
                        <a:latin typeface="Cambria Math" panose="02040503050406030204" pitchFamily="18" charset="0"/>
                      </a:rPr>
                      <m:t>𝑡</m:t>
                    </m:r>
                    <m:r>
                      <a:rPr lang="it-IT">
                        <a:latin typeface="Cambria Math" panose="02040503050406030204" pitchFamily="18" charset="0"/>
                      </a:rPr>
                      <m:t>=0 </m:t>
                    </m:r>
                    <m:r>
                      <m:rPr>
                        <m:sty m:val="p"/>
                      </m:rPr>
                      <a:rPr lang="it-IT">
                        <a:latin typeface="Cambria Math" panose="02040503050406030204" pitchFamily="18" charset="0"/>
                      </a:rPr>
                      <m:t>secondi</m:t>
                    </m:r>
                  </m:oMath>
                </a14:m>
                <a:r>
                  <a:rPr lang="it-IT" dirty="0">
                    <a:latin typeface="Segoe UI" panose="020B0502040204020203" pitchFamily="34" charset="0"/>
                    <a:cs typeface="Segoe UI" panose="020B0502040204020203" pitchFamily="34" charset="0"/>
                  </a:rPr>
                  <a:t>, perché lì compare il transitorio iniziale di carica di </a:t>
                </a:r>
                <a14:m>
                  <m:oMath xmlns:m="http://schemas.openxmlformats.org/officeDocument/2006/math">
                    <m:r>
                      <a:rPr lang="it-IT">
                        <a:latin typeface="Cambria Math" panose="02040503050406030204" pitchFamily="18" charset="0"/>
                      </a:rPr>
                      <m:t>𝐶</m:t>
                    </m:r>
                  </m:oMath>
                </a14:m>
                <a:r>
                  <a:rPr lang="it-IT" dirty="0">
                    <a:latin typeface="Segoe UI" panose="020B0502040204020203" pitchFamily="34" charset="0"/>
                    <a:cs typeface="Segoe UI" panose="020B0502040204020203" pitchFamily="34" charset="0"/>
                  </a:rPr>
                  <a:t>.</a:t>
                </a:r>
              </a:p>
            </p:txBody>
          </p:sp>
        </mc:Choice>
        <mc:Fallback xmlns="">
          <p:sp>
            <p:nvSpPr>
              <p:cNvPr id="2" name="CasellaDiTesto 1">
                <a:extLst>
                  <a:ext uri="{FF2B5EF4-FFF2-40B4-BE49-F238E27FC236}">
                    <a16:creationId xmlns:a16="http://schemas.microsoft.com/office/drawing/2014/main" id="{BD4E5782-86B4-3AE9-A88D-979DF52412CB}"/>
                  </a:ext>
                </a:extLst>
              </p:cNvPr>
              <p:cNvSpPr txBox="1">
                <a:spLocks noRot="1" noChangeAspect="1" noMove="1" noResize="1" noEditPoints="1" noAdjustHandles="1" noChangeArrowheads="1" noChangeShapeType="1" noTextEdit="1"/>
              </p:cNvSpPr>
              <p:nvPr/>
            </p:nvSpPr>
            <p:spPr>
              <a:xfrm>
                <a:off x="989901" y="1544824"/>
                <a:ext cx="9010825" cy="553968"/>
              </a:xfrm>
              <a:prstGeom prst="rect">
                <a:avLst/>
              </a:prstGeom>
              <a:blipFill>
                <a:blip r:embed="rId2"/>
                <a:stretch>
                  <a:fillRect/>
                </a:stretch>
              </a:blipFill>
              <a:ln>
                <a:noFill/>
              </a:ln>
            </p:spPr>
            <p:txBody>
              <a:bodyPr/>
              <a:lstStyle/>
              <a:p>
                <a:r>
                  <a:rPr lang="it-IT">
                    <a:noFill/>
                  </a:rPr>
                  <a:t> </a:t>
                </a:r>
              </a:p>
            </p:txBody>
          </p:sp>
        </mc:Fallback>
      </mc:AlternateContent>
      <p:pic>
        <p:nvPicPr>
          <p:cNvPr id="3" name="Immagine 2">
            <a:extLst>
              <a:ext uri="{FF2B5EF4-FFF2-40B4-BE49-F238E27FC236}">
                <a16:creationId xmlns:a16="http://schemas.microsoft.com/office/drawing/2014/main" id="{33540721-BBE3-1B88-8420-D08180C9566E}"/>
              </a:ext>
            </a:extLst>
          </p:cNvPr>
          <p:cNvPicPr>
            <a:picLocks noChangeAspect="1"/>
          </p:cNvPicPr>
          <p:nvPr/>
        </p:nvPicPr>
        <p:blipFill>
          <a:blip r:embed="rId3"/>
          <a:stretch>
            <a:fillRect/>
          </a:stretch>
        </p:blipFill>
        <p:spPr>
          <a:xfrm>
            <a:off x="633669" y="2265436"/>
            <a:ext cx="5418157" cy="2655405"/>
          </a:xfrm>
          <a:prstGeom prst="rect">
            <a:avLst/>
          </a:prstGeom>
        </p:spPr>
      </p:pic>
      <p:pic>
        <p:nvPicPr>
          <p:cNvPr id="4" name="Immagine 3">
            <a:extLst>
              <a:ext uri="{FF2B5EF4-FFF2-40B4-BE49-F238E27FC236}">
                <a16:creationId xmlns:a16="http://schemas.microsoft.com/office/drawing/2014/main" id="{86FD2239-CB56-E9DA-E657-DE5B305CCF64}"/>
              </a:ext>
            </a:extLst>
          </p:cNvPr>
          <p:cNvPicPr>
            <a:picLocks noChangeAspect="1"/>
          </p:cNvPicPr>
          <p:nvPr/>
        </p:nvPicPr>
        <p:blipFill>
          <a:blip r:embed="rId4"/>
          <a:stretch>
            <a:fillRect/>
          </a:stretch>
        </p:blipFill>
        <p:spPr>
          <a:xfrm>
            <a:off x="6140175" y="2265437"/>
            <a:ext cx="5418156" cy="2655404"/>
          </a:xfrm>
          <a:prstGeom prst="rect">
            <a:avLst/>
          </a:prstGeom>
        </p:spPr>
      </p:pic>
      <p:sp>
        <p:nvSpPr>
          <p:cNvPr id="6" name="CasellaDiTesto 5">
            <a:extLst>
              <a:ext uri="{FF2B5EF4-FFF2-40B4-BE49-F238E27FC236}">
                <a16:creationId xmlns:a16="http://schemas.microsoft.com/office/drawing/2014/main" id="{025CB173-BE13-6816-3D65-4F47A1ADB3E9}"/>
              </a:ext>
            </a:extLst>
          </p:cNvPr>
          <p:cNvSpPr txBox="1"/>
          <p:nvPr/>
        </p:nvSpPr>
        <p:spPr>
          <a:xfrm>
            <a:off x="3386922" y="2356607"/>
            <a:ext cx="2593246" cy="95407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sz="1000" dirty="0">
                <a:latin typeface="Segoe UI" panose="020B0502040204020203" pitchFamily="34" charset="0"/>
                <a:cs typeface="Segoe UI" panose="020B0502040204020203" pitchFamily="34" charset="0"/>
              </a:rPr>
              <a:t>Con </a:t>
            </a:r>
            <a:r>
              <a:rPr lang="it-IT" sz="1000" b="1" dirty="0">
                <a:solidFill>
                  <a:srgbClr val="3134FF"/>
                </a:solidFill>
                <a:latin typeface="Segoe UI" panose="020B0502040204020203" pitchFamily="34" charset="0"/>
                <a:cs typeface="Segoe UI" panose="020B0502040204020203" pitchFamily="34" charset="0"/>
              </a:rPr>
              <a:t>.tran 0 100m 0 100u </a:t>
            </a:r>
            <a:r>
              <a:rPr lang="it-IT" sz="1000" dirty="0" err="1">
                <a:latin typeface="Segoe UI" panose="020B0502040204020203" pitchFamily="34" charset="0"/>
                <a:cs typeface="Segoe UI" panose="020B0502040204020203" pitchFamily="34" charset="0"/>
              </a:rPr>
              <a:t>LTspice</a:t>
            </a:r>
            <a:r>
              <a:rPr lang="it-IT" sz="1000" dirty="0">
                <a:latin typeface="Segoe UI" panose="020B0502040204020203" pitchFamily="34" charset="0"/>
                <a:cs typeface="Segoe UI" panose="020B0502040204020203" pitchFamily="34" charset="0"/>
              </a:rPr>
              <a:t> simula da 0 a 100 ms.</a:t>
            </a:r>
            <a:br>
              <a:rPr lang="it-IT" sz="1000" dirty="0">
                <a:latin typeface="Segoe UI" panose="020B0502040204020203" pitchFamily="34" charset="0"/>
                <a:cs typeface="Segoe UI" panose="020B0502040204020203" pitchFamily="34" charset="0"/>
              </a:rPr>
            </a:br>
            <a:r>
              <a:rPr lang="it-IT" sz="1000" dirty="0">
                <a:latin typeface="Segoe UI" panose="020B0502040204020203" pitchFamily="34" charset="0"/>
                <a:cs typeface="Segoe UI" panose="020B0502040204020203" pitchFamily="34" charset="0"/>
              </a:rPr>
              <a:t>Mostra tutto subito da 0, quindi vedi anche il transitorio iniziale del condensatore.</a:t>
            </a:r>
          </a:p>
        </p:txBody>
      </p:sp>
      <p:sp>
        <p:nvSpPr>
          <p:cNvPr id="7" name="CasellaDiTesto 6">
            <a:extLst>
              <a:ext uri="{FF2B5EF4-FFF2-40B4-BE49-F238E27FC236}">
                <a16:creationId xmlns:a16="http://schemas.microsoft.com/office/drawing/2014/main" id="{00F50613-F854-01AC-62C8-2427C926F2EB}"/>
              </a:ext>
            </a:extLst>
          </p:cNvPr>
          <p:cNvSpPr txBox="1"/>
          <p:nvPr/>
        </p:nvSpPr>
        <p:spPr>
          <a:xfrm>
            <a:off x="8640794" y="2267943"/>
            <a:ext cx="2740054" cy="954077"/>
          </a:xfrm>
          <a:prstGeom prst="rect">
            <a:avLst/>
          </a:prstGeom>
          <a:noFill/>
          <a:ln>
            <a:noFill/>
          </a:ln>
        </p:spPr>
        <p:txBody>
          <a:bodyPr spcFirstLastPara="1" wrap="square" lIns="91425" tIns="91425" rIns="91425" bIns="91425" anchor="t" anchorCtr="0">
            <a:spAutoFit/>
          </a:bodyPr>
          <a:lstStyle>
            <a:defPPr>
              <a:defRPr lang="en-US"/>
            </a:defPPr>
            <a:lvl1pPr lvl="0" indent="0" algn="ctr">
              <a:spcBef>
                <a:spcPts val="0"/>
              </a:spcBef>
              <a:spcAft>
                <a:spcPts val="0"/>
              </a:spcAft>
              <a:buNone/>
              <a:defRPr sz="10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Con </a:t>
            </a:r>
            <a:r>
              <a:rPr lang="it-IT" b="1" dirty="0">
                <a:solidFill>
                  <a:srgbClr val="3134FF"/>
                </a:solidFill>
                <a:latin typeface="Segoe UI" panose="020B0502040204020203" pitchFamily="34" charset="0"/>
                <a:cs typeface="Segoe UI" panose="020B0502040204020203" pitchFamily="34" charset="0"/>
              </a:rPr>
              <a:t>.tran 0 5 4.9 100u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simula il circuito da 0 a 5 s.</a:t>
            </a:r>
            <a:br>
              <a:rPr lang="it-IT" dirty="0">
                <a:latin typeface="Segoe UI" panose="020B0502040204020203" pitchFamily="34" charset="0"/>
                <a:cs typeface="Segoe UI" panose="020B0502040204020203" pitchFamily="34" charset="0"/>
              </a:rPr>
            </a:br>
            <a:r>
              <a:rPr lang="it-IT" i="1" u="sng" dirty="0">
                <a:latin typeface="Segoe UI" panose="020B0502040204020203" pitchFamily="34" charset="0"/>
                <a:cs typeface="Segoe UI" panose="020B0502040204020203" pitchFamily="34" charset="0"/>
              </a:rPr>
              <a:t>Però mostra/salva solo da 4.9 s a 5 s.</a:t>
            </a:r>
            <a:br>
              <a:rPr lang="it-IT" i="1" u="sng" dirty="0">
                <a:latin typeface="Segoe UI" panose="020B0502040204020203" pitchFamily="34" charset="0"/>
                <a:cs typeface="Segoe UI" panose="020B0502040204020203" pitchFamily="34" charset="0"/>
              </a:rPr>
            </a:br>
            <a:r>
              <a:rPr lang="it-IT" b="1" dirty="0">
                <a:latin typeface="Segoe UI" panose="020B0502040204020203" pitchFamily="34" charset="0"/>
                <a:cs typeface="Segoe UI" panose="020B0502040204020203" pitchFamily="34" charset="0"/>
              </a:rPr>
              <a:t>Così vediamo un solo periodo finale, dopo che il condensatore si è assestato.</a:t>
            </a:r>
          </a:p>
        </p:txBody>
      </p:sp>
      <p:pic>
        <p:nvPicPr>
          <p:cNvPr id="8" name="Immagine 7">
            <a:extLst>
              <a:ext uri="{FF2B5EF4-FFF2-40B4-BE49-F238E27FC236}">
                <a16:creationId xmlns:a16="http://schemas.microsoft.com/office/drawing/2014/main" id="{79D7A016-A59D-539C-DD1B-2AE00504B26E}"/>
              </a:ext>
            </a:extLst>
          </p:cNvPr>
          <p:cNvPicPr>
            <a:picLocks noChangeAspect="1"/>
          </p:cNvPicPr>
          <p:nvPr/>
        </p:nvPicPr>
        <p:blipFill>
          <a:blip r:embed="rId5"/>
          <a:srcRect l="139" b="66154"/>
          <a:stretch>
            <a:fillRect/>
          </a:stretch>
        </p:blipFill>
        <p:spPr>
          <a:xfrm>
            <a:off x="1881255" y="5049838"/>
            <a:ext cx="3011333" cy="868352"/>
          </a:xfrm>
          <a:prstGeom prst="rect">
            <a:avLst/>
          </a:prstGeom>
          <a:ln>
            <a:solidFill>
              <a:schemeClr val="tx1"/>
            </a:solidFill>
          </a:ln>
        </p:spPr>
      </p:pic>
      <p:pic>
        <p:nvPicPr>
          <p:cNvPr id="9" name="Immagine 8">
            <a:extLst>
              <a:ext uri="{FF2B5EF4-FFF2-40B4-BE49-F238E27FC236}">
                <a16:creationId xmlns:a16="http://schemas.microsoft.com/office/drawing/2014/main" id="{3EC087F3-A424-5998-D73A-1DEDDB30E7E9}"/>
              </a:ext>
            </a:extLst>
          </p:cNvPr>
          <p:cNvPicPr>
            <a:picLocks noChangeAspect="1"/>
          </p:cNvPicPr>
          <p:nvPr/>
        </p:nvPicPr>
        <p:blipFill>
          <a:blip r:embed="rId6"/>
          <a:srcRect b="66228"/>
          <a:stretch>
            <a:fillRect/>
          </a:stretch>
        </p:blipFill>
        <p:spPr>
          <a:xfrm>
            <a:off x="7341489" y="5046703"/>
            <a:ext cx="3015527" cy="871487"/>
          </a:xfrm>
          <a:prstGeom prst="rect">
            <a:avLst/>
          </a:prstGeom>
          <a:ln>
            <a:solidFill>
              <a:schemeClr val="tx1"/>
            </a:solidFill>
          </a:ln>
        </p:spPr>
      </p:pic>
      <p:sp>
        <p:nvSpPr>
          <p:cNvPr id="5" name="Segnaposto numero diapositiva 4">
            <a:extLst>
              <a:ext uri="{FF2B5EF4-FFF2-40B4-BE49-F238E27FC236}">
                <a16:creationId xmlns:a16="http://schemas.microsoft.com/office/drawing/2014/main" id="{9D0CC211-2395-C433-1603-32B994BC3A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35</a:t>
            </a:fld>
            <a:endParaRPr lang="it-IT"/>
          </a:p>
        </p:txBody>
      </p:sp>
      <p:sp>
        <p:nvSpPr>
          <p:cNvPr id="10" name="Freccia in giù 9">
            <a:hlinkClick r:id="rId7" action="ppaction://hlinksldjump"/>
            <a:extLst>
              <a:ext uri="{FF2B5EF4-FFF2-40B4-BE49-F238E27FC236}">
                <a16:creationId xmlns:a16="http://schemas.microsoft.com/office/drawing/2014/main" id="{157BEE2C-F5A4-C62D-AFA0-CD7C2ACA57D4}"/>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22942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transitoria</a:t>
            </a:r>
            <a:endParaRPr dirty="0">
              <a:sym typeface="Libre Franklin SemiBold"/>
            </a:endParaRPr>
          </a:p>
        </p:txBody>
      </p:sp>
      <p:sp>
        <p:nvSpPr>
          <p:cNvPr id="175" name="Google Shape;175;p20"/>
          <p:cNvSpPr txBox="1"/>
          <p:nvPr/>
        </p:nvSpPr>
        <p:spPr>
          <a:xfrm>
            <a:off x="1049142" y="1859354"/>
            <a:ext cx="10093716" cy="350862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u="sng" dirty="0">
                <a:latin typeface="Segoe UI" panose="020B0502040204020203" pitchFamily="34" charset="0"/>
                <a:cs typeface="Segoe UI" panose="020B0502040204020203" pitchFamily="34" charset="0"/>
                <a:sym typeface="Libre Franklin"/>
              </a:rPr>
              <a:t>Scelta la configurazione RC con </a:t>
            </a:r>
            <a:r>
              <a:rPr lang="it-IT" b="1" i="1" u="sng" dirty="0">
                <a:latin typeface="Segoe UI" panose="020B0502040204020203" pitchFamily="34" charset="0"/>
                <a:cs typeface="Segoe UI" panose="020B0502040204020203" pitchFamily="34" charset="0"/>
                <a:sym typeface="Libre Franklin"/>
              </a:rPr>
              <a:t>frequenza di taglio pari a 159 Hz</a:t>
            </a:r>
            <a:r>
              <a:rPr lang="it-IT" dirty="0">
                <a:latin typeface="Segoe UI" panose="020B0502040204020203" pitchFamily="34" charset="0"/>
                <a:cs typeface="Segoe UI" panose="020B0502040204020203" pitchFamily="34" charset="0"/>
                <a:sym typeface="Libre Franklin"/>
              </a:rPr>
              <a:t>, è possibile analizzare il comportamento del filtro al variare della frequenza del segnale di ingresso.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Sono state eseguite simulazioni con tre segnali sinusoidali a </a:t>
            </a:r>
            <a:r>
              <a:rPr lang="it-IT" b="1" i="1" dirty="0">
                <a:latin typeface="Segoe UI" panose="020B0502040204020203" pitchFamily="34" charset="0"/>
                <a:cs typeface="Segoe UI" panose="020B0502040204020203" pitchFamily="34" charset="0"/>
                <a:sym typeface="Libre Franklin"/>
              </a:rPr>
              <a:t>10 Hz,159Hz, 250 Hz e 3 kHz</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I risultati mostrano come la risposta del filtro dipenda dalla posizione della frequenza di ingresso rispetto alla frequenza di taglio: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a:t>
            </a:r>
            <a:r>
              <a:rPr lang="it-IT" u="sng" dirty="0">
                <a:latin typeface="Segoe UI" panose="020B0502040204020203" pitchFamily="34" charset="0"/>
                <a:cs typeface="Segoe UI" panose="020B0502040204020203" pitchFamily="34" charset="0"/>
                <a:sym typeface="Libre Franklin"/>
              </a:rPr>
              <a:t>frequenze molto inferiori come​ (10 Hz)</a:t>
            </a:r>
            <a:r>
              <a:rPr lang="it-IT" dirty="0">
                <a:latin typeface="Segoe UI" panose="020B0502040204020203" pitchFamily="34" charset="0"/>
                <a:cs typeface="Segoe UI" panose="020B0502040204020203" pitchFamily="34" charset="0"/>
                <a:sym typeface="Libre Franklin"/>
              </a:rPr>
              <a:t>, il segnale risulta </a:t>
            </a:r>
            <a:r>
              <a:rPr lang="it-IT" i="1" u="sng" dirty="0">
                <a:latin typeface="Segoe UI" panose="020B0502040204020203" pitchFamily="34" charset="0"/>
                <a:cs typeface="Segoe UI" panose="020B0502040204020203" pitchFamily="34" charset="0"/>
                <a:sym typeface="Libre Franklin"/>
              </a:rPr>
              <a:t>fortemente attenuato e presenta uno sfasamento significativo</a:t>
            </a:r>
            <a:r>
              <a:rPr lang="it-IT" dirty="0">
                <a:latin typeface="Segoe UI" panose="020B0502040204020203" pitchFamily="34" charset="0"/>
                <a:cs typeface="Segoe UI" panose="020B0502040204020203" pitchFamily="34" charset="0"/>
                <a:sym typeface="Libre Franklin"/>
              </a:rPr>
              <a:t>.</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In prossimità della frequenza di taglio (250 Hz), l'attenuazione diminuisce e il segnale in uscita assume un'ampiezza più vicina a quella del segnale di ingresso.</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(3 kHz), il filtro lascia passare quasi interamente il segnale, con ampiezza pressoché invariata e sfasamento ridotto.</a:t>
            </a:r>
          </a:p>
          <a:p>
            <a:endParaRPr lang="it-IT"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rPr>
              <a:t>Si osserva quindi il comportamento tipico di un filtro passa-alto: l'attenuazione diminuisce all'aumentare della frequenza del segnale di ingresso.</a:t>
            </a:r>
            <a:endParaRPr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76978666-BBA9-0A08-45AC-BF4E33DF534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36</a:t>
            </a:fld>
            <a:endParaRPr lang="it-IT"/>
          </a:p>
        </p:txBody>
      </p:sp>
      <p:sp>
        <p:nvSpPr>
          <p:cNvPr id="3" name="Freccia in giù 2">
            <a:hlinkClick r:id="rId3" action="ppaction://hlinksldjump"/>
            <a:extLst>
              <a:ext uri="{FF2B5EF4-FFF2-40B4-BE49-F238E27FC236}">
                <a16:creationId xmlns:a16="http://schemas.microsoft.com/office/drawing/2014/main" id="{2F9B6B35-9E61-3944-3ECD-1A62760BF931}"/>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27293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54B37572-AC18-4C8A-6B7D-EDC57A6A8ADB}"/>
              </a:ext>
            </a:extLst>
          </p:cNvPr>
          <p:cNvPicPr>
            <a:picLocks noChangeAspect="1"/>
          </p:cNvPicPr>
          <p:nvPr/>
        </p:nvPicPr>
        <p:blipFill>
          <a:blip r:embed="rId3"/>
          <a:stretch>
            <a:fillRect/>
          </a:stretch>
        </p:blipFill>
        <p:spPr>
          <a:xfrm>
            <a:off x="641179" y="647429"/>
            <a:ext cx="5212080" cy="2553919"/>
          </a:xfrm>
          <a:prstGeom prst="rect">
            <a:avLst/>
          </a:prstGeom>
        </p:spPr>
      </p:pic>
      <p:pic>
        <p:nvPicPr>
          <p:cNvPr id="5" name="Immagine 4">
            <a:extLst>
              <a:ext uri="{FF2B5EF4-FFF2-40B4-BE49-F238E27FC236}">
                <a16:creationId xmlns:a16="http://schemas.microsoft.com/office/drawing/2014/main" id="{DEACFF84-26D2-D7C6-E837-34A29132E3F9}"/>
              </a:ext>
            </a:extLst>
          </p:cNvPr>
          <p:cNvPicPr>
            <a:picLocks noChangeAspect="1"/>
          </p:cNvPicPr>
          <p:nvPr/>
        </p:nvPicPr>
        <p:blipFill>
          <a:blip r:embed="rId4"/>
          <a:stretch>
            <a:fillRect/>
          </a:stretch>
        </p:blipFill>
        <p:spPr>
          <a:xfrm>
            <a:off x="6339669" y="647429"/>
            <a:ext cx="5212080" cy="2553919"/>
          </a:xfrm>
          <a:prstGeom prst="rect">
            <a:avLst/>
          </a:prstGeom>
        </p:spPr>
      </p:pic>
      <p:pic>
        <p:nvPicPr>
          <p:cNvPr id="4" name="Immagine 3">
            <a:extLst>
              <a:ext uri="{FF2B5EF4-FFF2-40B4-BE49-F238E27FC236}">
                <a16:creationId xmlns:a16="http://schemas.microsoft.com/office/drawing/2014/main" id="{D09181CB-2314-09C3-244E-C0BD3C5C6692}"/>
              </a:ext>
            </a:extLst>
          </p:cNvPr>
          <p:cNvPicPr>
            <a:picLocks noChangeAspect="1"/>
          </p:cNvPicPr>
          <p:nvPr/>
        </p:nvPicPr>
        <p:blipFill>
          <a:blip r:embed="rId5"/>
          <a:stretch>
            <a:fillRect/>
          </a:stretch>
        </p:blipFill>
        <p:spPr>
          <a:xfrm>
            <a:off x="641179" y="3656651"/>
            <a:ext cx="5212080" cy="2553919"/>
          </a:xfrm>
          <a:prstGeom prst="rect">
            <a:avLst/>
          </a:prstGeom>
        </p:spPr>
      </p:pic>
      <p:pic>
        <p:nvPicPr>
          <p:cNvPr id="2" name="Immagine 1">
            <a:extLst>
              <a:ext uri="{FF2B5EF4-FFF2-40B4-BE49-F238E27FC236}">
                <a16:creationId xmlns:a16="http://schemas.microsoft.com/office/drawing/2014/main" id="{F737AF05-F1BE-27CB-47A4-5B038103EB17}"/>
              </a:ext>
            </a:extLst>
          </p:cNvPr>
          <p:cNvPicPr>
            <a:picLocks noChangeAspect="1"/>
          </p:cNvPicPr>
          <p:nvPr/>
        </p:nvPicPr>
        <p:blipFill>
          <a:blip r:embed="rId6"/>
          <a:stretch>
            <a:fillRect/>
          </a:stretch>
        </p:blipFill>
        <p:spPr>
          <a:xfrm>
            <a:off x="6339669" y="3675988"/>
            <a:ext cx="5212080" cy="2553919"/>
          </a:xfrm>
          <a:prstGeom prst="rect">
            <a:avLst/>
          </a:prstGeom>
        </p:spPr>
      </p:pic>
      <p:sp>
        <p:nvSpPr>
          <p:cNvPr id="7" name="CasellaDiTesto 6">
            <a:extLst>
              <a:ext uri="{FF2B5EF4-FFF2-40B4-BE49-F238E27FC236}">
                <a16:creationId xmlns:a16="http://schemas.microsoft.com/office/drawing/2014/main" id="{3F5877C7-5414-45F2-D59A-0E6AC009A82B}"/>
              </a:ext>
            </a:extLst>
          </p:cNvPr>
          <p:cNvSpPr txBox="1"/>
          <p:nvPr/>
        </p:nvSpPr>
        <p:spPr>
          <a:xfrm>
            <a:off x="5217102" y="647429"/>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10 Hz</a:t>
            </a:r>
            <a:endParaRPr lang="it-IT" dirty="0">
              <a:solidFill>
                <a:schemeClr val="bg1"/>
              </a:solidFill>
            </a:endParaRPr>
          </a:p>
        </p:txBody>
      </p:sp>
      <p:sp>
        <p:nvSpPr>
          <p:cNvPr id="8" name="CasellaDiTesto 7">
            <a:extLst>
              <a:ext uri="{FF2B5EF4-FFF2-40B4-BE49-F238E27FC236}">
                <a16:creationId xmlns:a16="http://schemas.microsoft.com/office/drawing/2014/main" id="{2952BE0C-65FB-A249-7AB4-FCC07A2E48F7}"/>
              </a:ext>
            </a:extLst>
          </p:cNvPr>
          <p:cNvSpPr txBox="1"/>
          <p:nvPr/>
        </p:nvSpPr>
        <p:spPr>
          <a:xfrm>
            <a:off x="5087924" y="3656651"/>
            <a:ext cx="76533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250 Hz</a:t>
            </a:r>
            <a:endParaRPr lang="it-IT" dirty="0">
              <a:solidFill>
                <a:schemeClr val="bg1"/>
              </a:solidFill>
            </a:endParaRPr>
          </a:p>
        </p:txBody>
      </p:sp>
      <p:sp>
        <p:nvSpPr>
          <p:cNvPr id="9" name="CasellaDiTesto 8">
            <a:extLst>
              <a:ext uri="{FF2B5EF4-FFF2-40B4-BE49-F238E27FC236}">
                <a16:creationId xmlns:a16="http://schemas.microsoft.com/office/drawing/2014/main" id="{7D88D6D6-D018-F005-8D52-5D93FF2852D9}"/>
              </a:ext>
            </a:extLst>
          </p:cNvPr>
          <p:cNvSpPr txBox="1"/>
          <p:nvPr/>
        </p:nvSpPr>
        <p:spPr>
          <a:xfrm>
            <a:off x="10914664" y="3675988"/>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3k Hz</a:t>
            </a:r>
            <a:endParaRPr lang="it-IT" dirty="0">
              <a:solidFill>
                <a:schemeClr val="bg1"/>
              </a:solidFill>
            </a:endParaRPr>
          </a:p>
        </p:txBody>
      </p:sp>
      <p:sp>
        <p:nvSpPr>
          <p:cNvPr id="11" name="CasellaDiTesto 10">
            <a:extLst>
              <a:ext uri="{FF2B5EF4-FFF2-40B4-BE49-F238E27FC236}">
                <a16:creationId xmlns:a16="http://schemas.microsoft.com/office/drawing/2014/main" id="{11E20541-B741-BA0F-4412-D53B840F8797}"/>
              </a:ext>
            </a:extLst>
          </p:cNvPr>
          <p:cNvSpPr txBox="1"/>
          <p:nvPr/>
        </p:nvSpPr>
        <p:spPr>
          <a:xfrm>
            <a:off x="10876327" y="647429"/>
            <a:ext cx="67449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159 Hz</a:t>
            </a:r>
            <a:endParaRPr lang="it-IT" dirty="0">
              <a:solidFill>
                <a:schemeClr val="bg1"/>
              </a:solidFill>
            </a:endParaRPr>
          </a:p>
        </p:txBody>
      </p:sp>
      <p:sp>
        <p:nvSpPr>
          <p:cNvPr id="6" name="Segnaposto numero diapositiva 5">
            <a:extLst>
              <a:ext uri="{FF2B5EF4-FFF2-40B4-BE49-F238E27FC236}">
                <a16:creationId xmlns:a16="http://schemas.microsoft.com/office/drawing/2014/main" id="{C1943D34-474A-74D8-23C5-3815A0BE78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37</a:t>
            </a:fld>
            <a:endParaRPr lang="it-IT"/>
          </a:p>
        </p:txBody>
      </p:sp>
    </p:spTree>
    <p:extLst>
      <p:ext uri="{BB962C8B-B14F-4D97-AF65-F5344CB8AC3E}">
        <p14:creationId xmlns:p14="http://schemas.microsoft.com/office/powerpoint/2010/main" val="276887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2A446F6-D8DC-C2D1-EA1B-DC25E67B8A35}"/>
              </a:ext>
            </a:extLst>
          </p:cNvPr>
          <p:cNvPicPr>
            <a:picLocks noChangeAspect="1"/>
          </p:cNvPicPr>
          <p:nvPr/>
        </p:nvPicPr>
        <p:blipFill>
          <a:blip r:embed="rId2"/>
          <a:stretch>
            <a:fillRect/>
          </a:stretch>
        </p:blipFill>
        <p:spPr>
          <a:xfrm>
            <a:off x="644537" y="637290"/>
            <a:ext cx="5649643" cy="2791710"/>
          </a:xfrm>
          <a:prstGeom prst="rect">
            <a:avLst/>
          </a:prstGeom>
        </p:spPr>
      </p:pic>
      <p:pic>
        <p:nvPicPr>
          <p:cNvPr id="3" name="Immagine 2">
            <a:extLst>
              <a:ext uri="{FF2B5EF4-FFF2-40B4-BE49-F238E27FC236}">
                <a16:creationId xmlns:a16="http://schemas.microsoft.com/office/drawing/2014/main" id="{B824D55F-AFEF-002C-0BCE-242B13810E34}"/>
              </a:ext>
            </a:extLst>
          </p:cNvPr>
          <p:cNvPicPr>
            <a:picLocks noChangeAspect="1"/>
          </p:cNvPicPr>
          <p:nvPr/>
        </p:nvPicPr>
        <p:blipFill>
          <a:blip r:embed="rId3"/>
          <a:stretch>
            <a:fillRect/>
          </a:stretch>
        </p:blipFill>
        <p:spPr>
          <a:xfrm>
            <a:off x="5871485" y="3429001"/>
            <a:ext cx="5667571" cy="2791710"/>
          </a:xfrm>
          <a:prstGeom prst="rect">
            <a:avLst/>
          </a:prstGeom>
        </p:spPr>
      </p:pic>
      <p:sp>
        <p:nvSpPr>
          <p:cNvPr id="4" name="Ovale 3">
            <a:extLst>
              <a:ext uri="{FF2B5EF4-FFF2-40B4-BE49-F238E27FC236}">
                <a16:creationId xmlns:a16="http://schemas.microsoft.com/office/drawing/2014/main" id="{7CB4B310-4AD8-6A2F-B7F7-387BC5F2BDB2}"/>
              </a:ext>
            </a:extLst>
          </p:cNvPr>
          <p:cNvSpPr/>
          <p:nvPr/>
        </p:nvSpPr>
        <p:spPr>
          <a:xfrm>
            <a:off x="2852767" y="637289"/>
            <a:ext cx="1233182" cy="1149291"/>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Immagine 4">
            <a:extLst>
              <a:ext uri="{FF2B5EF4-FFF2-40B4-BE49-F238E27FC236}">
                <a16:creationId xmlns:a16="http://schemas.microsoft.com/office/drawing/2014/main" id="{367903DE-989C-874E-D552-53A096B2CB21}"/>
              </a:ext>
            </a:extLst>
          </p:cNvPr>
          <p:cNvPicPr>
            <a:picLocks noChangeAspect="1"/>
          </p:cNvPicPr>
          <p:nvPr/>
        </p:nvPicPr>
        <p:blipFill>
          <a:blip r:embed="rId3"/>
          <a:srcRect l="18118" t="37569" r="70572" b="46276"/>
          <a:stretch>
            <a:fillRect/>
          </a:stretch>
        </p:blipFill>
        <p:spPr>
          <a:xfrm>
            <a:off x="1856755" y="3673771"/>
            <a:ext cx="3222780" cy="2267415"/>
          </a:xfrm>
          <a:prstGeom prst="rect">
            <a:avLst/>
          </a:prstGeom>
        </p:spPr>
      </p:pic>
      <p:pic>
        <p:nvPicPr>
          <p:cNvPr id="6" name="Immagine 5">
            <a:extLst>
              <a:ext uri="{FF2B5EF4-FFF2-40B4-BE49-F238E27FC236}">
                <a16:creationId xmlns:a16="http://schemas.microsoft.com/office/drawing/2014/main" id="{4F66E4D1-8513-5906-AF1B-4246A58EACD0}"/>
              </a:ext>
            </a:extLst>
          </p:cNvPr>
          <p:cNvPicPr>
            <a:picLocks noChangeAspect="1"/>
          </p:cNvPicPr>
          <p:nvPr/>
        </p:nvPicPr>
        <p:blipFill>
          <a:blip r:embed="rId2"/>
          <a:srcRect l="44322" t="12854" r="44322" b="71272"/>
          <a:stretch>
            <a:fillRect/>
          </a:stretch>
        </p:blipFill>
        <p:spPr>
          <a:xfrm>
            <a:off x="7064078" y="899437"/>
            <a:ext cx="3282384" cy="2267415"/>
          </a:xfrm>
          <a:prstGeom prst="rect">
            <a:avLst/>
          </a:prstGeom>
        </p:spPr>
      </p:pic>
      <p:sp>
        <p:nvSpPr>
          <p:cNvPr id="7" name="Ovale 6">
            <a:extLst>
              <a:ext uri="{FF2B5EF4-FFF2-40B4-BE49-F238E27FC236}">
                <a16:creationId xmlns:a16="http://schemas.microsoft.com/office/drawing/2014/main" id="{BF0AEDB7-FC80-4924-E06C-A07C11C61416}"/>
              </a:ext>
            </a:extLst>
          </p:cNvPr>
          <p:cNvSpPr/>
          <p:nvPr/>
        </p:nvSpPr>
        <p:spPr>
          <a:xfrm>
            <a:off x="6619424" y="4139692"/>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2 8">
            <a:extLst>
              <a:ext uri="{FF2B5EF4-FFF2-40B4-BE49-F238E27FC236}">
                <a16:creationId xmlns:a16="http://schemas.microsoft.com/office/drawing/2014/main" id="{375B97D7-5CF4-88E7-157F-BA5E42CD42D1}"/>
              </a:ext>
            </a:extLst>
          </p:cNvPr>
          <p:cNvCxnSpPr>
            <a:cxnSpLocks/>
            <a:stCxn id="7" idx="2"/>
            <a:endCxn id="5" idx="3"/>
          </p:cNvCxnSpPr>
          <p:nvPr/>
        </p:nvCxnSpPr>
        <p:spPr>
          <a:xfrm flipH="1">
            <a:off x="5079535" y="4714338"/>
            <a:ext cx="1539889" cy="93141"/>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BBC6DC13-DCAA-8A00-8CFC-34641A45FD19}"/>
              </a:ext>
            </a:extLst>
          </p:cNvPr>
          <p:cNvCxnSpPr>
            <a:cxnSpLocks/>
            <a:endCxn id="6" idx="1"/>
          </p:cNvCxnSpPr>
          <p:nvPr/>
        </p:nvCxnSpPr>
        <p:spPr>
          <a:xfrm>
            <a:off x="4085949" y="1233182"/>
            <a:ext cx="2978129" cy="799963"/>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18" name="CasellaDiTesto 17">
            <a:extLst>
              <a:ext uri="{FF2B5EF4-FFF2-40B4-BE49-F238E27FC236}">
                <a16:creationId xmlns:a16="http://schemas.microsoft.com/office/drawing/2014/main" id="{FCAF2104-C230-53E9-7B4C-486596825541}"/>
              </a:ext>
            </a:extLst>
          </p:cNvPr>
          <p:cNvSpPr txBox="1"/>
          <p:nvPr/>
        </p:nvSpPr>
        <p:spPr>
          <a:xfrm>
            <a:off x="5079535" y="973203"/>
            <a:ext cx="985705" cy="307777"/>
          </a:xfrm>
          <a:prstGeom prst="rect">
            <a:avLst/>
          </a:prstGeom>
          <a:noFill/>
        </p:spPr>
        <p:txBody>
          <a:bodyPr wrap="square">
            <a:spAutoFit/>
          </a:bodyPr>
          <a:lstStyle/>
          <a:p>
            <a:r>
              <a:rPr lang="it-IT" b="1" i="1" dirty="0">
                <a:solidFill>
                  <a:srgbClr val="3134FF"/>
                </a:solidFill>
                <a:sym typeface="Libre Franklin"/>
              </a:rPr>
              <a:t>ingresso</a:t>
            </a:r>
            <a:endParaRPr lang="it-IT" b="1" dirty="0"/>
          </a:p>
        </p:txBody>
      </p:sp>
      <p:sp>
        <p:nvSpPr>
          <p:cNvPr id="20" name="CasellaDiTesto 19">
            <a:extLst>
              <a:ext uri="{FF2B5EF4-FFF2-40B4-BE49-F238E27FC236}">
                <a16:creationId xmlns:a16="http://schemas.microsoft.com/office/drawing/2014/main" id="{12C42E74-DC19-90DA-A598-335EEEEB4377}"/>
              </a:ext>
            </a:extLst>
          </p:cNvPr>
          <p:cNvSpPr txBox="1"/>
          <p:nvPr/>
        </p:nvSpPr>
        <p:spPr>
          <a:xfrm>
            <a:off x="6035879" y="5756520"/>
            <a:ext cx="6115574" cy="369332"/>
          </a:xfrm>
          <a:prstGeom prst="rect">
            <a:avLst/>
          </a:prstGeom>
          <a:noFill/>
        </p:spPr>
        <p:txBody>
          <a:bodyPr wrap="square">
            <a:spAutoFit/>
          </a:bodyPr>
          <a:lstStyle/>
          <a:p>
            <a:r>
              <a:rPr lang="it-IT" b="1" i="1" dirty="0">
                <a:solidFill>
                  <a:srgbClr val="37FF3A"/>
                </a:solidFill>
                <a:sym typeface="Libre Franklin"/>
              </a:rPr>
              <a:t>uscita</a:t>
            </a:r>
            <a:endParaRPr lang="it-IT" b="1" dirty="0"/>
          </a:p>
        </p:txBody>
      </p:sp>
      <p:sp>
        <p:nvSpPr>
          <p:cNvPr id="8" name="Segnaposto numero diapositiva 7">
            <a:extLst>
              <a:ext uri="{FF2B5EF4-FFF2-40B4-BE49-F238E27FC236}">
                <a16:creationId xmlns:a16="http://schemas.microsoft.com/office/drawing/2014/main" id="{E306E70B-DCFF-9551-5085-C2A97EF0CCB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38</a:t>
            </a:fld>
            <a:endParaRPr lang="it-IT"/>
          </a:p>
        </p:txBody>
      </p:sp>
      <p:sp>
        <p:nvSpPr>
          <p:cNvPr id="10" name="Freccia in giù 9">
            <a:hlinkClick r:id="rId4" action="ppaction://hlinksldjump"/>
            <a:extLst>
              <a:ext uri="{FF2B5EF4-FFF2-40B4-BE49-F238E27FC236}">
                <a16:creationId xmlns:a16="http://schemas.microsoft.com/office/drawing/2014/main" id="{DEF2812D-AB71-260E-16E4-9205C3BCA03A}"/>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15364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p:nvPr/>
        </p:nvSpPr>
        <p:spPr>
          <a:xfrm>
            <a:off x="1054250" y="1634641"/>
            <a:ext cx="377701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Lo sfasamento è calcolato mediante la relazione:</a:t>
            </a:r>
            <a:endParaRPr dirty="0">
              <a:latin typeface="Segoe UI" panose="020B0502040204020203" pitchFamily="34" charset="0"/>
              <a:cs typeface="Segoe UI" panose="020B0502040204020203" pitchFamily="34" charset="0"/>
              <a:sym typeface="Libre Franklin"/>
            </a:endParaRPr>
          </a:p>
        </p:txBody>
      </p:sp>
      <p:sp>
        <p:nvSpPr>
          <p:cNvPr id="196" name="Google Shape;196;p22"/>
          <p:cNvSpPr txBox="1"/>
          <p:nvPr/>
        </p:nvSpPr>
        <p:spPr>
          <a:xfrm>
            <a:off x="7084969" y="1634641"/>
            <a:ext cx="415628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dove “T” è il periodo del segnale.</a:t>
            </a:r>
            <a:endParaRPr dirty="0">
              <a:latin typeface="Segoe UI" panose="020B0502040204020203" pitchFamily="34" charset="0"/>
              <a:cs typeface="Segoe UI" panose="020B0502040204020203" pitchFamily="34" charset="0"/>
              <a:sym typeface="Libre Franklin"/>
            </a:endParaRPr>
          </a:p>
        </p:txBody>
      </p:sp>
      <p:sp>
        <p:nvSpPr>
          <p:cNvPr id="197" name="Google Shape;197;p22"/>
          <p:cNvSpPr txBox="1"/>
          <p:nvPr/>
        </p:nvSpPr>
        <p:spPr>
          <a:xfrm>
            <a:off x="1054250" y="2556005"/>
            <a:ext cx="56088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Applicando la formula ai valori misurati dalla simulazione si ottiene: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A2DFD4E-2E42-411D-B7C7-DEC7E2DAC487}"/>
                  </a:ext>
                </a:extLst>
              </p:cNvPr>
              <p:cNvSpPr txBox="1"/>
              <p:nvPr/>
            </p:nvSpPr>
            <p:spPr>
              <a:xfrm>
                <a:off x="5106934" y="1642220"/>
                <a:ext cx="1297887" cy="345672"/>
              </a:xfrm>
              <a:prstGeom prst="rect">
                <a:avLst/>
              </a:prstGeom>
              <a:noFill/>
              <a:ln w="9525">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rPr>
                        <m:t>𝜑</m:t>
                      </m:r>
                      <m:r>
                        <a:rPr lang="it-IT" sz="1200" i="0">
                          <a:latin typeface="Cambria Math" panose="02040503050406030204" pitchFamily="18" charset="0"/>
                        </a:rPr>
                        <m:t>=360°⋅</m:t>
                      </m:r>
                      <m:f>
                        <m:fPr>
                          <m:ctrlPr>
                            <a:rPr lang="it-IT" sz="1200" i="1">
                              <a:latin typeface="Cambria Math" panose="02040503050406030204" pitchFamily="18" charset="0"/>
                            </a:rPr>
                          </m:ctrlPr>
                        </m:fPr>
                        <m:num>
                          <m:r>
                            <m:rPr>
                              <m:sty m:val="p"/>
                            </m:rPr>
                            <a:rPr lang="it-IT" sz="1200" i="0">
                              <a:latin typeface="Cambria Math" panose="02040503050406030204" pitchFamily="18" charset="0"/>
                            </a:rPr>
                            <m:t>Δ</m:t>
                          </m:r>
                          <m:r>
                            <a:rPr lang="it-IT" sz="1200" i="1">
                              <a:latin typeface="Cambria Math" panose="02040503050406030204" pitchFamily="18" charset="0"/>
                            </a:rPr>
                            <m:t>𝑡</m:t>
                          </m:r>
                        </m:num>
                        <m:den>
                          <m:r>
                            <a:rPr lang="it-IT" sz="1200" i="1">
                              <a:latin typeface="Cambria Math" panose="02040503050406030204" pitchFamily="18" charset="0"/>
                            </a:rPr>
                            <m:t>𝑇</m:t>
                          </m:r>
                        </m:den>
                      </m:f>
                    </m:oMath>
                  </m:oMathPara>
                </a14:m>
                <a:endParaRPr lang="it-IT" sz="1200" dirty="0"/>
              </a:p>
            </p:txBody>
          </p:sp>
        </mc:Choice>
        <mc:Fallback xmlns="">
          <p:sp>
            <p:nvSpPr>
              <p:cNvPr id="3" name="CasellaDiTesto 2">
                <a:extLst>
                  <a:ext uri="{FF2B5EF4-FFF2-40B4-BE49-F238E27FC236}">
                    <a16:creationId xmlns:a16="http://schemas.microsoft.com/office/drawing/2014/main" id="{8A2DFD4E-2E42-411D-B7C7-DEC7E2DAC487}"/>
                  </a:ext>
                </a:extLst>
              </p:cNvPr>
              <p:cNvSpPr txBox="1">
                <a:spLocks noRot="1" noChangeAspect="1" noMove="1" noResize="1" noEditPoints="1" noAdjustHandles="1" noChangeArrowheads="1" noChangeShapeType="1" noTextEdit="1"/>
              </p:cNvSpPr>
              <p:nvPr/>
            </p:nvSpPr>
            <p:spPr>
              <a:xfrm>
                <a:off x="5106934" y="1642220"/>
                <a:ext cx="1297887" cy="345672"/>
              </a:xfrm>
              <a:prstGeom prst="rect">
                <a:avLst/>
              </a:prstGeom>
              <a:blipFill>
                <a:blip r:embed="rId3"/>
                <a:stretch>
                  <a:fillRect b="-11864"/>
                </a:stretch>
              </a:blipFill>
              <a:ln w="9525">
                <a:solidFill>
                  <a:schemeClr val="tx1"/>
                </a:solidFill>
              </a:ln>
            </p:spPr>
            <p:txBody>
              <a:bodyPr/>
              <a:lstStyle/>
              <a:p>
                <a:r>
                  <a:rPr lang="it-IT">
                    <a:noFill/>
                  </a:rPr>
                  <a:t> </a:t>
                </a:r>
              </a:p>
            </p:txBody>
          </p:sp>
        </mc:Fallback>
      </mc:AlternateContent>
      <p:grpSp>
        <p:nvGrpSpPr>
          <p:cNvPr id="2" name="Gruppo 1">
            <a:extLst>
              <a:ext uri="{FF2B5EF4-FFF2-40B4-BE49-F238E27FC236}">
                <a16:creationId xmlns:a16="http://schemas.microsoft.com/office/drawing/2014/main" id="{BF4A8DB5-1ECF-8F5E-22DD-1F67717313D6}"/>
              </a:ext>
            </a:extLst>
          </p:cNvPr>
          <p:cNvGrpSpPr/>
          <p:nvPr/>
        </p:nvGrpSpPr>
        <p:grpSpPr>
          <a:xfrm>
            <a:off x="1373975" y="3243059"/>
            <a:ext cx="9827425" cy="2212234"/>
            <a:chOff x="1373975" y="3243059"/>
            <a:chExt cx="9827425" cy="2212234"/>
          </a:xfrm>
        </p:grpSpPr>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3B17D21-8DD9-0FB3-2690-5B7FDC1F6F2C}"/>
                    </a:ext>
                  </a:extLst>
                </p:cNvPr>
                <p:cNvSpPr txBox="1"/>
                <p:nvPr/>
              </p:nvSpPr>
              <p:spPr>
                <a:xfrm>
                  <a:off x="1373976" y="3243059"/>
                  <a:ext cx="4722024" cy="4047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b="0" i="0" smtClean="0">
                            <a:latin typeface="Cambria Math" panose="02040503050406030204" pitchFamily="18" charset="0"/>
                          </a:rPr>
                          <m:t>f</m:t>
                        </m:r>
                        <m:r>
                          <a:rPr lang="it-IT" b="0" i="0" smtClean="0">
                            <a:latin typeface="Cambria Math" panose="02040503050406030204" pitchFamily="18" charset="0"/>
                          </a:rPr>
                          <m:t>=159</m:t>
                        </m:r>
                        <m:r>
                          <m:rPr>
                            <m:sty m:val="p"/>
                          </m:rPr>
                          <a:rPr lang="it-IT" b="0" i="0" smtClean="0">
                            <a:latin typeface="Cambria Math" panose="02040503050406030204" pitchFamily="18" charset="0"/>
                          </a:rPr>
                          <m:t>Hz</m:t>
                        </m:r>
                        <m:r>
                          <a:rPr lang="it-IT" b="0" i="0" smtClean="0">
                            <a:latin typeface="Cambria Math" panose="02040503050406030204" pitchFamily="18" charset="0"/>
                          </a:rPr>
                          <m:t> →</m:t>
                        </m:r>
                        <m:r>
                          <m:rPr>
                            <m:sty m:val="p"/>
                          </m:rPr>
                          <a:rPr lang="it-IT" b="0" i="0" smtClean="0">
                            <a:latin typeface="Cambria Math" panose="02040503050406030204" pitchFamily="18" charset="0"/>
                          </a:rPr>
                          <m:t>T</m:t>
                        </m:r>
                        <m:r>
                          <a:rPr lang="it-IT" b="0" i="0" smtClean="0">
                            <a:latin typeface="Cambria Math" panose="02040503050406030204" pitchFamily="18" charset="0"/>
                          </a:rPr>
                          <m:t>=</m:t>
                        </m:r>
                        <m:f>
                          <m:fPr>
                            <m:ctrlPr>
                              <a:rPr lang="it-IT" i="1" smtClean="0">
                                <a:latin typeface="Cambria Math" panose="02040503050406030204" pitchFamily="18" charset="0"/>
                              </a:rPr>
                            </m:ctrlPr>
                          </m:fPr>
                          <m:num>
                            <m:r>
                              <a:rPr lang="it-IT">
                                <a:latin typeface="Cambria Math" panose="02040503050406030204" pitchFamily="18" charset="0"/>
                              </a:rPr>
                              <m:t>1</m:t>
                            </m:r>
                          </m:num>
                          <m:den>
                            <m:r>
                              <a:rPr lang="it-IT" i="0">
                                <a:latin typeface="Cambria Math" panose="02040503050406030204" pitchFamily="18" charset="0"/>
                              </a:rPr>
                              <m:t>159</m:t>
                            </m:r>
                          </m:den>
                        </m:f>
                        <m:r>
                          <a:rPr lang="it-IT" b="0" i="1" smtClean="0">
                            <a:latin typeface="Cambria Math" panose="02040503050406030204" pitchFamily="18" charset="0"/>
                          </a:rPr>
                          <m:t> </m:t>
                        </m:r>
                        <m:r>
                          <a:rPr lang="it-IT" b="0" i="1" smtClean="0">
                            <a:latin typeface="Cambria Math" panose="02040503050406030204" pitchFamily="18" charset="0"/>
                            <a:ea typeface="Cambria Math" panose="02040503050406030204" pitchFamily="18" charset="0"/>
                          </a:rPr>
                          <m:t>≈0.006289 </m:t>
                        </m:r>
                        <m:r>
                          <a:rPr lang="it-IT" b="0" i="1" smtClean="0">
                            <a:latin typeface="Cambria Math" panose="02040503050406030204" pitchFamily="18" charset="0"/>
                            <a:ea typeface="Cambria Math" panose="02040503050406030204" pitchFamily="18" charset="0"/>
                          </a:rPr>
                          <m:t>𝑠</m:t>
                        </m:r>
                        <m:r>
                          <a:rPr lang="it-IT" b="0" i="1" smtClean="0">
                            <a:latin typeface="Cambria Math" panose="02040503050406030204" pitchFamily="18" charset="0"/>
                            <a:ea typeface="Cambria Math" panose="02040503050406030204" pitchFamily="18" charset="0"/>
                          </a:rPr>
                          <m:t>=6,289</m:t>
                        </m:r>
                        <m:r>
                          <a:rPr lang="it-IT" b="0" i="1" smtClean="0">
                            <a:latin typeface="Cambria Math" panose="02040503050406030204" pitchFamily="18" charset="0"/>
                            <a:ea typeface="Cambria Math" panose="02040503050406030204" pitchFamily="18" charset="0"/>
                          </a:rPr>
                          <m:t>𝑚𝑠</m:t>
                        </m:r>
                      </m:oMath>
                    </m:oMathPara>
                  </a14:m>
                  <a:endParaRPr lang="it-IT" dirty="0"/>
                </a:p>
              </p:txBody>
            </p:sp>
          </mc:Choice>
          <mc:Fallback xmlns="">
            <p:sp>
              <p:nvSpPr>
                <p:cNvPr id="4" name="CasellaDiTesto 3">
                  <a:extLst>
                    <a:ext uri="{FF2B5EF4-FFF2-40B4-BE49-F238E27FC236}">
                      <a16:creationId xmlns:a16="http://schemas.microsoft.com/office/drawing/2014/main" id="{43B17D21-8DD9-0FB3-2690-5B7FDC1F6F2C}"/>
                    </a:ext>
                  </a:extLst>
                </p:cNvPr>
                <p:cNvSpPr txBox="1">
                  <a:spLocks noRot="1" noChangeAspect="1" noMove="1" noResize="1" noEditPoints="1" noAdjustHandles="1" noChangeArrowheads="1" noChangeShapeType="1" noTextEdit="1"/>
                </p:cNvSpPr>
                <p:nvPr/>
              </p:nvSpPr>
              <p:spPr>
                <a:xfrm>
                  <a:off x="1373976" y="3243059"/>
                  <a:ext cx="4722024" cy="404726"/>
                </a:xfrm>
                <a:prstGeom prst="rect">
                  <a:avLst/>
                </a:prstGeom>
                <a:blipFill>
                  <a:blip r:embed="rId4"/>
                  <a:stretch>
                    <a:fillRect b="-1363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057BBD3-A715-D7E5-CE80-BA3D3B4B121F}"/>
                    </a:ext>
                  </a:extLst>
                </p:cNvPr>
                <p:cNvSpPr txBox="1"/>
                <p:nvPr/>
              </p:nvSpPr>
              <p:spPr>
                <a:xfrm>
                  <a:off x="1373976" y="3763522"/>
                  <a:ext cx="472202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1</m:t>
                            </m:r>
                          </m:sub>
                        </m:sSub>
                        <m:r>
                          <a:rPr lang="it-IT" b="0" i="1" smtClean="0">
                            <a:latin typeface="Cambria Math" panose="02040503050406030204" pitchFamily="18" charset="0"/>
                          </a:rPr>
                          <m:t>=1.5817236 </m:t>
                        </m:r>
                        <m:r>
                          <a:rPr lang="it-IT" b="0" i="1" smtClean="0">
                            <a:latin typeface="Cambria Math" panose="02040503050406030204" pitchFamily="18" charset="0"/>
                          </a:rPr>
                          <m:t>𝑚𝑠</m:t>
                        </m:r>
                      </m:oMath>
                    </m:oMathPara>
                  </a14:m>
                  <a:endParaRPr lang="it-IT" dirty="0"/>
                </a:p>
              </p:txBody>
            </p:sp>
          </mc:Choice>
          <mc:Fallback xmlns="">
            <p:sp>
              <p:nvSpPr>
                <p:cNvPr id="5" name="CasellaDiTesto 4">
                  <a:extLst>
                    <a:ext uri="{FF2B5EF4-FFF2-40B4-BE49-F238E27FC236}">
                      <a16:creationId xmlns:a16="http://schemas.microsoft.com/office/drawing/2014/main" id="{F057BBD3-A715-D7E5-CE80-BA3D3B4B121F}"/>
                    </a:ext>
                  </a:extLst>
                </p:cNvPr>
                <p:cNvSpPr txBox="1">
                  <a:spLocks noRot="1" noChangeAspect="1" noMove="1" noResize="1" noEditPoints="1" noAdjustHandles="1" noChangeArrowheads="1" noChangeShapeType="1" noTextEdit="1"/>
                </p:cNvSpPr>
                <p:nvPr/>
              </p:nvSpPr>
              <p:spPr>
                <a:xfrm>
                  <a:off x="1373976" y="3763522"/>
                  <a:ext cx="4722022" cy="215444"/>
                </a:xfrm>
                <a:prstGeom prst="rect">
                  <a:avLst/>
                </a:prstGeom>
                <a:blipFill>
                  <a:blip r:embed="rId5"/>
                  <a:stretch>
                    <a:fillRect b="-138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114E6A7-7888-1B4E-9396-CD0B98159348}"/>
                    </a:ext>
                  </a:extLst>
                </p:cNvPr>
                <p:cNvSpPr txBox="1"/>
                <p:nvPr/>
              </p:nvSpPr>
              <p:spPr>
                <a:xfrm>
                  <a:off x="1373975" y="4097572"/>
                  <a:ext cx="4722023"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2</m:t>
                            </m:r>
                          </m:sub>
                        </m:sSub>
                        <m:r>
                          <a:rPr lang="it-IT" b="0" i="1" smtClean="0">
                            <a:latin typeface="Cambria Math" panose="02040503050406030204" pitchFamily="18" charset="0"/>
                          </a:rPr>
                          <m:t>=784.97866 </m:t>
                        </m:r>
                        <m:r>
                          <a:rPr lang="it-IT" b="0" i="1" smtClean="0">
                            <a:latin typeface="Cambria Math" panose="02040503050406030204" pitchFamily="18" charset="0"/>
                            <a:ea typeface="Cambria Math" panose="02040503050406030204" pitchFamily="18" charset="0"/>
                          </a:rPr>
                          <m:t>𝜇</m:t>
                        </m:r>
                        <m:r>
                          <a:rPr lang="it-IT" b="0" i="1" smtClean="0">
                            <a:latin typeface="Cambria Math" panose="02040503050406030204" pitchFamily="18" charset="0"/>
                          </a:rPr>
                          <m:t>𝑠</m:t>
                        </m:r>
                        <m:r>
                          <a:rPr lang="it-IT" b="0" i="1" smtClean="0">
                            <a:latin typeface="Cambria Math" panose="02040503050406030204" pitchFamily="18" charset="0"/>
                          </a:rPr>
                          <m:t>=0.78497866 </m:t>
                        </m:r>
                        <m:r>
                          <a:rPr lang="it-IT" b="0" i="1" smtClean="0">
                            <a:latin typeface="Cambria Math" panose="02040503050406030204" pitchFamily="18" charset="0"/>
                          </a:rPr>
                          <m:t>𝑚𝑠</m:t>
                        </m:r>
                      </m:oMath>
                    </m:oMathPara>
                  </a14:m>
                  <a:endParaRPr lang="it-IT" dirty="0"/>
                </a:p>
              </p:txBody>
            </p:sp>
          </mc:Choice>
          <mc:Fallback xmlns="">
            <p:sp>
              <p:nvSpPr>
                <p:cNvPr id="6" name="CasellaDiTesto 5">
                  <a:extLst>
                    <a:ext uri="{FF2B5EF4-FFF2-40B4-BE49-F238E27FC236}">
                      <a16:creationId xmlns:a16="http://schemas.microsoft.com/office/drawing/2014/main" id="{0114E6A7-7888-1B4E-9396-CD0B98159348}"/>
                    </a:ext>
                  </a:extLst>
                </p:cNvPr>
                <p:cNvSpPr txBox="1">
                  <a:spLocks noRot="1" noChangeAspect="1" noMove="1" noResize="1" noEditPoints="1" noAdjustHandles="1" noChangeArrowheads="1" noChangeShapeType="1" noTextEdit="1"/>
                </p:cNvSpPr>
                <p:nvPr/>
              </p:nvSpPr>
              <p:spPr>
                <a:xfrm>
                  <a:off x="1373975" y="4097572"/>
                  <a:ext cx="4722023" cy="215444"/>
                </a:xfrm>
                <a:prstGeom prst="rect">
                  <a:avLst/>
                </a:prstGeom>
                <a:blipFill>
                  <a:blip r:embed="rId6"/>
                  <a:stretch>
                    <a:fillRect b="-25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566BCD8-3BE6-70A2-DD26-1316DFA5E3B3}"/>
                    </a:ext>
                  </a:extLst>
                </p:cNvPr>
                <p:cNvSpPr txBox="1"/>
                <p:nvPr/>
              </p:nvSpPr>
              <p:spPr>
                <a:xfrm>
                  <a:off x="6820250" y="3380646"/>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=|1.5817236−0.78497866| </m:t>
                        </m:r>
                        <m:r>
                          <a:rPr lang="it-IT" b="0" i="1" smtClean="0">
                            <a:latin typeface="Cambria Math" panose="02040503050406030204" pitchFamily="18" charset="0"/>
                          </a:rPr>
                          <m:t>𝑚𝑠</m:t>
                        </m:r>
                      </m:oMath>
                    </m:oMathPara>
                  </a14:m>
                  <a:endParaRPr lang="it-IT" dirty="0"/>
                </a:p>
              </p:txBody>
            </p:sp>
          </mc:Choice>
          <mc:Fallback xmlns="">
            <p:sp>
              <p:nvSpPr>
                <p:cNvPr id="7" name="CasellaDiTesto 6">
                  <a:extLst>
                    <a:ext uri="{FF2B5EF4-FFF2-40B4-BE49-F238E27FC236}">
                      <a16:creationId xmlns:a16="http://schemas.microsoft.com/office/drawing/2014/main" id="{D566BCD8-3BE6-70A2-DD26-1316DFA5E3B3}"/>
                    </a:ext>
                  </a:extLst>
                </p:cNvPr>
                <p:cNvSpPr txBox="1">
                  <a:spLocks noRot="1" noChangeAspect="1" noMove="1" noResize="1" noEditPoints="1" noAdjustHandles="1" noChangeArrowheads="1" noChangeShapeType="1" noTextEdit="1"/>
                </p:cNvSpPr>
                <p:nvPr/>
              </p:nvSpPr>
              <p:spPr>
                <a:xfrm>
                  <a:off x="6820250" y="3380646"/>
                  <a:ext cx="4381150" cy="215444"/>
                </a:xfrm>
                <a:prstGeom prst="rect">
                  <a:avLst/>
                </a:prstGeom>
                <a:blipFill>
                  <a:blip r:embed="rId7"/>
                  <a:stretch>
                    <a:fillRect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2986D26-E063-8788-0D93-BD94B8CB6270}"/>
                    </a:ext>
                  </a:extLst>
                </p:cNvPr>
                <p:cNvSpPr txBox="1"/>
                <p:nvPr/>
              </p:nvSpPr>
              <p:spPr>
                <a:xfrm>
                  <a:off x="6820250" y="3743982"/>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=0.79674494 </m:t>
                        </m:r>
                        <m:r>
                          <a:rPr lang="it-IT" b="0" i="1" smtClean="0">
                            <a:latin typeface="Cambria Math" panose="02040503050406030204" pitchFamily="18" charset="0"/>
                          </a:rPr>
                          <m:t>𝑚𝑠</m:t>
                        </m:r>
                      </m:oMath>
                    </m:oMathPara>
                  </a14:m>
                  <a:endParaRPr lang="it-IT" dirty="0"/>
                </a:p>
              </p:txBody>
            </p:sp>
          </mc:Choice>
          <mc:Fallback xmlns="">
            <p:sp>
              <p:nvSpPr>
                <p:cNvPr id="8" name="CasellaDiTesto 7">
                  <a:extLst>
                    <a:ext uri="{FF2B5EF4-FFF2-40B4-BE49-F238E27FC236}">
                      <a16:creationId xmlns:a16="http://schemas.microsoft.com/office/drawing/2014/main" id="{62986D26-E063-8788-0D93-BD94B8CB6270}"/>
                    </a:ext>
                  </a:extLst>
                </p:cNvPr>
                <p:cNvSpPr txBox="1">
                  <a:spLocks noRot="1" noChangeAspect="1" noMove="1" noResize="1" noEditPoints="1" noAdjustHandles="1" noChangeArrowheads="1" noChangeShapeType="1" noTextEdit="1"/>
                </p:cNvSpPr>
                <p:nvPr/>
              </p:nvSpPr>
              <p:spPr>
                <a:xfrm>
                  <a:off x="6820250" y="3743982"/>
                  <a:ext cx="4381150"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E2395805-48DF-EB92-A53B-5B75F5BA225E}"/>
                    </a:ext>
                  </a:extLst>
                </p:cNvPr>
                <p:cNvSpPr txBox="1"/>
                <p:nvPr/>
              </p:nvSpPr>
              <p:spPr>
                <a:xfrm>
                  <a:off x="4648463" y="4905591"/>
                  <a:ext cx="3177280"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E2395805-48DF-EB92-A53B-5B75F5BA225E}"/>
                    </a:ext>
                  </a:extLst>
                </p:cNvPr>
                <p:cNvSpPr txBox="1">
                  <a:spLocks noRot="1" noChangeAspect="1" noMove="1" noResize="1" noEditPoints="1" noAdjustHandles="1" noChangeArrowheads="1" noChangeShapeType="1" noTextEdit="1"/>
                </p:cNvSpPr>
                <p:nvPr/>
              </p:nvSpPr>
              <p:spPr>
                <a:xfrm>
                  <a:off x="4648463" y="4905591"/>
                  <a:ext cx="3177280" cy="549702"/>
                </a:xfrm>
                <a:prstGeom prst="rect">
                  <a:avLst/>
                </a:prstGeom>
                <a:blipFill>
                  <a:blip r:embed="rId9"/>
                  <a:stretch>
                    <a:fillRect t="-1111"/>
                  </a:stretch>
                </a:blipFill>
              </p:spPr>
              <p:txBody>
                <a:bodyPr/>
                <a:lstStyle/>
                <a:p>
                  <a:r>
                    <a:rPr lang="it-IT">
                      <a:noFill/>
                    </a:rPr>
                    <a:t> </a:t>
                  </a:r>
                </a:p>
              </p:txBody>
            </p:sp>
          </mc:Fallback>
        </mc:AlternateContent>
      </p:grpSp>
      <p:sp>
        <p:nvSpPr>
          <p:cNvPr id="11" name="Google Shape;174;p20">
            <a:extLst>
              <a:ext uri="{FF2B5EF4-FFF2-40B4-BE49-F238E27FC236}">
                <a16:creationId xmlns:a16="http://schemas.microsoft.com/office/drawing/2014/main" id="{A83AFE30-45EB-9D1A-CB12-FF5B18ADA67B}"/>
              </a:ext>
            </a:extLst>
          </p:cNvPr>
          <p:cNvSpPr txBox="1"/>
          <p:nvPr/>
        </p:nvSpPr>
        <p:spPr>
          <a:xfrm>
            <a:off x="1054250" y="712407"/>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Calcolando lo sfasamento</a:t>
            </a:r>
          </a:p>
        </p:txBody>
      </p:sp>
      <p:sp>
        <p:nvSpPr>
          <p:cNvPr id="9" name="Segnaposto numero diapositiva 8">
            <a:extLst>
              <a:ext uri="{FF2B5EF4-FFF2-40B4-BE49-F238E27FC236}">
                <a16:creationId xmlns:a16="http://schemas.microsoft.com/office/drawing/2014/main" id="{FB3F7FC8-1B56-5FB8-A50C-FE68268976F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39</a:t>
            </a:fld>
            <a:endParaRPr lang="it-IT"/>
          </a:p>
        </p:txBody>
      </p:sp>
    </p:spTree>
    <p:extLst>
      <p:ext uri="{BB962C8B-B14F-4D97-AF65-F5344CB8AC3E}">
        <p14:creationId xmlns:p14="http://schemas.microsoft.com/office/powerpoint/2010/main" val="2277681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1;p22">
            <a:extLst>
              <a:ext uri="{FF2B5EF4-FFF2-40B4-BE49-F238E27FC236}">
                <a16:creationId xmlns:a16="http://schemas.microsoft.com/office/drawing/2014/main" id="{F87D337F-B65C-6805-D850-A26A8FA70A5F}"/>
              </a:ext>
            </a:extLst>
          </p:cNvPr>
          <p:cNvSpPr txBox="1"/>
          <p:nvPr/>
        </p:nvSpPr>
        <p:spPr>
          <a:xfrm>
            <a:off x="989215" y="959214"/>
            <a:ext cx="10556400" cy="135418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sz="1400" b="1" dirty="0">
                <a:latin typeface="Segoe UI" panose="020B0502040204020203" pitchFamily="34" charset="0"/>
                <a:cs typeface="Segoe UI" panose="020B0502040204020203" pitchFamily="34" charset="0"/>
                <a:sym typeface="Libre Franklin"/>
              </a:rPr>
              <a:t>Osservazione:</a:t>
            </a:r>
          </a:p>
          <a:p>
            <a:endParaRPr sz="1400"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Alla frequenza di taglio </a:t>
            </a:r>
            <a:r>
              <a:rPr lang="it-IT" b="1" i="1" dirty="0">
                <a:latin typeface="Segoe UI" panose="020B0502040204020203" pitchFamily="34" charset="0"/>
                <a:cs typeface="Segoe UI" panose="020B0502040204020203" pitchFamily="34" charset="0"/>
                <a:sym typeface="Libre Franklin"/>
              </a:rPr>
              <a:t>f=</a:t>
            </a:r>
            <a:r>
              <a:rPr lang="it-IT" b="1" i="1" dirty="0" err="1">
                <a:latin typeface="Segoe UI" panose="020B0502040204020203" pitchFamily="34" charset="0"/>
                <a:cs typeface="Segoe UI" panose="020B0502040204020203" pitchFamily="34" charset="0"/>
                <a:sym typeface="Libre Franklin"/>
              </a:rPr>
              <a:t>ƒc</a:t>
            </a:r>
            <a:r>
              <a:rPr lang="it-IT" b="1" i="1" dirty="0">
                <a:latin typeface="Segoe UI" panose="020B0502040204020203" pitchFamily="34" charset="0"/>
                <a:cs typeface="Segoe UI" panose="020B0502040204020203" pitchFamily="34" charset="0"/>
                <a:sym typeface="Libre Franklin"/>
              </a:rPr>
              <a:t>=159 Hz</a:t>
            </a:r>
            <a:r>
              <a:rPr lang="it-IT" dirty="0">
                <a:latin typeface="Segoe UI" panose="020B0502040204020203" pitchFamily="34" charset="0"/>
                <a:cs typeface="Segoe UI" panose="020B0502040204020203" pitchFamily="34" charset="0"/>
                <a:sym typeface="Libre Franklin"/>
              </a:rPr>
              <a:t>, il filtro passa-alto RC </a:t>
            </a:r>
            <a:r>
              <a:rPr lang="it-IT" u="sng" dirty="0">
                <a:latin typeface="Segoe UI" panose="020B0502040204020203" pitchFamily="34" charset="0"/>
                <a:cs typeface="Segoe UI" panose="020B0502040204020203" pitchFamily="34" charset="0"/>
                <a:sym typeface="Libre Franklin"/>
              </a:rPr>
              <a:t>mostra un comportamento intermedio tra attenuazione e trasparenza del segnale</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endParaRPr lang="it-IT"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Lo sfasamento di circa 45° è coerente con la teoria, </a:t>
            </a:r>
            <a:r>
              <a:rPr lang="it-IT" b="1" i="1" dirty="0">
                <a:latin typeface="Segoe UI" panose="020B0502040204020203" pitchFamily="34" charset="0"/>
                <a:cs typeface="Segoe UI" panose="020B0502040204020203" pitchFamily="34" charset="0"/>
                <a:sym typeface="Libre Franklin"/>
              </a:rPr>
              <a:t>secondo cui alla frequenza di taglio l’uscita risulta attenuata di circa −3 dB </a:t>
            </a:r>
            <a:r>
              <a:rPr lang="it-IT" i="1" dirty="0">
                <a:latin typeface="Segoe UI" panose="020B0502040204020203" pitchFamily="34" charset="0"/>
                <a:cs typeface="Segoe UI" panose="020B0502040204020203" pitchFamily="34" charset="0"/>
                <a:sym typeface="Libre Franklin"/>
              </a:rPr>
              <a:t>e presenta uno sfasamento intermedio tra il regime a bassa e alta frequenza.</a:t>
            </a:r>
            <a:endParaRPr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CD5E3325-AEF9-6E4B-E95A-E971A619EDC1}"/>
                  </a:ext>
                </a:extLst>
              </p:cNvPr>
              <p:cNvSpPr txBox="1"/>
              <p:nvPr/>
            </p:nvSpPr>
            <p:spPr>
              <a:xfrm>
                <a:off x="989215" y="2751652"/>
                <a:ext cx="1931105"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𝐻</m:t>
                      </m:r>
                      <m:r>
                        <a:rPr lang="it-IT" b="0" i="1" smtClean="0">
                          <a:latin typeface="Cambria Math" panose="02040503050406030204" pitchFamily="18" charset="0"/>
                        </a:rPr>
                        <m:t>(</m:t>
                      </m:r>
                      <m:r>
                        <a:rPr lang="it-IT" b="0"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5" name="CasellaDiTesto 4">
                <a:extLst>
                  <a:ext uri="{FF2B5EF4-FFF2-40B4-BE49-F238E27FC236}">
                    <a16:creationId xmlns:a16="http://schemas.microsoft.com/office/drawing/2014/main" id="{CD5E3325-AEF9-6E4B-E95A-E971A619EDC1}"/>
                  </a:ext>
                </a:extLst>
              </p:cNvPr>
              <p:cNvSpPr txBox="1">
                <a:spLocks noRot="1" noChangeAspect="1" noMove="1" noResize="1" noEditPoints="1" noAdjustHandles="1" noChangeArrowheads="1" noChangeShapeType="1" noTextEdit="1"/>
              </p:cNvSpPr>
              <p:nvPr/>
            </p:nvSpPr>
            <p:spPr>
              <a:xfrm>
                <a:off x="989215" y="2751652"/>
                <a:ext cx="1931105" cy="568938"/>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E7C54492-21B5-7899-19E0-CD8F32EB4572}"/>
                  </a:ext>
                </a:extLst>
              </p:cNvPr>
              <p:cNvSpPr txBox="1"/>
              <p:nvPr/>
            </p:nvSpPr>
            <p:spPr>
              <a:xfrm>
                <a:off x="989215" y="3947184"/>
                <a:ext cx="18878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𝑓</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𝑓</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𝜔</m:t>
                      </m:r>
                      <m:r>
                        <a:rPr lang="it-IT" i="1">
                          <a:latin typeface="Cambria Math" panose="02040503050406030204" pitchFamily="18" charset="0"/>
                        </a:rPr>
                        <m:t>𝑅𝐶</m:t>
                      </m:r>
                      <m:r>
                        <a:rPr lang="it-IT" i="0">
                          <a:latin typeface="Cambria Math" panose="02040503050406030204" pitchFamily="18" charset="0"/>
                        </a:rPr>
                        <m:t>=1</m:t>
                      </m:r>
                    </m:oMath>
                  </m:oMathPara>
                </a14:m>
                <a:endParaRPr lang="it-IT" dirty="0"/>
              </a:p>
            </p:txBody>
          </p:sp>
        </mc:Choice>
        <mc:Fallback xmlns="">
          <p:sp>
            <p:nvSpPr>
              <p:cNvPr id="6" name="CasellaDiTesto 5">
                <a:extLst>
                  <a:ext uri="{FF2B5EF4-FFF2-40B4-BE49-F238E27FC236}">
                    <a16:creationId xmlns:a16="http://schemas.microsoft.com/office/drawing/2014/main" id="{E7C54492-21B5-7899-19E0-CD8F32EB4572}"/>
                  </a:ext>
                </a:extLst>
              </p:cNvPr>
              <p:cNvSpPr txBox="1">
                <a:spLocks noRot="1" noChangeAspect="1" noMove="1" noResize="1" noEditPoints="1" noAdjustHandles="1" noChangeArrowheads="1" noChangeShapeType="1" noTextEdit="1"/>
              </p:cNvSpPr>
              <p:nvPr/>
            </p:nvSpPr>
            <p:spPr>
              <a:xfrm>
                <a:off x="989215" y="3947184"/>
                <a:ext cx="1887824" cy="276999"/>
              </a:xfrm>
              <a:prstGeom prst="rect">
                <a:avLst/>
              </a:prstGeom>
              <a:blipFill>
                <a:blip r:embed="rId3"/>
                <a:stretch>
                  <a:fillRect l="-3871" t="-4444" r="-2581"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C4B9FFA6-773C-2C57-CCE1-2786483D5C3F}"/>
                  </a:ext>
                </a:extLst>
              </p:cNvPr>
              <p:cNvSpPr txBox="1"/>
              <p:nvPr/>
            </p:nvSpPr>
            <p:spPr>
              <a:xfrm>
                <a:off x="989215" y="4850777"/>
                <a:ext cx="2651495" cy="398122"/>
              </a:xfrm>
              <a:prstGeom prst="rect">
                <a:avLst/>
              </a:prstGeom>
              <a:noFill/>
            </p:spPr>
            <p:txBody>
              <a:bodyPr wrap="none" lIns="0" tIns="0" rIns="0" bIns="0" rtlCol="0">
                <a:spAutoFit/>
              </a:bodyPr>
              <a:lstStyle/>
              <a:p>
                <a14:m>
                  <m:oMath xmlns:m="http://schemas.openxmlformats.org/officeDocument/2006/math">
                    <m:r>
                      <a:rPr lang="it-IT" i="1">
                        <a:latin typeface="Cambria Math" panose="02040503050406030204" pitchFamily="18" charset="0"/>
                      </a:rPr>
                      <m:t>|</m:t>
                    </m:r>
                    <m:r>
                      <a:rPr lang="it-IT" i="1" smtClean="0">
                        <a:latin typeface="Cambria Math" panose="02040503050406030204" pitchFamily="18" charset="0"/>
                      </a:rPr>
                      <m:t>𝐻</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1</m:t>
                        </m:r>
                      </m:num>
                      <m:den>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2</m:t>
                        </m:r>
                      </m:den>
                    </m:f>
                  </m:oMath>
                </a14:m>
                <a:r>
                  <a:rPr lang="it-IT" dirty="0"/>
                  <a:t> </a:t>
                </a:r>
                <a14:m>
                  <m:oMath xmlns:m="http://schemas.openxmlformats.org/officeDocument/2006/math">
                    <m:r>
                      <a:rPr lang="it-IT" i="1" dirty="0" smtClean="0">
                        <a:latin typeface="Cambria Math" panose="02040503050406030204" pitchFamily="18" charset="0"/>
                        <a:ea typeface="Cambria Math" panose="02040503050406030204" pitchFamily="18" charset="0"/>
                      </a:rPr>
                      <m:t>≈</m:t>
                    </m:r>
                    <m:r>
                      <a:rPr lang="it-IT" b="0" i="1" dirty="0" smtClean="0">
                        <a:latin typeface="Cambria Math" panose="02040503050406030204" pitchFamily="18" charset="0"/>
                        <a:ea typeface="Cambria Math" panose="02040503050406030204" pitchFamily="18" charset="0"/>
                      </a:rPr>
                      <m:t>0.707 →−3</m:t>
                    </m:r>
                    <m:r>
                      <a:rPr lang="it-IT" b="0" i="1" dirty="0" smtClean="0">
                        <a:latin typeface="Cambria Math" panose="02040503050406030204" pitchFamily="18" charset="0"/>
                        <a:ea typeface="Cambria Math" panose="02040503050406030204" pitchFamily="18" charset="0"/>
                      </a:rPr>
                      <m:t>𝑑𝐵</m:t>
                    </m:r>
                  </m:oMath>
                </a14:m>
                <a:endParaRPr lang="it-IT" dirty="0"/>
              </a:p>
            </p:txBody>
          </p:sp>
        </mc:Choice>
        <mc:Fallback xmlns="">
          <p:sp>
            <p:nvSpPr>
              <p:cNvPr id="7" name="CasellaDiTesto 6">
                <a:extLst>
                  <a:ext uri="{FF2B5EF4-FFF2-40B4-BE49-F238E27FC236}">
                    <a16:creationId xmlns:a16="http://schemas.microsoft.com/office/drawing/2014/main" id="{C4B9FFA6-773C-2C57-CCE1-2786483D5C3F}"/>
                  </a:ext>
                </a:extLst>
              </p:cNvPr>
              <p:cNvSpPr txBox="1">
                <a:spLocks noRot="1" noChangeAspect="1" noMove="1" noResize="1" noEditPoints="1" noAdjustHandles="1" noChangeArrowheads="1" noChangeShapeType="1" noTextEdit="1"/>
              </p:cNvSpPr>
              <p:nvPr/>
            </p:nvSpPr>
            <p:spPr>
              <a:xfrm>
                <a:off x="989215" y="4850777"/>
                <a:ext cx="2651495" cy="398122"/>
              </a:xfrm>
              <a:prstGeom prst="rect">
                <a:avLst/>
              </a:prstGeom>
              <a:blipFill>
                <a:blip r:embed="rId4"/>
                <a:stretch>
                  <a:fillRect l="-4138" r="-2069" b="-20000"/>
                </a:stretch>
              </a:blipFill>
            </p:spPr>
            <p:txBody>
              <a:bodyPr/>
              <a:lstStyle/>
              <a:p>
                <a:r>
                  <a:rPr lang="it-IT">
                    <a:noFill/>
                  </a:rPr>
                  <a:t> </a:t>
                </a:r>
              </a:p>
            </p:txBody>
          </p:sp>
        </mc:Fallback>
      </mc:AlternateContent>
      <p:pic>
        <p:nvPicPr>
          <p:cNvPr id="8" name="Immagine 7">
            <a:extLst>
              <a:ext uri="{FF2B5EF4-FFF2-40B4-BE49-F238E27FC236}">
                <a16:creationId xmlns:a16="http://schemas.microsoft.com/office/drawing/2014/main" id="{395CA270-48BB-6F96-4C65-053CFD1C1085}"/>
              </a:ext>
            </a:extLst>
          </p:cNvPr>
          <p:cNvPicPr/>
          <p:nvPr/>
        </p:nvPicPr>
        <p:blipFill>
          <a:blip r:embed="rId5"/>
          <a:stretch>
            <a:fillRect/>
          </a:stretch>
        </p:blipFill>
        <p:spPr>
          <a:xfrm>
            <a:off x="3695350" y="2313401"/>
            <a:ext cx="7789178" cy="3848313"/>
          </a:xfrm>
          <a:prstGeom prst="rect">
            <a:avLst/>
          </a:prstGeom>
        </p:spPr>
      </p:pic>
      <p:sp>
        <p:nvSpPr>
          <p:cNvPr id="9" name="Ovale 8">
            <a:extLst>
              <a:ext uri="{FF2B5EF4-FFF2-40B4-BE49-F238E27FC236}">
                <a16:creationId xmlns:a16="http://schemas.microsoft.com/office/drawing/2014/main" id="{58F3AD14-36CD-9533-9656-C06392473A6A}"/>
              </a:ext>
            </a:extLst>
          </p:cNvPr>
          <p:cNvSpPr/>
          <p:nvPr/>
        </p:nvSpPr>
        <p:spPr>
          <a:xfrm>
            <a:off x="7194070" y="3429000"/>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Immagine 9">
            <a:extLst>
              <a:ext uri="{FF2B5EF4-FFF2-40B4-BE49-F238E27FC236}">
                <a16:creationId xmlns:a16="http://schemas.microsoft.com/office/drawing/2014/main" id="{60D4763F-81D4-5155-BD79-ECDFE21C5177}"/>
              </a:ext>
            </a:extLst>
          </p:cNvPr>
          <p:cNvPicPr/>
          <p:nvPr/>
        </p:nvPicPr>
        <p:blipFill>
          <a:blip r:embed="rId5"/>
          <a:srcRect l="47586" t="31229" r="40505" b="44071"/>
          <a:stretch>
            <a:fillRect/>
          </a:stretch>
        </p:blipFill>
        <p:spPr>
          <a:xfrm>
            <a:off x="8763497" y="2979691"/>
            <a:ext cx="2369890" cy="2428511"/>
          </a:xfrm>
          <a:prstGeom prst="rect">
            <a:avLst/>
          </a:prstGeom>
        </p:spPr>
      </p:pic>
      <p:cxnSp>
        <p:nvCxnSpPr>
          <p:cNvPr id="12" name="Connettore diritto 11">
            <a:extLst>
              <a:ext uri="{FF2B5EF4-FFF2-40B4-BE49-F238E27FC236}">
                <a16:creationId xmlns:a16="http://schemas.microsoft.com/office/drawing/2014/main" id="{4CEF9CD3-EA2F-68E6-1A8A-3755E223E580}"/>
              </a:ext>
            </a:extLst>
          </p:cNvPr>
          <p:cNvCxnSpPr/>
          <p:nvPr/>
        </p:nvCxnSpPr>
        <p:spPr>
          <a:xfrm>
            <a:off x="10091956" y="3628239"/>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cxnSp>
        <p:nvCxnSpPr>
          <p:cNvPr id="13" name="Connettore diritto 12">
            <a:extLst>
              <a:ext uri="{FF2B5EF4-FFF2-40B4-BE49-F238E27FC236}">
                <a16:creationId xmlns:a16="http://schemas.microsoft.com/office/drawing/2014/main" id="{BBD3E6A9-19F3-7662-4471-484445D3F68B}"/>
              </a:ext>
            </a:extLst>
          </p:cNvPr>
          <p:cNvCxnSpPr/>
          <p:nvPr/>
        </p:nvCxnSpPr>
        <p:spPr>
          <a:xfrm>
            <a:off x="8942665" y="3598878"/>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sp>
        <p:nvSpPr>
          <p:cNvPr id="14" name="Ovale 13">
            <a:extLst>
              <a:ext uri="{FF2B5EF4-FFF2-40B4-BE49-F238E27FC236}">
                <a16:creationId xmlns:a16="http://schemas.microsoft.com/office/drawing/2014/main" id="{B9DFB01B-EBDC-2C9D-F056-F562CF08E8CF}"/>
              </a:ext>
            </a:extLst>
          </p:cNvPr>
          <p:cNvSpPr/>
          <p:nvPr/>
        </p:nvSpPr>
        <p:spPr>
          <a:xfrm>
            <a:off x="7118059" y="284834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08A05DF1-DBF4-DECF-EDAF-86B0A15518A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40</a:t>
            </a:fld>
            <a:endParaRPr lang="it-IT"/>
          </a:p>
        </p:txBody>
      </p:sp>
    </p:spTree>
    <p:extLst>
      <p:ext uri="{BB962C8B-B14F-4D97-AF65-F5344CB8AC3E}">
        <p14:creationId xmlns:p14="http://schemas.microsoft.com/office/powerpoint/2010/main" val="1477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txBox="1"/>
          <p:nvPr/>
        </p:nvSpPr>
        <p:spPr>
          <a:xfrm>
            <a:off x="1050636" y="866638"/>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1" u="none">
                <a:latin typeface="Libre Franklin"/>
                <a:ea typeface="Libre Franklin"/>
                <a:cs typeface="Libre Franklin"/>
              </a:defRPr>
            </a:lvl1pPr>
          </a:lstStyle>
          <a:p>
            <a:r>
              <a:rPr lang="it-IT" sz="1200" b="0" dirty="0">
                <a:latin typeface="Segoe UI" panose="020B0502040204020203" pitchFamily="34" charset="0"/>
                <a:cs typeface="Segoe UI" panose="020B0502040204020203" pitchFamily="34" charset="0"/>
                <a:sym typeface="Libre Franklin"/>
              </a:rPr>
              <a:t>Ripetendo il calcolo per un segnale a 10 Hz si ottiene uno </a:t>
            </a:r>
            <a:r>
              <a:rPr lang="it-IT" sz="1200" b="0" u="sng" dirty="0">
                <a:latin typeface="Segoe UI" panose="020B0502040204020203" pitchFamily="34" charset="0"/>
                <a:cs typeface="Segoe UI" panose="020B0502040204020203" pitchFamily="34" charset="0"/>
                <a:sym typeface="Libre Franklin"/>
              </a:rPr>
              <a:t>sfasamento pari a circa 86,9°</a:t>
            </a:r>
            <a:r>
              <a:rPr lang="it-IT" sz="1200" b="0" dirty="0">
                <a:latin typeface="Segoe UI" panose="020B0502040204020203" pitchFamily="34" charset="0"/>
                <a:cs typeface="Segoe UI" panose="020B0502040204020203" pitchFamily="34" charset="0"/>
                <a:sym typeface="Libre Franklin"/>
              </a:rPr>
              <a:t>, valore prossimo a 90°, tipico delle frequenze molto inferiori alla frequenza di taglio.</a:t>
            </a:r>
            <a:endParaRPr sz="1200" b="0" dirty="0">
              <a:latin typeface="Segoe UI" panose="020B0502040204020203" pitchFamily="34" charset="0"/>
              <a:cs typeface="Segoe UI" panose="020B0502040204020203" pitchFamily="34" charset="0"/>
              <a:sym typeface="Libre Franklin"/>
            </a:endParaRPr>
          </a:p>
        </p:txBody>
      </p:sp>
      <p:sp>
        <p:nvSpPr>
          <p:cNvPr id="216" name="Google Shape;216;p24"/>
          <p:cNvSpPr txBox="1"/>
          <p:nvPr/>
        </p:nvSpPr>
        <p:spPr>
          <a:xfrm>
            <a:off x="1050636" y="3114156"/>
            <a:ext cx="1007891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Ripetendo il calcolo per un segnale a 250 Hz si ottiene uno </a:t>
            </a:r>
            <a:r>
              <a:rPr lang="it-IT" u="sng" dirty="0">
                <a:latin typeface="Segoe UI" panose="020B0502040204020203" pitchFamily="34" charset="0"/>
                <a:cs typeface="Segoe UI" panose="020B0502040204020203" pitchFamily="34" charset="0"/>
                <a:sym typeface="Libre Franklin"/>
              </a:rPr>
              <a:t>sfasamento pari a circa 32,3°</a:t>
            </a:r>
            <a:r>
              <a:rPr lang="it-IT" dirty="0">
                <a:latin typeface="Segoe UI" panose="020B0502040204020203" pitchFamily="34" charset="0"/>
                <a:cs typeface="Segoe UI" panose="020B0502040204020203" pitchFamily="34" charset="0"/>
                <a:sym typeface="Libre Franklin"/>
              </a:rPr>
              <a:t>, tipico delle frequenze vicine alla frequenza di taglio.</a:t>
            </a:r>
            <a:endParaRPr dirty="0">
              <a:latin typeface="Segoe UI" panose="020B0502040204020203" pitchFamily="34" charset="0"/>
              <a:cs typeface="Segoe UI" panose="020B0502040204020203" pitchFamily="34" charset="0"/>
            </a:endParaRPr>
          </a:p>
        </p:txBody>
      </p:sp>
      <p:sp>
        <p:nvSpPr>
          <p:cNvPr id="223" name="Google Shape;223;p24"/>
          <p:cNvSpPr txBox="1"/>
          <p:nvPr/>
        </p:nvSpPr>
        <p:spPr>
          <a:xfrm>
            <a:off x="1050636" y="5293415"/>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Mentre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a:t>
            </a:r>
            <a:r>
              <a:rPr lang="it-IT" u="sng" dirty="0">
                <a:latin typeface="Segoe UI" panose="020B0502040204020203" pitchFamily="34" charset="0"/>
                <a:cs typeface="Segoe UI" panose="020B0502040204020203" pitchFamily="34" charset="0"/>
                <a:sym typeface="Libre Franklin"/>
              </a:rPr>
              <a:t>come nel caso del segnale a 3 kHz, lo sfasamento tende a 0°</a:t>
            </a:r>
            <a:r>
              <a:rPr lang="it-IT" dirty="0">
                <a:latin typeface="Segoe UI" panose="020B0502040204020203" pitchFamily="34" charset="0"/>
                <a:cs typeface="Segoe UI" panose="020B0502040204020203" pitchFamily="34" charset="0"/>
                <a:sym typeface="Libre Franklin"/>
              </a:rPr>
              <a:t>, indicando che il segnale viene trasferito quasi integralmente in uscita.</a:t>
            </a:r>
            <a:endParaRPr dirty="0">
              <a:latin typeface="Segoe UI" panose="020B0502040204020203" pitchFamily="34" charset="0"/>
              <a:cs typeface="Segoe UI" panose="020B0502040204020203" pitchFamily="34" charset="0"/>
            </a:endParaRPr>
          </a:p>
        </p:txBody>
      </p:sp>
      <p:grpSp>
        <p:nvGrpSpPr>
          <p:cNvPr id="15" name="Gruppo 14">
            <a:extLst>
              <a:ext uri="{FF2B5EF4-FFF2-40B4-BE49-F238E27FC236}">
                <a16:creationId xmlns:a16="http://schemas.microsoft.com/office/drawing/2014/main" id="{22846F4B-ECBC-B998-5236-128BAEFDB4AB}"/>
              </a:ext>
            </a:extLst>
          </p:cNvPr>
          <p:cNvGrpSpPr/>
          <p:nvPr/>
        </p:nvGrpSpPr>
        <p:grpSpPr>
          <a:xfrm>
            <a:off x="1617462" y="1723320"/>
            <a:ext cx="8040253" cy="1047568"/>
            <a:chOff x="1458894" y="1840488"/>
            <a:chExt cx="8040253" cy="1047568"/>
          </a:xfrm>
        </p:grpSpPr>
        <p:grpSp>
          <p:nvGrpSpPr>
            <p:cNvPr id="14" name="Gruppo 13">
              <a:extLst>
                <a:ext uri="{FF2B5EF4-FFF2-40B4-BE49-F238E27FC236}">
                  <a16:creationId xmlns:a16="http://schemas.microsoft.com/office/drawing/2014/main" id="{BBC03405-A296-262A-6043-0285B49D4A26}"/>
                </a:ext>
              </a:extLst>
            </p:cNvPr>
            <p:cNvGrpSpPr/>
            <p:nvPr/>
          </p:nvGrpSpPr>
          <p:grpSpPr>
            <a:xfrm>
              <a:off x="1458894" y="1840488"/>
              <a:ext cx="2031646" cy="1047568"/>
              <a:chOff x="1910773" y="1895047"/>
              <a:chExt cx="2031646" cy="1047568"/>
            </a:xfrm>
          </p:grpSpPr>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B9C31A-D854-1B33-C702-6275097F7504}"/>
                      </a:ext>
                    </a:extLst>
                  </p:cNvPr>
                  <p:cNvSpPr txBox="1"/>
                  <p:nvPr/>
                </p:nvSpPr>
                <p:spPr>
                  <a:xfrm>
                    <a:off x="1910773" y="1895047"/>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=10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10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≈100</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2" name="CasellaDiTesto 1">
                    <a:extLst>
                      <a:ext uri="{FF2B5EF4-FFF2-40B4-BE49-F238E27FC236}">
                        <a16:creationId xmlns:a16="http://schemas.microsoft.com/office/drawing/2014/main" id="{69B9C31A-D854-1B33-C702-6275097F7504}"/>
                      </a:ext>
                    </a:extLst>
                  </p:cNvPr>
                  <p:cNvSpPr txBox="1">
                    <a:spLocks noRot="1" noChangeAspect="1" noMove="1" noResize="1" noEditPoints="1" noAdjustHandles="1" noChangeArrowheads="1" noChangeShapeType="1" noTextEdit="1"/>
                  </p:cNvSpPr>
                  <p:nvPr/>
                </p:nvSpPr>
                <p:spPr>
                  <a:xfrm>
                    <a:off x="1910773" y="1895047"/>
                    <a:ext cx="2031646" cy="346890"/>
                  </a:xfrm>
                  <a:prstGeom prst="rect">
                    <a:avLst/>
                  </a:prstGeom>
                  <a:blipFill>
                    <a:blip r:embed="rId3"/>
                    <a:stretch>
                      <a:fillRect l="-1198" t="-3509" r="-1198"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DCE05E7-5C01-64ED-F154-830AAF3C037E}"/>
                      </a:ext>
                    </a:extLst>
                  </p:cNvPr>
                  <p:cNvSpPr txBox="1"/>
                  <p:nvPr/>
                </p:nvSpPr>
                <p:spPr>
                  <a:xfrm>
                    <a:off x="1910773" y="2407610"/>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=75.166889 </m:t>
                          </m:r>
                          <m:r>
                            <a:rPr lang="it-IT" sz="1200" b="0" i="1" smtClean="0">
                              <a:latin typeface="Cambria Math" panose="02040503050406030204" pitchFamily="18" charset="0"/>
                            </a:rPr>
                            <m:t>𝑚𝑠</m:t>
                          </m:r>
                        </m:oMath>
                      </m:oMathPara>
                    </a14:m>
                    <a:endParaRPr lang="it-IT" sz="1200" dirty="0"/>
                  </a:p>
                </p:txBody>
              </p:sp>
            </mc:Choice>
            <mc:Fallback xmlns="">
              <p:sp>
                <p:nvSpPr>
                  <p:cNvPr id="3" name="CasellaDiTesto 2">
                    <a:extLst>
                      <a:ext uri="{FF2B5EF4-FFF2-40B4-BE49-F238E27FC236}">
                        <a16:creationId xmlns:a16="http://schemas.microsoft.com/office/drawing/2014/main" id="{9DCE05E7-5C01-64ED-F154-830AAF3C037E}"/>
                      </a:ext>
                    </a:extLst>
                  </p:cNvPr>
                  <p:cNvSpPr txBox="1">
                    <a:spLocks noRot="1" noChangeAspect="1" noMove="1" noResize="1" noEditPoints="1" noAdjustHandles="1" noChangeArrowheads="1" noChangeShapeType="1" noTextEdit="1"/>
                  </p:cNvSpPr>
                  <p:nvPr/>
                </p:nvSpPr>
                <p:spPr>
                  <a:xfrm>
                    <a:off x="1910773" y="2407610"/>
                    <a:ext cx="1313949" cy="184666"/>
                  </a:xfrm>
                  <a:prstGeom prst="rect">
                    <a:avLst/>
                  </a:prstGeom>
                  <a:blipFill>
                    <a:blip r:embed="rId4"/>
                    <a:stretch>
                      <a:fillRect l="-1852" r="-1389" b="-1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4E4AF4-76CB-8899-054A-B7735CF44672}"/>
                      </a:ext>
                    </a:extLst>
                  </p:cNvPr>
                  <p:cNvSpPr txBox="1"/>
                  <p:nvPr/>
                </p:nvSpPr>
                <p:spPr>
                  <a:xfrm>
                    <a:off x="1910773" y="2757949"/>
                    <a:ext cx="131754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=51.028037 </m:t>
                          </m:r>
                          <m:r>
                            <a:rPr lang="it-IT" sz="1200" b="0" i="1" smtClean="0">
                              <a:latin typeface="Cambria Math" panose="02040503050406030204" pitchFamily="18" charset="0"/>
                            </a:rPr>
                            <m:t>𝑚𝑠</m:t>
                          </m:r>
                        </m:oMath>
                      </m:oMathPara>
                    </a14:m>
                    <a:endParaRPr lang="it-IT" sz="1200" dirty="0"/>
                  </a:p>
                </p:txBody>
              </p:sp>
            </mc:Choice>
            <mc:Fallback xmlns="">
              <p:sp>
                <p:nvSpPr>
                  <p:cNvPr id="4" name="CasellaDiTesto 3">
                    <a:extLst>
                      <a:ext uri="{FF2B5EF4-FFF2-40B4-BE49-F238E27FC236}">
                        <a16:creationId xmlns:a16="http://schemas.microsoft.com/office/drawing/2014/main" id="{A74E4AF4-76CB-8899-054A-B7735CF44672}"/>
                      </a:ext>
                    </a:extLst>
                  </p:cNvPr>
                  <p:cNvSpPr txBox="1">
                    <a:spLocks noRot="1" noChangeAspect="1" noMove="1" noResize="1" noEditPoints="1" noAdjustHandles="1" noChangeArrowheads="1" noChangeShapeType="1" noTextEdit="1"/>
                  </p:cNvSpPr>
                  <p:nvPr/>
                </p:nvSpPr>
                <p:spPr>
                  <a:xfrm>
                    <a:off x="1910773" y="2757949"/>
                    <a:ext cx="1317540" cy="184666"/>
                  </a:xfrm>
                  <a:prstGeom prst="rect">
                    <a:avLst/>
                  </a:prstGeom>
                  <a:blipFill>
                    <a:blip r:embed="rId5"/>
                    <a:stretch>
                      <a:fillRect l="-1852" r="-1389" b="-9677"/>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344B45F9-8458-DF57-2E84-54AE84258557}"/>
                    </a:ext>
                  </a:extLst>
                </p:cNvPr>
                <p:cNvSpPr txBox="1"/>
                <p:nvPr/>
              </p:nvSpPr>
              <p:spPr>
                <a:xfrm>
                  <a:off x="4887421" y="2271822"/>
                  <a:ext cx="134280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=24.138852 </m:t>
                        </m:r>
                        <m:r>
                          <a:rPr lang="it-IT" sz="1200" b="0" i="1" smtClean="0">
                            <a:latin typeface="Cambria Math" panose="02040503050406030204" pitchFamily="18" charset="0"/>
                          </a:rPr>
                          <m:t>𝑚𝑠</m:t>
                        </m:r>
                      </m:oMath>
                    </m:oMathPara>
                  </a14:m>
                  <a:endParaRPr lang="it-IT" sz="1200" dirty="0"/>
                </a:p>
              </p:txBody>
            </p:sp>
          </mc:Choice>
          <mc:Fallback xmlns="">
            <p:sp>
              <p:nvSpPr>
                <p:cNvPr id="6" name="CasellaDiTesto 5">
                  <a:extLst>
                    <a:ext uri="{FF2B5EF4-FFF2-40B4-BE49-F238E27FC236}">
                      <a16:creationId xmlns:a16="http://schemas.microsoft.com/office/drawing/2014/main" id="{344B45F9-8458-DF57-2E84-54AE84258557}"/>
                    </a:ext>
                  </a:extLst>
                </p:cNvPr>
                <p:cNvSpPr txBox="1">
                  <a:spLocks noRot="1" noChangeAspect="1" noMove="1" noResize="1" noEditPoints="1" noAdjustHandles="1" noChangeArrowheads="1" noChangeShapeType="1" noTextEdit="1"/>
                </p:cNvSpPr>
                <p:nvPr/>
              </p:nvSpPr>
              <p:spPr>
                <a:xfrm>
                  <a:off x="4887421" y="2271822"/>
                  <a:ext cx="1342803" cy="184666"/>
                </a:xfrm>
                <a:prstGeom prst="rect">
                  <a:avLst/>
                </a:prstGeom>
                <a:blipFill>
                  <a:blip r:embed="rId6"/>
                  <a:stretch>
                    <a:fillRect l="-2273" r="-909"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15E1514B-CB2D-D173-4AA6-6A6198824B58}"/>
                    </a:ext>
                  </a:extLst>
                </p:cNvPr>
                <p:cNvSpPr txBox="1"/>
                <p:nvPr/>
              </p:nvSpPr>
              <p:spPr>
                <a:xfrm>
                  <a:off x="7475451" y="2177714"/>
                  <a:ext cx="2023696"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24.138852</m:t>
                            </m:r>
                          </m:num>
                          <m:den>
                            <m:r>
                              <a:rPr lang="it-IT" sz="1200" b="0" i="1" smtClean="0">
                                <a:latin typeface="Cambria Math" panose="02040503050406030204" pitchFamily="18" charset="0"/>
                              </a:rPr>
                              <m:t>100</m:t>
                            </m:r>
                          </m:den>
                        </m:f>
                        <m:r>
                          <a:rPr lang="it-IT" sz="1200" b="0" i="1" smtClean="0">
                            <a:latin typeface="Cambria Math" panose="02040503050406030204" pitchFamily="18" charset="0"/>
                          </a:rPr>
                          <m:t>=86.9</m:t>
                        </m:r>
                        <m:r>
                          <a:rPr lang="it-IT" sz="1200">
                            <a:latin typeface="Cambria Math" panose="02040503050406030204" pitchFamily="18" charset="0"/>
                          </a:rPr>
                          <m:t>°</m:t>
                        </m:r>
                      </m:oMath>
                    </m:oMathPara>
                  </a14:m>
                  <a:endParaRPr lang="it-IT" sz="1200" dirty="0"/>
                </a:p>
              </p:txBody>
            </p:sp>
          </mc:Choice>
          <mc:Fallback xmlns="">
            <p:sp>
              <p:nvSpPr>
                <p:cNvPr id="7" name="CasellaDiTesto 6">
                  <a:extLst>
                    <a:ext uri="{FF2B5EF4-FFF2-40B4-BE49-F238E27FC236}">
                      <a16:creationId xmlns:a16="http://schemas.microsoft.com/office/drawing/2014/main" id="{15E1514B-CB2D-D173-4AA6-6A6198824B58}"/>
                    </a:ext>
                  </a:extLst>
                </p:cNvPr>
                <p:cNvSpPr txBox="1">
                  <a:spLocks noRot="1" noChangeAspect="1" noMove="1" noResize="1" noEditPoints="1" noAdjustHandles="1" noChangeArrowheads="1" noChangeShapeType="1" noTextEdit="1"/>
                </p:cNvSpPr>
                <p:nvPr/>
              </p:nvSpPr>
              <p:spPr>
                <a:xfrm>
                  <a:off x="7475451" y="2177714"/>
                  <a:ext cx="2023696" cy="350673"/>
                </a:xfrm>
                <a:prstGeom prst="rect">
                  <a:avLst/>
                </a:prstGeom>
                <a:blipFill>
                  <a:blip r:embed="rId7"/>
                  <a:stretch>
                    <a:fillRect l="-1506" t="-3448" r="-1506" b="-13793"/>
                  </a:stretch>
                </a:blipFill>
              </p:spPr>
              <p:txBody>
                <a:bodyPr/>
                <a:lstStyle/>
                <a:p>
                  <a:r>
                    <a:rPr lang="it-IT">
                      <a:noFill/>
                    </a:rPr>
                    <a:t> </a:t>
                  </a:r>
                </a:p>
              </p:txBody>
            </p:sp>
          </mc:Fallback>
        </mc:AlternateContent>
      </p:grpSp>
      <p:grpSp>
        <p:nvGrpSpPr>
          <p:cNvPr id="16" name="Gruppo 15">
            <a:extLst>
              <a:ext uri="{FF2B5EF4-FFF2-40B4-BE49-F238E27FC236}">
                <a16:creationId xmlns:a16="http://schemas.microsoft.com/office/drawing/2014/main" id="{61921A0B-433D-2931-46F2-44B9A4039F11}"/>
              </a:ext>
            </a:extLst>
          </p:cNvPr>
          <p:cNvGrpSpPr/>
          <p:nvPr/>
        </p:nvGrpSpPr>
        <p:grpSpPr>
          <a:xfrm>
            <a:off x="1565061" y="3943288"/>
            <a:ext cx="8145056" cy="1106216"/>
            <a:chOff x="1439049" y="3916683"/>
            <a:chExt cx="8145056" cy="1106216"/>
          </a:xfrm>
        </p:grpSpPr>
        <p:grpSp>
          <p:nvGrpSpPr>
            <p:cNvPr id="13" name="Gruppo 12">
              <a:extLst>
                <a:ext uri="{FF2B5EF4-FFF2-40B4-BE49-F238E27FC236}">
                  <a16:creationId xmlns:a16="http://schemas.microsoft.com/office/drawing/2014/main" id="{A18B3AA9-6066-B3AE-B246-DB4580B9866B}"/>
                </a:ext>
              </a:extLst>
            </p:cNvPr>
            <p:cNvGrpSpPr/>
            <p:nvPr/>
          </p:nvGrpSpPr>
          <p:grpSpPr>
            <a:xfrm>
              <a:off x="1439049" y="3916683"/>
              <a:ext cx="2051491" cy="1106216"/>
              <a:chOff x="1736859" y="4289515"/>
              <a:chExt cx="2051491" cy="1106216"/>
            </a:xfrm>
          </p:grpSpPr>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CE901262-4DE8-70E2-D934-6EBBE0426B46}"/>
                      </a:ext>
                    </a:extLst>
                  </p:cNvPr>
                  <p:cNvSpPr txBox="1"/>
                  <p:nvPr/>
                </p:nvSpPr>
                <p:spPr>
                  <a:xfrm>
                    <a:off x="1756704" y="4289515"/>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=250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250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≈4</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8" name="CasellaDiTesto 7">
                    <a:extLst>
                      <a:ext uri="{FF2B5EF4-FFF2-40B4-BE49-F238E27FC236}">
                        <a16:creationId xmlns:a16="http://schemas.microsoft.com/office/drawing/2014/main" id="{CE901262-4DE8-70E2-D934-6EBBE0426B46}"/>
                      </a:ext>
                    </a:extLst>
                  </p:cNvPr>
                  <p:cNvSpPr txBox="1">
                    <a:spLocks noRot="1" noChangeAspect="1" noMove="1" noResize="1" noEditPoints="1" noAdjustHandles="1" noChangeArrowheads="1" noChangeShapeType="1" noTextEdit="1"/>
                  </p:cNvSpPr>
                  <p:nvPr/>
                </p:nvSpPr>
                <p:spPr>
                  <a:xfrm>
                    <a:off x="1756704" y="4289515"/>
                    <a:ext cx="2031646" cy="346890"/>
                  </a:xfrm>
                  <a:prstGeom prst="rect">
                    <a:avLst/>
                  </a:prstGeom>
                  <a:blipFill>
                    <a:blip r:embed="rId8"/>
                    <a:stretch>
                      <a:fillRect l="-1502" t="-3509" r="-1502"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AE6ABA1E-8579-A0B2-5C5F-6C3A3445E576}"/>
                      </a:ext>
                    </a:extLst>
                  </p:cNvPr>
                  <p:cNvSpPr txBox="1"/>
                  <p:nvPr/>
                </p:nvSpPr>
                <p:spPr>
                  <a:xfrm>
                    <a:off x="1736859" y="4831402"/>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=995.73106 </m:t>
                          </m:r>
                          <m:r>
                            <a:rPr lang="it-IT" sz="1200" b="0" i="1" smtClean="0">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9" name="CasellaDiTesto 8">
                    <a:extLst>
                      <a:ext uri="{FF2B5EF4-FFF2-40B4-BE49-F238E27FC236}">
                        <a16:creationId xmlns:a16="http://schemas.microsoft.com/office/drawing/2014/main" id="{AE6ABA1E-8579-A0B2-5C5F-6C3A3445E576}"/>
                      </a:ext>
                    </a:extLst>
                  </p:cNvPr>
                  <p:cNvSpPr txBox="1">
                    <a:spLocks noRot="1" noChangeAspect="1" noMove="1" noResize="1" noEditPoints="1" noAdjustHandles="1" noChangeArrowheads="1" noChangeShapeType="1" noTextEdit="1"/>
                  </p:cNvSpPr>
                  <p:nvPr/>
                </p:nvSpPr>
                <p:spPr>
                  <a:xfrm>
                    <a:off x="1736859" y="4831402"/>
                    <a:ext cx="1313949" cy="184666"/>
                  </a:xfrm>
                  <a:prstGeom prst="rect">
                    <a:avLst/>
                  </a:prstGeom>
                  <a:blipFill>
                    <a:blip r:embed="rId9"/>
                    <a:stretch>
                      <a:fillRect b="-2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1E240E01-F863-4BE1-12EA-D2BAD9143D11}"/>
                      </a:ext>
                    </a:extLst>
                  </p:cNvPr>
                  <p:cNvSpPr txBox="1"/>
                  <p:nvPr/>
                </p:nvSpPr>
                <p:spPr>
                  <a:xfrm>
                    <a:off x="1756704" y="5211065"/>
                    <a:ext cx="127426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=638.20704 </m:t>
                          </m:r>
                          <m:r>
                            <a:rPr lang="it-IT" sz="1200" i="1">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10" name="CasellaDiTesto 9">
                    <a:extLst>
                      <a:ext uri="{FF2B5EF4-FFF2-40B4-BE49-F238E27FC236}">
                        <a16:creationId xmlns:a16="http://schemas.microsoft.com/office/drawing/2014/main" id="{1E240E01-F863-4BE1-12EA-D2BAD9143D11}"/>
                      </a:ext>
                    </a:extLst>
                  </p:cNvPr>
                  <p:cNvSpPr txBox="1">
                    <a:spLocks noRot="1" noChangeAspect="1" noMove="1" noResize="1" noEditPoints="1" noAdjustHandles="1" noChangeArrowheads="1" noChangeShapeType="1" noTextEdit="1"/>
                  </p:cNvSpPr>
                  <p:nvPr/>
                </p:nvSpPr>
                <p:spPr>
                  <a:xfrm>
                    <a:off x="1756704" y="5211065"/>
                    <a:ext cx="1274260" cy="184666"/>
                  </a:xfrm>
                  <a:prstGeom prst="rect">
                    <a:avLst/>
                  </a:prstGeom>
                  <a:blipFill>
                    <a:blip r:embed="rId10"/>
                    <a:stretch>
                      <a:fillRect l="-1914" r="-957" b="-23333"/>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CFFC697F-4226-C720-6987-C760E899F0D8}"/>
                    </a:ext>
                  </a:extLst>
                </p:cNvPr>
                <p:cNvSpPr txBox="1"/>
                <p:nvPr/>
              </p:nvSpPr>
              <p:spPr>
                <a:xfrm>
                  <a:off x="4974034" y="4377458"/>
                  <a:ext cx="142776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=0.35752402 </m:t>
                        </m:r>
                        <m:r>
                          <a:rPr lang="it-IT" sz="1200" b="0" i="1" smtClean="0">
                            <a:latin typeface="Cambria Math" panose="02040503050406030204" pitchFamily="18" charset="0"/>
                          </a:rPr>
                          <m:t>𝑚𝑠</m:t>
                        </m:r>
                      </m:oMath>
                    </m:oMathPara>
                  </a14:m>
                  <a:endParaRPr lang="it-IT" sz="1200" dirty="0"/>
                </a:p>
              </p:txBody>
            </p:sp>
          </mc:Choice>
          <mc:Fallback xmlns="">
            <p:sp>
              <p:nvSpPr>
                <p:cNvPr id="11" name="CasellaDiTesto 10">
                  <a:extLst>
                    <a:ext uri="{FF2B5EF4-FFF2-40B4-BE49-F238E27FC236}">
                      <a16:creationId xmlns:a16="http://schemas.microsoft.com/office/drawing/2014/main" id="{CFFC697F-4226-C720-6987-C760E899F0D8}"/>
                    </a:ext>
                  </a:extLst>
                </p:cNvPr>
                <p:cNvSpPr txBox="1">
                  <a:spLocks noRot="1" noChangeAspect="1" noMove="1" noResize="1" noEditPoints="1" noAdjustHandles="1" noChangeArrowheads="1" noChangeShapeType="1" noTextEdit="1"/>
                </p:cNvSpPr>
                <p:nvPr/>
              </p:nvSpPr>
              <p:spPr>
                <a:xfrm>
                  <a:off x="4974034" y="4377458"/>
                  <a:ext cx="1427763" cy="184666"/>
                </a:xfrm>
                <a:prstGeom prst="rect">
                  <a:avLst/>
                </a:prstGeom>
                <a:blipFill>
                  <a:blip r:embed="rId11"/>
                  <a:stretch>
                    <a:fillRect l="-2137" r="-855"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3C780B0E-9AE1-293D-46F3-2F4BB18F8F25}"/>
                    </a:ext>
                  </a:extLst>
                </p:cNvPr>
                <p:cNvSpPr txBox="1"/>
                <p:nvPr/>
              </p:nvSpPr>
              <p:spPr>
                <a:xfrm>
                  <a:off x="7475451" y="4294455"/>
                  <a:ext cx="2108654"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0.35752402</m:t>
                            </m:r>
                          </m:num>
                          <m:den>
                            <m:r>
                              <a:rPr lang="it-IT" sz="1200" b="0" i="1" smtClean="0">
                                <a:latin typeface="Cambria Math" panose="02040503050406030204" pitchFamily="18" charset="0"/>
                              </a:rPr>
                              <m:t>4</m:t>
                            </m:r>
                          </m:den>
                        </m:f>
                        <m:r>
                          <a:rPr lang="it-IT" sz="1200" b="0" i="1" smtClean="0">
                            <a:latin typeface="Cambria Math" panose="02040503050406030204" pitchFamily="18" charset="0"/>
                          </a:rPr>
                          <m:t>=32.2</m:t>
                        </m:r>
                        <m:r>
                          <a:rPr lang="it-IT" sz="1200">
                            <a:latin typeface="Cambria Math" panose="02040503050406030204" pitchFamily="18" charset="0"/>
                          </a:rPr>
                          <m:t>°</m:t>
                        </m:r>
                      </m:oMath>
                    </m:oMathPara>
                  </a14:m>
                  <a:endParaRPr lang="it-IT" sz="1200" dirty="0"/>
                </a:p>
              </p:txBody>
            </p:sp>
          </mc:Choice>
          <mc:Fallback xmlns="">
            <p:sp>
              <p:nvSpPr>
                <p:cNvPr id="12" name="CasellaDiTesto 11">
                  <a:extLst>
                    <a:ext uri="{FF2B5EF4-FFF2-40B4-BE49-F238E27FC236}">
                      <a16:creationId xmlns:a16="http://schemas.microsoft.com/office/drawing/2014/main" id="{3C780B0E-9AE1-293D-46F3-2F4BB18F8F25}"/>
                    </a:ext>
                  </a:extLst>
                </p:cNvPr>
                <p:cNvSpPr txBox="1">
                  <a:spLocks noRot="1" noChangeAspect="1" noMove="1" noResize="1" noEditPoints="1" noAdjustHandles="1" noChangeArrowheads="1" noChangeShapeType="1" noTextEdit="1"/>
                </p:cNvSpPr>
                <p:nvPr/>
              </p:nvSpPr>
              <p:spPr>
                <a:xfrm>
                  <a:off x="7475451" y="4294455"/>
                  <a:ext cx="2108654" cy="350673"/>
                </a:xfrm>
                <a:prstGeom prst="rect">
                  <a:avLst/>
                </a:prstGeom>
                <a:blipFill>
                  <a:blip r:embed="rId12"/>
                  <a:stretch>
                    <a:fillRect l="-1445" t="-3509" r="-1156" b="-15789"/>
                  </a:stretch>
                </a:blipFill>
              </p:spPr>
              <p:txBody>
                <a:bodyPr/>
                <a:lstStyle/>
                <a:p>
                  <a:r>
                    <a:rPr lang="it-IT">
                      <a:noFill/>
                    </a:rPr>
                    <a:t> </a:t>
                  </a:r>
                </a:p>
              </p:txBody>
            </p:sp>
          </mc:Fallback>
        </mc:AlternateContent>
      </p:grpSp>
      <p:sp>
        <p:nvSpPr>
          <p:cNvPr id="5" name="Segnaposto numero diapositiva 4">
            <a:extLst>
              <a:ext uri="{FF2B5EF4-FFF2-40B4-BE49-F238E27FC236}">
                <a16:creationId xmlns:a16="http://schemas.microsoft.com/office/drawing/2014/main" id="{54C7441E-7995-819A-51CC-F6595207E08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41</a:t>
            </a:fld>
            <a:endParaRPr lang="it-IT"/>
          </a:p>
        </p:txBody>
      </p:sp>
    </p:spTree>
    <p:extLst>
      <p:ext uri="{BB962C8B-B14F-4D97-AF65-F5344CB8AC3E}">
        <p14:creationId xmlns:p14="http://schemas.microsoft.com/office/powerpoint/2010/main" val="3494920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8"/>
          <p:cNvSpPr txBox="1"/>
          <p:nvPr/>
        </p:nvSpPr>
        <p:spPr>
          <a:xfrm>
            <a:off x="1355275" y="1492284"/>
            <a:ext cx="984612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comportamento del filtro nel dominio del tempo, è possibile studiarne la risposta nel dominio della frequenza mediante il diagramma di Bode.</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La figura confronta le risposte in frequenza delle configurazioni RC e RL, entrambe progettate con una frequenza di taglio pari a 159 Hz</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Come già osservato nell'analisi transitoria, </a:t>
            </a:r>
            <a:r>
              <a:rPr lang="it-IT" b="1" dirty="0">
                <a:latin typeface="Segoe UI" panose="020B0502040204020203" pitchFamily="34" charset="0"/>
                <a:cs typeface="Segoe UI" panose="020B0502040204020203" pitchFamily="34" charset="0"/>
                <a:sym typeface="Libre Franklin"/>
              </a:rPr>
              <a:t>le due configurazioni presentano una risposta praticamente coincidente, confermando che entrambe realizzano lo stesso comportamento di filtro passa-alto del primo ordine.</a:t>
            </a:r>
            <a:endParaRPr b="1" dirty="0">
              <a:latin typeface="Segoe UI" panose="020B0502040204020203" pitchFamily="34" charset="0"/>
              <a:cs typeface="Segoe UI" panose="020B0502040204020203" pitchFamily="34" charset="0"/>
              <a:sym typeface="Libre Franklin"/>
            </a:endParaRPr>
          </a:p>
        </p:txBody>
      </p:sp>
      <p:sp>
        <p:nvSpPr>
          <p:cNvPr id="405" name="Google Shape;405;p38"/>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Diagramma di Bode (RC vs RL)</a:t>
            </a:r>
            <a:endParaRPr dirty="0">
              <a:sym typeface="Libre Franklin SemiBold"/>
            </a:endParaRPr>
          </a:p>
        </p:txBody>
      </p:sp>
      <p:pic>
        <p:nvPicPr>
          <p:cNvPr id="2" name="Immagine 1">
            <a:extLst>
              <a:ext uri="{FF2B5EF4-FFF2-40B4-BE49-F238E27FC236}">
                <a16:creationId xmlns:a16="http://schemas.microsoft.com/office/drawing/2014/main" id="{7CFE264E-B24E-C302-98E1-0E63452628CC}"/>
              </a:ext>
            </a:extLst>
          </p:cNvPr>
          <p:cNvPicPr>
            <a:picLocks noChangeAspect="1"/>
          </p:cNvPicPr>
          <p:nvPr/>
        </p:nvPicPr>
        <p:blipFill>
          <a:blip r:embed="rId3"/>
          <a:stretch>
            <a:fillRect/>
          </a:stretch>
        </p:blipFill>
        <p:spPr>
          <a:xfrm>
            <a:off x="2969430" y="2951674"/>
            <a:ext cx="6253140" cy="3064625"/>
          </a:xfrm>
          <a:prstGeom prst="rect">
            <a:avLst/>
          </a:prstGeom>
          <a:ln>
            <a:solidFill>
              <a:schemeClr val="tx1"/>
            </a:solidFill>
          </a:ln>
        </p:spPr>
      </p:pic>
      <p:sp>
        <p:nvSpPr>
          <p:cNvPr id="3" name="CasellaDiTesto 2">
            <a:extLst>
              <a:ext uri="{FF2B5EF4-FFF2-40B4-BE49-F238E27FC236}">
                <a16:creationId xmlns:a16="http://schemas.microsoft.com/office/drawing/2014/main" id="{3D3AE5E3-642D-7632-EE97-E51C5FC80565}"/>
              </a:ext>
            </a:extLst>
          </p:cNvPr>
          <p:cNvSpPr txBox="1"/>
          <p:nvPr/>
        </p:nvSpPr>
        <p:spPr>
          <a:xfrm>
            <a:off x="8091183" y="3429000"/>
            <a:ext cx="985705" cy="307777"/>
          </a:xfrm>
          <a:prstGeom prst="rect">
            <a:avLst/>
          </a:prstGeom>
          <a:noFill/>
        </p:spPr>
        <p:txBody>
          <a:bodyPr wrap="square">
            <a:spAutoFit/>
          </a:bodyPr>
          <a:lstStyle/>
          <a:p>
            <a:r>
              <a:rPr lang="it-IT" b="1" i="1" dirty="0">
                <a:solidFill>
                  <a:srgbClr val="5CFF61"/>
                </a:solidFill>
                <a:sym typeface="Libre Franklin"/>
              </a:rPr>
              <a:t>RC</a:t>
            </a:r>
            <a:endParaRPr lang="it-IT" b="1" dirty="0">
              <a:solidFill>
                <a:srgbClr val="5CFF61"/>
              </a:solidFill>
            </a:endParaRPr>
          </a:p>
        </p:txBody>
      </p:sp>
      <p:sp>
        <p:nvSpPr>
          <p:cNvPr id="4" name="CasellaDiTesto 3">
            <a:extLst>
              <a:ext uri="{FF2B5EF4-FFF2-40B4-BE49-F238E27FC236}">
                <a16:creationId xmlns:a16="http://schemas.microsoft.com/office/drawing/2014/main" id="{0E4DE8C0-B459-DD33-163F-B81AA2E147CA}"/>
              </a:ext>
            </a:extLst>
          </p:cNvPr>
          <p:cNvSpPr txBox="1"/>
          <p:nvPr/>
        </p:nvSpPr>
        <p:spPr>
          <a:xfrm>
            <a:off x="8091183" y="5049838"/>
            <a:ext cx="985705" cy="307777"/>
          </a:xfrm>
          <a:prstGeom prst="rect">
            <a:avLst/>
          </a:prstGeom>
          <a:noFill/>
        </p:spPr>
        <p:txBody>
          <a:bodyPr wrap="square">
            <a:spAutoFit/>
          </a:bodyPr>
          <a:lstStyle/>
          <a:p>
            <a:r>
              <a:rPr lang="it-IT" b="1" i="1" dirty="0">
                <a:solidFill>
                  <a:srgbClr val="FF0000"/>
                </a:solidFill>
                <a:sym typeface="Libre Franklin"/>
              </a:rPr>
              <a:t>LR</a:t>
            </a:r>
            <a:endParaRPr lang="it-IT" b="1" dirty="0">
              <a:solidFill>
                <a:srgbClr val="FF0000"/>
              </a:solidFill>
            </a:endParaRPr>
          </a:p>
        </p:txBody>
      </p:sp>
      <p:sp>
        <p:nvSpPr>
          <p:cNvPr id="5" name="Segnaposto numero diapositiva 4">
            <a:extLst>
              <a:ext uri="{FF2B5EF4-FFF2-40B4-BE49-F238E27FC236}">
                <a16:creationId xmlns:a16="http://schemas.microsoft.com/office/drawing/2014/main" id="{F5550B55-B4E0-E380-453F-427B2D85A8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42</a:t>
            </a:fld>
            <a:endParaRPr lang="it-IT"/>
          </a:p>
        </p:txBody>
      </p:sp>
    </p:spTree>
    <p:extLst>
      <p:ext uri="{BB962C8B-B14F-4D97-AF65-F5344CB8AC3E}">
        <p14:creationId xmlns:p14="http://schemas.microsoft.com/office/powerpoint/2010/main" val="1492192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9"/>
          <p:cNvSpPr txBox="1"/>
          <p:nvPr/>
        </p:nvSpPr>
        <p:spPr>
          <a:xfrm>
            <a:off x="1052817" y="878881"/>
            <a:ext cx="1014858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Considerando la sola configurazione RC, </a:t>
            </a:r>
            <a:r>
              <a:rPr lang="it-IT" b="1" dirty="0">
                <a:latin typeface="Segoe UI" panose="020B0502040204020203" pitchFamily="34" charset="0"/>
                <a:cs typeface="Segoe UI" panose="020B0502040204020203" pitchFamily="34" charset="0"/>
                <a:sym typeface="Libre Franklin"/>
              </a:rPr>
              <a:t>il diagramma di Bode mostra l'andamento del guadagno del filtro al variare della frequenza</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Per frequenze </a:t>
            </a:r>
            <a:r>
              <a:rPr lang="it-IT" i="1" dirty="0">
                <a:latin typeface="Segoe UI" panose="020B0502040204020203" pitchFamily="34" charset="0"/>
                <a:cs typeface="Segoe UI" panose="020B0502040204020203" pitchFamily="34" charset="0"/>
                <a:sym typeface="Libre Franklin"/>
              </a:rPr>
              <a:t>inferiori alla frequenza di taglio il segnale risulta attenuato. </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r>
              <a:rPr lang="it-IT" b="1" u="sng" dirty="0">
                <a:latin typeface="Segoe UI" panose="020B0502040204020203" pitchFamily="34" charset="0"/>
                <a:cs typeface="Segoe UI" panose="020B0502040204020203" pitchFamily="34" charset="0"/>
                <a:sym typeface="Libre Franklin"/>
              </a:rPr>
              <a:t>Superata la frequenza di taglio (</a:t>
            </a:r>
            <a:r>
              <a:rPr lang="it-IT" b="1" u="sng" dirty="0" err="1">
                <a:latin typeface="Segoe UI" panose="020B0502040204020203" pitchFamily="34" charset="0"/>
                <a:cs typeface="Segoe UI" panose="020B0502040204020203" pitchFamily="34" charset="0"/>
                <a:sym typeface="Libre Franklin"/>
              </a:rPr>
              <a:t>ƒc</a:t>
            </a:r>
            <a:r>
              <a:rPr lang="it-IT" b="1" u="sng" dirty="0">
                <a:latin typeface="Segoe UI" panose="020B0502040204020203" pitchFamily="34" charset="0"/>
                <a:cs typeface="Segoe UI" panose="020B0502040204020203" pitchFamily="34" charset="0"/>
                <a:sym typeface="Libre Franklin"/>
              </a:rPr>
              <a:t>​ = 159 Hz), il guadagno tende a 0 dB: </a:t>
            </a:r>
            <a:r>
              <a:rPr lang="it-IT" dirty="0">
                <a:latin typeface="Segoe UI" panose="020B0502040204020203" pitchFamily="34" charset="0"/>
                <a:cs typeface="Segoe UI" panose="020B0502040204020203" pitchFamily="34" charset="0"/>
                <a:sym typeface="Libre Franklin"/>
              </a:rPr>
              <a:t>il segnale di uscita assume quindi un'ampiezza praticamente uguale a quella del segnale di ingresso.</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Come evidenziato dal grafico, per frequenze elevate le curve di (</a:t>
            </a:r>
            <a:r>
              <a:rPr lang="it-IT" i="1" dirty="0" err="1">
                <a:latin typeface="Segoe UI" panose="020B0502040204020203" pitchFamily="34" charset="0"/>
                <a:cs typeface="Segoe UI" panose="020B0502040204020203" pitchFamily="34" charset="0"/>
                <a:sym typeface="Libre Franklin"/>
              </a:rPr>
              <a:t>Vout</a:t>
            </a:r>
            <a:r>
              <a:rPr lang="it-IT" i="1" dirty="0">
                <a:latin typeface="Segoe UI" panose="020B0502040204020203" pitchFamily="34" charset="0"/>
                <a:cs typeface="Segoe UI" panose="020B0502040204020203" pitchFamily="34" charset="0"/>
                <a:sym typeface="Libre Franklin"/>
              </a:rPr>
              <a:t>) e (Vin) risultano pressoché sovrapposte, indicando che il filtro lascia passare quasi interamente il segnale.</a:t>
            </a:r>
            <a:endParaRPr i="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59381080-7EA0-0C8C-76E9-348253B02239}"/>
              </a:ext>
            </a:extLst>
          </p:cNvPr>
          <p:cNvPicPr>
            <a:picLocks noChangeAspect="1"/>
          </p:cNvPicPr>
          <p:nvPr/>
        </p:nvPicPr>
        <p:blipFill>
          <a:blip r:embed="rId3"/>
          <a:stretch>
            <a:fillRect/>
          </a:stretch>
        </p:blipFill>
        <p:spPr>
          <a:xfrm>
            <a:off x="2720148" y="2805205"/>
            <a:ext cx="6751703" cy="3308967"/>
          </a:xfrm>
          <a:prstGeom prst="rect">
            <a:avLst/>
          </a:prstGeom>
          <a:ln>
            <a:solidFill>
              <a:schemeClr val="tx1"/>
            </a:solidFill>
          </a:ln>
        </p:spPr>
      </p:pic>
      <p:sp>
        <p:nvSpPr>
          <p:cNvPr id="3" name="CasellaDiTesto 2">
            <a:extLst>
              <a:ext uri="{FF2B5EF4-FFF2-40B4-BE49-F238E27FC236}">
                <a16:creationId xmlns:a16="http://schemas.microsoft.com/office/drawing/2014/main" id="{241CDF3A-2C2D-2459-F291-40385CD67B98}"/>
              </a:ext>
            </a:extLst>
          </p:cNvPr>
          <p:cNvSpPr txBox="1"/>
          <p:nvPr/>
        </p:nvSpPr>
        <p:spPr>
          <a:xfrm>
            <a:off x="8515507" y="3121223"/>
            <a:ext cx="985705" cy="307777"/>
          </a:xfrm>
          <a:prstGeom prst="rect">
            <a:avLst/>
          </a:prstGeom>
          <a:noFill/>
        </p:spPr>
        <p:txBody>
          <a:bodyPr wrap="square">
            <a:spAutoFit/>
          </a:bodyPr>
          <a:lstStyle/>
          <a:p>
            <a:r>
              <a:rPr lang="it-IT" b="1" i="1" dirty="0">
                <a:solidFill>
                  <a:srgbClr val="292CFF"/>
                </a:solidFill>
                <a:sym typeface="Libre Franklin"/>
              </a:rPr>
              <a:t>Vin</a:t>
            </a:r>
            <a:endParaRPr lang="it-IT" b="1" dirty="0">
              <a:solidFill>
                <a:srgbClr val="292CFF"/>
              </a:solidFill>
            </a:endParaRPr>
          </a:p>
        </p:txBody>
      </p:sp>
      <p:sp>
        <p:nvSpPr>
          <p:cNvPr id="4" name="CasellaDiTesto 3">
            <a:extLst>
              <a:ext uri="{FF2B5EF4-FFF2-40B4-BE49-F238E27FC236}">
                <a16:creationId xmlns:a16="http://schemas.microsoft.com/office/drawing/2014/main" id="{4160F65E-8D19-1770-CB6C-5C9D97ABB5E8}"/>
              </a:ext>
            </a:extLst>
          </p:cNvPr>
          <p:cNvSpPr txBox="1"/>
          <p:nvPr/>
        </p:nvSpPr>
        <p:spPr>
          <a:xfrm>
            <a:off x="4160941" y="3648118"/>
            <a:ext cx="985705" cy="307777"/>
          </a:xfrm>
          <a:prstGeom prst="rect">
            <a:avLst/>
          </a:prstGeom>
          <a:noFill/>
        </p:spPr>
        <p:txBody>
          <a:bodyPr wrap="square">
            <a:spAutoFit/>
          </a:bodyPr>
          <a:lstStyle/>
          <a:p>
            <a:r>
              <a:rPr lang="it-IT" b="1" i="1" dirty="0" err="1">
                <a:solidFill>
                  <a:srgbClr val="5CFF61"/>
                </a:solidFill>
                <a:sym typeface="Libre Franklin"/>
              </a:rPr>
              <a:t>Vout</a:t>
            </a:r>
            <a:r>
              <a:rPr lang="it-IT" b="1" i="1" dirty="0">
                <a:solidFill>
                  <a:srgbClr val="5CFF61"/>
                </a:solidFill>
                <a:sym typeface="Libre Franklin"/>
              </a:rPr>
              <a:t> RC</a:t>
            </a:r>
            <a:endParaRPr lang="it-IT" b="1" dirty="0">
              <a:solidFill>
                <a:srgbClr val="5CFF61"/>
              </a:solidFill>
            </a:endParaRPr>
          </a:p>
        </p:txBody>
      </p:sp>
      <p:sp>
        <p:nvSpPr>
          <p:cNvPr id="5" name="Segnaposto numero diapositiva 4">
            <a:extLst>
              <a:ext uri="{FF2B5EF4-FFF2-40B4-BE49-F238E27FC236}">
                <a16:creationId xmlns:a16="http://schemas.microsoft.com/office/drawing/2014/main" id="{58704CB8-C526-556E-4CA1-C934E1835CF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43</a:t>
            </a:fld>
            <a:endParaRPr lang="it-IT"/>
          </a:p>
        </p:txBody>
      </p:sp>
    </p:spTree>
    <p:extLst>
      <p:ext uri="{BB962C8B-B14F-4D97-AF65-F5344CB8AC3E}">
        <p14:creationId xmlns:p14="http://schemas.microsoft.com/office/powerpoint/2010/main" val="3320916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0"/>
          <p:cNvSpPr txBox="1"/>
          <p:nvPr/>
        </p:nvSpPr>
        <p:spPr>
          <a:xfrm>
            <a:off x="1054216" y="1354110"/>
            <a:ext cx="10147184" cy="129263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filtro passa-alto passivo nel dominio del tempo e tramite il diagramma di Bode, si studia ora l’effetto della variazione della resistenza R sulla risposta in frequenza del circuito.</a:t>
            </a:r>
          </a:p>
          <a:p>
            <a:endParaRPr dirty="0">
              <a:latin typeface="Segoe UI" panose="020B0502040204020203" pitchFamily="34" charset="0"/>
              <a:cs typeface="Segoe UI" panose="020B0502040204020203" pitchFamily="34" charset="0"/>
              <a:sym typeface="Libre Franklin"/>
            </a:endParaRPr>
          </a:p>
          <a:p>
            <a:r>
              <a:rPr lang="it-IT" b="1" dirty="0">
                <a:latin typeface="Segoe UI" panose="020B0502040204020203" pitchFamily="34" charset="0"/>
                <a:cs typeface="Segoe UI" panose="020B0502040204020203" pitchFamily="34" charset="0"/>
                <a:sym typeface="Libre Franklin"/>
              </a:rPr>
              <a:t>Nella simulazione la capacità viene mantenuta costante a C = 100 </a:t>
            </a:r>
            <a:r>
              <a:rPr lang="it-IT" b="1"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 </a:t>
            </a:r>
            <a:r>
              <a:rPr lang="it-IT" i="1" dirty="0">
                <a:latin typeface="Segoe UI" panose="020B0502040204020203" pitchFamily="34" charset="0"/>
                <a:cs typeface="Segoe UI" panose="020B0502040204020203" pitchFamily="34" charset="0"/>
                <a:sym typeface="Libre Franklin"/>
              </a:rPr>
              <a:t>mentre la resistenza viene variata su tre valori: 1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10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e 100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a:t>
            </a:r>
            <a:r>
              <a:rPr lang="it-IT" i="1" u="sng" dirty="0">
                <a:latin typeface="Segoe UI" panose="020B0502040204020203" pitchFamily="34" charset="0"/>
                <a:cs typeface="Segoe UI" panose="020B0502040204020203" pitchFamily="34" charset="0"/>
                <a:sym typeface="Libre Franklin"/>
              </a:rPr>
              <a:t>Nel grafico di Bode sono rappresentate le tre risposte: la curva rossa corrisponde al circuito con R = 1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blu corrisponde al circuito con R = 10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verde corrisponde a quello con R = 100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a:t>
            </a:r>
            <a:endParaRPr i="1" u="sng" dirty="0">
              <a:latin typeface="Segoe UI" panose="020B0502040204020203" pitchFamily="34" charset="0"/>
              <a:cs typeface="Segoe UI" panose="020B0502040204020203" pitchFamily="34" charset="0"/>
              <a:sym typeface="Libre Franklin"/>
            </a:endParaRPr>
          </a:p>
        </p:txBody>
      </p:sp>
      <p:sp>
        <p:nvSpPr>
          <p:cNvPr id="419" name="Google Shape;419;p40"/>
          <p:cNvSpPr txBox="1"/>
          <p:nvPr/>
        </p:nvSpPr>
        <p:spPr>
          <a:xfrm>
            <a:off x="1073791" y="756125"/>
            <a:ext cx="506588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R </a:t>
            </a:r>
            <a:endParaRPr dirty="0">
              <a:sym typeface="Libre Franklin SemiBold"/>
            </a:endParaRPr>
          </a:p>
        </p:txBody>
      </p:sp>
      <p:grpSp>
        <p:nvGrpSpPr>
          <p:cNvPr id="5" name="Gruppo 4">
            <a:extLst>
              <a:ext uri="{FF2B5EF4-FFF2-40B4-BE49-F238E27FC236}">
                <a16:creationId xmlns:a16="http://schemas.microsoft.com/office/drawing/2014/main" id="{C3E0BAA2-87E9-26DB-7759-B407714FE398}"/>
              </a:ext>
            </a:extLst>
          </p:cNvPr>
          <p:cNvGrpSpPr/>
          <p:nvPr/>
        </p:nvGrpSpPr>
        <p:grpSpPr>
          <a:xfrm>
            <a:off x="8210336" y="3343013"/>
            <a:ext cx="2796019" cy="1807636"/>
            <a:chOff x="8189364" y="2739006"/>
            <a:chExt cx="2796019" cy="1807636"/>
          </a:xfrm>
        </p:grpSpPr>
        <p:sp>
          <p:nvSpPr>
            <p:cNvPr id="421" name="Google Shape;421;p40"/>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70EC4C9-097F-61C6-0723-7A12D46E5E9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3"/>
                  <a:stretch>
                    <a:fillRect/>
                  </a:stretch>
                </a:blipFill>
              </p:spPr>
              <p:txBody>
                <a:bodyPr/>
                <a:lstStyle/>
                <a:p>
                  <a:r>
                    <a:rPr lang="it-IT">
                      <a:noFill/>
                    </a:rPr>
                    <a:t> </a:t>
                  </a:r>
                </a:p>
              </p:txBody>
            </p:sp>
          </mc:Fallback>
        </mc:AlternateContent>
      </p:grpSp>
      <p:pic>
        <p:nvPicPr>
          <p:cNvPr id="6" name="Immagine 5">
            <a:extLst>
              <a:ext uri="{FF2B5EF4-FFF2-40B4-BE49-F238E27FC236}">
                <a16:creationId xmlns:a16="http://schemas.microsoft.com/office/drawing/2014/main" id="{3DA34BB4-2055-8FD2-FFD6-E1BDD7998EEF}"/>
              </a:ext>
            </a:extLst>
          </p:cNvPr>
          <p:cNvPicPr>
            <a:picLocks noChangeAspect="1"/>
          </p:cNvPicPr>
          <p:nvPr/>
        </p:nvPicPr>
        <p:blipFill>
          <a:blip r:embed="rId4"/>
          <a:stretch>
            <a:fillRect/>
          </a:stretch>
        </p:blipFill>
        <p:spPr>
          <a:xfrm>
            <a:off x="1073791" y="2787205"/>
            <a:ext cx="6763337" cy="3314670"/>
          </a:xfrm>
          <a:prstGeom prst="rect">
            <a:avLst/>
          </a:prstGeom>
          <a:ln>
            <a:solidFill>
              <a:schemeClr val="tx1"/>
            </a:solidFill>
          </a:ln>
        </p:spPr>
      </p:pic>
      <p:sp>
        <p:nvSpPr>
          <p:cNvPr id="2" name="Segnaposto numero diapositiva 1">
            <a:extLst>
              <a:ext uri="{FF2B5EF4-FFF2-40B4-BE49-F238E27FC236}">
                <a16:creationId xmlns:a16="http://schemas.microsoft.com/office/drawing/2014/main" id="{1DE30512-182B-C57E-906C-9D5010CB22E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44</a:t>
            </a:fld>
            <a:endParaRPr lang="it-IT"/>
          </a:p>
        </p:txBody>
      </p:sp>
      <p:sp>
        <p:nvSpPr>
          <p:cNvPr id="3" name="Freccia in giù 2">
            <a:hlinkClick r:id="rId5" action="ppaction://hlinksldjump"/>
            <a:extLst>
              <a:ext uri="{FF2B5EF4-FFF2-40B4-BE49-F238E27FC236}">
                <a16:creationId xmlns:a16="http://schemas.microsoft.com/office/drawing/2014/main" id="{5CBBE168-0185-7987-011A-000C65261B5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50639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9" name="Google Shape;429;p41"/>
          <p:cNvPicPr preferRelativeResize="0"/>
          <p:nvPr/>
        </p:nvPicPr>
        <p:blipFill rotWithShape="1">
          <a:blip r:embed="rId3">
            <a:alphaModFix/>
          </a:blip>
          <a:srcRect/>
          <a:stretch/>
        </p:blipFill>
        <p:spPr>
          <a:xfrm>
            <a:off x="6356880" y="1258998"/>
            <a:ext cx="4844520" cy="4541990"/>
          </a:xfrm>
          <a:prstGeom prst="rect">
            <a:avLst/>
          </a:prstGeom>
          <a:noFill/>
          <a:ln>
            <a:noFill/>
          </a:ln>
        </p:spPr>
      </p:pic>
      <p:sp>
        <p:nvSpPr>
          <p:cNvPr id="430" name="Google Shape;430;p41"/>
          <p:cNvSpPr txBox="1"/>
          <p:nvPr/>
        </p:nvSpPr>
        <p:spPr>
          <a:xfrm>
            <a:off x="1077348" y="1258998"/>
            <a:ext cx="4681694" cy="22159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Quindi, aumentando il valore di R, aumenta il prodotto RC e la frequenza di taglio diminuisce. Per questo motivo la curva relativa a R = 100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risulta spostata verso frequenze più basse, mentre quella relativa a R = 1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è spostata verso frequenze più alte.</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Il confronto tra le tre curve mostra quindi che la resistenza R determina direttamente la posizione della frequenza di taglio: </a:t>
            </a:r>
            <a:r>
              <a:rPr lang="it-IT" i="1" dirty="0">
                <a:latin typeface="Segoe UI" panose="020B0502040204020203" pitchFamily="34" charset="0"/>
                <a:cs typeface="Segoe UI" panose="020B0502040204020203" pitchFamily="34" charset="0"/>
                <a:sym typeface="Libre Franklin"/>
              </a:rPr>
              <a:t>valori più alti di R anticipano il passaggio del segnale a frequenze inferiori, mentre valori più bassi richiedono frequenze più elevate prima che il filtro lasci passare il segnale con attenuazione ridotta.</a:t>
            </a:r>
            <a:endParaRPr i="1" dirty="0">
              <a:latin typeface="Segoe UI" panose="020B0502040204020203" pitchFamily="34" charset="0"/>
              <a:cs typeface="Segoe UI" panose="020B0502040204020203" pitchFamily="34" charset="0"/>
              <a:sym typeface="Garamond"/>
            </a:endParaRPr>
          </a:p>
        </p:txBody>
      </p:sp>
      <p:pic>
        <p:nvPicPr>
          <p:cNvPr id="2" name="Immagine 1">
            <a:extLst>
              <a:ext uri="{FF2B5EF4-FFF2-40B4-BE49-F238E27FC236}">
                <a16:creationId xmlns:a16="http://schemas.microsoft.com/office/drawing/2014/main" id="{710D31D1-4308-4C7B-7FD4-9F47A9972F1F}"/>
              </a:ext>
            </a:extLst>
          </p:cNvPr>
          <p:cNvPicPr>
            <a:picLocks noChangeAspect="1"/>
          </p:cNvPicPr>
          <p:nvPr/>
        </p:nvPicPr>
        <p:blipFill>
          <a:blip r:embed="rId4"/>
          <a:stretch>
            <a:fillRect/>
          </a:stretch>
        </p:blipFill>
        <p:spPr>
          <a:xfrm>
            <a:off x="1077348" y="3838181"/>
            <a:ext cx="4719445" cy="2312971"/>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DCF7FC3-A14E-47AF-1B4F-6B4C823574E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45</a:t>
            </a:fld>
            <a:endParaRPr lang="it-IT"/>
          </a:p>
        </p:txBody>
      </p:sp>
    </p:spTree>
    <p:extLst>
      <p:ext uri="{BB962C8B-B14F-4D97-AF65-F5344CB8AC3E}">
        <p14:creationId xmlns:p14="http://schemas.microsoft.com/office/powerpoint/2010/main" val="1599280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62BB083-0BE2-AD6A-A160-756AB119A0C5}"/>
              </a:ext>
            </a:extLst>
          </p:cNvPr>
          <p:cNvPicPr>
            <a:picLocks noChangeAspect="1"/>
          </p:cNvPicPr>
          <p:nvPr/>
        </p:nvPicPr>
        <p:blipFill>
          <a:blip r:embed="rId2"/>
          <a:stretch>
            <a:fillRect/>
          </a:stretch>
        </p:blipFill>
        <p:spPr>
          <a:xfrm>
            <a:off x="553433" y="712622"/>
            <a:ext cx="11085133" cy="5432756"/>
          </a:xfrm>
          <a:prstGeom prst="rect">
            <a:avLst/>
          </a:prstGeom>
        </p:spPr>
      </p:pic>
      <p:sp>
        <p:nvSpPr>
          <p:cNvPr id="3" name="Segnaposto numero diapositiva 2">
            <a:extLst>
              <a:ext uri="{FF2B5EF4-FFF2-40B4-BE49-F238E27FC236}">
                <a16:creationId xmlns:a16="http://schemas.microsoft.com/office/drawing/2014/main" id="{97B57BD4-3286-D8AC-3D65-D707CB7C1B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46</a:t>
            </a:fld>
            <a:endParaRPr lang="it-IT"/>
          </a:p>
        </p:txBody>
      </p:sp>
    </p:spTree>
    <p:extLst>
      <p:ext uri="{BB962C8B-B14F-4D97-AF65-F5344CB8AC3E}">
        <p14:creationId xmlns:p14="http://schemas.microsoft.com/office/powerpoint/2010/main" val="1581049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42"/>
          <p:cNvSpPr txBox="1"/>
          <p:nvPr/>
        </p:nvSpPr>
        <p:spPr>
          <a:xfrm>
            <a:off x="1088301" y="756125"/>
            <a:ext cx="505137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C </a:t>
            </a:r>
            <a:endParaRPr dirty="0">
              <a:sym typeface="Libre Franklin SemiBold"/>
            </a:endParaRPr>
          </a:p>
        </p:txBody>
      </p:sp>
      <p:sp>
        <p:nvSpPr>
          <p:cNvPr id="437" name="Google Shape;437;p42"/>
          <p:cNvSpPr txBox="1"/>
          <p:nvPr/>
        </p:nvSpPr>
        <p:spPr>
          <a:xfrm>
            <a:off x="1088301" y="1370525"/>
            <a:ext cx="10052279"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Dopo aver analizzato l’effetto della variazione della resistenza R, si passa ora allo studio della variazione della capacità C nel filtro passa-alto passivo.</a:t>
            </a:r>
            <a:endParaRPr b="0"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In questa simulazione la resistenza viene mantenuta costante 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a:t>
            </a:r>
            <a:r>
              <a:rPr lang="it-IT" b="0" i="1" u="sng" dirty="0">
                <a:latin typeface="Segoe UI" panose="020B0502040204020203" pitchFamily="34" charset="0"/>
                <a:cs typeface="Segoe UI" panose="020B0502040204020203" pitchFamily="34" charset="0"/>
                <a:sym typeface="Libre Franklin"/>
              </a:rPr>
              <a:t>mentre il condensatore assume tre valori diversi: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e 1 µF. Nel grafico di Bode sono rappresentate le tre risposte: la curva rossa corrisponde al circuito con C =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blu corrisponde al circuito con C =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verde corrisponde a quello con C = 1 µF.</a:t>
            </a:r>
            <a:endParaRPr b="0" i="1" u="sng" dirty="0">
              <a:latin typeface="Segoe UI" panose="020B0502040204020203" pitchFamily="34" charset="0"/>
              <a:cs typeface="Segoe UI" panose="020B0502040204020203" pitchFamily="34" charset="0"/>
              <a:sym typeface="Libre Franklin"/>
            </a:endParaRPr>
          </a:p>
        </p:txBody>
      </p:sp>
      <p:pic>
        <p:nvPicPr>
          <p:cNvPr id="3" name="Immagine 2">
            <a:extLst>
              <a:ext uri="{FF2B5EF4-FFF2-40B4-BE49-F238E27FC236}">
                <a16:creationId xmlns:a16="http://schemas.microsoft.com/office/drawing/2014/main" id="{F3ED6F13-FE56-0502-B27C-353C36E87EBC}"/>
              </a:ext>
            </a:extLst>
          </p:cNvPr>
          <p:cNvPicPr>
            <a:picLocks noChangeAspect="1"/>
          </p:cNvPicPr>
          <p:nvPr/>
        </p:nvPicPr>
        <p:blipFill>
          <a:blip r:embed="rId3"/>
          <a:stretch>
            <a:fillRect/>
          </a:stretch>
        </p:blipFill>
        <p:spPr>
          <a:xfrm>
            <a:off x="1088301" y="2618944"/>
            <a:ext cx="7184610" cy="3521134"/>
          </a:xfrm>
          <a:prstGeom prst="rect">
            <a:avLst/>
          </a:prstGeom>
          <a:ln>
            <a:solidFill>
              <a:schemeClr val="tx1"/>
            </a:solidFill>
          </a:ln>
        </p:spPr>
      </p:pic>
      <p:grpSp>
        <p:nvGrpSpPr>
          <p:cNvPr id="4" name="Gruppo 3">
            <a:extLst>
              <a:ext uri="{FF2B5EF4-FFF2-40B4-BE49-F238E27FC236}">
                <a16:creationId xmlns:a16="http://schemas.microsoft.com/office/drawing/2014/main" id="{62E061FD-1A5C-9B80-789A-508102AE275A}"/>
              </a:ext>
            </a:extLst>
          </p:cNvPr>
          <p:cNvGrpSpPr/>
          <p:nvPr/>
        </p:nvGrpSpPr>
        <p:grpSpPr>
          <a:xfrm>
            <a:off x="8210336" y="3343013"/>
            <a:ext cx="2796019" cy="1807636"/>
            <a:chOff x="8189364" y="2739006"/>
            <a:chExt cx="2796019" cy="1807636"/>
          </a:xfrm>
        </p:grpSpPr>
        <p:sp>
          <p:nvSpPr>
            <p:cNvPr id="5" name="Google Shape;421;p40">
              <a:extLst>
                <a:ext uri="{FF2B5EF4-FFF2-40B4-BE49-F238E27FC236}">
                  <a16:creationId xmlns:a16="http://schemas.microsoft.com/office/drawing/2014/main" id="{42877EDB-9AE2-A5D5-5F4C-46CB03D5D93E}"/>
                </a:ext>
              </a:extLst>
            </p:cNvPr>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BB270C3-CAAA-F973-995E-E1835636BC6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4"/>
                  <a:stretch>
                    <a:fillRect/>
                  </a:stretch>
                </a:blipFill>
              </p:spPr>
              <p:txBody>
                <a:bodyPr/>
                <a:lstStyle/>
                <a:p>
                  <a:r>
                    <a:rPr lang="it-IT">
                      <a:noFill/>
                    </a:rPr>
                    <a:t> </a:t>
                  </a:r>
                </a:p>
              </p:txBody>
            </p:sp>
          </mc:Fallback>
        </mc:AlternateContent>
      </p:grpSp>
      <p:sp>
        <p:nvSpPr>
          <p:cNvPr id="7" name="Segnaposto numero diapositiva 6">
            <a:extLst>
              <a:ext uri="{FF2B5EF4-FFF2-40B4-BE49-F238E27FC236}">
                <a16:creationId xmlns:a16="http://schemas.microsoft.com/office/drawing/2014/main" id="{515EAE6F-0FCC-5DEF-57A5-BDF648E30F4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47</a:t>
            </a:fld>
            <a:endParaRPr lang="it-IT"/>
          </a:p>
        </p:txBody>
      </p:sp>
    </p:spTree>
    <p:extLst>
      <p:ext uri="{BB962C8B-B14F-4D97-AF65-F5344CB8AC3E}">
        <p14:creationId xmlns:p14="http://schemas.microsoft.com/office/powerpoint/2010/main" val="2388341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43"/>
          <p:cNvPicPr preferRelativeResize="0"/>
          <p:nvPr/>
        </p:nvPicPr>
        <p:blipFill rotWithShape="1">
          <a:blip r:embed="rId3">
            <a:alphaModFix/>
          </a:blip>
          <a:srcRect/>
          <a:stretch/>
        </p:blipFill>
        <p:spPr>
          <a:xfrm>
            <a:off x="1176873" y="1512989"/>
            <a:ext cx="4919127" cy="2410810"/>
          </a:xfrm>
          <a:prstGeom prst="rect">
            <a:avLst/>
          </a:prstGeom>
          <a:noFill/>
          <a:ln>
            <a:solidFill>
              <a:schemeClr val="tx1"/>
            </a:solidFill>
          </a:ln>
        </p:spPr>
      </p:pic>
      <p:pic>
        <p:nvPicPr>
          <p:cNvPr id="446" name="Google Shape;446;p43"/>
          <p:cNvPicPr preferRelativeResize="0"/>
          <p:nvPr/>
        </p:nvPicPr>
        <p:blipFill rotWithShape="1">
          <a:blip r:embed="rId4">
            <a:alphaModFix/>
          </a:blip>
          <a:srcRect/>
          <a:stretch/>
        </p:blipFill>
        <p:spPr>
          <a:xfrm>
            <a:off x="6351161" y="1512989"/>
            <a:ext cx="4850239" cy="3720465"/>
          </a:xfrm>
          <a:prstGeom prst="rect">
            <a:avLst/>
          </a:prstGeom>
          <a:noFill/>
          <a:ln>
            <a:solidFill>
              <a:schemeClr val="tx1"/>
            </a:solidFill>
          </a:ln>
        </p:spPr>
      </p:pic>
      <p:sp>
        <p:nvSpPr>
          <p:cNvPr id="447" name="Google Shape;447;p43"/>
          <p:cNvSpPr txBox="1"/>
          <p:nvPr/>
        </p:nvSpPr>
        <p:spPr>
          <a:xfrm>
            <a:off x="1059223" y="808625"/>
            <a:ext cx="10102329"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Quindi aumentando il valore di C aumenta il prodotto RC e la frequenza di taglio diminuisce. Il comportamento è quindi analogo a quello osservato variando R: aumentando uno dei due parametri del prodotto RC, la curva di Bode si sposta verso frequenze più basse.</a:t>
            </a:r>
            <a:endParaRPr dirty="0">
              <a:latin typeface="Segoe UI" panose="020B0502040204020203" pitchFamily="34" charset="0"/>
              <a:cs typeface="Segoe UI" panose="020B0502040204020203" pitchFamily="34" charset="0"/>
              <a:sym typeface="Libre Franklin"/>
            </a:endParaRPr>
          </a:p>
        </p:txBody>
      </p:sp>
      <p:sp>
        <p:nvSpPr>
          <p:cNvPr id="448" name="Google Shape;448;p43"/>
          <p:cNvSpPr txBox="1"/>
          <p:nvPr/>
        </p:nvSpPr>
        <p:spPr>
          <a:xfrm>
            <a:off x="1059223" y="4198393"/>
            <a:ext cx="494025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Osservazione:</a:t>
            </a:r>
            <a:endParaRPr b="1"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Dal punto di vista pratico, però, è più conveniente rendere variabile la resistenza, ad esempio tramite un trimmer</a:t>
            </a:r>
            <a:r>
              <a:rPr lang="it-IT" dirty="0">
                <a:latin typeface="Segoe UI" panose="020B0502040204020203" pitchFamily="34" charset="0"/>
                <a:cs typeface="Segoe UI" panose="020B0502040204020203" pitchFamily="34" charset="0"/>
                <a:sym typeface="Libre Franklin"/>
              </a:rPr>
              <a:t>, piuttosto che utilizzare un condensatore variabile. </a:t>
            </a:r>
            <a:br>
              <a:rPr lang="it-IT" dirty="0">
                <a:latin typeface="Segoe UI" panose="020B0502040204020203" pitchFamily="34" charset="0"/>
                <a:cs typeface="Segoe UI" panose="020B0502040204020203" pitchFamily="34" charset="0"/>
                <a:sym typeface="Libre Franklin"/>
              </a:rPr>
            </a:br>
            <a:br>
              <a:rPr lang="it-IT" b="1" dirty="0">
                <a:latin typeface="Segoe UI" panose="020B0502040204020203" pitchFamily="34" charset="0"/>
                <a:cs typeface="Segoe UI" panose="020B0502040204020203" pitchFamily="34" charset="0"/>
                <a:sym typeface="Libre Franklin"/>
              </a:rPr>
            </a:br>
            <a:r>
              <a:rPr lang="it-IT" b="1" dirty="0">
                <a:latin typeface="Segoe UI" panose="020B0502040204020203" pitchFamily="34" charset="0"/>
                <a:cs typeface="Segoe UI" panose="020B0502040204020203" pitchFamily="34" charset="0"/>
                <a:sym typeface="Libre Franklin"/>
              </a:rPr>
              <a:t>Nelle applicazioni reali, infatti, regolare una resistenza è generalmente più semplice, economico e preciso rispetto alla variazione della capacità del condensatore.</a:t>
            </a:r>
            <a:endParaRPr b="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E4193E2-AE3A-76CA-D34E-214A359473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48</a:t>
            </a:fld>
            <a:endParaRPr lang="it-IT"/>
          </a:p>
        </p:txBody>
      </p:sp>
    </p:spTree>
    <p:extLst>
      <p:ext uri="{BB962C8B-B14F-4D97-AF65-F5344CB8AC3E}">
        <p14:creationId xmlns:p14="http://schemas.microsoft.com/office/powerpoint/2010/main" val="2921619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2" name="Google Shape;462;p45"/>
          <p:cNvPicPr preferRelativeResize="0"/>
          <p:nvPr/>
        </p:nvPicPr>
        <p:blipFill rotWithShape="1">
          <a:blip r:embed="rId3">
            <a:alphaModFix/>
          </a:blip>
          <a:srcRect/>
          <a:stretch/>
        </p:blipFill>
        <p:spPr>
          <a:xfrm>
            <a:off x="1076588" y="2302012"/>
            <a:ext cx="4996037" cy="1998414"/>
          </a:xfrm>
          <a:prstGeom prst="rect">
            <a:avLst/>
          </a:prstGeom>
          <a:noFill/>
          <a:ln>
            <a:solidFill>
              <a:schemeClr val="tx1"/>
            </a:solidFill>
          </a:ln>
        </p:spPr>
      </p:pic>
      <p:sp>
        <p:nvSpPr>
          <p:cNvPr id="463" name="Google Shape;463;p45"/>
          <p:cNvSpPr txBox="1"/>
          <p:nvPr/>
        </p:nvSpPr>
        <p:spPr>
          <a:xfrm>
            <a:off x="1069597" y="1469864"/>
            <a:ext cx="10096150"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In questa prova il circuito RC viene alimentato con un segnale impulsivo Vin che commuta tra -1 V e +1 V. Nel grafico, la curva rossa rappresenta Vin, mentre la curva blu mostra l’andamento della tensione legata alla carica e scarica del condensatore.</a:t>
            </a:r>
            <a:endParaRPr b="1" dirty="0">
              <a:latin typeface="Segoe UI" panose="020B0502040204020203" pitchFamily="34" charset="0"/>
              <a:cs typeface="Segoe UI" panose="020B0502040204020203" pitchFamily="34" charset="0"/>
              <a:sym typeface="Garamond"/>
            </a:endParaRPr>
          </a:p>
        </p:txBody>
      </p:sp>
      <p:sp>
        <p:nvSpPr>
          <p:cNvPr id="464" name="Google Shape;464;p45"/>
          <p:cNvSpPr txBox="1"/>
          <p:nvPr/>
        </p:nvSpPr>
        <p:spPr>
          <a:xfrm>
            <a:off x="6131653" y="2467799"/>
            <a:ext cx="5069747" cy="92329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sym typeface="Libre Franklin"/>
              </a:rPr>
              <a:t> </a:t>
            </a:r>
            <a:r>
              <a:rPr lang="it-IT" dirty="0">
                <a:latin typeface="Segoe UI" panose="020B0502040204020203" pitchFamily="34" charset="0"/>
                <a:cs typeface="Segoe UI" panose="020B0502040204020203" pitchFamily="34" charset="0"/>
                <a:sym typeface="Libre Franklin"/>
              </a:rPr>
              <a:t>Il condensatore si oppone alle variazioni brusche di tensione: per questo non segue istantaneamente i salti della curva rossa, ma passa gradualmente da un livello all’altro. </a:t>
            </a:r>
            <a:r>
              <a:rPr lang="it-IT" i="1" dirty="0">
                <a:latin typeface="Segoe UI" panose="020B0502040204020203" pitchFamily="34" charset="0"/>
                <a:cs typeface="Segoe UI" panose="020B0502040204020203" pitchFamily="34" charset="0"/>
                <a:sym typeface="Libre Franklin"/>
              </a:rPr>
              <a:t>La velocità di carica e scarica dipende dalla costante di tempo:</a:t>
            </a:r>
            <a:endParaRPr i="1" dirty="0">
              <a:latin typeface="Segoe UI" panose="020B0502040204020203" pitchFamily="34" charset="0"/>
              <a:cs typeface="Segoe UI" panose="020B0502040204020203" pitchFamily="34" charset="0"/>
              <a:sym typeface="Garamond"/>
            </a:endParaRPr>
          </a:p>
        </p:txBody>
      </p:sp>
      <p:sp>
        <p:nvSpPr>
          <p:cNvPr id="466" name="Google Shape;466;p45"/>
          <p:cNvSpPr txBox="1"/>
          <p:nvPr/>
        </p:nvSpPr>
        <p:spPr>
          <a:xfrm>
            <a:off x="6212355" y="4063588"/>
            <a:ext cx="498904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maggiore è τ, più lenta sarà la risposta del condensatore.</a:t>
            </a:r>
            <a:endParaRPr dirty="0">
              <a:latin typeface="Segoe UI" panose="020B0502040204020203" pitchFamily="34" charset="0"/>
              <a:cs typeface="Segoe UI" panose="020B0502040204020203" pitchFamily="34" charset="0"/>
              <a:sym typeface="Libre Franklin"/>
            </a:endParaRPr>
          </a:p>
        </p:txBody>
      </p:sp>
      <p:sp>
        <p:nvSpPr>
          <p:cNvPr id="467" name="Google Shape;467;p45"/>
          <p:cNvSpPr txBox="1"/>
          <p:nvPr/>
        </p:nvSpPr>
        <p:spPr>
          <a:xfrm>
            <a:off x="1069597" y="756125"/>
            <a:ext cx="790662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Risposta al gradino (circuito RC)</a:t>
            </a:r>
            <a:endParaRPr>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3F8A4CFB-9EA3-4C57-435E-B36B5CEE3363}"/>
                  </a:ext>
                </a:extLst>
              </p:cNvPr>
              <p:cNvSpPr txBox="1"/>
              <p:nvPr/>
            </p:nvSpPr>
            <p:spPr>
              <a:xfrm>
                <a:off x="8321481" y="3619621"/>
                <a:ext cx="6127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a:latin typeface="Cambria Math" panose="02040503050406030204" pitchFamily="18" charset="0"/>
                        </a:rPr>
                        <m:t>𝑹𝑪</m:t>
                      </m:r>
                    </m:oMath>
                  </m:oMathPara>
                </a14:m>
                <a:endParaRPr lang="it-IT" b="1" dirty="0"/>
              </a:p>
            </p:txBody>
          </p:sp>
        </mc:Choice>
        <mc:Fallback xmlns="">
          <p:sp>
            <p:nvSpPr>
              <p:cNvPr id="2" name="CasellaDiTesto 1">
                <a:extLst>
                  <a:ext uri="{FF2B5EF4-FFF2-40B4-BE49-F238E27FC236}">
                    <a16:creationId xmlns:a16="http://schemas.microsoft.com/office/drawing/2014/main" id="{3F8A4CFB-9EA3-4C57-435E-B36B5CEE3363}"/>
                  </a:ext>
                </a:extLst>
              </p:cNvPr>
              <p:cNvSpPr txBox="1">
                <a:spLocks noRot="1" noChangeAspect="1" noMove="1" noResize="1" noEditPoints="1" noAdjustHandles="1" noChangeArrowheads="1" noChangeShapeType="1" noTextEdit="1"/>
              </p:cNvSpPr>
              <p:nvPr/>
            </p:nvSpPr>
            <p:spPr>
              <a:xfrm>
                <a:off x="8321481" y="3619621"/>
                <a:ext cx="612732" cy="215444"/>
              </a:xfrm>
              <a:prstGeom prst="rect">
                <a:avLst/>
              </a:prstGeom>
              <a:blipFill>
                <a:blip r:embed="rId4"/>
                <a:stretch>
                  <a:fillRect l="-2970" r="-3960" b="-8571"/>
                </a:stretch>
              </a:blipFill>
            </p:spPr>
            <p:txBody>
              <a:bodyPr/>
              <a:lstStyle/>
              <a:p>
                <a:r>
                  <a:rPr lang="it-IT">
                    <a:noFill/>
                  </a:rPr>
                  <a:t> </a:t>
                </a:r>
              </a:p>
            </p:txBody>
          </p:sp>
        </mc:Fallback>
      </mc:AlternateContent>
      <p:pic>
        <p:nvPicPr>
          <p:cNvPr id="3" name="Immagine 2">
            <a:extLst>
              <a:ext uri="{FF2B5EF4-FFF2-40B4-BE49-F238E27FC236}">
                <a16:creationId xmlns:a16="http://schemas.microsoft.com/office/drawing/2014/main" id="{BE242618-DBDA-E01F-98AE-D73B308FB55B}"/>
              </a:ext>
            </a:extLst>
          </p:cNvPr>
          <p:cNvPicPr>
            <a:picLocks noChangeAspect="1"/>
          </p:cNvPicPr>
          <p:nvPr/>
        </p:nvPicPr>
        <p:blipFill>
          <a:blip r:embed="rId5"/>
          <a:stretch>
            <a:fillRect/>
          </a:stretch>
        </p:blipFill>
        <p:spPr>
          <a:xfrm>
            <a:off x="1076588" y="4518463"/>
            <a:ext cx="7055430" cy="1629600"/>
          </a:xfrm>
          <a:prstGeom prst="rect">
            <a:avLst/>
          </a:prstGeom>
          <a:ln>
            <a:solidFill>
              <a:schemeClr val="tx1"/>
            </a:solidFill>
          </a:ln>
        </p:spPr>
      </p:pic>
      <p:sp>
        <p:nvSpPr>
          <p:cNvPr id="4" name="Segnaposto numero diapositiva 3">
            <a:extLst>
              <a:ext uri="{FF2B5EF4-FFF2-40B4-BE49-F238E27FC236}">
                <a16:creationId xmlns:a16="http://schemas.microsoft.com/office/drawing/2014/main" id="{2D085774-2915-6404-6147-6AE242E28D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49</a:t>
            </a:fld>
            <a:endParaRPr lang="it-IT"/>
          </a:p>
        </p:txBody>
      </p:sp>
      <p:sp>
        <p:nvSpPr>
          <p:cNvPr id="5" name="Freccia in giù 4">
            <a:hlinkClick r:id="rId6" action="ppaction://hlinksldjump"/>
            <a:extLst>
              <a:ext uri="{FF2B5EF4-FFF2-40B4-BE49-F238E27FC236}">
                <a16:creationId xmlns:a16="http://schemas.microsoft.com/office/drawing/2014/main" id="{F56F1528-E7BD-198B-FAC1-2E51367BF48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080728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p:nvPr/>
        </p:nvSpPr>
        <p:spPr>
          <a:xfrm>
            <a:off x="6635690" y="1029942"/>
            <a:ext cx="3976381" cy="738633"/>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sym typeface="Libre Franklin"/>
              </a:rPr>
              <a:t>Il circuito RC passa-alto è alimentato con un segnale Vin a gradino, rappresentato in rosso, che commuta tra -1 V e +1 V. La variazione applicata è quindi:</a:t>
            </a:r>
            <a:endParaRPr dirty="0">
              <a:latin typeface="Segoe UI" panose="020B0502040204020203" pitchFamily="34" charset="0"/>
              <a:cs typeface="Segoe UI" panose="020B0502040204020203" pitchFamily="34" charset="0"/>
              <a:sym typeface="Libre Franklin"/>
            </a:endParaRPr>
          </a:p>
        </p:txBody>
      </p:sp>
      <p:sp>
        <p:nvSpPr>
          <p:cNvPr id="485" name="Google Shape;485;p47"/>
          <p:cNvSpPr txBox="1"/>
          <p:nvPr/>
        </p:nvSpPr>
        <p:spPr>
          <a:xfrm>
            <a:off x="1047226" y="3273705"/>
            <a:ext cx="10097548"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Il condensatore non può variare istantaneamente la tensione ai suoi capi; per questo, a ogni fronte del segnale, entra in una fase di carica o scarica.</a:t>
            </a: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Vin passa da -1 V a +1 V, il condensatore si carica: la curva blu cresce progressivamente con andamento esponenziale. </a:t>
            </a:r>
            <a:br>
              <a:rPr lang="it-IT" i="1" dirty="0">
                <a:latin typeface="Segoe UI" panose="020B0502040204020203" pitchFamily="34" charset="0"/>
                <a:cs typeface="Segoe UI" panose="020B0502040204020203" pitchFamily="34" charset="0"/>
                <a:sym typeface="Libre Franklin"/>
              </a:rPr>
            </a:br>
            <a:endParaRPr i="1"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invece Vin passa da +1 V a -1 V, il condensatore si scarica: la curva blu decresce gradualmente verso il nuovo valore.</a:t>
            </a:r>
            <a:endParaRPr i="1" dirty="0">
              <a:latin typeface="Segoe UI" panose="020B0502040204020203" pitchFamily="34" charset="0"/>
              <a:cs typeface="Segoe UI" panose="020B0502040204020203" pitchFamily="34" charset="0"/>
              <a:sym typeface="Libre Franklin"/>
            </a:endParaRPr>
          </a:p>
        </p:txBody>
      </p:sp>
      <p:sp>
        <p:nvSpPr>
          <p:cNvPr id="486" name="Google Shape;486;p47"/>
          <p:cNvSpPr txBox="1"/>
          <p:nvPr/>
        </p:nvSpPr>
        <p:spPr>
          <a:xfrm>
            <a:off x="1047224" y="4490724"/>
            <a:ext cx="10097547"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La curva verde evidenzia invece i picchi generati nei fronti del segnale: il condensatore trasferisce inizialmente la variazione rapida, poi il valore decade verso 0 V attraverso la resistenza.</a:t>
            </a:r>
            <a:endParaRPr dirty="0">
              <a:latin typeface="Segoe UI" panose="020B0502040204020203" pitchFamily="34" charset="0"/>
              <a:cs typeface="Segoe UI" panose="020B0502040204020203" pitchFamily="34" charset="0"/>
              <a:sym typeface="Libre Franklin"/>
            </a:endParaRPr>
          </a:p>
        </p:txBody>
      </p:sp>
      <p:sp>
        <p:nvSpPr>
          <p:cNvPr id="487" name="Google Shape;487;p47"/>
          <p:cNvSpPr txBox="1"/>
          <p:nvPr/>
        </p:nvSpPr>
        <p:spPr>
          <a:xfrm>
            <a:off x="1047225" y="5179350"/>
            <a:ext cx="504877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Con R = 10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e C = 100 </a:t>
            </a:r>
            <a:r>
              <a:rPr lang="it-IT" b="1" dirty="0" err="1">
                <a:latin typeface="Segoe UI" panose="020B0502040204020203" pitchFamily="34" charset="0"/>
                <a:cs typeface="Segoe UI" panose="020B0502040204020203" pitchFamily="34" charset="0"/>
                <a:sym typeface="Libre Franklin"/>
              </a:rPr>
              <a:t>nF</a:t>
            </a:r>
            <a:r>
              <a:rPr lang="it-IT" b="1" dirty="0">
                <a:latin typeface="Segoe UI" panose="020B0502040204020203" pitchFamily="34" charset="0"/>
                <a:cs typeface="Segoe UI" panose="020B0502040204020203" pitchFamily="34" charset="0"/>
                <a:sym typeface="Libre Franklin"/>
              </a:rPr>
              <a:t> si ottiene: </a:t>
            </a:r>
            <a:endParaRPr b="1" dirty="0">
              <a:latin typeface="Segoe UI" panose="020B0502040204020203" pitchFamily="34" charset="0"/>
              <a:cs typeface="Segoe UI" panose="020B0502040204020203" pitchFamily="34" charset="0"/>
              <a:sym typeface="Libre Franklin"/>
            </a:endParaRPr>
          </a:p>
        </p:txBody>
      </p:sp>
      <p:sp>
        <p:nvSpPr>
          <p:cNvPr id="489" name="Google Shape;489;p47"/>
          <p:cNvSpPr txBox="1"/>
          <p:nvPr/>
        </p:nvSpPr>
        <p:spPr>
          <a:xfrm>
            <a:off x="1047225" y="5641378"/>
            <a:ext cx="10097547"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 il grafico mostra che il condensatore reagisce ai salti di Vin caricandosi e scaricandosi in modo esponenziale, con una rapidità determinata dal prodotto RC.</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CDA0A2EF-A06B-1BFB-4110-DEB4515279E8}"/>
              </a:ext>
            </a:extLst>
          </p:cNvPr>
          <p:cNvPicPr>
            <a:picLocks noChangeAspect="1"/>
          </p:cNvPicPr>
          <p:nvPr/>
        </p:nvPicPr>
        <p:blipFill>
          <a:blip r:embed="rId3"/>
          <a:stretch>
            <a:fillRect/>
          </a:stretch>
        </p:blipFill>
        <p:spPr>
          <a:xfrm>
            <a:off x="1047226" y="662654"/>
            <a:ext cx="4997042" cy="2449019"/>
          </a:xfrm>
          <a:prstGeom prst="rect">
            <a:avLst/>
          </a:prstGeom>
          <a:ln>
            <a:solidFill>
              <a:schemeClr val="tx1"/>
            </a:solid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967C1-0AB4-D7B9-0AD6-2498EADC5778}"/>
                  </a:ext>
                </a:extLst>
              </p:cNvPr>
              <p:cNvSpPr txBox="1"/>
              <p:nvPr/>
            </p:nvSpPr>
            <p:spPr>
              <a:xfrm>
                <a:off x="7687439" y="2066918"/>
                <a:ext cx="18728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600" smtClean="0">
                          <a:latin typeface="Cambria Math" panose="02040503050406030204" pitchFamily="18" charset="0"/>
                        </a:rPr>
                        <m:t>Δ</m:t>
                      </m:r>
                      <m:r>
                        <m:rPr>
                          <m:sty m:val="p"/>
                        </m:rPr>
                        <a:rPr lang="it-IT" sz="1600" b="0" i="0" smtClean="0">
                          <a:latin typeface="Cambria Math" panose="02040503050406030204" pitchFamily="18" charset="0"/>
                        </a:rPr>
                        <m:t>V</m:t>
                      </m:r>
                      <m:r>
                        <a:rPr lang="it-IT" sz="1600" b="0" i="0" smtClean="0">
                          <a:latin typeface="Cambria Math" panose="02040503050406030204" pitchFamily="18" charset="0"/>
                        </a:rPr>
                        <m:t>=1−</m:t>
                      </m:r>
                      <m:d>
                        <m:dPr>
                          <m:ctrlPr>
                            <a:rPr lang="it-IT" sz="1600" b="0" i="1" smtClean="0">
                              <a:latin typeface="Cambria Math" panose="02040503050406030204" pitchFamily="18" charset="0"/>
                            </a:rPr>
                          </m:ctrlPr>
                        </m:dPr>
                        <m:e>
                          <m:r>
                            <a:rPr lang="it-IT" sz="1600" b="0" i="0" smtClean="0">
                              <a:latin typeface="Cambria Math" panose="02040503050406030204" pitchFamily="18" charset="0"/>
                            </a:rPr>
                            <m:t>−1</m:t>
                          </m:r>
                        </m:e>
                      </m:d>
                      <m:r>
                        <a:rPr lang="it-IT" sz="1600" b="0" i="0" smtClean="0">
                          <a:latin typeface="Cambria Math" panose="02040503050406030204" pitchFamily="18" charset="0"/>
                        </a:rPr>
                        <m:t>=2</m:t>
                      </m:r>
                      <m:r>
                        <m:rPr>
                          <m:sty m:val="p"/>
                        </m:rPr>
                        <a:rPr lang="it-IT" sz="1600" b="0" i="0" smtClean="0">
                          <a:latin typeface="Cambria Math" panose="02040503050406030204" pitchFamily="18" charset="0"/>
                        </a:rPr>
                        <m:t>V</m:t>
                      </m:r>
                    </m:oMath>
                  </m:oMathPara>
                </a14:m>
                <a:endParaRPr lang="it-IT" sz="1600" dirty="0"/>
              </a:p>
            </p:txBody>
          </p:sp>
        </mc:Choice>
        <mc:Fallback xmlns="">
          <p:sp>
            <p:nvSpPr>
              <p:cNvPr id="3" name="CasellaDiTesto 2">
                <a:extLst>
                  <a:ext uri="{FF2B5EF4-FFF2-40B4-BE49-F238E27FC236}">
                    <a16:creationId xmlns:a16="http://schemas.microsoft.com/office/drawing/2014/main" id="{76C967C1-0AB4-D7B9-0AD6-2498EADC5778}"/>
                  </a:ext>
                </a:extLst>
              </p:cNvPr>
              <p:cNvSpPr txBox="1">
                <a:spLocks noRot="1" noChangeAspect="1" noMove="1" noResize="1" noEditPoints="1" noAdjustHandles="1" noChangeArrowheads="1" noChangeShapeType="1" noTextEdit="1"/>
              </p:cNvSpPr>
              <p:nvPr/>
            </p:nvSpPr>
            <p:spPr>
              <a:xfrm>
                <a:off x="7687439" y="2066918"/>
                <a:ext cx="1872885" cy="246221"/>
              </a:xfrm>
              <a:prstGeom prst="rect">
                <a:avLst/>
              </a:prstGeom>
              <a:blipFill>
                <a:blip r:embed="rId4"/>
                <a:stretch>
                  <a:fillRect l="-1629" r="-1629" b="-1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71817B25-5CAA-4117-3CFC-8F531CED5719}"/>
                  </a:ext>
                </a:extLst>
              </p:cNvPr>
              <p:cNvSpPr txBox="1"/>
              <p:nvPr/>
            </p:nvSpPr>
            <p:spPr>
              <a:xfrm>
                <a:off x="4013464" y="5256279"/>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4" name="CasellaDiTesto 3">
                <a:extLst>
                  <a:ext uri="{FF2B5EF4-FFF2-40B4-BE49-F238E27FC236}">
                    <a16:creationId xmlns:a16="http://schemas.microsoft.com/office/drawing/2014/main" id="{71817B25-5CAA-4117-3CFC-8F531CED5719}"/>
                  </a:ext>
                </a:extLst>
              </p:cNvPr>
              <p:cNvSpPr txBox="1">
                <a:spLocks noRot="1" noChangeAspect="1" noMove="1" noResize="1" noEditPoints="1" noAdjustHandles="1" noChangeArrowheads="1" noChangeShapeType="1" noTextEdit="1"/>
              </p:cNvSpPr>
              <p:nvPr/>
            </p:nvSpPr>
            <p:spPr>
              <a:xfrm>
                <a:off x="4013464" y="5256279"/>
                <a:ext cx="739370" cy="215444"/>
              </a:xfrm>
              <a:prstGeom prst="rect">
                <a:avLst/>
              </a:prstGeom>
              <a:blipFill>
                <a:blip r:embed="rId5"/>
                <a:stretch>
                  <a:fillRect l="-1639" r="-3279" b="-5556"/>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8FC6B5C3-BF39-1A40-4982-C25F427464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50</a:t>
            </a:fld>
            <a:endParaRPr lang="it-IT"/>
          </a:p>
        </p:txBody>
      </p:sp>
    </p:spTree>
    <p:extLst>
      <p:ext uri="{BB962C8B-B14F-4D97-AF65-F5344CB8AC3E}">
        <p14:creationId xmlns:p14="http://schemas.microsoft.com/office/powerpoint/2010/main" val="2290889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138CEE1-B924-43C5-C4AD-7F76CAAA21A9}"/>
              </a:ext>
            </a:extLst>
          </p:cNvPr>
          <p:cNvPicPr>
            <a:picLocks noChangeAspect="1"/>
          </p:cNvPicPr>
          <p:nvPr/>
        </p:nvPicPr>
        <p:blipFill>
          <a:blip r:embed="rId2"/>
          <a:stretch>
            <a:fillRect/>
          </a:stretch>
        </p:blipFill>
        <p:spPr>
          <a:xfrm>
            <a:off x="490066" y="681567"/>
            <a:ext cx="11211867" cy="5494866"/>
          </a:xfrm>
          <a:prstGeom prst="rect">
            <a:avLst/>
          </a:prstGeom>
          <a:ln>
            <a:solidFill>
              <a:schemeClr val="tx1"/>
            </a:solidFill>
          </a:ln>
        </p:spPr>
      </p:pic>
      <p:sp>
        <p:nvSpPr>
          <p:cNvPr id="3" name="CasellaDiTesto 2">
            <a:extLst>
              <a:ext uri="{FF2B5EF4-FFF2-40B4-BE49-F238E27FC236}">
                <a16:creationId xmlns:a16="http://schemas.microsoft.com/office/drawing/2014/main" id="{E9F09555-2443-1F06-6009-CD73386ABE43}"/>
              </a:ext>
            </a:extLst>
          </p:cNvPr>
          <p:cNvSpPr txBox="1"/>
          <p:nvPr/>
        </p:nvSpPr>
        <p:spPr>
          <a:xfrm>
            <a:off x="6350468" y="945859"/>
            <a:ext cx="985705" cy="307777"/>
          </a:xfrm>
          <a:prstGeom prst="rect">
            <a:avLst/>
          </a:prstGeom>
          <a:noFill/>
        </p:spPr>
        <p:txBody>
          <a:bodyPr wrap="square">
            <a:spAutoFit/>
          </a:bodyPr>
          <a:lstStyle/>
          <a:p>
            <a:r>
              <a:rPr lang="it-IT" b="1" i="1" dirty="0" err="1">
                <a:solidFill>
                  <a:srgbClr val="5CFF61"/>
                </a:solidFill>
                <a:sym typeface="Libre Franklin"/>
              </a:rPr>
              <a:t>Vout</a:t>
            </a:r>
            <a:endParaRPr lang="it-IT" b="1" dirty="0">
              <a:solidFill>
                <a:srgbClr val="5CFF61"/>
              </a:solidFill>
            </a:endParaRPr>
          </a:p>
        </p:txBody>
      </p:sp>
      <p:sp>
        <p:nvSpPr>
          <p:cNvPr id="4" name="CasellaDiTesto 3">
            <a:extLst>
              <a:ext uri="{FF2B5EF4-FFF2-40B4-BE49-F238E27FC236}">
                <a16:creationId xmlns:a16="http://schemas.microsoft.com/office/drawing/2014/main" id="{7F52B79A-1C8A-F994-E482-8111F5DCE306}"/>
              </a:ext>
            </a:extLst>
          </p:cNvPr>
          <p:cNvSpPr txBox="1"/>
          <p:nvPr/>
        </p:nvSpPr>
        <p:spPr>
          <a:xfrm>
            <a:off x="1916886" y="1799104"/>
            <a:ext cx="985705" cy="307777"/>
          </a:xfrm>
          <a:prstGeom prst="rect">
            <a:avLst/>
          </a:prstGeom>
          <a:noFill/>
        </p:spPr>
        <p:txBody>
          <a:bodyPr wrap="square">
            <a:spAutoFit/>
          </a:bodyPr>
          <a:lstStyle/>
          <a:p>
            <a:r>
              <a:rPr lang="it-IT" b="1" i="1" dirty="0">
                <a:solidFill>
                  <a:srgbClr val="FF0000"/>
                </a:solidFill>
                <a:sym typeface="Libre Franklin"/>
              </a:rPr>
              <a:t>Vin</a:t>
            </a:r>
            <a:endParaRPr lang="it-IT" b="1" dirty="0">
              <a:solidFill>
                <a:srgbClr val="FF0000"/>
              </a:solidFill>
            </a:endParaRPr>
          </a:p>
        </p:txBody>
      </p:sp>
      <p:sp>
        <p:nvSpPr>
          <p:cNvPr id="5" name="CasellaDiTesto 4">
            <a:extLst>
              <a:ext uri="{FF2B5EF4-FFF2-40B4-BE49-F238E27FC236}">
                <a16:creationId xmlns:a16="http://schemas.microsoft.com/office/drawing/2014/main" id="{B9CC99C2-C4D5-4C0E-B124-434584328BEF}"/>
              </a:ext>
            </a:extLst>
          </p:cNvPr>
          <p:cNvSpPr txBox="1"/>
          <p:nvPr/>
        </p:nvSpPr>
        <p:spPr>
          <a:xfrm>
            <a:off x="3775047" y="2948396"/>
            <a:ext cx="985705" cy="307777"/>
          </a:xfrm>
          <a:prstGeom prst="rect">
            <a:avLst/>
          </a:prstGeom>
          <a:noFill/>
        </p:spPr>
        <p:txBody>
          <a:bodyPr wrap="square">
            <a:spAutoFit/>
          </a:bodyPr>
          <a:lstStyle/>
          <a:p>
            <a:r>
              <a:rPr lang="it-IT" b="1" i="1" dirty="0" err="1">
                <a:solidFill>
                  <a:srgbClr val="0202FF"/>
                </a:solidFill>
                <a:sym typeface="Libre Franklin"/>
              </a:rPr>
              <a:t>Vc</a:t>
            </a:r>
            <a:endParaRPr lang="it-IT" b="1" dirty="0">
              <a:solidFill>
                <a:srgbClr val="0202FF"/>
              </a:solidFill>
            </a:endParaRPr>
          </a:p>
        </p:txBody>
      </p:sp>
      <p:sp>
        <p:nvSpPr>
          <p:cNvPr id="6" name="Segnaposto numero diapositiva 5">
            <a:extLst>
              <a:ext uri="{FF2B5EF4-FFF2-40B4-BE49-F238E27FC236}">
                <a16:creationId xmlns:a16="http://schemas.microsoft.com/office/drawing/2014/main" id="{5A187F0D-0287-7B23-1779-FFC9FACF126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51</a:t>
            </a:fld>
            <a:endParaRPr lang="it-IT"/>
          </a:p>
        </p:txBody>
      </p:sp>
    </p:spTree>
    <p:extLst>
      <p:ext uri="{BB962C8B-B14F-4D97-AF65-F5344CB8AC3E}">
        <p14:creationId xmlns:p14="http://schemas.microsoft.com/office/powerpoint/2010/main" val="1868149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8"/>
          <p:cNvSpPr txBox="1"/>
          <p:nvPr/>
        </p:nvSpPr>
        <p:spPr>
          <a:xfrm>
            <a:off x="1056314" y="744316"/>
            <a:ext cx="10079372"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sulla carica e scarica del condensatore</a:t>
            </a:r>
            <a:endParaRPr dirty="0">
              <a:sym typeface="Libre Franklin SemiBold"/>
            </a:endParaRPr>
          </a:p>
        </p:txBody>
      </p:sp>
      <p:sp>
        <p:nvSpPr>
          <p:cNvPr id="497" name="Google Shape;497;p48"/>
          <p:cNvSpPr txBox="1"/>
          <p:nvPr/>
        </p:nvSpPr>
        <p:spPr>
          <a:xfrm>
            <a:off x="1056314" y="1480200"/>
            <a:ext cx="10079372"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viene confrontata la risposta del condensatore quando il segnale Vin commuta tra -1 V e +1 V. La curva rossa rappresenta il segnale di ingresso, mentre le curve blu e verde mostrano la risposta della tensione del condensatore con due valori diversi di resistenza.</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Nel circuito principale è presente una resistenza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mentre nel circuito modificato viene usata una resistenza più bassa, pari a R = 1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La capacità rimane costante a C = 100 </a:t>
            </a:r>
            <a:r>
              <a:rPr lang="it-IT"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p:txBody>
      </p:sp>
      <p:pic>
        <p:nvPicPr>
          <p:cNvPr id="6" name="Immagine 5">
            <a:extLst>
              <a:ext uri="{FF2B5EF4-FFF2-40B4-BE49-F238E27FC236}">
                <a16:creationId xmlns:a16="http://schemas.microsoft.com/office/drawing/2014/main" id="{84CD6F22-E1C2-8A20-CDC5-4E84B2639EA8}"/>
              </a:ext>
            </a:extLst>
          </p:cNvPr>
          <p:cNvPicPr>
            <a:picLocks noChangeAspect="1"/>
          </p:cNvPicPr>
          <p:nvPr/>
        </p:nvPicPr>
        <p:blipFill>
          <a:blip r:embed="rId3"/>
          <a:srcRect r="49475"/>
          <a:stretch>
            <a:fillRect/>
          </a:stretch>
        </p:blipFill>
        <p:spPr>
          <a:xfrm>
            <a:off x="5198850" y="3864606"/>
            <a:ext cx="2616420" cy="1644723"/>
          </a:xfrm>
          <a:prstGeom prst="rect">
            <a:avLst/>
          </a:prstGeom>
        </p:spPr>
      </p:pic>
      <p:pic>
        <p:nvPicPr>
          <p:cNvPr id="7" name="Immagine 6">
            <a:extLst>
              <a:ext uri="{FF2B5EF4-FFF2-40B4-BE49-F238E27FC236}">
                <a16:creationId xmlns:a16="http://schemas.microsoft.com/office/drawing/2014/main" id="{0CE15BEB-0249-2CB2-8486-627EC08C019E}"/>
              </a:ext>
            </a:extLst>
          </p:cNvPr>
          <p:cNvPicPr>
            <a:picLocks noChangeAspect="1"/>
          </p:cNvPicPr>
          <p:nvPr/>
        </p:nvPicPr>
        <p:blipFill>
          <a:blip r:embed="rId4"/>
          <a:stretch>
            <a:fillRect/>
          </a:stretch>
        </p:blipFill>
        <p:spPr>
          <a:xfrm>
            <a:off x="1281709" y="3855796"/>
            <a:ext cx="3757323" cy="1653533"/>
          </a:xfrm>
          <a:prstGeom prst="rect">
            <a:avLst/>
          </a:prstGeom>
        </p:spPr>
      </p:pic>
      <p:sp>
        <p:nvSpPr>
          <p:cNvPr id="8" name="Google Shape;497;p48">
            <a:extLst>
              <a:ext uri="{FF2B5EF4-FFF2-40B4-BE49-F238E27FC236}">
                <a16:creationId xmlns:a16="http://schemas.microsoft.com/office/drawing/2014/main" id="{65247244-C8CE-E15E-D85F-35FF3002312B}"/>
              </a:ext>
            </a:extLst>
          </p:cNvPr>
          <p:cNvSpPr txBox="1"/>
          <p:nvPr/>
        </p:nvSpPr>
        <p:spPr>
          <a:xfrm>
            <a:off x="1056314" y="2663047"/>
            <a:ext cx="10079372" cy="128339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Segoe UI" panose="020B0502040204020203" pitchFamily="34" charset="0"/>
                <a:ea typeface="Libre Franklin"/>
                <a:cs typeface="Segoe UI" panose="020B0502040204020203" pitchFamily="34" charset="0"/>
              </a:defRPr>
            </a:lvl1pPr>
          </a:lstStyle>
          <a:p>
            <a:r>
              <a:rPr lang="it-IT" dirty="0">
                <a:sym typeface="Libre Franklin"/>
              </a:rPr>
              <a:t>Nel grafico viene confrontata la risposta del condensatore quando il segnale Vin, rappresentato in rosso, commuta tra -1 V e +1 V. La capacità rimane costante a C = 100 </a:t>
            </a:r>
            <a:r>
              <a:rPr lang="it-IT" dirty="0" err="1">
                <a:sym typeface="Libre Franklin"/>
              </a:rPr>
              <a:t>nF</a:t>
            </a:r>
            <a:r>
              <a:rPr lang="it-IT" dirty="0">
                <a:sym typeface="Libre Franklin"/>
              </a:rPr>
              <a:t>, mentre viene variato il valore della resistenza.</a:t>
            </a:r>
          </a:p>
          <a:p>
            <a:r>
              <a:rPr lang="it-IT" dirty="0">
                <a:sym typeface="Libre Franklin"/>
              </a:rPr>
              <a:t>La curva blu rappresenta il circuito di riferimento con R = 10 </a:t>
            </a:r>
            <a:r>
              <a:rPr lang="it-IT" dirty="0" err="1">
                <a:sym typeface="Libre Franklin"/>
              </a:rPr>
              <a:t>kΩ</a:t>
            </a:r>
            <a:r>
              <a:rPr lang="it-IT" dirty="0">
                <a:sym typeface="Libre Franklin"/>
              </a:rPr>
              <a:t>, mentre la curva verde rappresenta il circuito modificato con R = 30 </a:t>
            </a:r>
            <a:r>
              <a:rPr lang="it-IT" dirty="0" err="1">
                <a:sym typeface="Libre Franklin"/>
              </a:rPr>
              <a:t>kΩ</a:t>
            </a:r>
            <a:r>
              <a:rPr lang="it-IT" dirty="0">
                <a:sym typeface="Libre Franklin"/>
              </a:rPr>
              <a:t>.</a:t>
            </a:r>
          </a:p>
        </p:txBody>
      </p:sp>
      <p:pic>
        <p:nvPicPr>
          <p:cNvPr id="9" name="Immagine 8">
            <a:extLst>
              <a:ext uri="{FF2B5EF4-FFF2-40B4-BE49-F238E27FC236}">
                <a16:creationId xmlns:a16="http://schemas.microsoft.com/office/drawing/2014/main" id="{7FE6BA67-1E22-E9C8-0EDF-7131E33E7AB2}"/>
              </a:ext>
            </a:extLst>
          </p:cNvPr>
          <p:cNvPicPr>
            <a:picLocks noChangeAspect="1"/>
          </p:cNvPicPr>
          <p:nvPr/>
        </p:nvPicPr>
        <p:blipFill>
          <a:blip r:embed="rId3"/>
          <a:srcRect l="48777"/>
          <a:stretch>
            <a:fillRect/>
          </a:stretch>
        </p:blipFill>
        <p:spPr>
          <a:xfrm>
            <a:off x="7975087" y="3887020"/>
            <a:ext cx="2616419" cy="1622309"/>
          </a:xfrm>
          <a:prstGeom prst="rect">
            <a:avLst/>
          </a:prstGeom>
        </p:spPr>
      </p:pic>
      <p:sp>
        <p:nvSpPr>
          <p:cNvPr id="10" name="Segnaposto numero diapositiva 9">
            <a:extLst>
              <a:ext uri="{FF2B5EF4-FFF2-40B4-BE49-F238E27FC236}">
                <a16:creationId xmlns:a16="http://schemas.microsoft.com/office/drawing/2014/main" id="{3D4E1EB9-F6AE-EB75-3C41-3702DFDA28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52</a:t>
            </a:fld>
            <a:endParaRPr lang="it-IT"/>
          </a:p>
        </p:txBody>
      </p:sp>
    </p:spTree>
    <p:extLst>
      <p:ext uri="{BB962C8B-B14F-4D97-AF65-F5344CB8AC3E}">
        <p14:creationId xmlns:p14="http://schemas.microsoft.com/office/powerpoint/2010/main" val="985546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7F1887C-98AE-E465-DBF1-98D3A35F6118}"/>
              </a:ext>
            </a:extLst>
          </p:cNvPr>
          <p:cNvPicPr>
            <a:picLocks noChangeAspect="1"/>
          </p:cNvPicPr>
          <p:nvPr/>
        </p:nvPicPr>
        <p:blipFill>
          <a:blip r:embed="rId2"/>
          <a:srcRect l="136" r="50166"/>
          <a:stretch>
            <a:fillRect/>
          </a:stretch>
        </p:blipFill>
        <p:spPr>
          <a:xfrm>
            <a:off x="8527409" y="1157045"/>
            <a:ext cx="2713838" cy="1734372"/>
          </a:xfrm>
          <a:prstGeom prst="rect">
            <a:avLst/>
          </a:prstGeom>
        </p:spPr>
      </p:pic>
      <p:pic>
        <p:nvPicPr>
          <p:cNvPr id="4" name="Immagine 3">
            <a:extLst>
              <a:ext uri="{FF2B5EF4-FFF2-40B4-BE49-F238E27FC236}">
                <a16:creationId xmlns:a16="http://schemas.microsoft.com/office/drawing/2014/main" id="{A5668E57-17C0-5748-C1C6-E5F41747F333}"/>
              </a:ext>
            </a:extLst>
          </p:cNvPr>
          <p:cNvPicPr>
            <a:picLocks noChangeAspect="1"/>
          </p:cNvPicPr>
          <p:nvPr/>
        </p:nvPicPr>
        <p:blipFill>
          <a:blip r:embed="rId3"/>
          <a:stretch>
            <a:fillRect/>
          </a:stretch>
        </p:blipFill>
        <p:spPr>
          <a:xfrm>
            <a:off x="842394" y="1157046"/>
            <a:ext cx="7322852" cy="1691368"/>
          </a:xfrm>
          <a:prstGeom prst="rect">
            <a:avLst/>
          </a:prstGeom>
          <a:ln>
            <a:solidFill>
              <a:schemeClr val="tx1"/>
            </a:solidFill>
          </a:ln>
        </p:spPr>
      </p:pic>
      <p:pic>
        <p:nvPicPr>
          <p:cNvPr id="5" name="Immagine 4">
            <a:extLst>
              <a:ext uri="{FF2B5EF4-FFF2-40B4-BE49-F238E27FC236}">
                <a16:creationId xmlns:a16="http://schemas.microsoft.com/office/drawing/2014/main" id="{F27997F7-C79F-CFAC-E2FD-DC6191B50BE9}"/>
              </a:ext>
            </a:extLst>
          </p:cNvPr>
          <p:cNvPicPr>
            <a:picLocks noChangeAspect="1"/>
          </p:cNvPicPr>
          <p:nvPr/>
        </p:nvPicPr>
        <p:blipFill>
          <a:blip r:embed="rId4"/>
          <a:stretch>
            <a:fillRect/>
          </a:stretch>
        </p:blipFill>
        <p:spPr>
          <a:xfrm>
            <a:off x="1001783" y="3628627"/>
            <a:ext cx="7322854" cy="1691368"/>
          </a:xfrm>
          <a:prstGeom prst="rect">
            <a:avLst/>
          </a:prstGeom>
        </p:spPr>
      </p:pic>
      <p:pic>
        <p:nvPicPr>
          <p:cNvPr id="8" name="Immagine 7">
            <a:extLst>
              <a:ext uri="{FF2B5EF4-FFF2-40B4-BE49-F238E27FC236}">
                <a16:creationId xmlns:a16="http://schemas.microsoft.com/office/drawing/2014/main" id="{91062E02-10DB-2A9A-8EFF-985A4CD0762F}"/>
              </a:ext>
            </a:extLst>
          </p:cNvPr>
          <p:cNvPicPr>
            <a:picLocks noChangeAspect="1"/>
          </p:cNvPicPr>
          <p:nvPr/>
        </p:nvPicPr>
        <p:blipFill>
          <a:blip r:embed="rId2"/>
          <a:srcRect l="48964" r="4180"/>
          <a:stretch>
            <a:fillRect/>
          </a:stretch>
        </p:blipFill>
        <p:spPr>
          <a:xfrm>
            <a:off x="8504337" y="3532152"/>
            <a:ext cx="2820801" cy="1912075"/>
          </a:xfrm>
          <a:prstGeom prst="rect">
            <a:avLst/>
          </a:prstGeom>
        </p:spPr>
      </p:pic>
      <p:sp>
        <p:nvSpPr>
          <p:cNvPr id="9" name="Segnaposto numero diapositiva 8">
            <a:extLst>
              <a:ext uri="{FF2B5EF4-FFF2-40B4-BE49-F238E27FC236}">
                <a16:creationId xmlns:a16="http://schemas.microsoft.com/office/drawing/2014/main" id="{D0557BDE-1795-9CD1-3E6A-05B13EFA52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53</a:t>
            </a:fld>
            <a:endParaRPr lang="it-IT"/>
          </a:p>
        </p:txBody>
      </p:sp>
    </p:spTree>
    <p:extLst>
      <p:ext uri="{BB962C8B-B14F-4D97-AF65-F5344CB8AC3E}">
        <p14:creationId xmlns:p14="http://schemas.microsoft.com/office/powerpoint/2010/main" val="3627954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0"/>
          <p:cNvSpPr txBox="1"/>
          <p:nvPr/>
        </p:nvSpPr>
        <p:spPr>
          <a:xfrm>
            <a:off x="1064702" y="1736259"/>
            <a:ext cx="10105239" cy="1692741"/>
          </a:xfrm>
          <a:prstGeom prst="rect">
            <a:avLst/>
          </a:prstGeom>
          <a:noFill/>
          <a:ln>
            <a:noFill/>
          </a:ln>
        </p:spPr>
        <p:txBody>
          <a:bodyPr spcFirstLastPara="1" wrap="square" lIns="91425" tIns="91425" rIns="91425" bIns="91425" anchor="t" anchorCtr="0">
            <a:spAutoFit/>
          </a:bodyPr>
          <a:lstStyle/>
          <a:p>
            <a:pPr marL="0" lvl="0">
              <a:buSzPts val="1300"/>
            </a:pPr>
            <a:r>
              <a:rPr lang="it-IT" b="1" dirty="0">
                <a:latin typeface="Segoe UI" panose="020B0502040204020203" pitchFamily="34" charset="0"/>
                <a:cs typeface="Segoe UI" panose="020B0502040204020203" pitchFamily="34" charset="0"/>
                <a:sym typeface="Libre Franklin"/>
              </a:rPr>
              <a:t>Conclusione:</a:t>
            </a:r>
          </a:p>
          <a:p>
            <a:pPr marL="0" lvl="0">
              <a:buSzPts val="1300"/>
            </a:pPr>
            <a:endParaRPr sz="1200" b="1"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si ha una costante di tempo maggiore</a:t>
            </a:r>
            <a:r>
              <a:rPr lang="it-IT" sz="1200" dirty="0">
                <a:latin typeface="Segoe UI" panose="020B0502040204020203" pitchFamily="34" charset="0"/>
                <a:cs typeface="Segoe UI" panose="020B0502040204020203" pitchFamily="34" charset="0"/>
                <a:sym typeface="Libre Franklin"/>
              </a:rPr>
              <a:t>, quindi la curva blu mostra una carica e una scarica più lente.</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invece, la costante di tempo è più piccola e la curva verde raggiunge molto più rapidamente il valore finale</a:t>
            </a:r>
            <a:r>
              <a:rPr lang="it-IT" sz="1200" dirty="0">
                <a:latin typeface="Segoe UI" panose="020B0502040204020203" pitchFamily="34" charset="0"/>
                <a:cs typeface="Segoe UI" panose="020B0502040204020203" pitchFamily="34" charset="0"/>
                <a:sym typeface="Libre Franklin"/>
              </a:rPr>
              <a:t>.</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i="1" u="sng" dirty="0">
                <a:latin typeface="Segoe UI" panose="020B0502040204020203" pitchFamily="34" charset="0"/>
                <a:cs typeface="Segoe UI" panose="020B0502040204020203" pitchFamily="34" charset="0"/>
                <a:sym typeface="Libre Franklin"/>
              </a:rPr>
              <a:t>Quindi, diminuendo R, il condensatore si carica e si scarica più velocemente. Questo dimostra che R controlla direttamente la rapidità della risposta transitoria del circuito RC.</a:t>
            </a:r>
            <a:endParaRPr sz="1200" i="1" u="sng" dirty="0">
              <a:latin typeface="Segoe UI" panose="020B0502040204020203" pitchFamily="34" charset="0"/>
              <a:cs typeface="Segoe UI" panose="020B0502040204020203" pitchFamily="34" charset="0"/>
              <a:sym typeface="Libre Franklin"/>
            </a:endParaRPr>
          </a:p>
        </p:txBody>
      </p:sp>
      <p:sp>
        <p:nvSpPr>
          <p:cNvPr id="517" name="Google Shape;517;p50"/>
          <p:cNvSpPr txBox="1"/>
          <p:nvPr/>
        </p:nvSpPr>
        <p:spPr>
          <a:xfrm>
            <a:off x="1064702" y="3650558"/>
            <a:ext cx="10105239" cy="1107965"/>
          </a:xfrm>
          <a:prstGeom prst="rect">
            <a:avLst/>
          </a:prstGeom>
          <a:noFill/>
          <a:ln>
            <a:noFill/>
          </a:ln>
        </p:spPr>
        <p:txBody>
          <a:bodyPr spcFirstLastPara="1" wrap="square" lIns="91425" tIns="91425" rIns="91425" bIns="91425" anchor="t" anchorCtr="0">
            <a:spAutoFit/>
          </a:bodyPr>
          <a:lstStyle/>
          <a:p>
            <a:pPr indent="0">
              <a:buSzPts val="1300"/>
              <a:buFont typeface="Arial"/>
              <a:buNone/>
            </a:pPr>
            <a:r>
              <a:rPr lang="it-IT" sz="1200" b="1" dirty="0">
                <a:latin typeface="Segoe UI" panose="020B0502040204020203" pitchFamily="34" charset="0"/>
                <a:cs typeface="Segoe UI" panose="020B0502040204020203" pitchFamily="34" charset="0"/>
                <a:sym typeface="Libre Franklin"/>
              </a:rPr>
              <a:t>Con R = 30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il condensatore non riesce a raggiungere completamente il valore finale prima che Vin cambi nuovamente stato</a:t>
            </a:r>
            <a:r>
              <a:rPr lang="it-IT" sz="1200" dirty="0">
                <a:latin typeface="Segoe UI" panose="020B0502040204020203" pitchFamily="34" charset="0"/>
                <a:cs typeface="Segoe UI" panose="020B0502040204020203" pitchFamily="34" charset="0"/>
                <a:sym typeface="Libre Franklin"/>
              </a:rPr>
              <a:t>. La sua tensione cresce e decresce più lentamente, rimanendo più “smussata” rispetto alla risposta con R =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a:t>
            </a:r>
          </a:p>
          <a:p>
            <a:pPr indent="0">
              <a:buSzPts val="1300"/>
              <a:buFont typeface="Arial"/>
              <a:buNone/>
            </a:pPr>
            <a:endParaRPr sz="1200" dirty="0">
              <a:latin typeface="Segoe UI" panose="020B0502040204020203" pitchFamily="34" charset="0"/>
              <a:cs typeface="Segoe UI" panose="020B0502040204020203" pitchFamily="34" charset="0"/>
              <a:sym typeface="Libre Franklin"/>
            </a:endParaRPr>
          </a:p>
          <a:p>
            <a:pPr indent="0">
              <a:buSzPts val="1300"/>
              <a:buFont typeface="Arial"/>
              <a:buNone/>
            </a:pPr>
            <a:r>
              <a:rPr lang="it-IT" sz="1200" i="1" u="sng" dirty="0">
                <a:latin typeface="Segoe UI" panose="020B0502040204020203" pitchFamily="34" charset="0"/>
                <a:cs typeface="Segoe UI" panose="020B0502040204020203" pitchFamily="34" charset="0"/>
                <a:sym typeface="Libre Franklin"/>
              </a:rPr>
              <a:t>Quindi, aumentando R, il condensatore impiega più tempo a caricarsi e scaricarsi. Questo dimostra che una resistenza maggiore rende la risposta transitoria del circuito RC più lenta.</a:t>
            </a:r>
            <a:endParaRPr sz="1200"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DF374570-CE78-F3E5-F2BD-72314EFEBA8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54</a:t>
            </a:fld>
            <a:endParaRPr lang="it-IT"/>
          </a:p>
        </p:txBody>
      </p:sp>
      <p:sp>
        <p:nvSpPr>
          <p:cNvPr id="3" name="Freccia in giù 2">
            <a:hlinkClick r:id="rId3" action="ppaction://hlinksldjump"/>
            <a:extLst>
              <a:ext uri="{FF2B5EF4-FFF2-40B4-BE49-F238E27FC236}">
                <a16:creationId xmlns:a16="http://schemas.microsoft.com/office/drawing/2014/main" id="{DB0B85C6-03B3-D5DB-B984-835375A4836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1029507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1"/>
          <p:cNvSpPr txBox="1"/>
          <p:nvPr/>
        </p:nvSpPr>
        <p:spPr>
          <a:xfrm>
            <a:off x="1088027" y="756125"/>
            <a:ext cx="802554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(circuito RL)</a:t>
            </a:r>
            <a:endParaRPr dirty="0">
              <a:sym typeface="Libre Franklin SemiBold"/>
            </a:endParaRPr>
          </a:p>
        </p:txBody>
      </p:sp>
      <p:sp>
        <p:nvSpPr>
          <p:cNvPr id="524" name="Google Shape;524;p51"/>
          <p:cNvSpPr txBox="1"/>
          <p:nvPr/>
        </p:nvSpPr>
        <p:spPr>
          <a:xfrm>
            <a:off x="1046850" y="1262948"/>
            <a:ext cx="100983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prova il circuito RL viene alimentato con un segnale impulsivo Vin che commuta tra -1 V e +1 V.</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rossa rappresenta Vin, mentre la curva blu mostra l’andamento della corrente nell’induttore I(L1) durante le fasi di energizzazione e de-energizzazione.</a:t>
            </a:r>
            <a:endParaRPr sz="1200" dirty="0">
              <a:latin typeface="Segoe UI" panose="020B0502040204020203" pitchFamily="34" charset="0"/>
              <a:cs typeface="Segoe UI" panose="020B0502040204020203" pitchFamily="34" charset="0"/>
              <a:sym typeface="Libre Franklin"/>
            </a:endParaRPr>
          </a:p>
        </p:txBody>
      </p:sp>
      <p:sp>
        <p:nvSpPr>
          <p:cNvPr id="525" name="Google Shape;525;p51"/>
          <p:cNvSpPr txBox="1"/>
          <p:nvPr/>
        </p:nvSpPr>
        <p:spPr>
          <a:xfrm>
            <a:off x="6660858" y="2332318"/>
            <a:ext cx="4398167"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L’induttore si oppone alle variazioni brusche di corrente: per questo I(L1) non segue immediatamente i salti di Vin, ma passa gradualmente da un valore positivo a uno negativo.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velocità di energizzazione e de-energizzazione dipende</a:t>
            </a:r>
            <a:br>
              <a:rPr lang="it-IT" sz="1200" dirty="0">
                <a:latin typeface="Segoe UI" panose="020B0502040204020203" pitchFamily="34" charset="0"/>
                <a:cs typeface="Segoe UI" panose="020B0502040204020203" pitchFamily="34" charset="0"/>
                <a:sym typeface="Libre Franklin"/>
              </a:rPr>
            </a:b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dalla costante di tempo:</a:t>
            </a:r>
            <a:endParaRPr sz="1200" dirty="0">
              <a:latin typeface="Segoe UI" panose="020B0502040204020203" pitchFamily="34" charset="0"/>
              <a:cs typeface="Segoe UI" panose="020B0502040204020203" pitchFamily="34" charset="0"/>
              <a:sym typeface="Libre Franklin"/>
            </a:endParaRPr>
          </a:p>
        </p:txBody>
      </p:sp>
      <p:grpSp>
        <p:nvGrpSpPr>
          <p:cNvPr id="527" name="Google Shape;527;p51"/>
          <p:cNvGrpSpPr/>
          <p:nvPr/>
        </p:nvGrpSpPr>
        <p:grpSpPr>
          <a:xfrm>
            <a:off x="1088027" y="2370048"/>
            <a:ext cx="4650609" cy="1906132"/>
            <a:chOff x="1702130" y="3530930"/>
            <a:chExt cx="5099352" cy="2090057"/>
          </a:xfrm>
        </p:grpSpPr>
        <p:pic>
          <p:nvPicPr>
            <p:cNvPr id="528" name="Google Shape;528;p51"/>
            <p:cNvPicPr preferRelativeResize="0"/>
            <p:nvPr/>
          </p:nvPicPr>
          <p:blipFill rotWithShape="1">
            <a:blip r:embed="rId3">
              <a:alphaModFix/>
            </a:blip>
            <a:srcRect r="64503"/>
            <a:stretch/>
          </p:blipFill>
          <p:spPr>
            <a:xfrm>
              <a:off x="1702130" y="3530930"/>
              <a:ext cx="2770909" cy="2090057"/>
            </a:xfrm>
            <a:prstGeom prst="rect">
              <a:avLst/>
            </a:prstGeom>
            <a:noFill/>
            <a:ln>
              <a:noFill/>
            </a:ln>
          </p:spPr>
        </p:pic>
        <p:pic>
          <p:nvPicPr>
            <p:cNvPr id="529" name="Google Shape;529;p51"/>
            <p:cNvPicPr preferRelativeResize="0"/>
            <p:nvPr/>
          </p:nvPicPr>
          <p:blipFill rotWithShape="1">
            <a:blip r:embed="rId3">
              <a:alphaModFix/>
            </a:blip>
            <a:srcRect l="69168" r="1002"/>
            <a:stretch/>
          </p:blipFill>
          <p:spPr>
            <a:xfrm>
              <a:off x="4473040" y="3530930"/>
              <a:ext cx="2328442" cy="2090057"/>
            </a:xfrm>
            <a:prstGeom prst="rect">
              <a:avLst/>
            </a:prstGeom>
            <a:noFill/>
            <a:ln>
              <a:noFill/>
            </a:ln>
          </p:spPr>
        </p:pic>
      </p:grpSp>
      <p:pic>
        <p:nvPicPr>
          <p:cNvPr id="530" name="Google Shape;530;p51"/>
          <p:cNvPicPr preferRelativeResize="0"/>
          <p:nvPr/>
        </p:nvPicPr>
        <p:blipFill rotWithShape="1">
          <a:blip r:embed="rId4">
            <a:alphaModFix/>
          </a:blip>
          <a:srcRect/>
          <a:stretch/>
        </p:blipFill>
        <p:spPr>
          <a:xfrm>
            <a:off x="748273" y="4664279"/>
            <a:ext cx="6502121" cy="1501798"/>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89B2676-4AE4-F0BD-6026-73BC000BC4C7}"/>
                  </a:ext>
                </a:extLst>
              </p:cNvPr>
              <p:cNvSpPr txBox="1"/>
              <p:nvPr/>
            </p:nvSpPr>
            <p:spPr>
              <a:xfrm>
                <a:off x="8540004" y="3874275"/>
                <a:ext cx="488788" cy="401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𝑅</m:t>
                          </m:r>
                        </m:num>
                        <m:den>
                          <m:r>
                            <a:rPr lang="it-IT" i="1">
                              <a:latin typeface="Cambria Math" panose="02040503050406030204" pitchFamily="18" charset="0"/>
                            </a:rPr>
                            <m:t>𝐿</m:t>
                          </m:r>
                        </m:den>
                      </m:f>
                    </m:oMath>
                  </m:oMathPara>
                </a14:m>
                <a:endParaRPr lang="it-IT" dirty="0"/>
              </a:p>
            </p:txBody>
          </p:sp>
        </mc:Choice>
        <mc:Fallback xmlns="">
          <p:sp>
            <p:nvSpPr>
              <p:cNvPr id="2" name="CasellaDiTesto 1">
                <a:extLst>
                  <a:ext uri="{FF2B5EF4-FFF2-40B4-BE49-F238E27FC236}">
                    <a16:creationId xmlns:a16="http://schemas.microsoft.com/office/drawing/2014/main" id="{B89B2676-4AE4-F0BD-6026-73BC000BC4C7}"/>
                  </a:ext>
                </a:extLst>
              </p:cNvPr>
              <p:cNvSpPr txBox="1">
                <a:spLocks noRot="1" noChangeAspect="1" noMove="1" noResize="1" noEditPoints="1" noAdjustHandles="1" noChangeArrowheads="1" noChangeShapeType="1" noTextEdit="1"/>
              </p:cNvSpPr>
              <p:nvPr/>
            </p:nvSpPr>
            <p:spPr>
              <a:xfrm>
                <a:off x="8540004" y="3874275"/>
                <a:ext cx="488788" cy="401905"/>
              </a:xfrm>
              <a:prstGeom prst="rect">
                <a:avLst/>
              </a:prstGeom>
              <a:blipFill>
                <a:blip r:embed="rId5"/>
                <a:stretch>
                  <a:fillRect l="-5000" t="-1538" r="-5000" b="-15385"/>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66192657-306B-FCBD-0C78-45F6CDAD16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55</a:t>
            </a:fld>
            <a:endParaRPr lang="it-IT"/>
          </a:p>
        </p:txBody>
      </p:sp>
    </p:spTree>
    <p:extLst>
      <p:ext uri="{BB962C8B-B14F-4D97-AF65-F5344CB8AC3E}">
        <p14:creationId xmlns:p14="http://schemas.microsoft.com/office/powerpoint/2010/main" val="2391791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2"/>
          <p:cNvSpPr txBox="1"/>
          <p:nvPr/>
        </p:nvSpPr>
        <p:spPr>
          <a:xfrm>
            <a:off x="1068897" y="944233"/>
            <a:ext cx="10054206" cy="66322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40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Energizzazione dell’induttore</a:t>
            </a:r>
            <a:endParaRPr b="1" dirty="0">
              <a:latin typeface="Segoe UI" panose="020B0502040204020203" pitchFamily="34" charset="0"/>
              <a:cs typeface="Segoe UI" panose="020B0502040204020203" pitchFamily="34" charset="0"/>
              <a:sym typeface="Libre Franklin"/>
            </a:endParaRPr>
          </a:p>
        </p:txBody>
      </p:sp>
      <p:sp>
        <p:nvSpPr>
          <p:cNvPr id="537" name="Google Shape;537;p52"/>
          <p:cNvSpPr txBox="1"/>
          <p:nvPr/>
        </p:nvSpPr>
        <p:spPr>
          <a:xfrm>
            <a:off x="1068897" y="1529060"/>
            <a:ext cx="10054206"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L’induttore si oppone alle variazioni improvvise di corrente, quindi I(L1) non cambia istantaneamente. La corrente aumenta gradualmente con andamento esponenziale:</a:t>
            </a:r>
            <a:endParaRPr sz="1200" dirty="0">
              <a:latin typeface="Segoe UI" panose="020B0502040204020203" pitchFamily="34" charset="0"/>
              <a:cs typeface="Segoe UI" panose="020B0502040204020203" pitchFamily="34" charset="0"/>
              <a:sym typeface="Libre Franklin"/>
            </a:endParaRPr>
          </a:p>
        </p:txBody>
      </p:sp>
      <p:sp>
        <p:nvSpPr>
          <p:cNvPr id="539" name="Google Shape;539;p52"/>
          <p:cNvSpPr txBox="1"/>
          <p:nvPr/>
        </p:nvSpPr>
        <p:spPr>
          <a:xfrm>
            <a:off x="1068897" y="2722605"/>
            <a:ext cx="10077600" cy="265556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dove </a:t>
            </a:r>
            <a:r>
              <a:rPr lang="it-IT" sz="1200" i="1" dirty="0" err="1">
                <a:latin typeface="Segoe UI" panose="020B0502040204020203" pitchFamily="34" charset="0"/>
                <a:cs typeface="Segoe UI" panose="020B0502040204020203" pitchFamily="34" charset="0"/>
                <a:sym typeface="Libre Franklin"/>
              </a:rPr>
              <a:t>Ii</a:t>
            </a:r>
            <a:r>
              <a:rPr lang="it-IT" sz="1200" i="1" dirty="0">
                <a:latin typeface="Segoe UI" panose="020B0502040204020203" pitchFamily="34" charset="0"/>
                <a:cs typeface="Segoe UI" panose="020B0502040204020203" pitchFamily="34" charset="0"/>
                <a:sym typeface="Libre Franklin"/>
              </a:rPr>
              <a:t> è il valore iniziale, </a:t>
            </a:r>
            <a:r>
              <a:rPr lang="it-IT" sz="1200" i="1" dirty="0" err="1">
                <a:latin typeface="Segoe UI" panose="020B0502040204020203" pitchFamily="34" charset="0"/>
                <a:cs typeface="Segoe UI" panose="020B0502040204020203" pitchFamily="34" charset="0"/>
                <a:sym typeface="Libre Franklin"/>
              </a:rPr>
              <a:t>If</a:t>
            </a:r>
            <a:r>
              <a:rPr lang="it-IT" sz="1200" i="1" dirty="0">
                <a:latin typeface="Segoe UI" panose="020B0502040204020203" pitchFamily="34" charset="0"/>
                <a:cs typeface="Segoe UI" panose="020B0502040204020203" pitchFamily="34" charset="0"/>
                <a:sym typeface="Libre Franklin"/>
              </a:rPr>
              <a:t>  il valore finale e τ è la costante di tempo del circuito.</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br>
              <a:rPr lang="it-IT" sz="1200" dirty="0">
                <a:latin typeface="Segoe UI" panose="020B0502040204020203" pitchFamily="34" charset="0"/>
                <a:cs typeface="Segoe UI" panose="020B0502040204020203" pitchFamily="34" charset="0"/>
                <a:sym typeface="Libre Franklin"/>
              </a:rPr>
            </a:b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De-energizzazione dell’induttore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Quando Vin passa da +1 V a -1 V, l’induttore entra nella fase opposta. La corrente I(L1) non si inverte istantaneamente, ma diminuisce gradualmente e si porta verso il nuovo valore negativo.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Anche in questo caso l’andamento è esponenziale:</a:t>
            </a:r>
            <a:endParaRPr sz="1200" dirty="0">
              <a:latin typeface="Segoe UI" panose="020B0502040204020203" pitchFamily="34" charset="0"/>
              <a:cs typeface="Segoe UI" panose="020B0502040204020203" pitchFamily="34" charset="0"/>
              <a:sym typeface="Libre Franklin"/>
            </a:endParaRPr>
          </a:p>
        </p:txBody>
      </p:sp>
      <p:sp>
        <p:nvSpPr>
          <p:cNvPr id="541" name="Google Shape;541;p52"/>
          <p:cNvSpPr txBox="1"/>
          <p:nvPr/>
        </p:nvSpPr>
        <p:spPr>
          <a:xfrm>
            <a:off x="1056501" y="5544465"/>
            <a:ext cx="10066602" cy="36930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Nel grafico la curva blu scende subito dopo il fronte di discesa della curva rossa, ma lo fa in modo progressivo, non istantaneo.</a:t>
            </a:r>
            <a:endParaRPr sz="1200"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2F5CDD-20BC-C66E-1CEC-A372742694D4}"/>
                  </a:ext>
                </a:extLst>
              </p:cNvPr>
              <p:cNvSpPr txBox="1"/>
              <p:nvPr/>
            </p:nvSpPr>
            <p:spPr>
              <a:xfrm>
                <a:off x="1068897" y="2302778"/>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2" name="CasellaDiTesto 1">
                <a:extLst>
                  <a:ext uri="{FF2B5EF4-FFF2-40B4-BE49-F238E27FC236}">
                    <a16:creationId xmlns:a16="http://schemas.microsoft.com/office/drawing/2014/main" id="{692F5CDD-20BC-C66E-1CEC-A372742694D4}"/>
                  </a:ext>
                </a:extLst>
              </p:cNvPr>
              <p:cNvSpPr txBox="1">
                <a:spLocks noRot="1" noChangeAspect="1" noMove="1" noResize="1" noEditPoints="1" noAdjustHandles="1" noChangeArrowheads="1" noChangeShapeType="1" noTextEdit="1"/>
              </p:cNvSpPr>
              <p:nvPr/>
            </p:nvSpPr>
            <p:spPr>
              <a:xfrm>
                <a:off x="1068897" y="2302778"/>
                <a:ext cx="10054206" cy="277127"/>
              </a:xfrm>
              <a:prstGeom prst="rect">
                <a:avLst/>
              </a:prstGeom>
              <a:blipFill>
                <a:blip r:embed="rId3"/>
                <a:stretch>
                  <a:fillRect t="-124444" b="-15111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A923DDD3-42AB-E780-C94F-4B1D4489A9B1}"/>
                  </a:ext>
                </a:extLst>
              </p:cNvPr>
              <p:cNvSpPr txBox="1"/>
              <p:nvPr/>
            </p:nvSpPr>
            <p:spPr>
              <a:xfrm>
                <a:off x="1068897" y="5092117"/>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3" name="CasellaDiTesto 2">
                <a:extLst>
                  <a:ext uri="{FF2B5EF4-FFF2-40B4-BE49-F238E27FC236}">
                    <a16:creationId xmlns:a16="http://schemas.microsoft.com/office/drawing/2014/main" id="{A923DDD3-42AB-E780-C94F-4B1D4489A9B1}"/>
                  </a:ext>
                </a:extLst>
              </p:cNvPr>
              <p:cNvSpPr txBox="1">
                <a:spLocks noRot="1" noChangeAspect="1" noMove="1" noResize="1" noEditPoints="1" noAdjustHandles="1" noChangeArrowheads="1" noChangeShapeType="1" noTextEdit="1"/>
              </p:cNvSpPr>
              <p:nvPr/>
            </p:nvSpPr>
            <p:spPr>
              <a:xfrm>
                <a:off x="1068897" y="5092117"/>
                <a:ext cx="10054206" cy="277127"/>
              </a:xfrm>
              <a:prstGeom prst="rect">
                <a:avLst/>
              </a:prstGeom>
              <a:blipFill>
                <a:blip r:embed="rId4"/>
                <a:stretch>
                  <a:fillRect t="-119565" b="-147826"/>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87BB3E49-BFF4-725B-54C3-454829E21A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56</a:t>
            </a:fld>
            <a:endParaRPr lang="it-IT"/>
          </a:p>
        </p:txBody>
      </p:sp>
      <p:sp>
        <p:nvSpPr>
          <p:cNvPr id="5" name="Freccia in giù 4">
            <a:hlinkClick r:id="rId5" action="ppaction://hlinksldjump"/>
            <a:extLst>
              <a:ext uri="{FF2B5EF4-FFF2-40B4-BE49-F238E27FC236}">
                <a16:creationId xmlns:a16="http://schemas.microsoft.com/office/drawing/2014/main" id="{0314E608-B930-186B-35EF-A4EDAA3A81E5}"/>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99480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9820507-45AA-6B5E-1B76-2FA29EDA2409}"/>
              </a:ext>
            </a:extLst>
          </p:cNvPr>
          <p:cNvPicPr>
            <a:picLocks noChangeAspect="1"/>
          </p:cNvPicPr>
          <p:nvPr/>
        </p:nvPicPr>
        <p:blipFill>
          <a:blip r:embed="rId2"/>
          <a:stretch>
            <a:fillRect/>
          </a:stretch>
        </p:blipFill>
        <p:spPr>
          <a:xfrm>
            <a:off x="847196" y="3627027"/>
            <a:ext cx="10411069" cy="2404657"/>
          </a:xfrm>
          <a:prstGeom prst="rect">
            <a:avLst/>
          </a:prstGeom>
          <a:ln>
            <a:solidFill>
              <a:schemeClr val="tx1"/>
            </a:solidFill>
          </a:ln>
        </p:spPr>
      </p:pic>
      <p:pic>
        <p:nvPicPr>
          <p:cNvPr id="3" name="Immagine 2">
            <a:extLst>
              <a:ext uri="{FF2B5EF4-FFF2-40B4-BE49-F238E27FC236}">
                <a16:creationId xmlns:a16="http://schemas.microsoft.com/office/drawing/2014/main" id="{D0398A4A-246E-37BD-5A72-2ABD6AD5D163}"/>
              </a:ext>
            </a:extLst>
          </p:cNvPr>
          <p:cNvPicPr>
            <a:picLocks noChangeAspect="1"/>
          </p:cNvPicPr>
          <p:nvPr/>
        </p:nvPicPr>
        <p:blipFill>
          <a:blip r:embed="rId3"/>
          <a:stretch>
            <a:fillRect/>
          </a:stretch>
        </p:blipFill>
        <p:spPr>
          <a:xfrm>
            <a:off x="3241683" y="792854"/>
            <a:ext cx="5214419" cy="2529671"/>
          </a:xfrm>
          <a:prstGeom prst="rect">
            <a:avLst/>
          </a:prstGeom>
        </p:spPr>
      </p:pic>
      <p:sp>
        <p:nvSpPr>
          <p:cNvPr id="4" name="Segnaposto numero diapositiva 3">
            <a:extLst>
              <a:ext uri="{FF2B5EF4-FFF2-40B4-BE49-F238E27FC236}">
                <a16:creationId xmlns:a16="http://schemas.microsoft.com/office/drawing/2014/main" id="{89E4BDA2-8070-435A-AD7C-09AE092588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57</a:t>
            </a:fld>
            <a:endParaRPr lang="it-IT"/>
          </a:p>
        </p:txBody>
      </p:sp>
    </p:spTree>
    <p:extLst>
      <p:ext uri="{BB962C8B-B14F-4D97-AF65-F5344CB8AC3E}">
        <p14:creationId xmlns:p14="http://schemas.microsoft.com/office/powerpoint/2010/main" val="2001793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3"/>
          <p:cNvSpPr txBox="1"/>
          <p:nvPr/>
        </p:nvSpPr>
        <p:spPr>
          <a:xfrm>
            <a:off x="880700" y="739400"/>
            <a:ext cx="10599300" cy="248398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comportamento dell’induttore è analogo a quello del condensatore per quanto riguarda l’accumulo e il rilascio di energia.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condensatore si carica accumulando energia nel campo elettrico e si scarica rilasciandola nel circuito. Allo stesso modo, l’induttore si energizza accumulando energia nel campo magnetico e si de-energizza rilasciandola gradualmente.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In entrambi i casi, la variazione non è istantanea ma avviene con andamento esponenziale: il condensatore si oppone alle variazioni brusche di tensione, mentre l’induttore si oppone alle variazioni brusche di corrente. Quindi entrambi mostrano una risposta transitoria governata dalla propria costante di tempo.</a:t>
            </a:r>
            <a:endParaRPr sz="1200" b="1" dirty="0">
              <a:latin typeface="Segoe UI" panose="020B0502040204020203" pitchFamily="34" charset="0"/>
              <a:cs typeface="Segoe UI" panose="020B0502040204020203" pitchFamily="34" charset="0"/>
              <a:sym typeface="Libre Franklin"/>
            </a:endParaRPr>
          </a:p>
        </p:txBody>
      </p:sp>
      <p:pic>
        <p:nvPicPr>
          <p:cNvPr id="548" name="Google Shape;548;p53"/>
          <p:cNvPicPr preferRelativeResize="0"/>
          <p:nvPr/>
        </p:nvPicPr>
        <p:blipFill rotWithShape="1">
          <a:blip r:embed="rId3">
            <a:alphaModFix/>
          </a:blip>
          <a:srcRect/>
          <a:stretch/>
        </p:blipFill>
        <p:spPr>
          <a:xfrm>
            <a:off x="1143662" y="3245287"/>
            <a:ext cx="5749220" cy="1327925"/>
          </a:xfrm>
          <a:prstGeom prst="rect">
            <a:avLst/>
          </a:prstGeom>
          <a:noFill/>
          <a:ln>
            <a:solidFill>
              <a:schemeClr val="tx1"/>
            </a:solidFill>
          </a:ln>
        </p:spPr>
      </p:pic>
      <p:pic>
        <p:nvPicPr>
          <p:cNvPr id="549" name="Google Shape;549;p53"/>
          <p:cNvPicPr preferRelativeResize="0"/>
          <p:nvPr/>
        </p:nvPicPr>
        <p:blipFill rotWithShape="1">
          <a:blip r:embed="rId4">
            <a:alphaModFix/>
          </a:blip>
          <a:srcRect/>
          <a:stretch/>
        </p:blipFill>
        <p:spPr>
          <a:xfrm>
            <a:off x="1143662" y="4832290"/>
            <a:ext cx="5749328" cy="1327925"/>
          </a:xfrm>
          <a:prstGeom prst="rect">
            <a:avLst/>
          </a:prstGeom>
          <a:noFill/>
          <a:ln>
            <a:solidFill>
              <a:schemeClr val="tx1"/>
            </a:solidFill>
          </a:ln>
        </p:spPr>
      </p:pic>
      <p:sp>
        <p:nvSpPr>
          <p:cNvPr id="550" name="Google Shape;550;p53"/>
          <p:cNvSpPr txBox="1"/>
          <p:nvPr/>
        </p:nvSpPr>
        <p:spPr>
          <a:xfrm>
            <a:off x="7158782" y="3559998"/>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RC</a:t>
            </a:r>
            <a:endParaRPr sz="2800" dirty="0">
              <a:solidFill>
                <a:schemeClr val="dk1"/>
              </a:solidFill>
              <a:latin typeface="Open Sans"/>
              <a:ea typeface="Open Sans"/>
              <a:cs typeface="Open Sans"/>
              <a:sym typeface="Open Sans"/>
            </a:endParaRPr>
          </a:p>
        </p:txBody>
      </p:sp>
      <p:sp>
        <p:nvSpPr>
          <p:cNvPr id="551" name="Google Shape;551;p53"/>
          <p:cNvSpPr txBox="1"/>
          <p:nvPr/>
        </p:nvSpPr>
        <p:spPr>
          <a:xfrm>
            <a:off x="7158782" y="5237014"/>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RL</a:t>
            </a:r>
            <a:endParaRPr sz="2800" dirty="0">
              <a:solidFill>
                <a:schemeClr val="dk1"/>
              </a:solidFill>
              <a:latin typeface="Open Sans"/>
              <a:ea typeface="Open Sans"/>
              <a:cs typeface="Open Sans"/>
              <a:sym typeface="Open Sans"/>
            </a:endParaRPr>
          </a:p>
        </p:txBody>
      </p:sp>
      <p:sp>
        <p:nvSpPr>
          <p:cNvPr id="2" name="Segnaposto numero diapositiva 1">
            <a:extLst>
              <a:ext uri="{FF2B5EF4-FFF2-40B4-BE49-F238E27FC236}">
                <a16:creationId xmlns:a16="http://schemas.microsoft.com/office/drawing/2014/main" id="{11B23021-2DCB-8203-C1D9-EDF6D970E5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58</a:t>
            </a:fld>
            <a:endParaRPr lang="it-IT"/>
          </a:p>
        </p:txBody>
      </p:sp>
    </p:spTree>
    <p:extLst>
      <p:ext uri="{BB962C8B-B14F-4D97-AF65-F5344CB8AC3E}">
        <p14:creationId xmlns:p14="http://schemas.microsoft.com/office/powerpoint/2010/main" val="2085239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4"/>
          <p:cNvSpPr txBox="1"/>
          <p:nvPr/>
        </p:nvSpPr>
        <p:spPr>
          <a:xfrm>
            <a:off x="1065403" y="1171108"/>
            <a:ext cx="10096150" cy="139317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sz="1200" b="0" dirty="0"/>
              <a:t>In questa slide analizziamo il comportamento del filtro passa-alto passivo quando il condensatore viene modellato con i suoi parassiti. Il confronto è tra il condensatore ideale e il condensatore reale, cioè con ESR ed ESL.</a:t>
            </a:r>
            <a:endParaRPr sz="1200" b="0" dirty="0"/>
          </a:p>
          <a:p>
            <a:r>
              <a:rPr lang="it-IT" sz="1200" dirty="0"/>
              <a:t>A basse frequenze, come nei casi usati per studiare normalmente la carica e scarica del condensatore, i parassiti non producono effetti rilevanti. La risposta con e senza parassiti risulta quasi uguale.</a:t>
            </a:r>
            <a:endParaRPr sz="1200" dirty="0"/>
          </a:p>
        </p:txBody>
      </p:sp>
      <p:pic>
        <p:nvPicPr>
          <p:cNvPr id="558" name="Google Shape;558;p54"/>
          <p:cNvPicPr preferRelativeResize="0"/>
          <p:nvPr/>
        </p:nvPicPr>
        <p:blipFill rotWithShape="1">
          <a:blip r:embed="rId3">
            <a:alphaModFix/>
          </a:blip>
          <a:srcRect/>
          <a:stretch/>
        </p:blipFill>
        <p:spPr>
          <a:xfrm>
            <a:off x="730276" y="2512422"/>
            <a:ext cx="7026573" cy="3443680"/>
          </a:xfrm>
          <a:prstGeom prst="rect">
            <a:avLst/>
          </a:prstGeom>
          <a:noFill/>
          <a:ln>
            <a:solidFill>
              <a:schemeClr val="tx1"/>
            </a:solidFill>
          </a:ln>
        </p:spPr>
      </p:pic>
      <p:pic>
        <p:nvPicPr>
          <p:cNvPr id="559" name="Google Shape;559;p54"/>
          <p:cNvPicPr preferRelativeResize="0"/>
          <p:nvPr/>
        </p:nvPicPr>
        <p:blipFill rotWithShape="1">
          <a:blip r:embed="rId4">
            <a:alphaModFix/>
          </a:blip>
          <a:srcRect/>
          <a:stretch/>
        </p:blipFill>
        <p:spPr>
          <a:xfrm>
            <a:off x="7835317" y="4234262"/>
            <a:ext cx="3570573" cy="1625448"/>
          </a:xfrm>
          <a:prstGeom prst="rect">
            <a:avLst/>
          </a:prstGeom>
          <a:noFill/>
          <a:ln>
            <a:noFill/>
          </a:ln>
        </p:spPr>
      </p:pic>
      <p:pic>
        <p:nvPicPr>
          <p:cNvPr id="560" name="Google Shape;560;p54"/>
          <p:cNvPicPr preferRelativeResize="0"/>
          <p:nvPr/>
        </p:nvPicPr>
        <p:blipFill rotWithShape="1">
          <a:blip r:embed="rId5">
            <a:alphaModFix/>
          </a:blip>
          <a:srcRect/>
          <a:stretch/>
        </p:blipFill>
        <p:spPr>
          <a:xfrm>
            <a:off x="8154099" y="2512422"/>
            <a:ext cx="2312918" cy="1687999"/>
          </a:xfrm>
          <a:prstGeom prst="rect">
            <a:avLst/>
          </a:prstGeom>
          <a:noFill/>
          <a:ln>
            <a:noFill/>
          </a:ln>
        </p:spPr>
      </p:pic>
      <p:sp>
        <p:nvSpPr>
          <p:cNvPr id="3" name="CasellaDiTesto 2">
            <a:extLst>
              <a:ext uri="{FF2B5EF4-FFF2-40B4-BE49-F238E27FC236}">
                <a16:creationId xmlns:a16="http://schemas.microsoft.com/office/drawing/2014/main" id="{F0628736-316D-FE57-7545-3E681F1DA01E}"/>
              </a:ext>
            </a:extLst>
          </p:cNvPr>
          <p:cNvSpPr txBox="1"/>
          <p:nvPr/>
        </p:nvSpPr>
        <p:spPr>
          <a:xfrm>
            <a:off x="1065403" y="780258"/>
            <a:ext cx="10061194"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Risposta al gradino del filtro HP passivo con condensatore reale</a:t>
            </a:r>
          </a:p>
        </p:txBody>
      </p:sp>
      <p:sp>
        <p:nvSpPr>
          <p:cNvPr id="5" name="Segnaposto numero diapositiva 4">
            <a:extLst>
              <a:ext uri="{FF2B5EF4-FFF2-40B4-BE49-F238E27FC236}">
                <a16:creationId xmlns:a16="http://schemas.microsoft.com/office/drawing/2014/main" id="{17C1D95F-8567-9237-EF70-6B4475E5AA1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59</a:t>
            </a:fld>
            <a:endParaRPr lang="it-IT"/>
          </a:p>
        </p:txBody>
      </p:sp>
      <p:sp>
        <p:nvSpPr>
          <p:cNvPr id="4" name="Freccia in giù 3">
            <a:hlinkClick r:id="rId6" action="ppaction://hlinksldjump"/>
            <a:extLst>
              <a:ext uri="{FF2B5EF4-FFF2-40B4-BE49-F238E27FC236}">
                <a16:creationId xmlns:a16="http://schemas.microsoft.com/office/drawing/2014/main" id="{7117B242-F998-602B-3DDC-9BFEAAED4D26}"/>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06877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55"/>
          <p:cNvPicPr preferRelativeResize="0"/>
          <p:nvPr/>
        </p:nvPicPr>
        <p:blipFill rotWithShape="1">
          <a:blip r:embed="rId3">
            <a:alphaModFix/>
          </a:blip>
          <a:srcRect/>
          <a:stretch/>
        </p:blipFill>
        <p:spPr>
          <a:xfrm>
            <a:off x="7222083" y="989548"/>
            <a:ext cx="3775885" cy="2168907"/>
          </a:xfrm>
          <a:prstGeom prst="rect">
            <a:avLst/>
          </a:prstGeom>
          <a:noFill/>
          <a:ln>
            <a:noFill/>
          </a:ln>
        </p:spPr>
      </p:pic>
      <p:sp>
        <p:nvSpPr>
          <p:cNvPr id="566" name="Google Shape;566;p55"/>
          <p:cNvSpPr txBox="1"/>
          <p:nvPr/>
        </p:nvSpPr>
        <p:spPr>
          <a:xfrm>
            <a:off x="1057132" y="751009"/>
            <a:ext cx="55662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Aumentiamo la frequenza:</a:t>
            </a:r>
            <a:endParaRPr dirty="0"/>
          </a:p>
        </p:txBody>
      </p:sp>
      <p:sp>
        <p:nvSpPr>
          <p:cNvPr id="567" name="Google Shape;567;p55"/>
          <p:cNvSpPr txBox="1"/>
          <p:nvPr/>
        </p:nvSpPr>
        <p:spPr>
          <a:xfrm>
            <a:off x="1057132" y="1320365"/>
            <a:ext cx="978480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In questa prova, invece, il segnale ha un periodo di:</a:t>
            </a:r>
            <a:endParaRPr sz="1200" dirty="0">
              <a:latin typeface="Segoe UI" panose="020B0502040204020203" pitchFamily="34" charset="0"/>
              <a:cs typeface="Segoe UI" panose="020B0502040204020203" pitchFamily="34" charset="0"/>
            </a:endParaRPr>
          </a:p>
        </p:txBody>
      </p:sp>
      <p:sp>
        <p:nvSpPr>
          <p:cNvPr id="569" name="Google Shape;569;p55"/>
          <p:cNvSpPr txBox="1"/>
          <p:nvPr/>
        </p:nvSpPr>
        <p:spPr>
          <a:xfrm>
            <a:off x="1008084" y="1689667"/>
            <a:ext cx="5611277" cy="42606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Siamo quindi a una frequenza molto alta, circa 10 MHz.</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Questa frequenza è vicina alla zona in cui i parassiti del condensatore iniziano a diventare importanti, soprattutto l’induttanza parassita ESL.</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Lettura del grafico</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il segnale rosso rappresenta l’ingresso, cioè il gradino applicato al circuito.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dirty="0">
                <a:latin typeface="Segoe UI" panose="020B0502040204020203" pitchFamily="34" charset="0"/>
                <a:cs typeface="Segoe UI" panose="020B0502040204020203" pitchFamily="34" charset="0"/>
              </a:rPr>
              <a:t>La curva verde rappresenta la risposta del condensatore senza parassiti. </a:t>
            </a:r>
            <a:r>
              <a:rPr lang="it-IT" sz="1200" dirty="0">
                <a:latin typeface="Segoe UI" panose="020B0502040204020203" pitchFamily="34" charset="0"/>
                <a:cs typeface="Segoe UI" panose="020B0502040204020203" pitchFamily="34" charset="0"/>
              </a:rPr>
              <a:t>Anche in questo caso si vede che il condensatore non riesce a caricarsi e scaricarsi correttamente: la frequenza è troppo alta rispetto alla costante di tempo del circuito, quindi il condensatore non ha abbastanza tempo per completare il transitorio.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La curva blu rappresenta invece la tensione sul condensatore con parassiti. </a:t>
            </a:r>
            <a:r>
              <a:rPr lang="it-IT" sz="1200" dirty="0">
                <a:latin typeface="Segoe UI" panose="020B0502040204020203" pitchFamily="34" charset="0"/>
                <a:cs typeface="Segoe UI" panose="020B0502040204020203" pitchFamily="34" charset="0"/>
              </a:rPr>
              <a:t>Qui compaiono picchi molto stretti in corrispondenza dei fronti del segnale, cioè quando l’ingresso passa da basso ad alto o da alto a basso.</a:t>
            </a:r>
            <a:endParaRPr sz="1200" dirty="0">
              <a:latin typeface="Segoe UI" panose="020B0502040204020203" pitchFamily="34" charset="0"/>
              <a:cs typeface="Segoe UI" panose="020B0502040204020203" pitchFamily="34" charset="0"/>
            </a:endParaRPr>
          </a:p>
        </p:txBody>
      </p:sp>
      <p:pic>
        <p:nvPicPr>
          <p:cNvPr id="570" name="Google Shape;570;p55"/>
          <p:cNvPicPr preferRelativeResize="0"/>
          <p:nvPr/>
        </p:nvPicPr>
        <p:blipFill rotWithShape="1">
          <a:blip r:embed="rId4">
            <a:alphaModFix/>
          </a:blip>
          <a:srcRect/>
          <a:stretch/>
        </p:blipFill>
        <p:spPr>
          <a:xfrm>
            <a:off x="6619361" y="3559908"/>
            <a:ext cx="4829466" cy="2366914"/>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C4DF531-DE8D-CB19-CFC3-BBBDD04F8091}"/>
                  </a:ext>
                </a:extLst>
              </p:cNvPr>
              <p:cNvSpPr txBox="1"/>
              <p:nvPr/>
            </p:nvSpPr>
            <p:spPr>
              <a:xfrm>
                <a:off x="4702029" y="1397294"/>
                <a:ext cx="9313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𝑇</m:t>
                      </m:r>
                      <m:r>
                        <a:rPr lang="it-IT" b="0" i="1" smtClean="0">
                          <a:latin typeface="Cambria Math" panose="02040503050406030204" pitchFamily="18" charset="0"/>
                        </a:rPr>
                        <m:t>=100</m:t>
                      </m:r>
                      <m:r>
                        <a:rPr lang="it-IT" b="0" i="1" smtClean="0">
                          <a:latin typeface="Cambria Math" panose="02040503050406030204" pitchFamily="18" charset="0"/>
                        </a:rPr>
                        <m:t>𝑚𝑠</m:t>
                      </m:r>
                    </m:oMath>
                  </m:oMathPara>
                </a14:m>
                <a:endParaRPr lang="it-IT" dirty="0"/>
              </a:p>
            </p:txBody>
          </p:sp>
        </mc:Choice>
        <mc:Fallback xmlns="">
          <p:sp>
            <p:nvSpPr>
              <p:cNvPr id="2" name="CasellaDiTesto 1">
                <a:extLst>
                  <a:ext uri="{FF2B5EF4-FFF2-40B4-BE49-F238E27FC236}">
                    <a16:creationId xmlns:a16="http://schemas.microsoft.com/office/drawing/2014/main" id="{DC4DF531-DE8D-CB19-CFC3-BBBDD04F8091}"/>
                  </a:ext>
                </a:extLst>
              </p:cNvPr>
              <p:cNvSpPr txBox="1">
                <a:spLocks noRot="1" noChangeAspect="1" noMove="1" noResize="1" noEditPoints="1" noAdjustHandles="1" noChangeArrowheads="1" noChangeShapeType="1" noTextEdit="1"/>
              </p:cNvSpPr>
              <p:nvPr/>
            </p:nvSpPr>
            <p:spPr>
              <a:xfrm>
                <a:off x="4702029" y="1397294"/>
                <a:ext cx="931345" cy="215444"/>
              </a:xfrm>
              <a:prstGeom prst="rect">
                <a:avLst/>
              </a:prstGeom>
              <a:blipFill>
                <a:blip r:embed="rId5"/>
                <a:stretch>
                  <a:fillRect l="-3268" r="-1961" b="-5556"/>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D8838813-C043-5437-D116-9846319DD5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60</a:t>
            </a:fld>
            <a:endParaRPr lang="it-IT"/>
          </a:p>
        </p:txBody>
      </p:sp>
    </p:spTree>
    <p:extLst>
      <p:ext uri="{BB962C8B-B14F-4D97-AF65-F5344CB8AC3E}">
        <p14:creationId xmlns:p14="http://schemas.microsoft.com/office/powerpoint/2010/main" val="4130188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576" name="Google Shape;576;p56"/>
          <p:cNvPicPr preferRelativeResize="0"/>
          <p:nvPr/>
        </p:nvPicPr>
        <p:blipFill rotWithShape="1">
          <a:blip r:embed="rId3">
            <a:alphaModFix/>
          </a:blip>
          <a:srcRect l="31484" r="50280"/>
          <a:stretch>
            <a:fillRect/>
          </a:stretch>
        </p:blipFill>
        <p:spPr>
          <a:xfrm>
            <a:off x="8605269" y="1659341"/>
            <a:ext cx="1644243" cy="4418952"/>
          </a:xfrm>
          <a:prstGeom prst="rect">
            <a:avLst/>
          </a:prstGeom>
          <a:noFill/>
          <a:ln>
            <a:solidFill>
              <a:schemeClr val="tx1"/>
            </a:solidFill>
          </a:ln>
        </p:spPr>
      </p:pic>
      <p:sp>
        <p:nvSpPr>
          <p:cNvPr id="577" name="Google Shape;577;p56"/>
          <p:cNvSpPr txBox="1"/>
          <p:nvPr/>
        </p:nvSpPr>
        <p:spPr>
          <a:xfrm>
            <a:off x="1042175" y="658850"/>
            <a:ext cx="10107650" cy="134444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Perché compaiono i picchi blu</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 picchi della curva blu sono dovuti al comportamento reale del condensatore. A frequenze così elevate, il condensatore non si comporta più solo come una capacità ideale, ma risente della sua induttanza parassita:</a:t>
            </a:r>
            <a:endParaRPr sz="1200" dirty="0">
              <a:latin typeface="Segoe UI" panose="020B0502040204020203" pitchFamily="34" charset="0"/>
              <a:cs typeface="Segoe UI" panose="020B0502040204020203" pitchFamily="34" charset="0"/>
            </a:endParaRPr>
          </a:p>
        </p:txBody>
      </p:sp>
      <p:pic>
        <p:nvPicPr>
          <p:cNvPr id="578" name="Google Shape;578;p56"/>
          <p:cNvPicPr preferRelativeResize="0"/>
          <p:nvPr/>
        </p:nvPicPr>
        <p:blipFill>
          <a:blip r:embed="rId4">
            <a:alphaModFix/>
          </a:blip>
          <a:stretch>
            <a:fillRect/>
          </a:stretch>
        </p:blipFill>
        <p:spPr>
          <a:xfrm>
            <a:off x="5824537" y="1507433"/>
            <a:ext cx="542925" cy="381000"/>
          </a:xfrm>
          <a:prstGeom prst="rect">
            <a:avLst/>
          </a:prstGeom>
          <a:noFill/>
          <a:ln>
            <a:noFill/>
          </a:ln>
        </p:spPr>
      </p:pic>
      <p:sp>
        <p:nvSpPr>
          <p:cNvPr id="579" name="Google Shape;579;p56"/>
          <p:cNvSpPr txBox="1"/>
          <p:nvPr/>
        </p:nvSpPr>
        <p:spPr>
          <a:xfrm>
            <a:off x="1042175" y="1934625"/>
            <a:ext cx="6903900" cy="414366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L’insieme tra capacità ed induttanza parassita può generare piccoli effetti di risonanza o sovra elongazione nei fronti rapidi.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questo, quando il segnale rosso cambia stato molto velocemente, il condensatore reale produce una risposta impulsiva visibile come picco sulla curva blu.</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sz="1200" b="1" dirty="0">
                <a:latin typeface="Segoe UI" panose="020B0502040204020203" pitchFamily="34" charset="0"/>
                <a:cs typeface="Segoe UI" panose="020B0502040204020203" pitchFamily="34" charset="0"/>
              </a:rPr>
              <a:t>Conclusione</a:t>
            </a:r>
            <a:endParaRPr sz="1200"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A 10 kHz il comportamento del condensatore con parassiti era praticamente identico a quello ideale. A 10 MHz, invece, la frequenza è così alta che il circuito entra in una zona critica.</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condizione si osservano due effetti:</a:t>
            </a:r>
            <a:endParaRPr sz="1200"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ideale, curva verde, non riesce comunque a completare la carica e scarica;</a:t>
            </a:r>
            <a:endParaRPr sz="1200" i="1"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reale, curva blu, mostra in più picchi sui fronti dovuti ai parassiti.</a:t>
            </a:r>
            <a:endParaRPr sz="1200" i="1" dirty="0">
              <a:latin typeface="Segoe UI" panose="020B0502040204020203" pitchFamily="34" charset="0"/>
              <a:cs typeface="Segoe UI" panose="020B0502040204020203" pitchFamily="34" charset="0"/>
            </a:endParaRPr>
          </a:p>
          <a:p>
            <a:pPr lvl="0" algn="l" rtl="0">
              <a:lnSpc>
                <a:spcPct val="115000"/>
              </a:lnSpc>
              <a:spcBef>
                <a:spcPts val="1200"/>
              </a:spcBef>
              <a:spcAft>
                <a:spcPts val="1200"/>
              </a:spcAft>
            </a:pPr>
            <a:r>
              <a:rPr lang="it-IT" sz="1200" u="sng" dirty="0">
                <a:latin typeface="Segoe UI" panose="020B0502040204020203" pitchFamily="34" charset="0"/>
                <a:cs typeface="Segoe UI" panose="020B0502040204020203" pitchFamily="34" charset="0"/>
              </a:rPr>
              <a:t>Quindi il risultato conferma che i parassiti del condensatore sono trascurabili alle basse frequenze, ma diventano visibili quando il segnale contiene fronti molto rapidi e frequenze dell’ordine dei MHz</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24353E32-D1E6-E0DB-DD38-D2C95E64BEA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61</a:t>
            </a:fld>
            <a:endParaRPr lang="it-IT"/>
          </a:p>
        </p:txBody>
      </p:sp>
    </p:spTree>
    <p:extLst>
      <p:ext uri="{BB962C8B-B14F-4D97-AF65-F5344CB8AC3E}">
        <p14:creationId xmlns:p14="http://schemas.microsoft.com/office/powerpoint/2010/main" val="25177416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70;p55">
            <a:extLst>
              <a:ext uri="{FF2B5EF4-FFF2-40B4-BE49-F238E27FC236}">
                <a16:creationId xmlns:a16="http://schemas.microsoft.com/office/drawing/2014/main" id="{4F03BE7A-0639-DEA6-105E-47594082A68E}"/>
              </a:ext>
            </a:extLst>
          </p:cNvPr>
          <p:cNvPicPr preferRelativeResize="0"/>
          <p:nvPr/>
        </p:nvPicPr>
        <p:blipFill rotWithShape="1">
          <a:blip r:embed="rId2">
            <a:alphaModFix/>
          </a:blip>
          <a:srcRect/>
          <a:stretch/>
        </p:blipFill>
        <p:spPr>
          <a:xfrm>
            <a:off x="462658" y="623149"/>
            <a:ext cx="11266684" cy="5521785"/>
          </a:xfrm>
          <a:prstGeom prst="rect">
            <a:avLst/>
          </a:prstGeom>
          <a:noFill/>
          <a:ln>
            <a:solidFill>
              <a:schemeClr val="tx1"/>
            </a:solidFill>
          </a:ln>
        </p:spPr>
      </p:pic>
      <p:pic>
        <p:nvPicPr>
          <p:cNvPr id="3" name="Google Shape;576;p56">
            <a:extLst>
              <a:ext uri="{FF2B5EF4-FFF2-40B4-BE49-F238E27FC236}">
                <a16:creationId xmlns:a16="http://schemas.microsoft.com/office/drawing/2014/main" id="{C30D67BD-4EED-4293-A57A-396BE456B137}"/>
              </a:ext>
            </a:extLst>
          </p:cNvPr>
          <p:cNvPicPr preferRelativeResize="0"/>
          <p:nvPr/>
        </p:nvPicPr>
        <p:blipFill rotWithShape="1">
          <a:blip r:embed="rId3">
            <a:alphaModFix/>
          </a:blip>
          <a:srcRect l="31484" r="50280"/>
          <a:stretch>
            <a:fillRect/>
          </a:stretch>
        </p:blipFill>
        <p:spPr>
          <a:xfrm>
            <a:off x="5137684" y="639384"/>
            <a:ext cx="2057138" cy="5528620"/>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E257B27A-AF56-38FA-10AD-C8D47A8377E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62</a:t>
            </a:fld>
            <a:endParaRPr lang="it-IT"/>
          </a:p>
        </p:txBody>
      </p:sp>
    </p:spTree>
    <p:extLst>
      <p:ext uri="{BB962C8B-B14F-4D97-AF65-F5344CB8AC3E}">
        <p14:creationId xmlns:p14="http://schemas.microsoft.com/office/powerpoint/2010/main" val="53516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7"/>
          <p:cNvSpPr txBox="1"/>
          <p:nvPr/>
        </p:nvSpPr>
        <p:spPr>
          <a:xfrm>
            <a:off x="1003695" y="1382647"/>
            <a:ext cx="10122400" cy="1920495"/>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slide si confronta la risposta del filtro passa-alto quando al nodo </a:t>
            </a:r>
            <a:r>
              <a:rPr lang="it-IT" sz="1200" dirty="0" err="1">
                <a:latin typeface="Segoe UI" panose="020B0502040204020203" pitchFamily="34" charset="0"/>
                <a:cs typeface="Segoe UI" panose="020B0502040204020203" pitchFamily="34" charset="0"/>
                <a:sym typeface="Libre Franklin"/>
              </a:rPr>
              <a:t>outRC</a:t>
            </a:r>
            <a:r>
              <a:rPr lang="it-IT" sz="1200" dirty="0">
                <a:latin typeface="Segoe UI" panose="020B0502040204020203" pitchFamily="34" charset="0"/>
                <a:cs typeface="Segoe UI" panose="020B0502040204020203" pitchFamily="34" charset="0"/>
                <a:sym typeface="Libre Franklin"/>
              </a:rPr>
              <a:t> vengono collegati due carichi resistivi da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 uno in serie e uno in parallelo verso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grafico di Bode la curva verde rappresenta V(</a:t>
            </a:r>
            <a:r>
              <a:rPr lang="it-IT" sz="1200" b="1" dirty="0" err="1">
                <a:latin typeface="Segoe UI" panose="020B0502040204020203" pitchFamily="34" charset="0"/>
                <a:cs typeface="Segoe UI" panose="020B0502040204020203" pitchFamily="34" charset="0"/>
                <a:sym typeface="Libre Franklin"/>
              </a:rPr>
              <a:t>outRC</a:t>
            </a:r>
            <a:r>
              <a:rPr lang="it-IT" sz="1200" b="1" dirty="0">
                <a:latin typeface="Segoe UI" panose="020B0502040204020203" pitchFamily="34" charset="0"/>
                <a:cs typeface="Segoe UI" panose="020B0502040204020203" pitchFamily="34" charset="0"/>
                <a:sym typeface="Libre Franklin"/>
              </a:rPr>
              <a:t>), cioè l’uscita originale del filtro. La curva rossa rappresenta V(</a:t>
            </a:r>
            <a:r>
              <a:rPr lang="it-IT" sz="1200" b="1" dirty="0" err="1">
                <a:latin typeface="Segoe UI" panose="020B0502040204020203" pitchFamily="34" charset="0"/>
                <a:cs typeface="Segoe UI" panose="020B0502040204020203" pitchFamily="34" charset="0"/>
                <a:sym typeface="Libre Franklin"/>
              </a:rPr>
              <a:t>outSerie</a:t>
            </a:r>
            <a:r>
              <a:rPr lang="it-IT" sz="1200" b="1" dirty="0">
                <a:latin typeface="Segoe UI" panose="020B0502040204020203" pitchFamily="34" charset="0"/>
                <a:cs typeface="Segoe UI" panose="020B0502040204020203" pitchFamily="34" charset="0"/>
                <a:sym typeface="Libre Franklin"/>
              </a:rPr>
              <a:t>), ottenuta con il carico in serie, mentre la curva blu rappresenta V(</a:t>
            </a:r>
            <a:r>
              <a:rPr lang="it-IT" sz="1200" b="1" dirty="0" err="1">
                <a:latin typeface="Segoe UI" panose="020B0502040204020203" pitchFamily="34" charset="0"/>
                <a:cs typeface="Segoe UI" panose="020B0502040204020203" pitchFamily="34" charset="0"/>
                <a:sym typeface="Libre Franklin"/>
              </a:rPr>
              <a:t>outParallelo</a:t>
            </a:r>
            <a:r>
              <a:rPr lang="it-IT" sz="1200" b="1" dirty="0">
                <a:latin typeface="Segoe UI" panose="020B0502040204020203" pitchFamily="34" charset="0"/>
                <a:cs typeface="Segoe UI" panose="020B0502040204020203" pitchFamily="34" charset="0"/>
                <a:sym typeface="Libre Franklin"/>
              </a:rPr>
              <a:t>), ottenuta con il carico in parallelo.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Tutte le curve mantengono il comportamento da filtro passa-alto: alle basse frequenze il segnale è attenuato, mentre alle alte frequenze il guadagno tende a 0 dB.</a:t>
            </a:r>
            <a:endParaRPr sz="1200" i="1" dirty="0">
              <a:latin typeface="Segoe UI" panose="020B0502040204020203" pitchFamily="34" charset="0"/>
              <a:cs typeface="Segoe UI" panose="020B0502040204020203" pitchFamily="34" charset="0"/>
              <a:sym typeface="Libre Franklin"/>
            </a:endParaRPr>
          </a:p>
        </p:txBody>
      </p:sp>
      <p:sp>
        <p:nvSpPr>
          <p:cNvPr id="586" name="Google Shape;586;p57"/>
          <p:cNvSpPr txBox="1"/>
          <p:nvPr/>
        </p:nvSpPr>
        <p:spPr>
          <a:xfrm>
            <a:off x="1070100" y="756125"/>
            <a:ext cx="804347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Confronto tra carico in serie e in parallelo</a:t>
            </a:r>
            <a:endParaRPr dirty="0">
              <a:sym typeface="Libre Franklin SemiBold"/>
            </a:endParaRPr>
          </a:p>
        </p:txBody>
      </p:sp>
      <p:pic>
        <p:nvPicPr>
          <p:cNvPr id="2" name="Google Shape;593;p58">
            <a:extLst>
              <a:ext uri="{FF2B5EF4-FFF2-40B4-BE49-F238E27FC236}">
                <a16:creationId xmlns:a16="http://schemas.microsoft.com/office/drawing/2014/main" id="{C80DD1E4-83AE-0E0C-BEA2-4CE170A00453}"/>
              </a:ext>
            </a:extLst>
          </p:cNvPr>
          <p:cNvPicPr preferRelativeResize="0"/>
          <p:nvPr/>
        </p:nvPicPr>
        <p:blipFill rotWithShape="1">
          <a:blip r:embed="rId3">
            <a:alphaModFix/>
          </a:blip>
          <a:srcRect/>
          <a:stretch/>
        </p:blipFill>
        <p:spPr>
          <a:xfrm>
            <a:off x="2107388" y="3360264"/>
            <a:ext cx="7915013" cy="2668692"/>
          </a:xfrm>
          <a:prstGeom prst="rect">
            <a:avLst/>
          </a:prstGeom>
          <a:noFill/>
          <a:ln>
            <a:solidFill>
              <a:schemeClr val="tx1"/>
            </a:solidFill>
          </a:ln>
        </p:spPr>
      </p:pic>
      <p:sp>
        <p:nvSpPr>
          <p:cNvPr id="3" name="Segnaposto numero diapositiva 2">
            <a:extLst>
              <a:ext uri="{FF2B5EF4-FFF2-40B4-BE49-F238E27FC236}">
                <a16:creationId xmlns:a16="http://schemas.microsoft.com/office/drawing/2014/main" id="{CD363E28-E996-10A6-830C-534A4CE9634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63</a:t>
            </a:fld>
            <a:endParaRPr lang="it-IT"/>
          </a:p>
        </p:txBody>
      </p:sp>
    </p:spTree>
    <p:extLst>
      <p:ext uri="{BB962C8B-B14F-4D97-AF65-F5344CB8AC3E}">
        <p14:creationId xmlns:p14="http://schemas.microsoft.com/office/powerpoint/2010/main" val="4105880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58"/>
          <p:cNvPicPr preferRelativeResize="0"/>
          <p:nvPr/>
        </p:nvPicPr>
        <p:blipFill rotWithShape="1">
          <a:blip r:embed="rId3">
            <a:alphaModFix/>
          </a:blip>
          <a:srcRect t="50432"/>
          <a:stretch>
            <a:fillRect/>
          </a:stretch>
        </p:blipFill>
        <p:spPr>
          <a:xfrm>
            <a:off x="710577" y="1503199"/>
            <a:ext cx="3879318" cy="1790715"/>
          </a:xfrm>
          <a:prstGeom prst="rect">
            <a:avLst/>
          </a:prstGeom>
          <a:noFill/>
          <a:ln>
            <a:noFill/>
          </a:ln>
        </p:spPr>
      </p:pic>
      <p:pic>
        <p:nvPicPr>
          <p:cNvPr id="593" name="Google Shape;593;p58"/>
          <p:cNvPicPr preferRelativeResize="0"/>
          <p:nvPr/>
        </p:nvPicPr>
        <p:blipFill rotWithShape="1">
          <a:blip r:embed="rId4">
            <a:alphaModFix/>
          </a:blip>
          <a:srcRect/>
          <a:stretch/>
        </p:blipFill>
        <p:spPr>
          <a:xfrm>
            <a:off x="4544050" y="1503199"/>
            <a:ext cx="6838050" cy="3351299"/>
          </a:xfrm>
          <a:prstGeom prst="rect">
            <a:avLst/>
          </a:prstGeom>
          <a:noFill/>
          <a:ln>
            <a:solidFill>
              <a:schemeClr val="tx1"/>
            </a:solidFill>
          </a:ln>
        </p:spPr>
      </p:pic>
      <p:sp>
        <p:nvSpPr>
          <p:cNvPr id="3" name="CasellaDiTesto 2">
            <a:extLst>
              <a:ext uri="{FF2B5EF4-FFF2-40B4-BE49-F238E27FC236}">
                <a16:creationId xmlns:a16="http://schemas.microsoft.com/office/drawing/2014/main" id="{4297809A-9336-90AD-5A65-359EFF833E76}"/>
              </a:ext>
            </a:extLst>
          </p:cNvPr>
          <p:cNvSpPr txBox="1"/>
          <p:nvPr/>
        </p:nvSpPr>
        <p:spPr>
          <a:xfrm>
            <a:off x="1073792" y="744227"/>
            <a:ext cx="10127608" cy="566565"/>
          </a:xfrm>
          <a:prstGeom prst="rect">
            <a:avLst/>
          </a:prstGeom>
          <a:noFill/>
          <a:ln>
            <a:solidFill>
              <a:schemeClr val="tx1"/>
            </a:solidFill>
          </a:ln>
        </p:spPr>
        <p:txBody>
          <a:bodyPr wrap="square">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400" dirty="0">
                <a:latin typeface="Segoe UI" panose="020B0502040204020203" pitchFamily="34" charset="0"/>
                <a:cs typeface="Segoe UI" panose="020B0502040204020203" pitchFamily="34" charset="0"/>
                <a:sym typeface="Libre Franklin"/>
              </a:rPr>
              <a:t>Il carico in parallelo modifica maggiormente la risposta perché cambia la resistenza equivalente vista dal condensatore, influenzando quindi la frequenza di taglio</a:t>
            </a:r>
          </a:p>
        </p:txBody>
      </p:sp>
      <p:pic>
        <p:nvPicPr>
          <p:cNvPr id="4" name="Google Shape;592;p58">
            <a:extLst>
              <a:ext uri="{FF2B5EF4-FFF2-40B4-BE49-F238E27FC236}">
                <a16:creationId xmlns:a16="http://schemas.microsoft.com/office/drawing/2014/main" id="{B86DB020-DC04-8F0C-4EFE-6D6AD8D2B52F}"/>
              </a:ext>
            </a:extLst>
          </p:cNvPr>
          <p:cNvPicPr preferRelativeResize="0"/>
          <p:nvPr/>
        </p:nvPicPr>
        <p:blipFill rotWithShape="1">
          <a:blip r:embed="rId3">
            <a:alphaModFix/>
          </a:blip>
          <a:srcRect b="53786"/>
          <a:stretch>
            <a:fillRect/>
          </a:stretch>
        </p:blipFill>
        <p:spPr>
          <a:xfrm>
            <a:off x="664732" y="3178848"/>
            <a:ext cx="3879318" cy="1669535"/>
          </a:xfrm>
          <a:prstGeom prst="rect">
            <a:avLst/>
          </a:prstGeom>
          <a:noFill/>
          <a:ln>
            <a:noFill/>
          </a:ln>
        </p:spPr>
      </p:pic>
      <p:sp>
        <p:nvSpPr>
          <p:cNvPr id="6" name="CasellaDiTesto 5">
            <a:extLst>
              <a:ext uri="{FF2B5EF4-FFF2-40B4-BE49-F238E27FC236}">
                <a16:creationId xmlns:a16="http://schemas.microsoft.com/office/drawing/2014/main" id="{3DF0F009-451E-E490-D992-3BB5DE818849}"/>
              </a:ext>
            </a:extLst>
          </p:cNvPr>
          <p:cNvSpPr txBox="1"/>
          <p:nvPr/>
        </p:nvSpPr>
        <p:spPr>
          <a:xfrm>
            <a:off x="1027650" y="5008300"/>
            <a:ext cx="10133901" cy="1062086"/>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a:latin typeface="Segoe UI" panose="020B0502040204020203" pitchFamily="34" charset="0"/>
                <a:cs typeface="Segoe UI" panose="020B0502040204020203" pitchFamily="34" charset="0"/>
              </a:defRPr>
            </a:lvl1pPr>
          </a:lstStyle>
          <a:p>
            <a:r>
              <a:rPr lang="it-IT" dirty="0">
                <a:sym typeface="Libre Franklin"/>
              </a:rPr>
              <a:t>Il carico in serie, invece, non scarica direttamente il nodo verso massa e quindi ha un effetto meno evidente sulla frequenza di taglio.</a:t>
            </a:r>
            <a:br>
              <a:rPr lang="it-IT" dirty="0">
                <a:sym typeface="Libre Franklin"/>
              </a:rPr>
            </a:br>
            <a:r>
              <a:rPr lang="it-IT" dirty="0">
                <a:sym typeface="Libre Franklin"/>
              </a:rPr>
              <a:t>In conclusione, il collegamento del carico è importante: un carico in parallelo altera direttamente il comportamento del filtro, mentre un carico in serie incide soprattutto sul trasferimento del segnale.</a:t>
            </a:r>
          </a:p>
        </p:txBody>
      </p:sp>
      <p:sp>
        <p:nvSpPr>
          <p:cNvPr id="7" name="Segnaposto numero diapositiva 6">
            <a:extLst>
              <a:ext uri="{FF2B5EF4-FFF2-40B4-BE49-F238E27FC236}">
                <a16:creationId xmlns:a16="http://schemas.microsoft.com/office/drawing/2014/main" id="{D63B4058-97DC-EB63-866B-8B09236AFE1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64</a:t>
            </a:fld>
            <a:endParaRPr lang="it-IT"/>
          </a:p>
        </p:txBody>
      </p:sp>
    </p:spTree>
    <p:extLst>
      <p:ext uri="{BB962C8B-B14F-4D97-AF65-F5344CB8AC3E}">
        <p14:creationId xmlns:p14="http://schemas.microsoft.com/office/powerpoint/2010/main" val="6985159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0"/>
          <p:cNvSpPr txBox="1"/>
          <p:nvPr/>
        </p:nvSpPr>
        <p:spPr>
          <a:xfrm>
            <a:off x="1055429" y="611475"/>
            <a:ext cx="10081144" cy="288563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500"/>
              <a:buFont typeface="Libre Franklin"/>
              <a:buNone/>
            </a:pPr>
            <a:r>
              <a:rPr lang="it-IT" b="1" dirty="0">
                <a:latin typeface="Segoe UI" panose="020B0502040204020203" pitchFamily="34" charset="0"/>
                <a:cs typeface="Segoe UI" panose="020B0502040204020203" pitchFamily="34" charset="0"/>
                <a:sym typeface="Libre Franklin"/>
              </a:rPr>
              <a:t>Modello equivalente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Nello schema vengono confrontati due modi di rappresentare il condensatore reale.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sinistra, i parassiti sono disegnati esplicitamente in serie al condensatore: la resistenza R11 = 0.2 Ω rappresenta l’ESR, mentre l’induttanza L2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rappresenta l’ESL.</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destra, invece, gli stessi parassiti sono inseriti direttamente nel modello interno del condensatore C6, come mostrato nella finestra dei parametri di </a:t>
            </a:r>
            <a:r>
              <a:rPr lang="it-IT" sz="1200" b="1" dirty="0" err="1">
                <a:latin typeface="Segoe UI" panose="020B0502040204020203" pitchFamily="34" charset="0"/>
                <a:cs typeface="Segoe UI" panose="020B0502040204020203" pitchFamily="34" charset="0"/>
                <a:sym typeface="Libre Franklin"/>
              </a:rPr>
              <a:t>LTspice</a:t>
            </a:r>
            <a:r>
              <a:rPr lang="it-IT" sz="1200" b="1" dirty="0">
                <a:latin typeface="Segoe UI" panose="020B0502040204020203" pitchFamily="34" charset="0"/>
                <a:cs typeface="Segoe UI" panose="020B0502040204020203" pitchFamily="34" charset="0"/>
                <a:sym typeface="Libre Franklin"/>
              </a:rPr>
              <a:t>.</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u="sng" dirty="0">
                <a:latin typeface="Segoe UI" panose="020B0502040204020203" pitchFamily="34" charset="0"/>
                <a:cs typeface="Segoe UI" panose="020B0502040204020203" pitchFamily="34" charset="0"/>
                <a:sym typeface="Libre Franklin"/>
              </a:rPr>
              <a:t>In entrambi i casi il significato fisico è lo stesso: il condensatore reale è composto da una capacità ideale più piccole componenti resistive e induttive inevitabili.</a:t>
            </a:r>
            <a:endParaRPr sz="1200" u="sng" dirty="0">
              <a:latin typeface="Segoe UI" panose="020B0502040204020203" pitchFamily="34" charset="0"/>
              <a:cs typeface="Segoe UI" panose="020B0502040204020203" pitchFamily="34" charset="0"/>
              <a:sym typeface="Libre Franklin"/>
            </a:endParaRPr>
          </a:p>
        </p:txBody>
      </p:sp>
      <p:pic>
        <p:nvPicPr>
          <p:cNvPr id="611" name="Google Shape;611;p60"/>
          <p:cNvPicPr preferRelativeResize="0"/>
          <p:nvPr/>
        </p:nvPicPr>
        <p:blipFill rotWithShape="1">
          <a:blip r:embed="rId3">
            <a:alphaModFix/>
          </a:blip>
          <a:srcRect/>
          <a:stretch/>
        </p:blipFill>
        <p:spPr>
          <a:xfrm>
            <a:off x="1460499" y="3301068"/>
            <a:ext cx="9100924" cy="2764163"/>
          </a:xfrm>
          <a:prstGeom prst="rect">
            <a:avLst/>
          </a:prstGeom>
          <a:noFill/>
          <a:ln>
            <a:noFill/>
          </a:ln>
        </p:spPr>
      </p:pic>
      <p:sp>
        <p:nvSpPr>
          <p:cNvPr id="2" name="Segnaposto numero diapositiva 1">
            <a:extLst>
              <a:ext uri="{FF2B5EF4-FFF2-40B4-BE49-F238E27FC236}">
                <a16:creationId xmlns:a16="http://schemas.microsoft.com/office/drawing/2014/main" id="{12355514-3270-34D6-114A-2CEDD091445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65</a:t>
            </a:fld>
            <a:endParaRPr lang="it-IT"/>
          </a:p>
        </p:txBody>
      </p:sp>
      <p:sp>
        <p:nvSpPr>
          <p:cNvPr id="3" name="Freccia in giù 2">
            <a:hlinkClick r:id="rId4" action="ppaction://hlinksldjump"/>
            <a:extLst>
              <a:ext uri="{FF2B5EF4-FFF2-40B4-BE49-F238E27FC236}">
                <a16:creationId xmlns:a16="http://schemas.microsoft.com/office/drawing/2014/main" id="{B345355E-D6EE-7747-2F37-593DAF75C70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28507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1"/>
          <p:cNvSpPr txBox="1"/>
          <p:nvPr/>
        </p:nvSpPr>
        <p:spPr>
          <a:xfrm>
            <a:off x="1046575" y="740850"/>
            <a:ext cx="107949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Effetto risonante</a:t>
            </a:r>
            <a:endParaRPr dirty="0">
              <a:sym typeface="Garamond"/>
            </a:endParaRPr>
          </a:p>
        </p:txBody>
      </p:sp>
      <p:pic>
        <p:nvPicPr>
          <p:cNvPr id="619" name="Google Shape;619;p61"/>
          <p:cNvPicPr preferRelativeResize="0"/>
          <p:nvPr/>
        </p:nvPicPr>
        <p:blipFill rotWithShape="1">
          <a:blip r:embed="rId3">
            <a:alphaModFix/>
          </a:blip>
          <a:srcRect/>
          <a:stretch/>
        </p:blipFill>
        <p:spPr>
          <a:xfrm>
            <a:off x="4579733" y="2839674"/>
            <a:ext cx="6506969" cy="3189058"/>
          </a:xfrm>
          <a:prstGeom prst="rect">
            <a:avLst/>
          </a:prstGeom>
          <a:noFill/>
          <a:ln>
            <a:solidFill>
              <a:schemeClr val="tx1"/>
            </a:solidFill>
          </a:ln>
        </p:spPr>
      </p:pic>
      <p:sp>
        <p:nvSpPr>
          <p:cNvPr id="620" name="Google Shape;620;p61"/>
          <p:cNvSpPr txBox="1"/>
          <p:nvPr/>
        </p:nvSpPr>
        <p:spPr>
          <a:xfrm>
            <a:off x="1105298" y="4058014"/>
            <a:ext cx="3101781" cy="1107965"/>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si ottiene una risonanza nell’ordine di alcuni MHz. </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significa che, ad alte frequenze, i parassiti diventano importanti e possono modificare la risposta del filtro.</a:t>
            </a:r>
            <a:endParaRPr sz="1200" dirty="0">
              <a:latin typeface="Segoe UI" panose="020B0502040204020203" pitchFamily="34" charset="0"/>
              <a:cs typeface="Segoe UI" panose="020B0502040204020203" pitchFamily="34" charset="0"/>
              <a:sym typeface="Libre Franklin"/>
            </a:endParaRPr>
          </a:p>
        </p:txBody>
      </p:sp>
      <p:sp>
        <p:nvSpPr>
          <p:cNvPr id="3" name="CasellaDiTesto 2">
            <a:extLst>
              <a:ext uri="{FF2B5EF4-FFF2-40B4-BE49-F238E27FC236}">
                <a16:creationId xmlns:a16="http://schemas.microsoft.com/office/drawing/2014/main" id="{6F13A0C6-04C1-1603-35A8-891877FFC977}"/>
              </a:ext>
            </a:extLst>
          </p:cNvPr>
          <p:cNvSpPr txBox="1"/>
          <p:nvPr/>
        </p:nvSpPr>
        <p:spPr>
          <a:xfrm>
            <a:off x="1046575" y="1434124"/>
            <a:ext cx="10110783" cy="1384995"/>
          </a:xfrm>
          <a:prstGeom prst="rect">
            <a:avLst/>
          </a:prstGeom>
          <a:noFill/>
        </p:spPr>
        <p:txBody>
          <a:bodyPr wrap="square">
            <a:spAutoFit/>
          </a:bodyPr>
          <a:lstStyle/>
          <a:p>
            <a:r>
              <a:rPr lang="it-IT" sz="1200" i="1" u="sng" dirty="0">
                <a:latin typeface="Segoe UI" panose="020B0502040204020203" pitchFamily="34" charset="0"/>
                <a:cs typeface="Segoe UI" panose="020B0502040204020203" pitchFamily="34" charset="0"/>
                <a:sym typeface="Garamond"/>
              </a:rPr>
              <a:t>La presenza dell’ESL introduce un comportamento risonante. A basse frequenze il componente si comporta principalmente come un condensatore, quindi la sua impedenza diminuisce all’aumentare della frequenza.</a:t>
            </a:r>
          </a:p>
          <a:p>
            <a:endParaRPr lang="it-IT" sz="1200" dirty="0">
              <a:latin typeface="Segoe UI" panose="020B0502040204020203" pitchFamily="34" charset="0"/>
              <a:cs typeface="Segoe UI" panose="020B0502040204020203" pitchFamily="34" charset="0"/>
              <a:sym typeface="Garamond"/>
            </a:endParaRPr>
          </a:p>
          <a:p>
            <a:r>
              <a:rPr lang="it-IT" sz="1200" dirty="0">
                <a:latin typeface="Segoe UI" panose="020B0502040204020203" pitchFamily="34" charset="0"/>
                <a:cs typeface="Segoe UI" panose="020B0502040204020203" pitchFamily="34" charset="0"/>
                <a:sym typeface="Garamond"/>
              </a:rPr>
              <a:t>Tuttavia, arrivati alla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la capacità e l’induttanza parassita si compensano. </a:t>
            </a:r>
          </a:p>
          <a:p>
            <a:r>
              <a:rPr lang="it-IT" sz="1200" b="1" dirty="0">
                <a:latin typeface="Segoe UI" panose="020B0502040204020203" pitchFamily="34" charset="0"/>
                <a:cs typeface="Segoe UI" panose="020B0502040204020203" pitchFamily="34" charset="0"/>
                <a:sym typeface="Garamond"/>
              </a:rPr>
              <a:t>Oltre questa frequenza, il componente non si comporta più come un condensatore ideale, ma tende ad assumere un comportamento induttivo.</a:t>
            </a:r>
          </a:p>
          <a:p>
            <a:r>
              <a:rPr lang="it-IT" sz="1200" dirty="0">
                <a:latin typeface="Segoe UI" panose="020B0502040204020203" pitchFamily="34" charset="0"/>
                <a:cs typeface="Segoe UI" panose="020B0502040204020203" pitchFamily="34" charset="0"/>
                <a:sym typeface="Garamond"/>
              </a:rPr>
              <a:t>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può essere stimata con:</a:t>
            </a: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3D5E565B-B53E-F9BA-07E1-EB5B8007BEFA}"/>
                  </a:ext>
                </a:extLst>
              </p:cNvPr>
              <p:cNvSpPr txBox="1"/>
              <p:nvPr/>
            </p:nvSpPr>
            <p:spPr>
              <a:xfrm>
                <a:off x="1664520" y="3276417"/>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4" name="CasellaDiTesto 3">
                <a:extLst>
                  <a:ext uri="{FF2B5EF4-FFF2-40B4-BE49-F238E27FC236}">
                    <a16:creationId xmlns:a16="http://schemas.microsoft.com/office/drawing/2014/main" id="{3D5E565B-B53E-F9BA-07E1-EB5B8007BEFA}"/>
                  </a:ext>
                </a:extLst>
              </p:cNvPr>
              <p:cNvSpPr txBox="1">
                <a:spLocks noRot="1" noChangeAspect="1" noMove="1" noResize="1" noEditPoints="1" noAdjustHandles="1" noChangeArrowheads="1" noChangeShapeType="1" noTextEdit="1"/>
              </p:cNvSpPr>
              <p:nvPr/>
            </p:nvSpPr>
            <p:spPr>
              <a:xfrm>
                <a:off x="1664520" y="3276417"/>
                <a:ext cx="1134606" cy="444994"/>
              </a:xfrm>
              <a:prstGeom prst="rect">
                <a:avLst/>
              </a:prstGeom>
              <a:blipFill>
                <a:blip r:embed="rId4"/>
                <a:stretch>
                  <a:fillRect l="-4301" r="-538" b="-9589"/>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F6F56A08-7D18-F27D-6AAE-EF46A103E3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66</a:t>
            </a:fld>
            <a:endParaRPr lang="it-IT"/>
          </a:p>
        </p:txBody>
      </p:sp>
      <p:sp>
        <p:nvSpPr>
          <p:cNvPr id="2" name="Freccia in giù 1">
            <a:hlinkClick r:id="rId5" action="ppaction://hlinksldjump"/>
            <a:extLst>
              <a:ext uri="{FF2B5EF4-FFF2-40B4-BE49-F238E27FC236}">
                <a16:creationId xmlns:a16="http://schemas.microsoft.com/office/drawing/2014/main" id="{DBC60221-690F-3463-322C-789114CBC49E}"/>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6637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86DB3694-5013-539A-6F42-1C97BD608BEC}"/>
              </a:ext>
            </a:extLst>
          </p:cNvPr>
          <p:cNvPicPr>
            <a:picLocks noChangeAspect="1"/>
          </p:cNvPicPr>
          <p:nvPr/>
        </p:nvPicPr>
        <p:blipFill>
          <a:blip r:embed="rId2"/>
          <a:stretch>
            <a:fillRect/>
          </a:stretch>
        </p:blipFill>
        <p:spPr>
          <a:xfrm>
            <a:off x="550832" y="680269"/>
            <a:ext cx="11090335" cy="5435305"/>
          </a:xfrm>
          <a:prstGeom prst="rect">
            <a:avLst/>
          </a:prstGeom>
        </p:spPr>
      </p:pic>
      <p:sp>
        <p:nvSpPr>
          <p:cNvPr id="4" name="Segnaposto numero diapositiva 3">
            <a:extLst>
              <a:ext uri="{FF2B5EF4-FFF2-40B4-BE49-F238E27FC236}">
                <a16:creationId xmlns:a16="http://schemas.microsoft.com/office/drawing/2014/main" id="{4451C833-8BFC-09D5-A5E7-D98EB11FDAE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67</a:t>
            </a:fld>
            <a:endParaRPr lang="it-IT"/>
          </a:p>
        </p:txBody>
      </p:sp>
    </p:spTree>
    <p:extLst>
      <p:ext uri="{BB962C8B-B14F-4D97-AF65-F5344CB8AC3E}">
        <p14:creationId xmlns:p14="http://schemas.microsoft.com/office/powerpoint/2010/main" val="1854920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0152A3E-63F5-DFE2-E043-3DD27C0748E7}"/>
              </a:ext>
            </a:extLst>
          </p:cNvPr>
          <p:cNvPicPr>
            <a:picLocks noChangeAspect="1"/>
          </p:cNvPicPr>
          <p:nvPr/>
        </p:nvPicPr>
        <p:blipFill>
          <a:blip r:embed="rId2"/>
          <a:stretch>
            <a:fillRect/>
          </a:stretch>
        </p:blipFill>
        <p:spPr>
          <a:xfrm>
            <a:off x="490368" y="670720"/>
            <a:ext cx="11211263" cy="5516560"/>
          </a:xfrm>
          <a:prstGeom prst="rect">
            <a:avLst/>
          </a:prstGeom>
        </p:spPr>
      </p:pic>
      <p:pic>
        <p:nvPicPr>
          <p:cNvPr id="3" name="Immagine 2">
            <a:extLst>
              <a:ext uri="{FF2B5EF4-FFF2-40B4-BE49-F238E27FC236}">
                <a16:creationId xmlns:a16="http://schemas.microsoft.com/office/drawing/2014/main" id="{5F0177A0-AC3F-2769-1B6A-ADC414539E22}"/>
              </a:ext>
            </a:extLst>
          </p:cNvPr>
          <p:cNvPicPr>
            <a:picLocks noChangeAspect="1"/>
          </p:cNvPicPr>
          <p:nvPr/>
        </p:nvPicPr>
        <p:blipFill>
          <a:blip r:embed="rId2"/>
          <a:srcRect l="52893" t="14124" r="35434" b="61088"/>
          <a:stretch>
            <a:fillRect/>
          </a:stretch>
        </p:blipFill>
        <p:spPr>
          <a:xfrm>
            <a:off x="6266575" y="1018027"/>
            <a:ext cx="3112316" cy="3251971"/>
          </a:xfrm>
          <a:prstGeom prst="rect">
            <a:avLst/>
          </a:prstGeom>
        </p:spPr>
      </p:pic>
      <p:sp>
        <p:nvSpPr>
          <p:cNvPr id="4" name="Segnaposto numero diapositiva 3">
            <a:extLst>
              <a:ext uri="{FF2B5EF4-FFF2-40B4-BE49-F238E27FC236}">
                <a16:creationId xmlns:a16="http://schemas.microsoft.com/office/drawing/2014/main" id="{091774DB-BDAF-5B87-97EB-7ED34AFC8F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68</a:t>
            </a:fld>
            <a:endParaRPr lang="it-IT"/>
          </a:p>
        </p:txBody>
      </p:sp>
    </p:spTree>
    <p:extLst>
      <p:ext uri="{BB962C8B-B14F-4D97-AF65-F5344CB8AC3E}">
        <p14:creationId xmlns:p14="http://schemas.microsoft.com/office/powerpoint/2010/main" val="33950887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63"/>
          <p:cNvSpPr txBox="1"/>
          <p:nvPr/>
        </p:nvSpPr>
        <p:spPr>
          <a:xfrm>
            <a:off x="1074625" y="944350"/>
            <a:ext cx="1057440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Dopo la risonanza: effetto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Superata la frequenza di risonanza, domina l’induttanza parassita ESL. Il condensatore reale non si comporta più come un condensatore ideale, ma tende a comportarsi come una piccola induttanza.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Di conseguenza, alle frequenze più alte il guadagno inizia a diminuire. </a:t>
            </a:r>
            <a:r>
              <a:rPr lang="it-IT" sz="1200" b="1" dirty="0">
                <a:latin typeface="Segoe UI" panose="020B0502040204020203" pitchFamily="34" charset="0"/>
                <a:cs typeface="Segoe UI" panose="020B0502040204020203" pitchFamily="34" charset="0"/>
                <a:sym typeface="Libre Franklin"/>
              </a:rPr>
              <a:t>Questo genera un comportamento simile a un filtro passa-basso: dopo la risonanza, le alte frequenze vengono progressivamente attenuate.</a:t>
            </a:r>
            <a:endParaRPr sz="1200" b="1" dirty="0">
              <a:latin typeface="Segoe UI" panose="020B0502040204020203" pitchFamily="34" charset="0"/>
              <a:cs typeface="Segoe UI" panose="020B0502040204020203" pitchFamily="34" charset="0"/>
              <a:sym typeface="Libre Franklin"/>
            </a:endParaRPr>
          </a:p>
        </p:txBody>
      </p:sp>
      <p:pic>
        <p:nvPicPr>
          <p:cNvPr id="641" name="Google Shape;641;p63"/>
          <p:cNvPicPr preferRelativeResize="0"/>
          <p:nvPr/>
        </p:nvPicPr>
        <p:blipFill rotWithShape="1">
          <a:blip r:embed="rId3">
            <a:alphaModFix/>
          </a:blip>
          <a:srcRect/>
          <a:stretch/>
        </p:blipFill>
        <p:spPr>
          <a:xfrm>
            <a:off x="2497162" y="2713684"/>
            <a:ext cx="6793645" cy="3329539"/>
          </a:xfrm>
          <a:prstGeom prst="rect">
            <a:avLst/>
          </a:prstGeom>
          <a:noFill/>
          <a:ln>
            <a:solidFill>
              <a:schemeClr val="tx1"/>
            </a:solidFill>
          </a:ln>
        </p:spPr>
      </p:pic>
      <p:sp>
        <p:nvSpPr>
          <p:cNvPr id="2" name="Ovale 1">
            <a:extLst>
              <a:ext uri="{FF2B5EF4-FFF2-40B4-BE49-F238E27FC236}">
                <a16:creationId xmlns:a16="http://schemas.microsoft.com/office/drawing/2014/main" id="{054859A5-715A-F2BB-4A60-47DAC67737E9}"/>
              </a:ext>
            </a:extLst>
          </p:cNvPr>
          <p:cNvSpPr/>
          <p:nvPr/>
        </p:nvSpPr>
        <p:spPr>
          <a:xfrm>
            <a:off x="6455329" y="2650922"/>
            <a:ext cx="3720518" cy="337237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4E51FD6B-6046-D545-F038-BBF9C1C16E2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69</a:t>
            </a:fld>
            <a:endParaRPr lang="it-IT"/>
          </a:p>
        </p:txBody>
      </p:sp>
      <p:sp>
        <p:nvSpPr>
          <p:cNvPr id="4" name="Freccia in giù 3">
            <a:hlinkClick r:id="rId4" action="ppaction://hlinksldjump"/>
            <a:extLst>
              <a:ext uri="{FF2B5EF4-FFF2-40B4-BE49-F238E27FC236}">
                <a16:creationId xmlns:a16="http://schemas.microsoft.com/office/drawing/2014/main" id="{C75D143D-45EC-97BF-55CC-B3515443702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936292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4"/>
          <p:cNvSpPr txBox="1"/>
          <p:nvPr/>
        </p:nvSpPr>
        <p:spPr>
          <a:xfrm>
            <a:off x="1048950" y="1389319"/>
            <a:ext cx="10094100" cy="763256"/>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circuito reale il condensatore non è ideale: </a:t>
            </a:r>
            <a:r>
              <a:rPr lang="it-IT" sz="1200" b="1" dirty="0">
                <a:latin typeface="Segoe UI" panose="020B0502040204020203" pitchFamily="34" charset="0"/>
                <a:cs typeface="Segoe UI" panose="020B0502040204020203" pitchFamily="34" charset="0"/>
                <a:sym typeface="Libre Franklin"/>
              </a:rPr>
              <a:t>oltre alla capacità C =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sono presenti i parassiti ESR = 0,2 Ω ed ESL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Questi parassiti introducono una frequenza di risonanza propria del componente.</a:t>
            </a:r>
            <a:endParaRPr sz="1200" b="1" dirty="0">
              <a:latin typeface="Segoe UI" panose="020B0502040204020203" pitchFamily="34" charset="0"/>
              <a:cs typeface="Segoe UI" panose="020B0502040204020203" pitchFamily="34" charset="0"/>
              <a:sym typeface="Libre Franklin"/>
            </a:endParaRPr>
          </a:p>
        </p:txBody>
      </p:sp>
      <p:sp>
        <p:nvSpPr>
          <p:cNvPr id="649" name="Google Shape;649;p64"/>
          <p:cNvSpPr txBox="1"/>
          <p:nvPr/>
        </p:nvSpPr>
        <p:spPr>
          <a:xfrm>
            <a:off x="1048950" y="2815070"/>
            <a:ext cx="10094100" cy="112951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nSpc>
                <a:spcPct val="115000"/>
              </a:lnSpc>
              <a:spcBef>
                <a:spcPts val="1200"/>
              </a:spcBef>
              <a:buClr>
                <a:schemeClr val="dk1"/>
              </a:buClr>
              <a:buSzPts val="1300"/>
              <a:buFont typeface="Libre Franklin"/>
              <a:buNone/>
              <a:defRPr sz="1200" b="1">
                <a:latin typeface="Segoe UI" panose="020B0502040204020203" pitchFamily="34" charset="0"/>
                <a:cs typeface="Segoe UI" panose="020B0502040204020203" pitchFamily="34" charset="0"/>
              </a:defRPr>
            </a:lvl1pPr>
          </a:lstStyle>
          <a:p>
            <a:pPr algn="ctr"/>
            <a:r>
              <a:rPr lang="it-IT" dirty="0">
                <a:sym typeface="Libre Franklin"/>
              </a:rPr>
              <a:t>Quindi, cambiando R, cambia il prodotto RC e di conseguenza si sposta la frequenza di taglio. </a:t>
            </a:r>
            <a:br>
              <a:rPr lang="it-IT" dirty="0">
                <a:sym typeface="Libre Franklin"/>
              </a:rPr>
            </a:br>
            <a:r>
              <a:rPr lang="it-IT" dirty="0">
                <a:sym typeface="Libre Franklin"/>
              </a:rPr>
              <a:t>Se R aumenta, </a:t>
            </a:r>
            <a:r>
              <a:rPr lang="it-IT" dirty="0" err="1">
                <a:sym typeface="Libre Franklin"/>
              </a:rPr>
              <a:t>Fc</a:t>
            </a:r>
            <a:r>
              <a:rPr lang="it-IT" dirty="0">
                <a:sym typeface="Libre Franklin"/>
              </a:rPr>
              <a:t> diminuisce; se R diminuisce, </a:t>
            </a:r>
            <a:r>
              <a:rPr lang="it-IT" dirty="0" err="1">
                <a:sym typeface="Libre Franklin"/>
              </a:rPr>
              <a:t>Fc</a:t>
            </a:r>
            <a:r>
              <a:rPr lang="it-IT" dirty="0">
                <a:sym typeface="Libre Franklin"/>
              </a:rPr>
              <a:t>  aumenta. </a:t>
            </a:r>
            <a:endParaRPr lang="it-IT" b="0" dirty="0">
              <a:sym typeface="Libre Franklin"/>
            </a:endParaRPr>
          </a:p>
          <a:p>
            <a:pPr algn="ctr"/>
            <a:r>
              <a:rPr lang="it-IT" b="0" dirty="0">
                <a:sym typeface="Libre Franklin"/>
              </a:rPr>
              <a:t>Questo spiega lo spostamento laterale della parte iniziale della curva di Bode.</a:t>
            </a:r>
            <a:endParaRPr b="0" dirty="0">
              <a:sym typeface="Libre Franklin"/>
            </a:endParaRPr>
          </a:p>
        </p:txBody>
      </p:sp>
      <p:sp>
        <p:nvSpPr>
          <p:cNvPr id="2" name="Google Shape;657;p65">
            <a:extLst>
              <a:ext uri="{FF2B5EF4-FFF2-40B4-BE49-F238E27FC236}">
                <a16:creationId xmlns:a16="http://schemas.microsoft.com/office/drawing/2014/main" id="{280FF050-FD7B-A04E-4AB7-4760B89512AB}"/>
              </a:ext>
            </a:extLst>
          </p:cNvPr>
          <p:cNvSpPr txBox="1"/>
          <p:nvPr/>
        </p:nvSpPr>
        <p:spPr>
          <a:xfrm>
            <a:off x="1048950" y="4287595"/>
            <a:ext cx="10094100" cy="170813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b="1" dirty="0">
                <a:sym typeface="Libre Franklin"/>
              </a:rPr>
              <a:t>Conclusioni:</a:t>
            </a:r>
            <a:endParaRPr dirty="0">
              <a:sym typeface="Libre Franklin"/>
            </a:endParaRPr>
          </a:p>
          <a:p>
            <a:pPr algn="ctr"/>
            <a:r>
              <a:rPr lang="it-IT" dirty="0">
                <a:sym typeface="Libre Franklin"/>
              </a:rPr>
              <a:t>Poiché cambiando R non vengono modificati né C né ESL, la frequenza di risonanza rimane praticamente nella stessa posizione. Cambia la forma della curva e cambia la frequenza di taglio, ma il punto in cui il condensatore entra in risonanza resta fissato dal componente reale.</a:t>
            </a:r>
            <a:endParaRPr dirty="0">
              <a:sym typeface="Libre Franklin"/>
            </a:endParaRPr>
          </a:p>
          <a:p>
            <a:pPr algn="ctr"/>
            <a:r>
              <a:rPr lang="it-IT" dirty="0">
                <a:sym typeface="Libre Franklin"/>
              </a:rPr>
              <a:t>Nel grafico si vede quindi che la parte passa-alto si sposta con R, mentre la caduta ad alta frequenza dovuta alla risonanza/parassiti resta centrata circa nella stessa zona. In sintesi: R regola </a:t>
            </a:r>
            <a:r>
              <a:rPr lang="it-IT" dirty="0" err="1">
                <a:sym typeface="Libre Franklin"/>
              </a:rPr>
              <a:t>fc</a:t>
            </a:r>
            <a:r>
              <a:rPr lang="it-IT" dirty="0">
                <a:sym typeface="Libre Franklin"/>
              </a:rPr>
              <a:t>​, mentre C ed ESL fissano fr​.</a:t>
            </a:r>
            <a:endParaRPr dirty="0">
              <a:sym typeface="Libre Franklin"/>
            </a:endParaRPr>
          </a:p>
        </p:txBody>
      </p:sp>
      <p:sp>
        <p:nvSpPr>
          <p:cNvPr id="4" name="CasellaDiTesto 3">
            <a:extLst>
              <a:ext uri="{FF2B5EF4-FFF2-40B4-BE49-F238E27FC236}">
                <a16:creationId xmlns:a16="http://schemas.microsoft.com/office/drawing/2014/main" id="{19B92748-64DC-5661-2FB8-ED33863A996D}"/>
              </a:ext>
            </a:extLst>
          </p:cNvPr>
          <p:cNvSpPr txBox="1"/>
          <p:nvPr/>
        </p:nvSpPr>
        <p:spPr>
          <a:xfrm>
            <a:off x="1048950" y="839935"/>
            <a:ext cx="10094100" cy="318805"/>
          </a:xfrm>
          <a:prstGeom prst="rect">
            <a:avLst/>
          </a:prstGeom>
          <a:noFill/>
        </p:spPr>
        <p:txBody>
          <a:bodyPr wrap="square">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Effetto di R (cambia </a:t>
            </a:r>
            <a:r>
              <a:rPr lang="it-IT" b="1" dirty="0" err="1">
                <a:latin typeface="Segoe UI" panose="020B0502040204020203" pitchFamily="34" charset="0"/>
                <a:cs typeface="Segoe UI" panose="020B0502040204020203" pitchFamily="34" charset="0"/>
                <a:sym typeface="Libre Franklin"/>
              </a:rPr>
              <a:t>Fc</a:t>
            </a:r>
            <a:r>
              <a:rPr lang="it-IT" b="1" dirty="0">
                <a:latin typeface="Segoe UI" panose="020B0502040204020203" pitchFamily="34" charset="0"/>
                <a:cs typeface="Segoe UI" panose="020B0502040204020203" pitchFamily="34" charset="0"/>
                <a:sym typeface="Libre Franklin"/>
              </a:rPr>
              <a:t>, ma non cambia Fr)</a:t>
            </a:r>
          </a:p>
        </p:txBody>
      </p:sp>
      <p:sp>
        <p:nvSpPr>
          <p:cNvPr id="5" name="Segnaposto numero diapositiva 4">
            <a:extLst>
              <a:ext uri="{FF2B5EF4-FFF2-40B4-BE49-F238E27FC236}">
                <a16:creationId xmlns:a16="http://schemas.microsoft.com/office/drawing/2014/main" id="{CB5A1F06-BE03-02B3-8B46-08C2323B540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70</a:t>
            </a:fld>
            <a:endParaRPr lang="it-IT"/>
          </a:p>
        </p:txBody>
      </p:sp>
    </p:spTree>
    <p:extLst>
      <p:ext uri="{BB962C8B-B14F-4D97-AF65-F5344CB8AC3E}">
        <p14:creationId xmlns:p14="http://schemas.microsoft.com/office/powerpoint/2010/main" val="1786227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4E9D5F-5FC3-118E-0F36-11A709CEB3B4}"/>
              </a:ext>
            </a:extLst>
          </p:cNvPr>
          <p:cNvPicPr>
            <a:picLocks noChangeAspect="1"/>
          </p:cNvPicPr>
          <p:nvPr/>
        </p:nvPicPr>
        <p:blipFill>
          <a:blip r:embed="rId2"/>
          <a:stretch>
            <a:fillRect/>
          </a:stretch>
        </p:blipFill>
        <p:spPr>
          <a:xfrm>
            <a:off x="684218" y="776719"/>
            <a:ext cx="10823564" cy="5304562"/>
          </a:xfrm>
          <a:prstGeom prst="rect">
            <a:avLst/>
          </a:prstGeom>
        </p:spPr>
      </p:pic>
      <p:pic>
        <p:nvPicPr>
          <p:cNvPr id="3" name="Immagine 2">
            <a:extLst>
              <a:ext uri="{FF2B5EF4-FFF2-40B4-BE49-F238E27FC236}">
                <a16:creationId xmlns:a16="http://schemas.microsoft.com/office/drawing/2014/main" id="{B557CA9F-D4FE-7DC9-A166-8968CFD8AB0D}"/>
              </a:ext>
            </a:extLst>
          </p:cNvPr>
          <p:cNvPicPr>
            <a:picLocks noChangeAspect="1"/>
          </p:cNvPicPr>
          <p:nvPr/>
        </p:nvPicPr>
        <p:blipFill>
          <a:blip r:embed="rId3"/>
          <a:stretch>
            <a:fillRect/>
          </a:stretch>
        </p:blipFill>
        <p:spPr>
          <a:xfrm>
            <a:off x="2338594" y="3808602"/>
            <a:ext cx="7514812" cy="1939454"/>
          </a:xfrm>
          <a:prstGeom prst="rect">
            <a:avLst/>
          </a:prstGeom>
        </p:spPr>
      </p:pic>
      <p:sp>
        <p:nvSpPr>
          <p:cNvPr id="4" name="Segnaposto numero diapositiva 3">
            <a:extLst>
              <a:ext uri="{FF2B5EF4-FFF2-40B4-BE49-F238E27FC236}">
                <a16:creationId xmlns:a16="http://schemas.microsoft.com/office/drawing/2014/main" id="{0C7A9A83-15CC-A0A0-F31B-43DBE0E7D14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71</a:t>
            </a:fld>
            <a:endParaRPr lang="it-IT"/>
          </a:p>
        </p:txBody>
      </p:sp>
    </p:spTree>
    <p:extLst>
      <p:ext uri="{BB962C8B-B14F-4D97-AF65-F5344CB8AC3E}">
        <p14:creationId xmlns:p14="http://schemas.microsoft.com/office/powerpoint/2010/main" val="34202051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6137FFEC-3663-DBAC-B959-4DF92D041088}"/>
            </a:ext>
          </a:extLst>
        </p:cNvPr>
        <p:cNvGrpSpPr/>
        <p:nvPr/>
      </p:nvGrpSpPr>
      <p:grpSpPr>
        <a:xfrm>
          <a:off x="0" y="0"/>
          <a:ext cx="0" cy="0"/>
          <a:chOff x="0" y="0"/>
          <a:chExt cx="0" cy="0"/>
        </a:xfrm>
      </p:grpSpPr>
      <p:sp>
        <p:nvSpPr>
          <p:cNvPr id="672" name="Google Shape;672;p67">
            <a:extLst>
              <a:ext uri="{FF2B5EF4-FFF2-40B4-BE49-F238E27FC236}">
                <a16:creationId xmlns:a16="http://schemas.microsoft.com/office/drawing/2014/main" id="{9AFC1584-C36D-54C9-9574-B0A65A08BA4B}"/>
              </a:ext>
            </a:extLst>
          </p:cNvPr>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a:extLst>
              <a:ext uri="{FF2B5EF4-FFF2-40B4-BE49-F238E27FC236}">
                <a16:creationId xmlns:a16="http://schemas.microsoft.com/office/drawing/2014/main" id="{322F4B6B-40CC-0629-CE2A-8D367EFD5F74}"/>
              </a:ext>
            </a:extLst>
          </p:cNvPr>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a:extLst>
              <a:ext uri="{FF2B5EF4-FFF2-40B4-BE49-F238E27FC236}">
                <a16:creationId xmlns:a16="http://schemas.microsoft.com/office/drawing/2014/main" id="{70527A03-96F9-FAA4-767F-0DC1B41D8413}"/>
              </a:ext>
            </a:extLst>
          </p:cNvPr>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a:extLst>
              <a:ext uri="{FF2B5EF4-FFF2-40B4-BE49-F238E27FC236}">
                <a16:creationId xmlns:a16="http://schemas.microsoft.com/office/drawing/2014/main" id="{949B3E78-7570-5FC7-DE04-852013269F45}"/>
              </a:ext>
            </a:extLst>
          </p:cNvPr>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a:extLst>
              <a:ext uri="{FF2B5EF4-FFF2-40B4-BE49-F238E27FC236}">
                <a16:creationId xmlns:a16="http://schemas.microsoft.com/office/drawing/2014/main" id="{649B3A23-5353-4C1E-DF29-4D3C86B81863}"/>
              </a:ext>
            </a:extLst>
          </p:cNvPr>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a:extLst>
              <a:ext uri="{FF2B5EF4-FFF2-40B4-BE49-F238E27FC236}">
                <a16:creationId xmlns:a16="http://schemas.microsoft.com/office/drawing/2014/main" id="{0BC519A8-F4AC-D1C3-77DF-7D4AA1F27691}"/>
              </a:ext>
            </a:extLst>
          </p:cNvPr>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30D24BCD-8CF6-4452-FA84-587018224499}"/>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85826290-F12F-B01D-D38D-E41B73AE0BA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72</a:t>
            </a:fld>
            <a:endParaRPr lang="it-IT"/>
          </a:p>
        </p:txBody>
      </p:sp>
    </p:spTree>
    <p:extLst>
      <p:ext uri="{BB962C8B-B14F-4D97-AF65-F5344CB8AC3E}">
        <p14:creationId xmlns:p14="http://schemas.microsoft.com/office/powerpoint/2010/main" val="5879167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68"/>
          <p:cNvSpPr txBox="1"/>
          <p:nvPr/>
        </p:nvSpPr>
        <p:spPr>
          <a:xfrm>
            <a:off x="1059809" y="1671850"/>
            <a:ext cx="10041622" cy="1129510"/>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endParaRPr sz="1200" dirty="0">
              <a:latin typeface="Segoe UI" panose="020B0502040204020203" pitchFamily="34" charset="0"/>
              <a:cs typeface="Segoe UI" panose="020B0502040204020203" pitchFamily="34" charset="0"/>
              <a:sym typeface="Libre Franklin"/>
            </a:endParaRPr>
          </a:p>
          <a:p>
            <a:pPr marL="0" marR="0" lvl="0" indent="0" algn="ctr"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condizioni ideali, con retroazione negativa,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tende a mantenere i due ingressi alla stessa tensione:</a:t>
            </a:r>
            <a:endParaRPr sz="1200" dirty="0">
              <a:latin typeface="Segoe UI" panose="020B0502040204020203" pitchFamily="34" charset="0"/>
              <a:cs typeface="Segoe UI" panose="020B0502040204020203" pitchFamily="34" charset="0"/>
              <a:sym typeface="Libre Franklin"/>
            </a:endParaRPr>
          </a:p>
        </p:txBody>
      </p:sp>
      <p:sp>
        <p:nvSpPr>
          <p:cNvPr id="685" name="Google Shape;685;p68"/>
          <p:cNvSpPr txBox="1"/>
          <p:nvPr/>
        </p:nvSpPr>
        <p:spPr>
          <a:xfrm>
            <a:off x="1059809" y="3886108"/>
            <a:ext cx="10143000" cy="3693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principio permette di costruire circuiti con guadagno controllato tramite resistenze esterne.</a:t>
            </a:r>
            <a:endParaRPr sz="1200" dirty="0">
              <a:latin typeface="Segoe UI" panose="020B0502040204020203" pitchFamily="34" charset="0"/>
              <a:cs typeface="Segoe UI" panose="020B0502040204020203" pitchFamily="34" charset="0"/>
              <a:sym typeface="Libre Franklin"/>
            </a:endParaRPr>
          </a:p>
        </p:txBody>
      </p:sp>
      <p:sp>
        <p:nvSpPr>
          <p:cNvPr id="686" name="Google Shape;686;p68"/>
          <p:cNvSpPr txBox="1"/>
          <p:nvPr/>
        </p:nvSpPr>
        <p:spPr>
          <a:xfrm>
            <a:off x="1059809" y="4291220"/>
            <a:ext cx="10924500"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Un filtro attivo con operazionale può essere realizzato in due configurazioni principali: non invertente e invertente. </a:t>
            </a:r>
            <a:endParaRPr sz="1200" i="1" u="sng" dirty="0">
              <a:latin typeface="Segoe UI" panose="020B0502040204020203" pitchFamily="34" charset="0"/>
              <a:cs typeface="Segoe UI" panose="020B0502040204020203" pitchFamily="34" charset="0"/>
              <a:sym typeface="Libre Franklin"/>
            </a:endParaRPr>
          </a:p>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In entrambi i casi la rete RC determina la frequenza di taglio, mentre l’operazionale definisce il guadagno e la fase del segnale in uscita.</a:t>
            </a:r>
            <a:endParaRPr sz="1200" i="1" u="sng"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1B8CCA5-C5D7-6625-5EC1-22EE9169EE62}"/>
                  </a:ext>
                </a:extLst>
              </p:cNvPr>
              <p:cNvSpPr txBox="1"/>
              <p:nvPr/>
            </p:nvSpPr>
            <p:spPr>
              <a:xfrm>
                <a:off x="5628637" y="3080475"/>
                <a:ext cx="9039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r>
                        <a:rPr lang="it-IT" sz="1800" b="1" i="0">
                          <a:latin typeface="Cambria Math" panose="02040503050406030204" pitchFamily="18" charset="0"/>
                        </a:rPr>
                        <m:t>=</m:t>
                      </m:r>
                      <m:sSub>
                        <m:sSubPr>
                          <m:ctrlPr>
                            <a:rPr lang="it-IT" sz="1800" b="1" i="1">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oMath>
                  </m:oMathPara>
                </a14:m>
                <a:endParaRPr lang="it-IT" sz="1800" b="1" dirty="0"/>
              </a:p>
            </p:txBody>
          </p:sp>
        </mc:Choice>
        <mc:Fallback xmlns="">
          <p:sp>
            <p:nvSpPr>
              <p:cNvPr id="2" name="CasellaDiTesto 1">
                <a:extLst>
                  <a:ext uri="{FF2B5EF4-FFF2-40B4-BE49-F238E27FC236}">
                    <a16:creationId xmlns:a16="http://schemas.microsoft.com/office/drawing/2014/main" id="{D1B8CCA5-C5D7-6625-5EC1-22EE9169EE62}"/>
                  </a:ext>
                </a:extLst>
              </p:cNvPr>
              <p:cNvSpPr txBox="1">
                <a:spLocks noRot="1" noChangeAspect="1" noMove="1" noResize="1" noEditPoints="1" noAdjustHandles="1" noChangeArrowheads="1" noChangeShapeType="1" noTextEdit="1"/>
              </p:cNvSpPr>
              <p:nvPr/>
            </p:nvSpPr>
            <p:spPr>
              <a:xfrm>
                <a:off x="5628637" y="3080475"/>
                <a:ext cx="903965" cy="276999"/>
              </a:xfrm>
              <a:prstGeom prst="rect">
                <a:avLst/>
              </a:prstGeom>
              <a:blipFill>
                <a:blip r:embed="rId3"/>
                <a:stretch>
                  <a:fillRect l="-2685" b="-15217"/>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C884A97B-F30C-E1BB-B2B8-31B06C627B7E}"/>
              </a:ext>
            </a:extLst>
          </p:cNvPr>
          <p:cNvSpPr txBox="1"/>
          <p:nvPr/>
        </p:nvSpPr>
        <p:spPr>
          <a:xfrm>
            <a:off x="1059809" y="736646"/>
            <a:ext cx="6115574" cy="30777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OPAMP</a:t>
            </a:r>
            <a:endParaRPr lang="it-IT" dirty="0"/>
          </a:p>
        </p:txBody>
      </p:sp>
      <p:sp>
        <p:nvSpPr>
          <p:cNvPr id="5" name="Segnaposto numero diapositiva 4">
            <a:extLst>
              <a:ext uri="{FF2B5EF4-FFF2-40B4-BE49-F238E27FC236}">
                <a16:creationId xmlns:a16="http://schemas.microsoft.com/office/drawing/2014/main" id="{450FC24E-4D68-E8F1-3371-EDC5C67234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73</a:t>
            </a:fld>
            <a:endParaRPr lang="it-IT"/>
          </a:p>
        </p:txBody>
      </p:sp>
      <p:sp>
        <p:nvSpPr>
          <p:cNvPr id="3" name="Freccia in giù 2">
            <a:hlinkClick r:id="rId4" action="ppaction://hlinksldjump"/>
            <a:extLst>
              <a:ext uri="{FF2B5EF4-FFF2-40B4-BE49-F238E27FC236}">
                <a16:creationId xmlns:a16="http://schemas.microsoft.com/office/drawing/2014/main" id="{AA5AE7EE-3B62-CBAE-F521-D80BA31CFDBA}"/>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5363201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9"/>
          <p:cNvSpPr txBox="1"/>
          <p:nvPr/>
        </p:nvSpPr>
        <p:spPr>
          <a:xfrm>
            <a:off x="1069595" y="944375"/>
            <a:ext cx="10062595"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Configurazione non invertente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configurazione non invertente, il segnale viene applicato all’ingresso (+). In questo caso l’uscita mantiene la stessa fase del segnale di ingresso: se Vin​ aumenta, anche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aumenta.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guadagno è:</a:t>
            </a:r>
            <a:endParaRPr sz="1200" dirty="0">
              <a:latin typeface="Segoe UI" panose="020B0502040204020203" pitchFamily="34" charset="0"/>
              <a:cs typeface="Segoe UI" panose="020B0502040204020203" pitchFamily="34" charset="0"/>
              <a:sym typeface="Libre Franklin"/>
            </a:endParaRPr>
          </a:p>
        </p:txBody>
      </p:sp>
      <p:sp>
        <p:nvSpPr>
          <p:cNvPr id="694" name="Google Shape;694;p69"/>
          <p:cNvSpPr txBox="1"/>
          <p:nvPr/>
        </p:nvSpPr>
        <p:spPr>
          <a:xfrm>
            <a:off x="1069596" y="321106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p:sp>
        <p:nvSpPr>
          <p:cNvPr id="695" name="Google Shape;695;p69"/>
          <p:cNvSpPr txBox="1"/>
          <p:nvPr/>
        </p:nvSpPr>
        <p:spPr>
          <a:xfrm>
            <a:off x="1069596" y="4572693"/>
            <a:ext cx="5026404" cy="474600"/>
          </a:xfrm>
          <a:prstGeom prst="rect">
            <a:avLst/>
          </a:prstGeom>
          <a:noFill/>
          <a:ln>
            <a:noFill/>
          </a:ln>
        </p:spPr>
        <p:txBody>
          <a:bodyPr spcFirstLastPara="1" wrap="square" lIns="91425" tIns="91425" rIns="91425" bIns="91425" anchor="t" anchorCtr="0">
            <a:noAutofit/>
          </a:bodyPr>
          <a:lstStyle/>
          <a:p>
            <a:pPr>
              <a:buClr>
                <a:schemeClr val="dk1"/>
              </a:buClr>
              <a:buSzPts val="1300"/>
            </a:pPr>
            <a:r>
              <a:rPr lang="it-IT" sz="1200" dirty="0">
                <a:latin typeface="Segoe UI" panose="020B0502040204020203" pitchFamily="34" charset="0"/>
                <a:cs typeface="Segoe UI" panose="020B0502040204020203" pitchFamily="34" charset="0"/>
                <a:sym typeface="Libre Franklin"/>
              </a:rPr>
              <a:t>Questa configurazione amplifica il segnale senza invertirlo.</a:t>
            </a:r>
            <a:endParaRPr sz="1200" dirty="0">
              <a:latin typeface="Segoe UI" panose="020B0502040204020203" pitchFamily="34" charset="0"/>
              <a:cs typeface="Segoe UI" panose="020B0502040204020203" pitchFamily="34" charset="0"/>
              <a:sym typeface="Libre Franklin"/>
            </a:endParaRPr>
          </a:p>
        </p:txBody>
      </p:sp>
      <p:pic>
        <p:nvPicPr>
          <p:cNvPr id="696" name="Google Shape;696;p69"/>
          <p:cNvPicPr preferRelativeResize="0"/>
          <p:nvPr/>
        </p:nvPicPr>
        <p:blipFill rotWithShape="1">
          <a:blip r:embed="rId3">
            <a:alphaModFix/>
          </a:blip>
          <a:srcRect/>
          <a:stretch/>
        </p:blipFill>
        <p:spPr>
          <a:xfrm>
            <a:off x="5358210" y="2304969"/>
            <a:ext cx="6003323" cy="3563621"/>
          </a:xfrm>
          <a:prstGeom prst="rect">
            <a:avLst/>
          </a:prstGeom>
          <a:noFill/>
          <a:ln>
            <a:no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AAC4358-2B2E-56AF-CAEE-69A33DFB8CE7}"/>
                  </a:ext>
                </a:extLst>
              </p:cNvPr>
              <p:cNvSpPr txBox="1"/>
              <p:nvPr/>
            </p:nvSpPr>
            <p:spPr>
              <a:xfrm>
                <a:off x="3085034" y="2741777"/>
                <a:ext cx="99552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2" name="CasellaDiTesto 1">
                <a:extLst>
                  <a:ext uri="{FF2B5EF4-FFF2-40B4-BE49-F238E27FC236}">
                    <a16:creationId xmlns:a16="http://schemas.microsoft.com/office/drawing/2014/main" id="{8AAC4358-2B2E-56AF-CAEE-69A33DFB8CE7}"/>
                  </a:ext>
                </a:extLst>
              </p:cNvPr>
              <p:cNvSpPr txBox="1">
                <a:spLocks noRot="1" noChangeAspect="1" noMove="1" noResize="1" noEditPoints="1" noAdjustHandles="1" noChangeArrowheads="1" noChangeShapeType="1" noTextEdit="1"/>
              </p:cNvSpPr>
              <p:nvPr/>
            </p:nvSpPr>
            <p:spPr>
              <a:xfrm>
                <a:off x="3085034" y="2741777"/>
                <a:ext cx="995529" cy="470322"/>
              </a:xfrm>
              <a:prstGeom prst="rect">
                <a:avLst/>
              </a:prstGeom>
              <a:blipFill>
                <a:blip r:embed="rId4"/>
                <a:stretch>
                  <a:fillRect l="-3067" r="-1840" b="-779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C2576B57-0449-58D3-6D04-395C60160D0D}"/>
                  </a:ext>
                </a:extLst>
              </p:cNvPr>
              <p:cNvSpPr txBox="1"/>
              <p:nvPr/>
            </p:nvSpPr>
            <p:spPr>
              <a:xfrm>
                <a:off x="2846346" y="3746014"/>
                <a:ext cx="1472904"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r>
                        <a:rPr lang="it-IT" b="0" i="1" smtClean="0">
                          <a:latin typeface="Cambria Math" panose="02040503050406030204" pitchFamily="18" charset="0"/>
                        </a:rPr>
                        <m:t>(</m:t>
                      </m:r>
                      <m:r>
                        <a:rPr lang="it-IT">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r>
                        <a:rPr lang="it-IT" b="0" i="1" smtClean="0">
                          <a:latin typeface="Cambria Math" panose="02040503050406030204" pitchFamily="18" charset="0"/>
                        </a:rPr>
                        <m:t>)</m:t>
                      </m:r>
                    </m:oMath>
                  </m:oMathPara>
                </a14:m>
                <a:endParaRPr lang="it-IT" dirty="0"/>
              </a:p>
            </p:txBody>
          </p:sp>
        </mc:Choice>
        <mc:Fallback xmlns="">
          <p:sp>
            <p:nvSpPr>
              <p:cNvPr id="3" name="CasellaDiTesto 2">
                <a:extLst>
                  <a:ext uri="{FF2B5EF4-FFF2-40B4-BE49-F238E27FC236}">
                    <a16:creationId xmlns:a16="http://schemas.microsoft.com/office/drawing/2014/main" id="{C2576B57-0449-58D3-6D04-395C60160D0D}"/>
                  </a:ext>
                </a:extLst>
              </p:cNvPr>
              <p:cNvSpPr txBox="1">
                <a:spLocks noRot="1" noChangeAspect="1" noMove="1" noResize="1" noEditPoints="1" noAdjustHandles="1" noChangeArrowheads="1" noChangeShapeType="1" noTextEdit="1"/>
              </p:cNvSpPr>
              <p:nvPr/>
            </p:nvSpPr>
            <p:spPr>
              <a:xfrm>
                <a:off x="2846346" y="3746014"/>
                <a:ext cx="1472904" cy="470322"/>
              </a:xfrm>
              <a:prstGeom prst="rect">
                <a:avLst/>
              </a:prstGeom>
              <a:blipFill>
                <a:blip r:embed="rId5"/>
                <a:stretch>
                  <a:fillRect l="-2066" t="-1299" r="-2893" b="-7792"/>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00854EC6-EEF4-912A-A776-99370674762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74</a:t>
            </a:fld>
            <a:endParaRPr lang="it-IT"/>
          </a:p>
        </p:txBody>
      </p:sp>
      <p:sp>
        <p:nvSpPr>
          <p:cNvPr id="5" name="Freccia in giù 4">
            <a:hlinkClick r:id="rId6" action="ppaction://hlinksldjump"/>
            <a:extLst>
              <a:ext uri="{FF2B5EF4-FFF2-40B4-BE49-F238E27FC236}">
                <a16:creationId xmlns:a16="http://schemas.microsoft.com/office/drawing/2014/main" id="{FC9946C4-EEAC-CA27-14A9-097207A996D1}"/>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5415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70"/>
          <p:cNvPicPr preferRelativeResize="0"/>
          <p:nvPr/>
        </p:nvPicPr>
        <p:blipFill rotWithShape="1">
          <a:blip r:embed="rId3">
            <a:alphaModFix/>
          </a:blip>
          <a:srcRect/>
          <a:stretch/>
        </p:blipFill>
        <p:spPr>
          <a:xfrm>
            <a:off x="4689447" y="2531685"/>
            <a:ext cx="6675866" cy="2783870"/>
          </a:xfrm>
          <a:prstGeom prst="rect">
            <a:avLst/>
          </a:prstGeom>
          <a:noFill/>
          <a:ln>
            <a:noFill/>
          </a:ln>
        </p:spPr>
      </p:pic>
      <p:sp>
        <p:nvSpPr>
          <p:cNvPr id="703" name="Google Shape;703;p70"/>
          <p:cNvSpPr txBox="1"/>
          <p:nvPr/>
        </p:nvSpPr>
        <p:spPr>
          <a:xfrm>
            <a:off x="1090568" y="881827"/>
            <a:ext cx="10766001" cy="16081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dirty="0">
                <a:sym typeface="Libre Franklin"/>
              </a:rPr>
              <a:t>Configurazione invertente</a:t>
            </a:r>
            <a:endParaRPr dirty="0">
              <a:sym typeface="Libre Franklin"/>
            </a:endParaRPr>
          </a:p>
          <a:p>
            <a:r>
              <a:rPr lang="it-IT" sz="1200" b="0" dirty="0">
                <a:sym typeface="Libre Franklin"/>
              </a:rPr>
              <a:t>Nella configurazione invertente, il segnale viene applicato all’ingresso (−), mentre l’ingresso (+) è collegato a massa o a un riferimento.</a:t>
            </a:r>
            <a:br>
              <a:rPr lang="it-IT" sz="1200" b="0" dirty="0">
                <a:sym typeface="Libre Franklin"/>
              </a:rPr>
            </a:br>
            <a:r>
              <a:rPr lang="it-IT" sz="1200" b="0" dirty="0">
                <a:sym typeface="Libre Franklin"/>
              </a:rPr>
              <a:t>In questo caso l’uscita è invertita di fase rispetto all’ingresso: se Vin​ aumenta, </a:t>
            </a:r>
            <a:r>
              <a:rPr lang="it-IT" sz="1200" b="0" dirty="0" err="1">
                <a:sym typeface="Libre Franklin"/>
              </a:rPr>
              <a:t>Vout</a:t>
            </a:r>
            <a:r>
              <a:rPr lang="it-IT" sz="1200" b="0" dirty="0">
                <a:sym typeface="Libre Franklin"/>
              </a:rPr>
              <a:t>​ diminuisce.</a:t>
            </a:r>
            <a:endParaRPr sz="1200" b="0" dirty="0">
              <a:sym typeface="Libre Franklin"/>
            </a:endParaRPr>
          </a:p>
          <a:p>
            <a:r>
              <a:rPr lang="it-IT" sz="1200" b="0" dirty="0">
                <a:sym typeface="Libre Franklin"/>
              </a:rPr>
              <a:t>Il guadagno è:</a:t>
            </a:r>
            <a:endParaRPr sz="1200" b="0" dirty="0">
              <a:sym typeface="Libre Franklin"/>
            </a:endParaRPr>
          </a:p>
        </p:txBody>
      </p:sp>
      <p:sp>
        <p:nvSpPr>
          <p:cNvPr id="705" name="Google Shape;705;p70"/>
          <p:cNvSpPr txBox="1"/>
          <p:nvPr/>
        </p:nvSpPr>
        <p:spPr>
          <a:xfrm>
            <a:off x="1029677" y="5164061"/>
            <a:ext cx="5131200" cy="474600"/>
          </a:xfrm>
          <a:prstGeom prst="rect">
            <a:avLst/>
          </a:prstGeom>
          <a:noFill/>
          <a:ln>
            <a:noFill/>
          </a:ln>
        </p:spPr>
        <p:txBody>
          <a:bodyPr spcFirstLastPara="1" wrap="square" lIns="91425" tIns="91425" rIns="91425" bIns="91425" anchor="t" anchorCtr="0">
            <a:noAutofit/>
          </a:bodyPr>
          <a:lstStyle/>
          <a:p>
            <a:pPr lvl="0">
              <a:lnSpc>
                <a:spcPct val="115000"/>
              </a:lnSpc>
              <a:spcBef>
                <a:spcPts val="1400"/>
              </a:spcBef>
              <a:buClr>
                <a:schemeClr val="dk1"/>
              </a:buClr>
              <a:buSzPts val="1300"/>
            </a:pPr>
            <a:r>
              <a:rPr lang="it-IT" sz="1200" b="1" i="1" dirty="0">
                <a:latin typeface="Segoe UI" panose="020B0502040204020203" pitchFamily="34" charset="0"/>
                <a:cs typeface="Segoe UI" panose="020B0502040204020203" pitchFamily="34" charset="0"/>
                <a:sym typeface="Libre Franklin"/>
              </a:rPr>
              <a:t>Il segno meno indica l’inversione di fase di 180°.</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440025D-078B-13DC-8A73-732AC0DB7ED0}"/>
                  </a:ext>
                </a:extLst>
              </p:cNvPr>
              <p:cNvSpPr txBox="1"/>
              <p:nvPr/>
            </p:nvSpPr>
            <p:spPr>
              <a:xfrm>
                <a:off x="2343433" y="4147672"/>
                <a:ext cx="117621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b="0" i="1" smtClean="0">
                              <a:latin typeface="Cambria Math" panose="02040503050406030204" pitchFamily="18" charset="0"/>
                            </a:rPr>
                            <m:t>−</m:t>
                          </m:r>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3" name="CasellaDiTesto 2">
                <a:extLst>
                  <a:ext uri="{FF2B5EF4-FFF2-40B4-BE49-F238E27FC236}">
                    <a16:creationId xmlns:a16="http://schemas.microsoft.com/office/drawing/2014/main" id="{F440025D-078B-13DC-8A73-732AC0DB7ED0}"/>
                  </a:ext>
                </a:extLst>
              </p:cNvPr>
              <p:cNvSpPr txBox="1">
                <a:spLocks noRot="1" noChangeAspect="1" noMove="1" noResize="1" noEditPoints="1" noAdjustHandles="1" noChangeArrowheads="1" noChangeShapeType="1" noTextEdit="1"/>
              </p:cNvSpPr>
              <p:nvPr/>
            </p:nvSpPr>
            <p:spPr>
              <a:xfrm>
                <a:off x="2343433" y="4147672"/>
                <a:ext cx="1176219" cy="470322"/>
              </a:xfrm>
              <a:prstGeom prst="rect">
                <a:avLst/>
              </a:prstGeom>
              <a:blipFill>
                <a:blip r:embed="rId4"/>
                <a:stretch>
                  <a:fillRect l="-2591" r="-1036" b="-7692"/>
                </a:stretch>
              </a:blipFill>
            </p:spPr>
            <p:txBody>
              <a:bodyPr/>
              <a:lstStyle/>
              <a:p>
                <a:r>
                  <a:rPr lang="it-IT">
                    <a:noFill/>
                  </a:rPr>
                  <a:t> </a:t>
                </a:r>
              </a:p>
            </p:txBody>
          </p:sp>
        </mc:Fallback>
      </mc:AlternateContent>
      <p:sp>
        <p:nvSpPr>
          <p:cNvPr id="4" name="Google Shape;694;p69">
            <a:extLst>
              <a:ext uri="{FF2B5EF4-FFF2-40B4-BE49-F238E27FC236}">
                <a16:creationId xmlns:a16="http://schemas.microsoft.com/office/drawing/2014/main" id="{A558BD58-0F85-3DAE-DC2F-ACDA5019EAA1}"/>
              </a:ext>
            </a:extLst>
          </p:cNvPr>
          <p:cNvSpPr txBox="1"/>
          <p:nvPr/>
        </p:nvSpPr>
        <p:spPr>
          <a:xfrm>
            <a:off x="1029677" y="360585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AC2180DD-A2AC-34B9-5C90-64FE5B8B7C13}"/>
                  </a:ext>
                </a:extLst>
              </p:cNvPr>
              <p:cNvSpPr txBox="1"/>
              <p:nvPr/>
            </p:nvSpPr>
            <p:spPr>
              <a:xfrm>
                <a:off x="2513318" y="2968377"/>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AC2180DD-A2AC-34B9-5C90-64FE5B8B7C13}"/>
                  </a:ext>
                </a:extLst>
              </p:cNvPr>
              <p:cNvSpPr txBox="1">
                <a:spLocks noRot="1" noChangeAspect="1" noMove="1" noResize="1" noEditPoints="1" noAdjustHandles="1" noChangeArrowheads="1" noChangeShapeType="1" noTextEdit="1"/>
              </p:cNvSpPr>
              <p:nvPr/>
            </p:nvSpPr>
            <p:spPr>
              <a:xfrm>
                <a:off x="2513318" y="2968377"/>
                <a:ext cx="836447" cy="445763"/>
              </a:xfrm>
              <a:prstGeom prst="rect">
                <a:avLst/>
              </a:prstGeom>
              <a:blipFill>
                <a:blip r:embed="rId5"/>
                <a:stretch>
                  <a:fillRect l="-3623" r="-2174" b="-547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7CEBD158-015C-8D66-6BFD-AE0367FACA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75</a:t>
            </a:fld>
            <a:endParaRPr lang="it-IT"/>
          </a:p>
        </p:txBody>
      </p:sp>
      <p:sp>
        <p:nvSpPr>
          <p:cNvPr id="2" name="Freccia in giù 1">
            <a:hlinkClick r:id="rId6" action="ppaction://hlinksldjump"/>
            <a:extLst>
              <a:ext uri="{FF2B5EF4-FFF2-40B4-BE49-F238E27FC236}">
                <a16:creationId xmlns:a16="http://schemas.microsoft.com/office/drawing/2014/main" id="{1FA3E513-F5C5-9C3C-72EA-95512FDB0141}"/>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108986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1"/>
          <p:cNvSpPr txBox="1"/>
          <p:nvPr/>
        </p:nvSpPr>
        <p:spPr>
          <a:xfrm>
            <a:off x="968800" y="618700"/>
            <a:ext cx="11103600" cy="1710694"/>
          </a:xfrm>
          <a:prstGeom prst="rect">
            <a:avLst/>
          </a:prstGeom>
          <a:noFill/>
          <a:ln>
            <a:noFill/>
          </a:ln>
        </p:spPr>
        <p:txBody>
          <a:bodyPr spcFirstLastPara="1" wrap="square" lIns="91425" tIns="91425" rIns="91425" bIns="91425" anchor="t" anchorCtr="0">
            <a:spAutoFit/>
          </a:bodyPr>
          <a:lstStyle/>
          <a:p>
            <a:pPr lvl="0">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Configurazione attiva invertente con guadagno 2</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Considerando l’ultima configurazione spiegata, cioè quella invertente, si realizza un filtro passa-alto attivo in cui il segnale entra sul morsetto (−) dell’operazionale, mentre il morsetto (+) è collegato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rete C1–R1 mantiene il ruolo già visto nel filtro passivo: determina la frequenza di taglio del circuito.</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AEF6613C-ECF6-6248-742B-65749C2481D5}"/>
              </a:ext>
            </a:extLst>
          </p:cNvPr>
          <p:cNvPicPr>
            <a:picLocks noChangeAspect="1"/>
          </p:cNvPicPr>
          <p:nvPr/>
        </p:nvPicPr>
        <p:blipFill>
          <a:blip r:embed="rId3"/>
          <a:stretch>
            <a:fillRect/>
          </a:stretch>
        </p:blipFill>
        <p:spPr>
          <a:xfrm>
            <a:off x="653560" y="2205038"/>
            <a:ext cx="8216196" cy="4034262"/>
          </a:xfrm>
          <a:prstGeom prst="rect">
            <a:avLst/>
          </a:prstGeom>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756E0D7-5AAC-15D7-9D7A-9C1830E34EE0}"/>
                  </a:ext>
                </a:extLst>
              </p:cNvPr>
              <p:cNvSpPr txBox="1"/>
              <p:nvPr/>
            </p:nvSpPr>
            <p:spPr>
              <a:xfrm>
                <a:off x="9374140" y="2819100"/>
                <a:ext cx="1376352"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3" name="CasellaDiTesto 2">
                <a:extLst>
                  <a:ext uri="{FF2B5EF4-FFF2-40B4-BE49-F238E27FC236}">
                    <a16:creationId xmlns:a16="http://schemas.microsoft.com/office/drawing/2014/main" id="{F756E0D7-5AAC-15D7-9D7A-9C1830E34EE0}"/>
                  </a:ext>
                </a:extLst>
              </p:cNvPr>
              <p:cNvSpPr txBox="1">
                <a:spLocks noRot="1" noChangeAspect="1" noMove="1" noResize="1" noEditPoints="1" noAdjustHandles="1" noChangeArrowheads="1" noChangeShapeType="1" noTextEdit="1"/>
              </p:cNvSpPr>
              <p:nvPr/>
            </p:nvSpPr>
            <p:spPr>
              <a:xfrm>
                <a:off x="9374140" y="2819100"/>
                <a:ext cx="1376352"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91F9FD73-FCDF-2A81-13EB-7D3372865EFB}"/>
                  </a:ext>
                </a:extLst>
              </p:cNvPr>
              <p:cNvSpPr txBox="1"/>
              <p:nvPr/>
            </p:nvSpPr>
            <p:spPr>
              <a:xfrm>
                <a:off x="7145579" y="4895949"/>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r>
                        <a:rPr lang="it-IT" sz="1400" b="1" i="1" smtClean="0">
                          <a:latin typeface="Cambria Math" panose="02040503050406030204" pitchFamily="18" charset="0"/>
                        </a:rPr>
                        <m:t>𝑯𝒛</m:t>
                      </m:r>
                    </m:oMath>
                  </m:oMathPara>
                </a14:m>
                <a:endParaRPr lang="it-IT" b="1" dirty="0"/>
              </a:p>
            </p:txBody>
          </p:sp>
        </mc:Choice>
        <mc:Fallback xmlns="">
          <p:sp>
            <p:nvSpPr>
              <p:cNvPr id="6" name="CasellaDiTesto 5">
                <a:extLst>
                  <a:ext uri="{FF2B5EF4-FFF2-40B4-BE49-F238E27FC236}">
                    <a16:creationId xmlns:a16="http://schemas.microsoft.com/office/drawing/2014/main" id="{91F9FD73-FCDF-2A81-13EB-7D3372865EFB}"/>
                  </a:ext>
                </a:extLst>
              </p:cNvPr>
              <p:cNvSpPr txBox="1">
                <a:spLocks noRot="1" noChangeAspect="1" noMove="1" noResize="1" noEditPoints="1" noAdjustHandles="1" noChangeArrowheads="1" noChangeShapeType="1" noTextEdit="1"/>
              </p:cNvSpPr>
              <p:nvPr/>
            </p:nvSpPr>
            <p:spPr>
              <a:xfrm>
                <a:off x="7145579" y="4895949"/>
                <a:ext cx="6115574" cy="307777"/>
              </a:xfrm>
              <a:prstGeom prst="rect">
                <a:avLst/>
              </a:prstGeom>
              <a:blipFill>
                <a:blip r:embed="rId5"/>
                <a:stretch>
                  <a:fillRect b="-784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85EEA2E-779A-FCE1-114F-C795CF4D539B}"/>
                  </a:ext>
                </a:extLst>
              </p:cNvPr>
              <p:cNvSpPr txBox="1"/>
              <p:nvPr/>
            </p:nvSpPr>
            <p:spPr>
              <a:xfrm>
                <a:off x="6520600" y="4114124"/>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𝑹</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m:t>
                      </m:r>
                      <m:r>
                        <a:rPr lang="it-IT" sz="1400" b="1" i="1" smtClean="0">
                          <a:latin typeface="Cambria Math" panose="02040503050406030204" pitchFamily="18" charset="0"/>
                        </a:rPr>
                        <m:t>𝑲</m:t>
                      </m:r>
                      <m:r>
                        <a:rPr lang="el-GR" sz="1400" b="1" i="1" smtClean="0">
                          <a:latin typeface="Cambria Math" panose="02040503050406030204" pitchFamily="18" charset="0"/>
                          <a:ea typeface="Cambria Math" panose="02040503050406030204" pitchFamily="18" charset="0"/>
                        </a:rPr>
                        <m:t>𝜴</m:t>
                      </m:r>
                    </m:oMath>
                  </m:oMathPara>
                </a14:m>
                <a:endParaRPr lang="it-IT" b="1" dirty="0"/>
              </a:p>
            </p:txBody>
          </p:sp>
        </mc:Choice>
        <mc:Fallback xmlns="">
          <p:sp>
            <p:nvSpPr>
              <p:cNvPr id="7" name="CasellaDiTesto 6">
                <a:extLst>
                  <a:ext uri="{FF2B5EF4-FFF2-40B4-BE49-F238E27FC236}">
                    <a16:creationId xmlns:a16="http://schemas.microsoft.com/office/drawing/2014/main" id="{D85EEA2E-779A-FCE1-114F-C795CF4D539B}"/>
                  </a:ext>
                </a:extLst>
              </p:cNvPr>
              <p:cNvSpPr txBox="1">
                <a:spLocks noRot="1" noChangeAspect="1" noMove="1" noResize="1" noEditPoints="1" noAdjustHandles="1" noChangeArrowheads="1" noChangeShapeType="1" noTextEdit="1"/>
              </p:cNvSpPr>
              <p:nvPr/>
            </p:nvSpPr>
            <p:spPr>
              <a:xfrm>
                <a:off x="6520600" y="4114124"/>
                <a:ext cx="6115574" cy="307777"/>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81E6B4E-F3BC-3FD4-55EB-3E6B48CB1BBE}"/>
                  </a:ext>
                </a:extLst>
              </p:cNvPr>
              <p:cNvSpPr txBox="1"/>
              <p:nvPr/>
            </p:nvSpPr>
            <p:spPr>
              <a:xfrm>
                <a:off x="10267337" y="4124798"/>
                <a:ext cx="1237488" cy="307777"/>
              </a:xfrm>
              <a:prstGeom prst="rect">
                <a:avLst/>
              </a:prstGeom>
              <a:noFill/>
            </p:spPr>
            <p:txBody>
              <a:bodyPr wrap="square">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𝑪</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𝟏𝟎𝟎</m:t>
                    </m:r>
                  </m:oMath>
                </a14:m>
                <a:r>
                  <a:rPr lang="it-IT" b="1" dirty="0"/>
                  <a:t>nF</a:t>
                </a:r>
              </a:p>
            </p:txBody>
          </p:sp>
        </mc:Choice>
        <mc:Fallback xmlns="">
          <p:sp>
            <p:nvSpPr>
              <p:cNvPr id="8" name="CasellaDiTesto 7">
                <a:extLst>
                  <a:ext uri="{FF2B5EF4-FFF2-40B4-BE49-F238E27FC236}">
                    <a16:creationId xmlns:a16="http://schemas.microsoft.com/office/drawing/2014/main" id="{681E6B4E-F3BC-3FD4-55EB-3E6B48CB1BBE}"/>
                  </a:ext>
                </a:extLst>
              </p:cNvPr>
              <p:cNvSpPr txBox="1">
                <a:spLocks noRot="1" noChangeAspect="1" noMove="1" noResize="1" noEditPoints="1" noAdjustHandles="1" noChangeArrowheads="1" noChangeShapeType="1" noTextEdit="1"/>
              </p:cNvSpPr>
              <p:nvPr/>
            </p:nvSpPr>
            <p:spPr>
              <a:xfrm>
                <a:off x="10267337" y="4124798"/>
                <a:ext cx="1237488" cy="307777"/>
              </a:xfrm>
              <a:prstGeom prst="rect">
                <a:avLst/>
              </a:prstGeom>
              <a:blipFill>
                <a:blip r:embed="rId7"/>
                <a:stretch>
                  <a:fillRect t="-4000" b="-20000"/>
                </a:stretch>
              </a:blipFill>
            </p:spPr>
            <p:txBody>
              <a:bodyPr/>
              <a:lstStyle/>
              <a:p>
                <a:r>
                  <a:rPr lang="it-IT">
                    <a:noFill/>
                  </a:rPr>
                  <a:t> </a:t>
                </a:r>
              </a:p>
            </p:txBody>
          </p:sp>
        </mc:Fallback>
      </mc:AlternateContent>
      <p:sp>
        <p:nvSpPr>
          <p:cNvPr id="10" name="Segnaposto numero diapositiva 9">
            <a:extLst>
              <a:ext uri="{FF2B5EF4-FFF2-40B4-BE49-F238E27FC236}">
                <a16:creationId xmlns:a16="http://schemas.microsoft.com/office/drawing/2014/main" id="{B3A0C3EE-1B78-01B4-A544-C7808A6462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76</a:t>
            </a:fld>
            <a:endParaRPr lang="it-IT"/>
          </a:p>
        </p:txBody>
      </p:sp>
      <p:sp>
        <p:nvSpPr>
          <p:cNvPr id="4" name="Freccia in giù 3">
            <a:hlinkClick r:id="rId8" action="ppaction://hlinksldjump"/>
            <a:extLst>
              <a:ext uri="{FF2B5EF4-FFF2-40B4-BE49-F238E27FC236}">
                <a16:creationId xmlns:a16="http://schemas.microsoft.com/office/drawing/2014/main" id="{E3FD49DA-3271-B3FD-4C20-343514AB8D48}"/>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225111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7CFB983-0492-1CC9-D01E-3711F7DD4933}"/>
              </a:ext>
            </a:extLst>
          </p:cNvPr>
          <p:cNvPicPr>
            <a:picLocks noChangeAspect="1"/>
          </p:cNvPicPr>
          <p:nvPr/>
        </p:nvPicPr>
        <p:blipFill>
          <a:blip r:embed="rId2"/>
          <a:stretch>
            <a:fillRect/>
          </a:stretch>
        </p:blipFill>
        <p:spPr>
          <a:xfrm>
            <a:off x="443899" y="653743"/>
            <a:ext cx="11304202" cy="5550514"/>
          </a:xfrm>
          <a:prstGeom prst="rect">
            <a:avLst/>
          </a:prstGeom>
        </p:spPr>
      </p:pic>
      <p:pic>
        <p:nvPicPr>
          <p:cNvPr id="9" name="Immagine 8">
            <a:extLst>
              <a:ext uri="{FF2B5EF4-FFF2-40B4-BE49-F238E27FC236}">
                <a16:creationId xmlns:a16="http://schemas.microsoft.com/office/drawing/2014/main" id="{9AE46919-F94F-402C-BC6D-1A273E58C6CA}"/>
              </a:ext>
            </a:extLst>
          </p:cNvPr>
          <p:cNvPicPr>
            <a:picLocks noChangeAspect="1"/>
          </p:cNvPicPr>
          <p:nvPr/>
        </p:nvPicPr>
        <p:blipFill>
          <a:blip r:embed="rId2"/>
          <a:srcRect l="32768" t="22559" r="55542" b="52176"/>
          <a:stretch>
            <a:fillRect/>
          </a:stretch>
        </p:blipFill>
        <p:spPr>
          <a:xfrm>
            <a:off x="5575386" y="1924563"/>
            <a:ext cx="2372377" cy="2517408"/>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4F080E7-74F3-6B86-CD5E-A26990BA9F8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77</a:t>
            </a:fld>
            <a:endParaRPr lang="it-IT"/>
          </a:p>
        </p:txBody>
      </p:sp>
    </p:spTree>
    <p:extLst>
      <p:ext uri="{BB962C8B-B14F-4D97-AF65-F5344CB8AC3E}">
        <p14:creationId xmlns:p14="http://schemas.microsoft.com/office/powerpoint/2010/main" val="35657276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p73"/>
          <p:cNvPicPr preferRelativeResize="0"/>
          <p:nvPr/>
        </p:nvPicPr>
        <p:blipFill rotWithShape="1">
          <a:blip r:embed="rId3">
            <a:alphaModFix/>
          </a:blip>
          <a:srcRect/>
          <a:stretch/>
        </p:blipFill>
        <p:spPr>
          <a:xfrm>
            <a:off x="7950968" y="4382409"/>
            <a:ext cx="3236960" cy="1586414"/>
          </a:xfrm>
          <a:prstGeom prst="rect">
            <a:avLst/>
          </a:prstGeom>
          <a:noFill/>
          <a:ln>
            <a:noFill/>
          </a:ln>
        </p:spPr>
      </p:pic>
      <p:sp>
        <p:nvSpPr>
          <p:cNvPr id="729" name="Google Shape;729;p73"/>
          <p:cNvSpPr txBox="1"/>
          <p:nvPr/>
        </p:nvSpPr>
        <p:spPr>
          <a:xfrm>
            <a:off x="9022353" y="4013107"/>
            <a:ext cx="2814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a:solidFill>
                  <a:schemeClr val="dk1"/>
                </a:solidFill>
                <a:latin typeface="Open Sans"/>
                <a:ea typeface="Open Sans"/>
                <a:cs typeface="Open Sans"/>
                <a:sym typeface="Open Sans"/>
              </a:rPr>
              <a:t>250hz</a:t>
            </a:r>
            <a:endParaRPr sz="1800">
              <a:solidFill>
                <a:schemeClr val="dk1"/>
              </a:solidFill>
              <a:latin typeface="Garamond"/>
              <a:ea typeface="Garamond"/>
              <a:cs typeface="Garamond"/>
              <a:sym typeface="Garamond"/>
            </a:endParaRPr>
          </a:p>
        </p:txBody>
      </p:sp>
      <p:pic>
        <p:nvPicPr>
          <p:cNvPr id="730" name="Google Shape;730;p73"/>
          <p:cNvPicPr preferRelativeResize="0"/>
          <p:nvPr/>
        </p:nvPicPr>
        <p:blipFill rotWithShape="1">
          <a:blip r:embed="rId4">
            <a:alphaModFix/>
          </a:blip>
          <a:srcRect/>
          <a:stretch/>
        </p:blipFill>
        <p:spPr>
          <a:xfrm>
            <a:off x="1073791" y="4382409"/>
            <a:ext cx="3236959" cy="1586424"/>
          </a:xfrm>
          <a:prstGeom prst="rect">
            <a:avLst/>
          </a:prstGeom>
          <a:noFill/>
          <a:ln>
            <a:noFill/>
          </a:ln>
        </p:spPr>
      </p:pic>
      <p:sp>
        <p:nvSpPr>
          <p:cNvPr id="731" name="Google Shape;731;p73"/>
          <p:cNvSpPr txBox="1"/>
          <p:nvPr/>
        </p:nvSpPr>
        <p:spPr>
          <a:xfrm>
            <a:off x="2356180" y="4013107"/>
            <a:ext cx="885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10hz</a:t>
            </a:r>
            <a:endParaRPr sz="1800" dirty="0">
              <a:solidFill>
                <a:schemeClr val="dk1"/>
              </a:solidFill>
              <a:latin typeface="Garamond"/>
              <a:ea typeface="Garamond"/>
              <a:cs typeface="Garamond"/>
              <a:sym typeface="Garamond"/>
            </a:endParaRPr>
          </a:p>
        </p:txBody>
      </p:sp>
      <p:pic>
        <p:nvPicPr>
          <p:cNvPr id="732" name="Google Shape;732;p73"/>
          <p:cNvPicPr preferRelativeResize="0"/>
          <p:nvPr/>
        </p:nvPicPr>
        <p:blipFill rotWithShape="1">
          <a:blip r:embed="rId5">
            <a:alphaModFix/>
          </a:blip>
          <a:srcRect/>
          <a:stretch/>
        </p:blipFill>
        <p:spPr>
          <a:xfrm>
            <a:off x="4513287" y="4382407"/>
            <a:ext cx="3236959" cy="1586416"/>
          </a:xfrm>
          <a:prstGeom prst="rect">
            <a:avLst/>
          </a:prstGeom>
          <a:noFill/>
          <a:ln>
            <a:noFill/>
          </a:ln>
        </p:spPr>
      </p:pic>
      <p:sp>
        <p:nvSpPr>
          <p:cNvPr id="733" name="Google Shape;733;p73"/>
          <p:cNvSpPr txBox="1"/>
          <p:nvPr/>
        </p:nvSpPr>
        <p:spPr>
          <a:xfrm>
            <a:off x="5582857" y="4013107"/>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734" name="Google Shape;734;p73"/>
          <p:cNvSpPr txBox="1"/>
          <p:nvPr/>
        </p:nvSpPr>
        <p:spPr>
          <a:xfrm>
            <a:off x="1107347" y="734471"/>
            <a:ext cx="1101397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Sfasamento nel filtro attivo</a:t>
            </a:r>
            <a:endParaRPr dirty="0">
              <a:sym typeface="Libre Franklin"/>
            </a:endParaRPr>
          </a:p>
        </p:txBody>
      </p:sp>
      <p:sp>
        <p:nvSpPr>
          <p:cNvPr id="735" name="Google Shape;735;p73"/>
          <p:cNvSpPr txBox="1"/>
          <p:nvPr/>
        </p:nvSpPr>
        <p:spPr>
          <a:xfrm>
            <a:off x="1073791" y="1424564"/>
            <a:ext cx="10112322"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L’operazionale, in questa configurazione ideale, non modifica la proprietà di fase introdotta dal filtro: la rete RC continua a determinare l’anticipo o il ritardo del segnale in funzione della frequenza.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b="1" dirty="0">
                <a:latin typeface="Segoe UI" panose="020B0502040204020203" pitchFamily="34" charset="0"/>
                <a:cs typeface="Segoe UI" panose="020B0502040204020203" pitchFamily="34" charset="0"/>
                <a:sym typeface="Libre Franklin"/>
              </a:rPr>
              <a:t>La differenza principale rispetto al filtro passivo è l’ampiezza del segnale di uscita. Nel filtro attivo, infatti, il guadagno impostato dalle resistenze vale:  </a:t>
            </a:r>
            <a:r>
              <a:rPr lang="it-IT" sz="1200" b="1" dirty="0" err="1">
                <a:latin typeface="Segoe UI" panose="020B0502040204020203" pitchFamily="34" charset="0"/>
                <a:cs typeface="Segoe UI" panose="020B0502040204020203" pitchFamily="34" charset="0"/>
                <a:sym typeface="Libre Franklin"/>
              </a:rPr>
              <a:t>Av</a:t>
            </a:r>
            <a:r>
              <a:rPr lang="it-IT" sz="1200" b="1" dirty="0">
                <a:latin typeface="Segoe UI" panose="020B0502040204020203" pitchFamily="34" charset="0"/>
                <a:cs typeface="Segoe UI" panose="020B0502040204020203" pitchFamily="34" charset="0"/>
                <a:sym typeface="Libre Franklin"/>
              </a:rPr>
              <a:t>=−2</a:t>
            </a:r>
            <a:endParaRPr sz="1200" b="1" dirty="0">
              <a:latin typeface="Segoe UI" panose="020B0502040204020203" pitchFamily="34" charset="0"/>
              <a:cs typeface="Segoe UI" panose="020B0502040204020203" pitchFamily="34" charset="0"/>
              <a:sym typeface="Libre Franklin"/>
            </a:endParaRPr>
          </a:p>
        </p:txBody>
      </p:sp>
      <p:sp>
        <p:nvSpPr>
          <p:cNvPr id="736" name="Google Shape;736;p73"/>
          <p:cNvSpPr txBox="1"/>
          <p:nvPr/>
        </p:nvSpPr>
        <p:spPr>
          <a:xfrm>
            <a:off x="1073791" y="2828700"/>
            <a:ext cx="10044418" cy="5541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b="1" i="1" u="sng" dirty="0">
                <a:latin typeface="Segoe UI" panose="020B0502040204020203" pitchFamily="34" charset="0"/>
                <a:cs typeface="Segoe UI" panose="020B0502040204020203" pitchFamily="34" charset="0"/>
                <a:sym typeface="Libre Franklin"/>
              </a:rPr>
              <a:t>quindi </a:t>
            </a:r>
            <a:r>
              <a:rPr lang="it-IT" sz="1200" b="1" i="1" u="sng" dirty="0" err="1">
                <a:latin typeface="Segoe UI" panose="020B0502040204020203" pitchFamily="34" charset="0"/>
                <a:cs typeface="Segoe UI" panose="020B0502040204020203" pitchFamily="34" charset="0"/>
                <a:sym typeface="Libre Franklin"/>
              </a:rPr>
              <a:t>Vout</a:t>
            </a:r>
            <a:r>
              <a:rPr lang="it-IT" sz="1200" b="1" i="1" u="sng" dirty="0">
                <a:latin typeface="Segoe UI" panose="020B0502040204020203" pitchFamily="34" charset="0"/>
                <a:cs typeface="Segoe UI" panose="020B0502040204020203" pitchFamily="34" charset="0"/>
                <a:sym typeface="Libre Franklin"/>
              </a:rPr>
              <a:t> ha ampiezza maggiore di Vin, in particolare circa doppia in banda passante. Il segno meno indica l’inversione propria della configurazione invertente, ma la variazione di fase dovuta al comportamento del filtro rimane la stessa.</a:t>
            </a:r>
            <a:endParaRPr sz="1200" b="1"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42D3EA-E026-90C9-F766-95854C56C8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78</a:t>
            </a:fld>
            <a:endParaRPr lang="it-IT"/>
          </a:p>
        </p:txBody>
      </p:sp>
      <p:sp>
        <p:nvSpPr>
          <p:cNvPr id="3" name="Freccia in giù 2">
            <a:hlinkClick r:id="rId6" action="ppaction://hlinksldjump"/>
            <a:extLst>
              <a:ext uri="{FF2B5EF4-FFF2-40B4-BE49-F238E27FC236}">
                <a16:creationId xmlns:a16="http://schemas.microsoft.com/office/drawing/2014/main" id="{8CAB4E0A-03DD-FCE9-C887-30781574D9BE}"/>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665165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8" name="Google Shape;748;p74"/>
          <p:cNvSpPr txBox="1"/>
          <p:nvPr/>
        </p:nvSpPr>
        <p:spPr>
          <a:xfrm>
            <a:off x="1069596" y="674069"/>
            <a:ext cx="10131804" cy="118798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Analizzando lo sfasamento del filtro attivo attraverso il confronto tra picchi e ventri del segnale, si ottengono gli stessi risultati già osservati nel filtro passivo.</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accade perché la fase dipende principalmente dalla rete RC, cioè dagli stessi componenti che determinano il comportamento passa-alto e la frequenza di taglio</a:t>
            </a:r>
            <a:endParaRPr sz="1200" dirty="0">
              <a:latin typeface="Segoe UI" panose="020B0502040204020203" pitchFamily="34" charset="0"/>
              <a:cs typeface="Segoe UI" panose="020B0502040204020203" pitchFamily="34" charset="0"/>
              <a:sym typeface="Libre Franklin"/>
            </a:endParaRPr>
          </a:p>
        </p:txBody>
      </p:sp>
      <p:sp>
        <p:nvSpPr>
          <p:cNvPr id="749" name="Google Shape;749;p74"/>
          <p:cNvSpPr txBox="1"/>
          <p:nvPr/>
        </p:nvSpPr>
        <p:spPr>
          <a:xfrm>
            <a:off x="1069596" y="5518475"/>
            <a:ext cx="10131804" cy="553968"/>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Libre Franklin"/>
              <a:buNone/>
            </a:pPr>
            <a:r>
              <a:rPr lang="it-IT" sz="1200" b="1" dirty="0">
                <a:latin typeface="Segoe UI" panose="020B0502040204020203" pitchFamily="34" charset="0"/>
                <a:cs typeface="Segoe UI" panose="020B0502040204020203" pitchFamily="34" charset="0"/>
                <a:sym typeface="Libre Franklin"/>
              </a:rPr>
              <a:t>In sintesi, studiando picchi e ventri si vede che il filtro attivo conserva lo stesso andamento di fase del filtro passivo; ciò che cambia è il livello di uscita, che risulta amplificato grazie al guadagno dell’operazionale.</a:t>
            </a:r>
            <a:endParaRPr sz="1200" b="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E559C492-6148-2683-C670-548CE97D0BF3}"/>
              </a:ext>
            </a:extLst>
          </p:cNvPr>
          <p:cNvPicPr>
            <a:picLocks noChangeAspect="1"/>
          </p:cNvPicPr>
          <p:nvPr/>
        </p:nvPicPr>
        <p:blipFill>
          <a:blip r:embed="rId3"/>
          <a:stretch>
            <a:fillRect/>
          </a:stretch>
        </p:blipFill>
        <p:spPr>
          <a:xfrm>
            <a:off x="1069596" y="2701881"/>
            <a:ext cx="4747124" cy="2337084"/>
          </a:xfrm>
          <a:prstGeom prst="rect">
            <a:avLst/>
          </a:prstGeom>
        </p:spPr>
      </p:pic>
      <p:pic>
        <p:nvPicPr>
          <p:cNvPr id="3" name="Immagine 2">
            <a:extLst>
              <a:ext uri="{FF2B5EF4-FFF2-40B4-BE49-F238E27FC236}">
                <a16:creationId xmlns:a16="http://schemas.microsoft.com/office/drawing/2014/main" id="{A5586D41-E3C7-D1B3-F253-80250039C3E2}"/>
              </a:ext>
            </a:extLst>
          </p:cNvPr>
          <p:cNvPicPr>
            <a:picLocks noChangeAspect="1"/>
          </p:cNvPicPr>
          <p:nvPr/>
        </p:nvPicPr>
        <p:blipFill>
          <a:blip r:embed="rId4"/>
          <a:stretch>
            <a:fillRect/>
          </a:stretch>
        </p:blipFill>
        <p:spPr>
          <a:xfrm>
            <a:off x="6412193" y="2712754"/>
            <a:ext cx="4767304" cy="2337084"/>
          </a:xfrm>
          <a:prstGeom prst="rect">
            <a:avLst/>
          </a:prstGeom>
        </p:spPr>
      </p:pic>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40932B77-E2B0-7453-481E-B71F4BE2158A}"/>
                  </a:ext>
                </a:extLst>
              </p:cNvPr>
              <p:cNvSpPr txBox="1"/>
              <p:nvPr/>
            </p:nvSpPr>
            <p:spPr>
              <a:xfrm>
                <a:off x="4356603" y="2012554"/>
                <a:ext cx="3275688"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40932B77-E2B0-7453-481E-B71F4BE2158A}"/>
                  </a:ext>
                </a:extLst>
              </p:cNvPr>
              <p:cNvSpPr txBox="1">
                <a:spLocks noRot="1" noChangeAspect="1" noMove="1" noResize="1" noEditPoints="1" noAdjustHandles="1" noChangeArrowheads="1" noChangeShapeType="1" noTextEdit="1"/>
              </p:cNvSpPr>
              <p:nvPr/>
            </p:nvSpPr>
            <p:spPr>
              <a:xfrm>
                <a:off x="4356603" y="2012554"/>
                <a:ext cx="3275688" cy="549702"/>
              </a:xfrm>
              <a:prstGeom prst="rect">
                <a:avLst/>
              </a:prstGeom>
              <a:blipFill>
                <a:blip r:embed="rId5"/>
                <a:stretch>
                  <a:fillRect/>
                </a:stretch>
              </a:blipFill>
            </p:spPr>
            <p:txBody>
              <a:bodyPr/>
              <a:lstStyle/>
              <a:p>
                <a:r>
                  <a:rPr lang="it-IT">
                    <a:noFill/>
                  </a:rPr>
                  <a:t> </a:t>
                </a:r>
              </a:p>
            </p:txBody>
          </p:sp>
        </mc:Fallback>
      </mc:AlternateContent>
      <p:sp>
        <p:nvSpPr>
          <p:cNvPr id="11" name="Google Shape;733;p73">
            <a:extLst>
              <a:ext uri="{FF2B5EF4-FFF2-40B4-BE49-F238E27FC236}">
                <a16:creationId xmlns:a16="http://schemas.microsoft.com/office/drawing/2014/main" id="{7246543F-F7CB-6CD4-E0F9-B8384F96FCE9}"/>
              </a:ext>
            </a:extLst>
          </p:cNvPr>
          <p:cNvSpPr txBox="1"/>
          <p:nvPr/>
        </p:nvSpPr>
        <p:spPr>
          <a:xfrm>
            <a:off x="5709857" y="3696646"/>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12" name="Segnaposto numero diapositiva 11">
            <a:extLst>
              <a:ext uri="{FF2B5EF4-FFF2-40B4-BE49-F238E27FC236}">
                <a16:creationId xmlns:a16="http://schemas.microsoft.com/office/drawing/2014/main" id="{FE12352F-DE23-5B16-BAA1-D46E5F1978B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79</a:t>
            </a:fld>
            <a:endParaRPr lang="it-IT"/>
          </a:p>
        </p:txBody>
      </p:sp>
    </p:spTree>
    <p:extLst>
      <p:ext uri="{BB962C8B-B14F-4D97-AF65-F5344CB8AC3E}">
        <p14:creationId xmlns:p14="http://schemas.microsoft.com/office/powerpoint/2010/main" val="919957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5"/>
          <p:cNvSpPr txBox="1"/>
          <p:nvPr/>
        </p:nvSpPr>
        <p:spPr>
          <a:xfrm>
            <a:off x="1069596" y="756125"/>
            <a:ext cx="1005001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dei carichi sull’uscita del filtro attivo</a:t>
            </a:r>
            <a:endParaRPr dirty="0">
              <a:sym typeface="Libre Franklin SemiBold"/>
            </a:endParaRPr>
          </a:p>
        </p:txBody>
      </p:sp>
      <p:sp>
        <p:nvSpPr>
          <p:cNvPr id="756" name="Google Shape;756;p75"/>
          <p:cNvSpPr txBox="1"/>
          <p:nvPr/>
        </p:nvSpPr>
        <p:spPr>
          <a:xfrm>
            <a:off x="1069596" y="1325525"/>
            <a:ext cx="10087762" cy="207438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buClr>
                <a:schemeClr val="dk1"/>
              </a:buClr>
              <a:buSzPts val="1200"/>
            </a:pPr>
            <a:r>
              <a:rPr lang="it-IT" sz="1200" b="1" dirty="0">
                <a:latin typeface="Segoe UI" panose="020B0502040204020203" pitchFamily="34" charset="0"/>
                <a:cs typeface="Segoe UI" panose="020B0502040204020203" pitchFamily="34" charset="0"/>
                <a:sym typeface="Garamond"/>
              </a:rPr>
              <a:t>Perché il carico non modifica la risposta?</a:t>
            </a:r>
            <a:endParaRPr sz="1200" b="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Nel caso parallelo, la resistenza R7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tra l’uscita e massa. Nel caso serie, la resistenza R8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dopo l’uscita dell’operazionale.</a:t>
            </a:r>
            <a:endParaRPr sz="1200"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i="1" dirty="0">
                <a:latin typeface="Segoe UI" panose="020B0502040204020203" pitchFamily="34" charset="0"/>
                <a:cs typeface="Segoe UI" panose="020B0502040204020203" pitchFamily="34" charset="0"/>
                <a:sym typeface="Garamond"/>
              </a:rPr>
              <a:t>Nel filtro passivo questi carichi avrebbero modificato la rete RC, perché sarebbero diventati parte del circuito di filtro. Nel filtro attivo, invece, l’operazionale ideale isola la rete RC dal carico di uscita.</a:t>
            </a:r>
            <a:endParaRPr sz="1200" i="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Questo avviene perché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ha:</a:t>
            </a:r>
            <a:endParaRPr sz="1200" dirty="0">
              <a:latin typeface="Segoe UI" panose="020B0502040204020203" pitchFamily="34" charset="0"/>
              <a:cs typeface="Segoe UI" panose="020B0502040204020203" pitchFamily="34" charset="0"/>
              <a:sym typeface="Garamond"/>
            </a:endParaRPr>
          </a:p>
        </p:txBody>
      </p:sp>
      <p:pic>
        <p:nvPicPr>
          <p:cNvPr id="757" name="Google Shape;757;p75"/>
          <p:cNvPicPr preferRelativeResize="0"/>
          <p:nvPr/>
        </p:nvPicPr>
        <p:blipFill rotWithShape="1">
          <a:blip r:embed="rId3">
            <a:alphaModFix/>
          </a:blip>
          <a:srcRect/>
          <a:stretch/>
        </p:blipFill>
        <p:spPr>
          <a:xfrm>
            <a:off x="5304824" y="2879264"/>
            <a:ext cx="1242783" cy="923299"/>
          </a:xfrm>
          <a:prstGeom prst="rect">
            <a:avLst/>
          </a:prstGeom>
          <a:noFill/>
          <a:ln>
            <a:solidFill>
              <a:schemeClr val="tx1"/>
            </a:solidFill>
          </a:ln>
        </p:spPr>
      </p:pic>
      <p:sp>
        <p:nvSpPr>
          <p:cNvPr id="758" name="Google Shape;758;p75"/>
          <p:cNvSpPr txBox="1"/>
          <p:nvPr/>
        </p:nvSpPr>
        <p:spPr>
          <a:xfrm>
            <a:off x="7319394" y="2879264"/>
            <a:ext cx="2724074" cy="923299"/>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Garamond"/>
              <a:buNone/>
            </a:pPr>
            <a:r>
              <a:rPr lang="it-IT" sz="1200" dirty="0">
                <a:latin typeface="Segoe UI" panose="020B0502040204020203" pitchFamily="34" charset="0"/>
                <a:cs typeface="Segoe UI" panose="020B0502040204020203" pitchFamily="34" charset="0"/>
                <a:sym typeface="Garamond"/>
              </a:rPr>
              <a:t>Quindi la rete di ingresso non viene caricata e l’uscita riesce a pilotare il carico senza alterare significativamente </a:t>
            </a:r>
            <a:r>
              <a:rPr lang="it-IT" sz="1200" dirty="0" err="1">
                <a:latin typeface="Segoe UI" panose="020B0502040204020203" pitchFamily="34" charset="0"/>
                <a:cs typeface="Segoe UI" panose="020B0502040204020203" pitchFamily="34" charset="0"/>
                <a:sym typeface="Garamond"/>
              </a:rPr>
              <a:t>Vout</a:t>
            </a:r>
            <a:r>
              <a:rPr lang="it-IT" sz="1200" dirty="0">
                <a:latin typeface="Segoe UI" panose="020B0502040204020203" pitchFamily="34" charset="0"/>
                <a:cs typeface="Segoe UI" panose="020B0502040204020203" pitchFamily="34" charset="0"/>
                <a:sym typeface="Garamond"/>
              </a:rPr>
              <a:t> </a:t>
            </a:r>
            <a:endParaRPr sz="1200" dirty="0">
              <a:latin typeface="Segoe UI" panose="020B0502040204020203" pitchFamily="34" charset="0"/>
              <a:cs typeface="Segoe UI" panose="020B0502040204020203" pitchFamily="34" charset="0"/>
              <a:sym typeface="Garamond"/>
            </a:endParaRPr>
          </a:p>
        </p:txBody>
      </p:sp>
      <p:pic>
        <p:nvPicPr>
          <p:cNvPr id="759" name="Google Shape;759;p75"/>
          <p:cNvPicPr preferRelativeResize="0"/>
          <p:nvPr/>
        </p:nvPicPr>
        <p:blipFill rotWithShape="1">
          <a:blip r:embed="rId4">
            <a:alphaModFix/>
          </a:blip>
          <a:srcRect/>
          <a:stretch/>
        </p:blipFill>
        <p:spPr>
          <a:xfrm>
            <a:off x="6652731" y="3890648"/>
            <a:ext cx="4466876" cy="2189200"/>
          </a:xfrm>
          <a:prstGeom prst="rect">
            <a:avLst/>
          </a:prstGeom>
          <a:noFill/>
          <a:ln>
            <a:noFill/>
          </a:ln>
        </p:spPr>
      </p:pic>
      <p:sp>
        <p:nvSpPr>
          <p:cNvPr id="760" name="Google Shape;760;p75"/>
          <p:cNvSpPr txBox="1"/>
          <p:nvPr/>
        </p:nvSpPr>
        <p:spPr>
          <a:xfrm>
            <a:off x="1069596" y="4100662"/>
            <a:ext cx="5184900" cy="17691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Il filtro attivo è meno sensibile ai carichi rispetto al filtro passivo. </a:t>
            </a:r>
            <a:r>
              <a:rPr lang="it-IT" sz="1200" b="1" i="1" dirty="0">
                <a:latin typeface="Segoe UI" panose="020B0502040204020203" pitchFamily="34" charset="0"/>
                <a:cs typeface="Segoe UI" panose="020B0502040204020203" pitchFamily="34" charset="0"/>
                <a:sym typeface="Libre Franklin"/>
              </a:rPr>
              <a:t>La rete RC stabilisce la frequenza di taglio, l’operazionale stabilisce il guadagno, e il carico collegato in uscita non altera significativamente la risposta grazie alla bassa impedenza di uscita dell’</a:t>
            </a:r>
            <a:r>
              <a:rPr lang="it-IT" sz="1200" b="1" i="1" dirty="0" err="1">
                <a:latin typeface="Segoe UI" panose="020B0502040204020203" pitchFamily="34" charset="0"/>
                <a:cs typeface="Segoe UI" panose="020B0502040204020203" pitchFamily="34" charset="0"/>
                <a:sym typeface="Libre Franklin"/>
              </a:rPr>
              <a:t>opamp</a:t>
            </a:r>
            <a:r>
              <a:rPr lang="it-IT" sz="1200" b="1" i="1" dirty="0">
                <a:latin typeface="Segoe UI" panose="020B0502040204020203" pitchFamily="34" charset="0"/>
                <a:cs typeface="Segoe UI" panose="020B0502040204020203" pitchFamily="34" charset="0"/>
                <a:sym typeface="Libre Franklin"/>
              </a:rPr>
              <a:t> ideale.</a:t>
            </a:r>
            <a:endParaRPr sz="1200" b="1"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9EB6C916-360A-B176-2929-72F0FA738C3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80</a:t>
            </a:fld>
            <a:endParaRPr lang="it-IT"/>
          </a:p>
        </p:txBody>
      </p:sp>
    </p:spTree>
    <p:extLst>
      <p:ext uri="{BB962C8B-B14F-4D97-AF65-F5344CB8AC3E}">
        <p14:creationId xmlns:p14="http://schemas.microsoft.com/office/powerpoint/2010/main" val="32956309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759;p75">
            <a:extLst>
              <a:ext uri="{FF2B5EF4-FFF2-40B4-BE49-F238E27FC236}">
                <a16:creationId xmlns:a16="http://schemas.microsoft.com/office/drawing/2014/main" id="{ECADD4D4-7D73-BCD6-9552-534CFD74BBD5}"/>
              </a:ext>
            </a:extLst>
          </p:cNvPr>
          <p:cNvPicPr preferRelativeResize="0"/>
          <p:nvPr/>
        </p:nvPicPr>
        <p:blipFill rotWithShape="1">
          <a:blip r:embed="rId2">
            <a:alphaModFix/>
          </a:blip>
          <a:srcRect/>
          <a:stretch/>
        </p:blipFill>
        <p:spPr>
          <a:xfrm>
            <a:off x="402709" y="638738"/>
            <a:ext cx="11386582" cy="5580523"/>
          </a:xfrm>
          <a:prstGeom prst="rect">
            <a:avLst/>
          </a:prstGeom>
          <a:noFill/>
          <a:ln>
            <a:noFill/>
          </a:ln>
        </p:spPr>
      </p:pic>
      <p:sp>
        <p:nvSpPr>
          <p:cNvPr id="3" name="Segnaposto numero diapositiva 2">
            <a:extLst>
              <a:ext uri="{FF2B5EF4-FFF2-40B4-BE49-F238E27FC236}">
                <a16:creationId xmlns:a16="http://schemas.microsoft.com/office/drawing/2014/main" id="{8C626244-1D6A-1C53-1448-277A77E7EC2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81</a:t>
            </a:fld>
            <a:endParaRPr lang="it-IT"/>
          </a:p>
        </p:txBody>
      </p:sp>
    </p:spTree>
    <p:extLst>
      <p:ext uri="{BB962C8B-B14F-4D97-AF65-F5344CB8AC3E}">
        <p14:creationId xmlns:p14="http://schemas.microsoft.com/office/powerpoint/2010/main" val="9764899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pic>
        <p:nvPicPr>
          <p:cNvPr id="765" name="Google Shape;765;p76"/>
          <p:cNvPicPr preferRelativeResize="0"/>
          <p:nvPr/>
        </p:nvPicPr>
        <p:blipFill rotWithShape="1">
          <a:blip r:embed="rId3">
            <a:alphaModFix/>
          </a:blip>
          <a:srcRect/>
          <a:stretch/>
        </p:blipFill>
        <p:spPr>
          <a:xfrm>
            <a:off x="2691937" y="668687"/>
            <a:ext cx="6808125" cy="5520625"/>
          </a:xfrm>
          <a:prstGeom prst="rect">
            <a:avLst/>
          </a:prstGeom>
          <a:noFill/>
          <a:ln>
            <a:noFill/>
          </a:ln>
        </p:spPr>
      </p:pic>
      <p:sp>
        <p:nvSpPr>
          <p:cNvPr id="2" name="Segnaposto numero diapositiva 1">
            <a:extLst>
              <a:ext uri="{FF2B5EF4-FFF2-40B4-BE49-F238E27FC236}">
                <a16:creationId xmlns:a16="http://schemas.microsoft.com/office/drawing/2014/main" id="{12FEFE6E-5C4E-5600-B817-435B8584CEE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82</a:t>
            </a:fld>
            <a:endParaRPr lang="it-IT"/>
          </a:p>
        </p:txBody>
      </p:sp>
    </p:spTree>
    <p:extLst>
      <p:ext uri="{BB962C8B-B14F-4D97-AF65-F5344CB8AC3E}">
        <p14:creationId xmlns:p14="http://schemas.microsoft.com/office/powerpoint/2010/main" val="328621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78"/>
          <p:cNvSpPr txBox="1"/>
          <p:nvPr/>
        </p:nvSpPr>
        <p:spPr>
          <a:xfrm>
            <a:off x="1065402" y="756125"/>
            <a:ext cx="8048173"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Rs</a:t>
            </a:r>
            <a:endParaRPr dirty="0">
              <a:sym typeface="Libre Franklin SemiBold"/>
            </a:endParaRPr>
          </a:p>
        </p:txBody>
      </p:sp>
      <p:pic>
        <p:nvPicPr>
          <p:cNvPr id="785" name="Google Shape;785;p78"/>
          <p:cNvPicPr preferRelativeResize="0"/>
          <p:nvPr/>
        </p:nvPicPr>
        <p:blipFill rotWithShape="1">
          <a:blip r:embed="rId3">
            <a:alphaModFix/>
          </a:blip>
          <a:srcRect/>
          <a:stretch/>
        </p:blipFill>
        <p:spPr>
          <a:xfrm>
            <a:off x="1065402" y="1384919"/>
            <a:ext cx="3800346" cy="2186581"/>
          </a:xfrm>
          <a:prstGeom prst="rect">
            <a:avLst/>
          </a:prstGeom>
          <a:noFill/>
          <a:ln>
            <a:noFill/>
          </a:ln>
        </p:spPr>
      </p:pic>
      <p:pic>
        <p:nvPicPr>
          <p:cNvPr id="786" name="Google Shape;786;p78"/>
          <p:cNvPicPr preferRelativeResize="0"/>
          <p:nvPr/>
        </p:nvPicPr>
        <p:blipFill rotWithShape="1">
          <a:blip r:embed="rId4">
            <a:alphaModFix/>
          </a:blip>
          <a:srcRect/>
          <a:stretch/>
        </p:blipFill>
        <p:spPr>
          <a:xfrm>
            <a:off x="5463168" y="3141677"/>
            <a:ext cx="5782274" cy="2846755"/>
          </a:xfrm>
          <a:prstGeom prst="rect">
            <a:avLst/>
          </a:prstGeom>
          <a:noFill/>
          <a:ln>
            <a:noFill/>
          </a:ln>
        </p:spPr>
      </p:pic>
      <p:sp>
        <p:nvSpPr>
          <p:cNvPr id="788" name="Google Shape;788;p78"/>
          <p:cNvSpPr txBox="1"/>
          <p:nvPr/>
        </p:nvSpPr>
        <p:spPr>
          <a:xfrm>
            <a:off x="1065402" y="3630894"/>
            <a:ext cx="4295163" cy="2357538"/>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100" i="1" u="sng" dirty="0">
                <a:solidFill>
                  <a:schemeClr val="dk1"/>
                </a:solidFill>
                <a:latin typeface="Libre Franklin"/>
                <a:ea typeface="Libre Franklin"/>
                <a:cs typeface="Libre Franklin"/>
                <a:sym typeface="Libre Franklin"/>
              </a:rPr>
              <a:t>Quindi ci aspettavamo una risposta in banda passante intorno a 86 dB.</a:t>
            </a:r>
            <a:endParaRPr sz="1100" i="1" u="sng"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0"/>
              </a:spcAft>
              <a:buClr>
                <a:schemeClr val="dk1"/>
              </a:buClr>
              <a:buSzPts val="1100"/>
              <a:buFont typeface="Libre Franklin"/>
              <a:buNone/>
            </a:pPr>
            <a:r>
              <a:rPr lang="it-IT" sz="1100" b="1" dirty="0">
                <a:solidFill>
                  <a:schemeClr val="dk1"/>
                </a:solidFill>
                <a:latin typeface="Libre Franklin"/>
                <a:ea typeface="Libre Franklin"/>
                <a:cs typeface="Libre Franklin"/>
                <a:sym typeface="Libre Franklin"/>
              </a:rPr>
              <a:t>Il risultato però non è quello atteso: compaiono picchi e anomalie alle alte frequenze. Questo accade perché un guadagno così alto mette in crisi l’operazionale, evidenziando i limiti di GBW e i ritardi interni.</a:t>
            </a:r>
            <a:endParaRPr sz="1100" b="1"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100" i="1" dirty="0">
                <a:solidFill>
                  <a:schemeClr val="dk1"/>
                </a:solidFill>
                <a:latin typeface="Libre Franklin"/>
                <a:ea typeface="Libre Franklin"/>
                <a:cs typeface="Libre Franklin"/>
                <a:sym typeface="Libre Franklin"/>
              </a:rPr>
              <a:t>Per avvicinarci al comportamento ideale, aumentiamo la GBW, così l’</a:t>
            </a:r>
            <a:r>
              <a:rPr lang="it-IT" sz="1100" i="1" dirty="0" err="1">
                <a:solidFill>
                  <a:schemeClr val="dk1"/>
                </a:solidFill>
                <a:latin typeface="Libre Franklin"/>
                <a:ea typeface="Libre Franklin"/>
                <a:cs typeface="Libre Franklin"/>
                <a:sym typeface="Libre Franklin"/>
              </a:rPr>
              <a:t>opamp</a:t>
            </a:r>
            <a:r>
              <a:rPr lang="it-IT" sz="1100" i="1" dirty="0">
                <a:solidFill>
                  <a:schemeClr val="dk1"/>
                </a:solidFill>
                <a:latin typeface="Libre Franklin"/>
                <a:ea typeface="Libre Franklin"/>
                <a:cs typeface="Libre Franklin"/>
                <a:sym typeface="Libre Franklin"/>
              </a:rPr>
              <a:t> non influenza più la risposta del filtro.</a:t>
            </a:r>
            <a:endParaRPr sz="1100" i="1" dirty="0">
              <a:solidFill>
                <a:schemeClr val="dk1"/>
              </a:solidFill>
              <a:latin typeface="Libre Franklin"/>
              <a:ea typeface="Libre Franklin"/>
              <a:cs typeface="Libre Franklin"/>
              <a:sym typeface="Libre Franklin"/>
            </a:endParaRPr>
          </a:p>
        </p:txBody>
      </p:sp>
      <p:sp>
        <p:nvSpPr>
          <p:cNvPr id="3" name="CasellaDiTesto 2">
            <a:extLst>
              <a:ext uri="{FF2B5EF4-FFF2-40B4-BE49-F238E27FC236}">
                <a16:creationId xmlns:a16="http://schemas.microsoft.com/office/drawing/2014/main" id="{22FE26A5-2466-AA9B-F510-D68A880B6138}"/>
              </a:ext>
            </a:extLst>
          </p:cNvPr>
          <p:cNvSpPr txBox="1"/>
          <p:nvPr/>
        </p:nvSpPr>
        <p:spPr>
          <a:xfrm>
            <a:off x="5849651" y="4895949"/>
            <a:ext cx="6115574" cy="307777"/>
          </a:xfrm>
          <a:prstGeom prst="rect">
            <a:avLst/>
          </a:prstGeom>
          <a:noFill/>
        </p:spPr>
        <p:txBody>
          <a:bodyPr wrap="square">
            <a:spAutoFit/>
          </a:bodyPr>
          <a:lstStyle/>
          <a:p>
            <a:r>
              <a:rPr lang="it-IT" sz="1400" dirty="0">
                <a:solidFill>
                  <a:srgbClr val="0202FF"/>
                </a:solidFill>
                <a:latin typeface="Libre Franklin"/>
                <a:ea typeface="Libre Franklin"/>
                <a:cs typeface="Libre Franklin"/>
                <a:sym typeface="Libre Franklin"/>
              </a:rPr>
              <a:t>Atteso</a:t>
            </a:r>
            <a:r>
              <a:rPr lang="it-IT" sz="1400" dirty="0">
                <a:solidFill>
                  <a:schemeClr val="dk1"/>
                </a:solidFill>
                <a:latin typeface="Libre Franklin"/>
                <a:ea typeface="Libre Franklin"/>
                <a:cs typeface="Libre Franklin"/>
                <a:sym typeface="Libre Franklin"/>
              </a:rPr>
              <a:t> </a:t>
            </a:r>
            <a:endParaRPr lang="it-IT" dirty="0"/>
          </a:p>
        </p:txBody>
      </p:sp>
      <p:sp>
        <p:nvSpPr>
          <p:cNvPr id="4" name="CasellaDiTesto 3">
            <a:extLst>
              <a:ext uri="{FF2B5EF4-FFF2-40B4-BE49-F238E27FC236}">
                <a16:creationId xmlns:a16="http://schemas.microsoft.com/office/drawing/2014/main" id="{F8D805A0-2789-BAC0-014D-C3F2380DFF20}"/>
              </a:ext>
            </a:extLst>
          </p:cNvPr>
          <p:cNvSpPr txBox="1"/>
          <p:nvPr/>
        </p:nvSpPr>
        <p:spPr>
          <a:xfrm>
            <a:off x="6600466" y="3935209"/>
            <a:ext cx="6115574" cy="307777"/>
          </a:xfrm>
          <a:prstGeom prst="rect">
            <a:avLst/>
          </a:prstGeom>
          <a:noFill/>
        </p:spPr>
        <p:txBody>
          <a:bodyPr wrap="square">
            <a:spAutoFit/>
          </a:bodyPr>
          <a:lstStyle/>
          <a:p>
            <a:r>
              <a:rPr lang="it-IT" sz="1400" dirty="0">
                <a:solidFill>
                  <a:srgbClr val="5CFF61"/>
                </a:solidFill>
                <a:latin typeface="Libre Franklin"/>
                <a:ea typeface="Libre Franklin"/>
                <a:cs typeface="Libre Franklin"/>
                <a:sym typeface="Libre Franklin"/>
              </a:rPr>
              <a:t>Realtà  </a:t>
            </a:r>
            <a:endParaRPr lang="it-IT" dirty="0">
              <a:solidFill>
                <a:srgbClr val="5CFF61"/>
              </a:solidFill>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1D75FE0-8863-F313-A8FE-661C84322BB1}"/>
                  </a:ext>
                </a:extLst>
              </p:cNvPr>
              <p:cNvSpPr txBox="1"/>
              <p:nvPr/>
            </p:nvSpPr>
            <p:spPr>
              <a:xfrm>
                <a:off x="5360565" y="1787837"/>
                <a:ext cx="1705671" cy="4457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a:latin typeface="Cambria Math" panose="02040503050406030204" pitchFamily="18" charset="0"/>
                            </a:rPr>
                            <m:t>𝑨</m:t>
                          </m:r>
                        </m:e>
                        <m:sub>
                          <m:r>
                            <a:rPr lang="it-IT" b="1" i="1">
                              <a:latin typeface="Cambria Math" panose="02040503050406030204" pitchFamily="18" charset="0"/>
                            </a:rPr>
                            <m:t>𝒗</m:t>
                          </m:r>
                        </m:sub>
                      </m:sSub>
                      <m:r>
                        <a:rPr lang="it-IT" b="1" i="0">
                          <a:latin typeface="Cambria Math" panose="02040503050406030204" pitchFamily="18" charset="0"/>
                        </a:rPr>
                        <m:t>=</m:t>
                      </m:r>
                      <m:r>
                        <a:rPr lang="it-IT" b="1" i="0" smtClean="0">
                          <a:latin typeface="Cambria Math" panose="02040503050406030204" pitchFamily="18" charset="0"/>
                        </a:rPr>
                        <m:t>−</m:t>
                      </m:r>
                      <m:f>
                        <m:fPr>
                          <m:ctrlPr>
                            <a:rPr lang="it-IT" b="1" i="1">
                              <a:latin typeface="Cambria Math" panose="02040503050406030204" pitchFamily="18" charset="0"/>
                            </a:rPr>
                          </m:ctrlPr>
                        </m:fPr>
                        <m:num>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a:latin typeface="Cambria Math" panose="02040503050406030204" pitchFamily="18" charset="0"/>
                                </a:rPr>
                                <m:t>𝒇</m:t>
                              </m:r>
                            </m:sub>
                          </m:sSub>
                        </m:num>
                        <m:den>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smtClean="0">
                                  <a:latin typeface="Cambria Math" panose="02040503050406030204" pitchFamily="18" charset="0"/>
                                </a:rPr>
                                <m:t>𝒔</m:t>
                              </m:r>
                            </m:sub>
                          </m:sSub>
                        </m:den>
                      </m:f>
                      <m:r>
                        <a:rPr lang="it-IT" b="1" i="1" smtClean="0">
                          <a:latin typeface="Cambria Math" panose="02040503050406030204" pitchFamily="18" charset="0"/>
                        </a:rPr>
                        <m:t>=−</m:t>
                      </m:r>
                      <m:r>
                        <a:rPr lang="it-IT" b="1" i="1" smtClean="0">
                          <a:latin typeface="Cambria Math" panose="02040503050406030204" pitchFamily="18" charset="0"/>
                        </a:rPr>
                        <m:t>𝟐𝟎𝟎𝟎</m:t>
                      </m:r>
                    </m:oMath>
                  </m:oMathPara>
                </a14:m>
                <a:endParaRPr lang="it-IT" b="1" dirty="0"/>
              </a:p>
            </p:txBody>
          </p:sp>
        </mc:Choice>
        <mc:Fallback xmlns="">
          <p:sp>
            <p:nvSpPr>
              <p:cNvPr id="5" name="CasellaDiTesto 4">
                <a:extLst>
                  <a:ext uri="{FF2B5EF4-FFF2-40B4-BE49-F238E27FC236}">
                    <a16:creationId xmlns:a16="http://schemas.microsoft.com/office/drawing/2014/main" id="{11D75FE0-8863-F313-A8FE-661C84322BB1}"/>
                  </a:ext>
                </a:extLst>
              </p:cNvPr>
              <p:cNvSpPr txBox="1">
                <a:spLocks noRot="1" noChangeAspect="1" noMove="1" noResize="1" noEditPoints="1" noAdjustHandles="1" noChangeArrowheads="1" noChangeShapeType="1" noTextEdit="1"/>
              </p:cNvSpPr>
              <p:nvPr/>
            </p:nvSpPr>
            <p:spPr>
              <a:xfrm>
                <a:off x="5360565" y="1787837"/>
                <a:ext cx="1705671" cy="445763"/>
              </a:xfrm>
              <a:prstGeom prst="rect">
                <a:avLst/>
              </a:prstGeom>
              <a:blipFill>
                <a:blip r:embed="rId5"/>
                <a:stretch>
                  <a:fillRect l="-357" t="-1370" b="-684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AF7E247C-E047-46F8-3A19-80F6B2E902BC}"/>
                  </a:ext>
                </a:extLst>
              </p:cNvPr>
              <p:cNvSpPr txBox="1"/>
              <p:nvPr/>
            </p:nvSpPr>
            <p:spPr>
              <a:xfrm>
                <a:off x="5360565" y="2524012"/>
                <a:ext cx="26760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a:latin typeface="Cambria Math" panose="02040503050406030204" pitchFamily="18" charset="0"/>
                            </a:rPr>
                            <m:t>𝑮</m:t>
                          </m:r>
                        </m:e>
                        <m:sub>
                          <m:r>
                            <a:rPr lang="it-IT" sz="1400" b="1" i="0">
                              <a:latin typeface="Cambria Math" panose="02040503050406030204" pitchFamily="18" charset="0"/>
                            </a:rPr>
                            <m:t>ⅆ</m:t>
                          </m:r>
                          <m:r>
                            <a:rPr lang="it-IT" sz="1400" b="1" i="1">
                              <a:latin typeface="Cambria Math" panose="02040503050406030204" pitchFamily="18" charset="0"/>
                            </a:rPr>
                            <m:t>𝑩</m:t>
                          </m:r>
                        </m:sub>
                      </m:sSub>
                      <m:r>
                        <a:rPr lang="it-IT" sz="1400" b="1" i="0">
                          <a:latin typeface="Cambria Math" panose="02040503050406030204" pitchFamily="18" charset="0"/>
                        </a:rPr>
                        <m:t>=</m:t>
                      </m:r>
                      <m:r>
                        <a:rPr lang="it-IT" sz="1400" b="1" i="0">
                          <a:latin typeface="Cambria Math" panose="02040503050406030204" pitchFamily="18" charset="0"/>
                        </a:rPr>
                        <m:t>𝟐𝟎</m:t>
                      </m:r>
                      <m:func>
                        <m:funcPr>
                          <m:ctrlPr>
                            <a:rPr lang="it-IT" sz="1400" b="1" i="1">
                              <a:latin typeface="Cambria Math" panose="02040503050406030204" pitchFamily="18" charset="0"/>
                            </a:rPr>
                          </m:ctrlPr>
                        </m:funcPr>
                        <m:fName>
                          <m:sSub>
                            <m:sSubPr>
                              <m:ctrlPr>
                                <a:rPr lang="it-IT" sz="1400" b="1" i="1">
                                  <a:latin typeface="Cambria Math" panose="02040503050406030204" pitchFamily="18" charset="0"/>
                                </a:rPr>
                              </m:ctrlPr>
                            </m:sSubPr>
                            <m:e>
                              <m:r>
                                <a:rPr lang="it-IT" sz="1400" b="1" i="0">
                                  <a:latin typeface="Cambria Math" panose="02040503050406030204" pitchFamily="18" charset="0"/>
                                </a:rPr>
                                <m:t>𝐥𝐨𝐠</m:t>
                              </m:r>
                            </m:e>
                            <m:sub>
                              <m:r>
                                <a:rPr lang="it-IT" sz="1400" b="1" i="0">
                                  <a:latin typeface="Cambria Math" panose="02040503050406030204" pitchFamily="18" charset="0"/>
                                </a:rPr>
                                <m:t>𝟏𝟎</m:t>
                              </m:r>
                            </m:sub>
                          </m:sSub>
                        </m:fName>
                        <m:e>
                          <m:d>
                            <m:dPr>
                              <m:ctrlPr>
                                <a:rPr lang="it-IT" sz="1400" b="1" i="1">
                                  <a:latin typeface="Cambria Math" panose="02040503050406030204" pitchFamily="18" charset="0"/>
                                </a:rPr>
                              </m:ctrlPr>
                            </m:dPr>
                            <m:e>
                              <m:r>
                                <a:rPr lang="it-IT" sz="1400" b="1" i="1" smtClean="0">
                                  <a:latin typeface="Cambria Math" panose="02040503050406030204" pitchFamily="18" charset="0"/>
                                </a:rPr>
                                <m:t>𝟐𝟎𝟎𝟎</m:t>
                              </m:r>
                            </m:e>
                          </m:d>
                          <m:r>
                            <a:rPr lang="it-IT" sz="1400" b="1" i="1" smtClean="0">
                              <a:latin typeface="Cambria Math" panose="02040503050406030204" pitchFamily="18" charset="0"/>
                            </a:rPr>
                            <m:t>=</m:t>
                          </m:r>
                          <m:r>
                            <a:rPr lang="it-IT" sz="1400" b="1" i="1" smtClean="0">
                              <a:latin typeface="Cambria Math" panose="02040503050406030204" pitchFamily="18" charset="0"/>
                            </a:rPr>
                            <m:t>𝟖𝟔</m:t>
                          </m:r>
                          <m:r>
                            <a:rPr lang="it-IT" sz="1400" b="1" i="1" smtClean="0">
                              <a:latin typeface="Cambria Math" panose="02040503050406030204" pitchFamily="18" charset="0"/>
                            </a:rPr>
                            <m:t>𝒅𝑩</m:t>
                          </m:r>
                        </m:e>
                      </m:func>
                    </m:oMath>
                  </m:oMathPara>
                </a14:m>
                <a:endParaRPr lang="it-IT" sz="1400" b="1" dirty="0"/>
              </a:p>
            </p:txBody>
          </p:sp>
        </mc:Choice>
        <mc:Fallback xmlns="">
          <p:sp>
            <p:nvSpPr>
              <p:cNvPr id="6" name="CasellaDiTesto 5">
                <a:extLst>
                  <a:ext uri="{FF2B5EF4-FFF2-40B4-BE49-F238E27FC236}">
                    <a16:creationId xmlns:a16="http://schemas.microsoft.com/office/drawing/2014/main" id="{AF7E247C-E047-46F8-3A19-80F6B2E902BC}"/>
                  </a:ext>
                </a:extLst>
              </p:cNvPr>
              <p:cNvSpPr txBox="1">
                <a:spLocks noRot="1" noChangeAspect="1" noMove="1" noResize="1" noEditPoints="1" noAdjustHandles="1" noChangeArrowheads="1" noChangeShapeType="1" noTextEdit="1"/>
              </p:cNvSpPr>
              <p:nvPr/>
            </p:nvSpPr>
            <p:spPr>
              <a:xfrm>
                <a:off x="5360565" y="2524012"/>
                <a:ext cx="2676089" cy="215444"/>
              </a:xfrm>
              <a:prstGeom prst="rect">
                <a:avLst/>
              </a:prstGeom>
              <a:blipFill>
                <a:blip r:embed="rId6"/>
                <a:stretch>
                  <a:fillRect b="-37143"/>
                </a:stretch>
              </a:blipFill>
            </p:spPr>
            <p:txBody>
              <a:bodyPr/>
              <a:lstStyle/>
              <a:p>
                <a:r>
                  <a:rPr lang="it-IT">
                    <a:noFill/>
                  </a:rPr>
                  <a:t> </a:t>
                </a:r>
              </a:p>
            </p:txBody>
          </p:sp>
        </mc:Fallback>
      </mc:AlternateContent>
      <p:sp>
        <p:nvSpPr>
          <p:cNvPr id="7" name="Segnaposto numero diapositiva 6">
            <a:extLst>
              <a:ext uri="{FF2B5EF4-FFF2-40B4-BE49-F238E27FC236}">
                <a16:creationId xmlns:a16="http://schemas.microsoft.com/office/drawing/2014/main" id="{E274F385-8A1F-500D-AE8C-6D5A07C49F8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83</a:t>
            </a:fld>
            <a:endParaRPr lang="it-IT"/>
          </a:p>
        </p:txBody>
      </p:sp>
      <p:sp>
        <p:nvSpPr>
          <p:cNvPr id="2" name="Freccia in giù 1">
            <a:hlinkClick r:id="rId7" action="ppaction://hlinksldjump"/>
            <a:extLst>
              <a:ext uri="{FF2B5EF4-FFF2-40B4-BE49-F238E27FC236}">
                <a16:creationId xmlns:a16="http://schemas.microsoft.com/office/drawing/2014/main" id="{33D8B363-7A9A-FAA7-579C-953E60B14C72}"/>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307227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pic>
        <p:nvPicPr>
          <p:cNvPr id="810" name="Google Shape;810;p81"/>
          <p:cNvPicPr preferRelativeResize="0"/>
          <p:nvPr/>
        </p:nvPicPr>
        <p:blipFill rotWithShape="1">
          <a:blip r:embed="rId3">
            <a:alphaModFix/>
          </a:blip>
          <a:srcRect/>
          <a:stretch/>
        </p:blipFill>
        <p:spPr>
          <a:xfrm>
            <a:off x="7116263" y="1017000"/>
            <a:ext cx="4077116" cy="2037313"/>
          </a:xfrm>
          <a:prstGeom prst="rect">
            <a:avLst/>
          </a:prstGeom>
          <a:noFill/>
          <a:ln>
            <a:solidFill>
              <a:schemeClr val="tx1"/>
            </a:solidFill>
          </a:ln>
        </p:spPr>
      </p:pic>
      <p:sp>
        <p:nvSpPr>
          <p:cNvPr id="811" name="Google Shape;811;p81"/>
          <p:cNvSpPr txBox="1"/>
          <p:nvPr/>
        </p:nvSpPr>
        <p:spPr>
          <a:xfrm>
            <a:off x="998621" y="714954"/>
            <a:ext cx="5809045" cy="2714046"/>
          </a:xfrm>
          <a:prstGeom prst="rect">
            <a:avLst/>
          </a:prstGeom>
          <a:noFill/>
          <a:ln>
            <a:solidFill>
              <a:schemeClr val="tx1"/>
            </a:solidFill>
          </a:ln>
        </p:spPr>
        <p:txBody>
          <a:bodyPr spcFirstLastPara="1" wrap="square" lIns="91425" tIns="91425" rIns="91425" bIns="91425" anchor="t" anchorCtr="0">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Garamond"/>
              </a:rPr>
              <a:t>Perché compare il picco</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Alle alte frequenze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riesce più a reagire istantaneamente. Il segnale in uscita arriva quindi con un piccolo ritardo rispetto al segnale richiesto dalla retroazione.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ritardo crea un accumulo di fase e può generare un aumento locale del guadagno, visibile nel grafico come un picco di risonanza o </a:t>
            </a:r>
            <a:r>
              <a:rPr lang="it-IT" sz="1200" dirty="0" err="1">
                <a:latin typeface="Segoe UI" panose="020B0502040204020203" pitchFamily="34" charset="0"/>
                <a:cs typeface="Segoe UI" panose="020B0502040204020203" pitchFamily="34" charset="0"/>
                <a:sym typeface="Garamond"/>
              </a:rPr>
              <a:t>sovraelongazione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pratica, il circuito non è più dominato solo dalla rete RC, ma anche dal limite dinamico dell’operazionale.</a:t>
            </a:r>
            <a:endParaRPr sz="1200" dirty="0">
              <a:latin typeface="Segoe UI" panose="020B0502040204020203" pitchFamily="34" charset="0"/>
              <a:cs typeface="Segoe UI" panose="020B0502040204020203" pitchFamily="34" charset="0"/>
              <a:sym typeface="Garamond"/>
            </a:endParaRPr>
          </a:p>
        </p:txBody>
      </p:sp>
      <p:sp>
        <p:nvSpPr>
          <p:cNvPr id="812" name="Google Shape;812;p81"/>
          <p:cNvSpPr txBox="1"/>
          <p:nvPr/>
        </p:nvSpPr>
        <p:spPr>
          <a:xfrm>
            <a:off x="5802193" y="3471317"/>
            <a:ext cx="5364900" cy="2714046"/>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300"/>
              <a:buFont typeface="Arial"/>
              <a:buNone/>
            </a:pPr>
            <a:r>
              <a:rPr lang="it-IT" b="1" dirty="0">
                <a:latin typeface="Segoe UI" panose="020B0502040204020203" pitchFamily="34" charset="0"/>
                <a:cs typeface="Segoe UI" panose="020B0502040204020203" pitchFamily="34" charset="0"/>
                <a:sym typeface="Garamond"/>
              </a:rPr>
              <a:t>Perché aumentiamo la GBW</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Poiché l’obiettivo è studiare il filtro passa-alto attivo in condizioni ideali, vogliamo che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introduca effetti propri.</a:t>
            </a:r>
            <a:br>
              <a:rPr lang="it-IT" sz="1200" dirty="0">
                <a:latin typeface="Segoe UI" panose="020B0502040204020203" pitchFamily="34" charset="0"/>
                <a:cs typeface="Segoe UI" panose="020B0502040204020203" pitchFamily="34" charset="0"/>
                <a:sym typeface="Garamond"/>
              </a:rPr>
            </a:br>
            <a:r>
              <a:rPr lang="it-IT" sz="1200" dirty="0">
                <a:latin typeface="Segoe UI" panose="020B0502040204020203" pitchFamily="34" charset="0"/>
                <a:cs typeface="Segoe UI" panose="020B0502040204020203" pitchFamily="34" charset="0"/>
                <a:sym typeface="Garamond"/>
              </a:rPr>
              <a:t>Per questo motivo aumentiamo la GBW da valori più bassi fino a valori molto elevati, ad esempio: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b="1" i="1" dirty="0">
                <a:latin typeface="Segoe UI" panose="020B0502040204020203" pitchFamily="34" charset="0"/>
                <a:cs typeface="Segoe UI" panose="020B0502040204020203" pitchFamily="34" charset="0"/>
                <a:sym typeface="Garamond"/>
              </a:rPr>
              <a:t>GBW=1000TGBW = 1000TGBW=1000T</a:t>
            </a:r>
            <a:endParaRPr sz="1200" b="1" i="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u="sng" dirty="0">
                <a:latin typeface="Segoe UI" panose="020B0502040204020203" pitchFamily="34" charset="0"/>
                <a:cs typeface="Segoe UI" panose="020B0502040204020203" pitchFamily="34" charset="0"/>
                <a:sym typeface="Garamond"/>
              </a:rPr>
              <a:t>In questo modo la banda dell’operazionale diventa molto più ampia della banda del filtro e il suo ritardo interno diventa trascurabile.</a:t>
            </a:r>
            <a:endParaRPr sz="1200" u="sng" dirty="0">
              <a:latin typeface="Segoe UI" panose="020B0502040204020203" pitchFamily="34" charset="0"/>
              <a:cs typeface="Segoe UI" panose="020B0502040204020203" pitchFamily="34" charset="0"/>
              <a:sym typeface="Garamond"/>
            </a:endParaRPr>
          </a:p>
        </p:txBody>
      </p:sp>
      <p:pic>
        <p:nvPicPr>
          <p:cNvPr id="813" name="Google Shape;813;p81"/>
          <p:cNvPicPr preferRelativeResize="0"/>
          <p:nvPr/>
        </p:nvPicPr>
        <p:blipFill rotWithShape="1">
          <a:blip r:embed="rId4">
            <a:alphaModFix/>
          </a:blip>
          <a:srcRect/>
          <a:stretch/>
        </p:blipFill>
        <p:spPr>
          <a:xfrm>
            <a:off x="1590353" y="3525947"/>
            <a:ext cx="3490426" cy="2617099"/>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D5CB7B96-7224-4741-2140-CF6C688B5C3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84</a:t>
            </a:fld>
            <a:endParaRPr lang="it-IT"/>
          </a:p>
        </p:txBody>
      </p:sp>
      <p:sp>
        <p:nvSpPr>
          <p:cNvPr id="3" name="Freccia in giù 2">
            <a:hlinkClick r:id="rId5" action="ppaction://hlinksldjump"/>
            <a:extLst>
              <a:ext uri="{FF2B5EF4-FFF2-40B4-BE49-F238E27FC236}">
                <a16:creationId xmlns:a16="http://schemas.microsoft.com/office/drawing/2014/main" id="{A08B7AE7-0D00-748C-46D9-18EFC5E375D9}"/>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737025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82"/>
          <p:cNvPicPr preferRelativeResize="0"/>
          <p:nvPr/>
        </p:nvPicPr>
        <p:blipFill rotWithShape="1">
          <a:blip r:embed="rId3">
            <a:alphaModFix/>
          </a:blip>
          <a:srcRect/>
          <a:stretch/>
        </p:blipFill>
        <p:spPr>
          <a:xfrm>
            <a:off x="606658" y="738705"/>
            <a:ext cx="10978684" cy="5380590"/>
          </a:xfrm>
          <a:prstGeom prst="rect">
            <a:avLst/>
          </a:prstGeom>
          <a:noFill/>
          <a:ln>
            <a:noFill/>
          </a:ln>
        </p:spPr>
      </p:pic>
      <p:sp>
        <p:nvSpPr>
          <p:cNvPr id="2" name="CasellaDiTesto 1">
            <a:extLst>
              <a:ext uri="{FF2B5EF4-FFF2-40B4-BE49-F238E27FC236}">
                <a16:creationId xmlns:a16="http://schemas.microsoft.com/office/drawing/2014/main" id="{3811F0E1-EB2F-F1F2-E80F-65B880D84486}"/>
              </a:ext>
            </a:extLst>
          </p:cNvPr>
          <p:cNvSpPr txBox="1"/>
          <p:nvPr/>
        </p:nvSpPr>
        <p:spPr>
          <a:xfrm>
            <a:off x="4184437" y="1754272"/>
            <a:ext cx="6115574" cy="307777"/>
          </a:xfrm>
          <a:prstGeom prst="rect">
            <a:avLst/>
          </a:prstGeom>
          <a:noFill/>
        </p:spPr>
        <p:txBody>
          <a:bodyPr wrap="square">
            <a:spAutoFit/>
          </a:bodyPr>
          <a:lstStyle/>
          <a:p>
            <a:r>
              <a:rPr lang="it-IT" sz="1400" b="1" dirty="0">
                <a:solidFill>
                  <a:srgbClr val="0202FF"/>
                </a:solidFill>
                <a:latin typeface="Libre Franklin"/>
                <a:ea typeface="Libre Franklin"/>
                <a:cs typeface="Libre Franklin"/>
                <a:sym typeface="Libre Franklin"/>
              </a:rPr>
              <a:t>Ideale ottenuto</a:t>
            </a:r>
            <a:r>
              <a:rPr lang="it-IT" sz="1400" b="1" dirty="0">
                <a:solidFill>
                  <a:schemeClr val="dk1"/>
                </a:solidFill>
                <a:latin typeface="Libre Franklin"/>
                <a:ea typeface="Libre Franklin"/>
                <a:cs typeface="Libre Franklin"/>
                <a:sym typeface="Libre Franklin"/>
              </a:rPr>
              <a:t> </a:t>
            </a:r>
            <a:endParaRPr lang="it-IT" b="1" dirty="0"/>
          </a:p>
        </p:txBody>
      </p:sp>
      <p:sp>
        <p:nvSpPr>
          <p:cNvPr id="3" name="Segnaposto numero diapositiva 2">
            <a:extLst>
              <a:ext uri="{FF2B5EF4-FFF2-40B4-BE49-F238E27FC236}">
                <a16:creationId xmlns:a16="http://schemas.microsoft.com/office/drawing/2014/main" id="{D52C8738-301E-436F-5367-D7E6449578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85</a:t>
            </a:fld>
            <a:endParaRPr lang="it-IT"/>
          </a:p>
        </p:txBody>
      </p:sp>
    </p:spTree>
    <p:extLst>
      <p:ext uri="{BB962C8B-B14F-4D97-AF65-F5344CB8AC3E}">
        <p14:creationId xmlns:p14="http://schemas.microsoft.com/office/powerpoint/2010/main" val="34769672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83"/>
          <p:cNvSpPr txBox="1"/>
          <p:nvPr/>
        </p:nvSpPr>
        <p:spPr>
          <a:xfrm>
            <a:off x="1098958" y="756125"/>
            <a:ext cx="8014617"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Rs</a:t>
            </a:r>
            <a:endParaRPr dirty="0">
              <a:sym typeface="Libre Franklin SemiBold"/>
            </a:endParaRPr>
          </a:p>
        </p:txBody>
      </p:sp>
      <p:pic>
        <p:nvPicPr>
          <p:cNvPr id="827" name="Google Shape;827;p83"/>
          <p:cNvPicPr preferRelativeResize="0"/>
          <p:nvPr/>
        </p:nvPicPr>
        <p:blipFill rotWithShape="1">
          <a:blip r:embed="rId3">
            <a:alphaModFix/>
          </a:blip>
          <a:srcRect/>
          <a:stretch/>
        </p:blipFill>
        <p:spPr>
          <a:xfrm>
            <a:off x="964733" y="3563038"/>
            <a:ext cx="5050173" cy="2538837"/>
          </a:xfrm>
          <a:prstGeom prst="rect">
            <a:avLst/>
          </a:prstGeom>
          <a:noFill/>
          <a:ln>
            <a:solidFill>
              <a:schemeClr val="tx1"/>
            </a:solidFill>
          </a:ln>
        </p:spPr>
      </p:pic>
      <p:pic>
        <p:nvPicPr>
          <p:cNvPr id="829" name="Google Shape;829;p83"/>
          <p:cNvPicPr preferRelativeResize="0"/>
          <p:nvPr/>
        </p:nvPicPr>
        <p:blipFill rotWithShape="1">
          <a:blip r:embed="rId4">
            <a:alphaModFix/>
          </a:blip>
          <a:srcRect/>
          <a:stretch/>
        </p:blipFill>
        <p:spPr>
          <a:xfrm>
            <a:off x="6096000" y="822122"/>
            <a:ext cx="5261160" cy="2698840"/>
          </a:xfrm>
          <a:prstGeom prst="rect">
            <a:avLst/>
          </a:prstGeom>
          <a:noFill/>
          <a:ln>
            <a:noFill/>
          </a:ln>
        </p:spPr>
      </p:pic>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ECA4CE-2D54-E221-CC04-FE4A8E84E21E}"/>
                  </a:ext>
                </a:extLst>
              </p:cNvPr>
              <p:cNvSpPr txBox="1"/>
              <p:nvPr/>
            </p:nvSpPr>
            <p:spPr>
              <a:xfrm>
                <a:off x="1237377" y="1966660"/>
                <a:ext cx="3947020" cy="670568"/>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4" name="CasellaDiTesto 3">
                <a:extLst>
                  <a:ext uri="{FF2B5EF4-FFF2-40B4-BE49-F238E27FC236}">
                    <a16:creationId xmlns:a16="http://schemas.microsoft.com/office/drawing/2014/main" id="{A7ECA4CE-2D54-E221-CC04-FE4A8E84E21E}"/>
                  </a:ext>
                </a:extLst>
              </p:cNvPr>
              <p:cNvSpPr txBox="1">
                <a:spLocks noRot="1" noChangeAspect="1" noMove="1" noResize="1" noEditPoints="1" noAdjustHandles="1" noChangeArrowheads="1" noChangeShapeType="1" noTextEdit="1"/>
              </p:cNvSpPr>
              <p:nvPr/>
            </p:nvSpPr>
            <p:spPr>
              <a:xfrm>
                <a:off x="1237377" y="1966660"/>
                <a:ext cx="3947020" cy="67056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5" name="Immagine 4">
            <a:extLst>
              <a:ext uri="{FF2B5EF4-FFF2-40B4-BE49-F238E27FC236}">
                <a16:creationId xmlns:a16="http://schemas.microsoft.com/office/drawing/2014/main" id="{ADEF1B96-E4DF-2A96-5076-082C47FF909C}"/>
              </a:ext>
            </a:extLst>
          </p:cNvPr>
          <p:cNvPicPr>
            <a:picLocks noChangeAspect="1"/>
          </p:cNvPicPr>
          <p:nvPr/>
        </p:nvPicPr>
        <p:blipFill>
          <a:blip r:embed="rId6"/>
          <a:stretch>
            <a:fillRect/>
          </a:stretch>
        </p:blipFill>
        <p:spPr>
          <a:xfrm>
            <a:off x="6096000" y="3586959"/>
            <a:ext cx="5166220" cy="2531933"/>
          </a:xfrm>
          <a:prstGeom prst="rect">
            <a:avLst/>
          </a:prstGeom>
          <a:ln>
            <a:solidFill>
              <a:schemeClr val="tx1"/>
            </a:solidFill>
          </a:ln>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578E051D-978F-CEDD-5645-1A0216A1056C}"/>
                  </a:ext>
                </a:extLst>
              </p:cNvPr>
              <p:cNvSpPr txBox="1"/>
              <p:nvPr/>
            </p:nvSpPr>
            <p:spPr>
              <a:xfrm>
                <a:off x="1237376" y="2754072"/>
                <a:ext cx="3947021"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𝑨</m:t>
                          </m:r>
                        </m:e>
                        <m:sub>
                          <m:r>
                            <a:rPr lang="it-IT">
                              <a:latin typeface="Cambria Math" panose="02040503050406030204" pitchFamily="18" charset="0"/>
                            </a:rPr>
                            <m:t>𝒗</m:t>
                          </m:r>
                        </m:sub>
                      </m:sSub>
                      <m:r>
                        <a:rPr lang="it-IT">
                          <a:latin typeface="Cambria Math" panose="02040503050406030204" pitchFamily="18" charset="0"/>
                        </a:rPr>
                        <m:t>=−</m:t>
                      </m:r>
                      <m:f>
                        <m:fPr>
                          <m:ctrlPr>
                            <a:rPr lang="it-IT" i="1">
                              <a:latin typeface="Cambria Math" panose="02040503050406030204" pitchFamily="18" charset="0"/>
                            </a:rPr>
                          </m:ctrlPr>
                        </m:fPr>
                        <m:num>
                          <m:r>
                            <a:rPr lang="it-IT">
                              <a:latin typeface="Cambria Math" panose="02040503050406030204" pitchFamily="18" charset="0"/>
                            </a:rPr>
                            <m:t>𝟐𝟎</m:t>
                          </m:r>
                          <m:r>
                            <a:rPr lang="it-IT">
                              <a:latin typeface="Cambria Math" panose="02040503050406030204" pitchFamily="18" charset="0"/>
                            </a:rPr>
                            <m:t>𝒌</m:t>
                          </m:r>
                        </m:num>
                        <m:den>
                          <m:r>
                            <a:rPr lang="it-IT">
                              <a:latin typeface="Cambria Math" panose="02040503050406030204" pitchFamily="18" charset="0"/>
                            </a:rPr>
                            <m:t>𝟏</m:t>
                          </m:r>
                        </m:den>
                      </m:f>
                      <m:r>
                        <a:rPr lang="it-IT">
                          <a:latin typeface="Cambria Math" panose="02040503050406030204" pitchFamily="18" charset="0"/>
                        </a:rPr>
                        <m:t>=−</m:t>
                      </m:r>
                      <m:r>
                        <a:rPr lang="it-IT">
                          <a:latin typeface="Cambria Math" panose="02040503050406030204" pitchFamily="18" charset="0"/>
                        </a:rPr>
                        <m:t>𝟐𝟎</m:t>
                      </m:r>
                      <m:r>
                        <a:rPr lang="it-IT">
                          <a:latin typeface="Cambria Math" panose="02040503050406030204" pitchFamily="18" charset="0"/>
                        </a:rPr>
                        <m:t>𝒌</m:t>
                      </m:r>
                    </m:oMath>
                  </m:oMathPara>
                </a14:m>
                <a:endParaRPr lang="it-IT" dirty="0"/>
              </a:p>
            </p:txBody>
          </p:sp>
        </mc:Choice>
        <mc:Fallback xmlns="">
          <p:sp>
            <p:nvSpPr>
              <p:cNvPr id="7" name="CasellaDiTesto 6">
                <a:extLst>
                  <a:ext uri="{FF2B5EF4-FFF2-40B4-BE49-F238E27FC236}">
                    <a16:creationId xmlns:a16="http://schemas.microsoft.com/office/drawing/2014/main" id="{578E051D-978F-CEDD-5645-1A0216A1056C}"/>
                  </a:ext>
                </a:extLst>
              </p:cNvPr>
              <p:cNvSpPr txBox="1">
                <a:spLocks noRot="1" noChangeAspect="1" noMove="1" noResize="1" noEditPoints="1" noAdjustHandles="1" noChangeArrowheads="1" noChangeShapeType="1" noTextEdit="1"/>
              </p:cNvSpPr>
              <p:nvPr/>
            </p:nvSpPr>
            <p:spPr>
              <a:xfrm>
                <a:off x="1237376" y="2754072"/>
                <a:ext cx="3947021" cy="674928"/>
              </a:xfrm>
              <a:prstGeom prst="rect">
                <a:avLst/>
              </a:prstGeom>
              <a:blipFill>
                <a:blip r:embed="rId7"/>
                <a:stretch>
                  <a:fillRect/>
                </a:stretch>
              </a:blipFill>
              <a:ln>
                <a:solidFill>
                  <a:schemeClr val="tx1"/>
                </a:solidFill>
              </a:ln>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CF1F9A35-8BCC-C606-CF8C-43AC32EA6F82}"/>
              </a:ext>
            </a:extLst>
          </p:cNvPr>
          <p:cNvSpPr txBox="1"/>
          <p:nvPr/>
        </p:nvSpPr>
        <p:spPr>
          <a:xfrm>
            <a:off x="6831162" y="4194074"/>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1" name="CasellaDiTesto 10">
            <a:extLst>
              <a:ext uri="{FF2B5EF4-FFF2-40B4-BE49-F238E27FC236}">
                <a16:creationId xmlns:a16="http://schemas.microsoft.com/office/drawing/2014/main" id="{350AB888-6993-7006-B598-0A8ED76A55EF}"/>
              </a:ext>
            </a:extLst>
          </p:cNvPr>
          <p:cNvSpPr txBox="1"/>
          <p:nvPr/>
        </p:nvSpPr>
        <p:spPr>
          <a:xfrm>
            <a:off x="4230575" y="3886297"/>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2" name="Segnaposto numero diapositiva 11">
            <a:extLst>
              <a:ext uri="{FF2B5EF4-FFF2-40B4-BE49-F238E27FC236}">
                <a16:creationId xmlns:a16="http://schemas.microsoft.com/office/drawing/2014/main" id="{CB67CAD3-3818-89DA-3B77-80C98F54C6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86</a:t>
            </a:fld>
            <a:endParaRPr lang="it-IT"/>
          </a:p>
        </p:txBody>
      </p:sp>
      <p:sp>
        <p:nvSpPr>
          <p:cNvPr id="2" name="Freccia in giù 1">
            <a:hlinkClick r:id="rId8" action="ppaction://hlinksldjump"/>
            <a:extLst>
              <a:ext uri="{FF2B5EF4-FFF2-40B4-BE49-F238E27FC236}">
                <a16:creationId xmlns:a16="http://schemas.microsoft.com/office/drawing/2014/main" id="{FBD1661F-D1FE-F462-A27D-933C6C4B094C}"/>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8037063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pic>
        <p:nvPicPr>
          <p:cNvPr id="834" name="Google Shape;834;p84"/>
          <p:cNvPicPr preferRelativeResize="0"/>
          <p:nvPr/>
        </p:nvPicPr>
        <p:blipFill rotWithShape="1">
          <a:blip r:embed="rId3">
            <a:alphaModFix/>
          </a:blip>
          <a:srcRect/>
          <a:stretch/>
        </p:blipFill>
        <p:spPr>
          <a:xfrm>
            <a:off x="1186224" y="1377413"/>
            <a:ext cx="4644125" cy="2192103"/>
          </a:xfrm>
          <a:prstGeom prst="rect">
            <a:avLst/>
          </a:prstGeom>
          <a:noFill/>
          <a:ln>
            <a:noFill/>
          </a:ln>
        </p:spPr>
      </p:pic>
      <p:sp>
        <p:nvSpPr>
          <p:cNvPr id="836" name="Google Shape;836;p84"/>
          <p:cNvSpPr txBox="1"/>
          <p:nvPr/>
        </p:nvSpPr>
        <p:spPr>
          <a:xfrm>
            <a:off x="1186224" y="756125"/>
            <a:ext cx="792735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Rf</a:t>
            </a:r>
            <a:endParaRPr dirty="0">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E61EA08-2F5F-3B4F-74F4-6683CCBA594D}"/>
                  </a:ext>
                </a:extLst>
              </p:cNvPr>
              <p:cNvSpPr txBox="1"/>
              <p:nvPr/>
            </p:nvSpPr>
            <p:spPr>
              <a:xfrm>
                <a:off x="6207854" y="1658757"/>
                <a:ext cx="4797922" cy="725135"/>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m:t>
                          </m:r>
                          <m:r>
                            <a:rPr lang="it-IT" sz="2000" b="1" i="1" smtClean="0">
                              <a:latin typeface="Cambria Math" panose="02040503050406030204" pitchFamily="18" charset="0"/>
                              <a:ea typeface="Cambria Math" panose="02040503050406030204" pitchFamily="18" charset="0"/>
                            </a:rPr>
                            <m:t>𝒌</m:t>
                          </m:r>
                          <m:r>
                            <a:rPr lang="el-GR" sz="2000" b="1" i="1" smtClean="0">
                              <a:latin typeface="Cambria Math" panose="02040503050406030204" pitchFamily="18" charset="0"/>
                              <a:ea typeface="Cambria Math" panose="02040503050406030204" pitchFamily="18" charset="0"/>
                            </a:rPr>
                            <m:t>𝜴</m:t>
                          </m:r>
                          <m:r>
                            <a:rPr lang="it-IT" sz="2000" b="1" i="1" smtClean="0">
                              <a:latin typeface="Cambria Math" panose="02040503050406030204" pitchFamily="18" charset="0"/>
                              <a:ea typeface="Cambria Math" panose="02040503050406030204" pitchFamily="18" charset="0"/>
                            </a:rPr>
                            <m:t>)</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2" name="CasellaDiTesto 1">
                <a:extLst>
                  <a:ext uri="{FF2B5EF4-FFF2-40B4-BE49-F238E27FC236}">
                    <a16:creationId xmlns:a16="http://schemas.microsoft.com/office/drawing/2014/main" id="{EE61EA08-2F5F-3B4F-74F4-6683CCBA594D}"/>
                  </a:ext>
                </a:extLst>
              </p:cNvPr>
              <p:cNvSpPr txBox="1">
                <a:spLocks noRot="1" noChangeAspect="1" noMove="1" noResize="1" noEditPoints="1" noAdjustHandles="1" noChangeArrowheads="1" noChangeShapeType="1" noTextEdit="1"/>
              </p:cNvSpPr>
              <p:nvPr/>
            </p:nvSpPr>
            <p:spPr>
              <a:xfrm>
                <a:off x="6207854" y="1658757"/>
                <a:ext cx="4797922" cy="725135"/>
              </a:xfrm>
              <a:prstGeom prst="rect">
                <a:avLst/>
              </a:prstGeom>
              <a:blipFill>
                <a:blip r:embed="rId4"/>
                <a:stretch>
                  <a:fillRect/>
                </a:stretch>
              </a:blipFill>
              <a:ln>
                <a:solidFill>
                  <a:schemeClr val="tx1"/>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6467EFB-0BA0-2EAB-C122-DBBC6FEAFFDE}"/>
                  </a:ext>
                </a:extLst>
              </p:cNvPr>
              <p:cNvSpPr txBox="1"/>
              <p:nvPr/>
            </p:nvSpPr>
            <p:spPr>
              <a:xfrm>
                <a:off x="6207853" y="2446169"/>
                <a:ext cx="4797922"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a:latin typeface="Cambria Math" panose="02040503050406030204" pitchFamily="18" charset="0"/>
                            </a:rPr>
                            <m:t>𝑨</m:t>
                          </m:r>
                        </m:e>
                        <m:sub>
                          <m:r>
                            <a:rPr lang="it-IT" b="1">
                              <a:latin typeface="Cambria Math" panose="02040503050406030204" pitchFamily="18" charset="0"/>
                            </a:rPr>
                            <m:t>𝒗</m:t>
                          </m:r>
                        </m:sub>
                      </m:sSub>
                      <m:r>
                        <a:rPr lang="it-IT" b="1">
                          <a:latin typeface="Cambria Math" panose="02040503050406030204" pitchFamily="18" charset="0"/>
                        </a:rPr>
                        <m:t>=−</m:t>
                      </m:r>
                      <m:f>
                        <m:fPr>
                          <m:ctrlPr>
                            <a:rPr lang="it-IT" b="1" i="1" smtClean="0">
                              <a:latin typeface="Cambria Math" panose="02040503050406030204" pitchFamily="18" charset="0"/>
                            </a:rPr>
                          </m:ctrlPr>
                        </m:fPr>
                        <m:num>
                          <m:r>
                            <a:rPr lang="it-IT" b="1" i="1" smtClean="0">
                              <a:latin typeface="Cambria Math" panose="02040503050406030204" pitchFamily="18" charset="0"/>
                            </a:rPr>
                            <m:t>𝟏</m:t>
                          </m:r>
                        </m:num>
                        <m:den>
                          <m:r>
                            <a:rPr lang="it-IT" b="1" i="1" smtClean="0">
                              <a:latin typeface="Cambria Math" panose="02040503050406030204" pitchFamily="18" charset="0"/>
                            </a:rPr>
                            <m:t>𝟏𝟎</m:t>
                          </m:r>
                          <m:r>
                            <a:rPr lang="it-IT" b="1" i="1" smtClean="0">
                              <a:latin typeface="Cambria Math" panose="02040503050406030204" pitchFamily="18" charset="0"/>
                            </a:rPr>
                            <m:t>𝒌</m:t>
                          </m:r>
                        </m:den>
                      </m:f>
                      <m:r>
                        <a:rPr lang="it-IT" b="1">
                          <a:latin typeface="Cambria Math" panose="02040503050406030204" pitchFamily="18" charset="0"/>
                        </a:rPr>
                        <m:t>=−</m:t>
                      </m:r>
                      <m:r>
                        <a:rPr lang="it-IT" b="1" i="1" smtClean="0">
                          <a:latin typeface="Cambria Math" panose="02040503050406030204" pitchFamily="18" charset="0"/>
                        </a:rPr>
                        <m:t>𝟎</m:t>
                      </m:r>
                      <m:r>
                        <a:rPr lang="it-IT" b="1" i="1" smtClean="0">
                          <a:latin typeface="Cambria Math" panose="02040503050406030204" pitchFamily="18" charset="0"/>
                        </a:rPr>
                        <m:t>,</m:t>
                      </m:r>
                      <m:r>
                        <a:rPr lang="it-IT" b="1" i="1" smtClean="0">
                          <a:latin typeface="Cambria Math" panose="02040503050406030204" pitchFamily="18" charset="0"/>
                        </a:rPr>
                        <m:t>𝟎𝟎𝟎𝟏</m:t>
                      </m:r>
                    </m:oMath>
                  </m:oMathPara>
                </a14:m>
                <a:endParaRPr lang="it-IT" b="1" dirty="0"/>
              </a:p>
            </p:txBody>
          </p:sp>
        </mc:Choice>
        <mc:Fallback xmlns="">
          <p:sp>
            <p:nvSpPr>
              <p:cNvPr id="3" name="CasellaDiTesto 2">
                <a:extLst>
                  <a:ext uri="{FF2B5EF4-FFF2-40B4-BE49-F238E27FC236}">
                    <a16:creationId xmlns:a16="http://schemas.microsoft.com/office/drawing/2014/main" id="{86467EFB-0BA0-2EAB-C122-DBBC6FEAFFDE}"/>
                  </a:ext>
                </a:extLst>
              </p:cNvPr>
              <p:cNvSpPr txBox="1">
                <a:spLocks noRot="1" noChangeAspect="1" noMove="1" noResize="1" noEditPoints="1" noAdjustHandles="1" noChangeArrowheads="1" noChangeShapeType="1" noTextEdit="1"/>
              </p:cNvSpPr>
              <p:nvPr/>
            </p:nvSpPr>
            <p:spPr>
              <a:xfrm>
                <a:off x="6207853" y="2446169"/>
                <a:ext cx="4797922" cy="67492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4" name="Immagine 3">
            <a:extLst>
              <a:ext uri="{FF2B5EF4-FFF2-40B4-BE49-F238E27FC236}">
                <a16:creationId xmlns:a16="http://schemas.microsoft.com/office/drawing/2014/main" id="{419CCB50-DA63-352D-D584-19B3429239C9}"/>
              </a:ext>
            </a:extLst>
          </p:cNvPr>
          <p:cNvPicPr>
            <a:picLocks noChangeAspect="1"/>
          </p:cNvPicPr>
          <p:nvPr/>
        </p:nvPicPr>
        <p:blipFill>
          <a:blip r:embed="rId6"/>
          <a:stretch>
            <a:fillRect/>
          </a:stretch>
        </p:blipFill>
        <p:spPr>
          <a:xfrm>
            <a:off x="6207853" y="3772563"/>
            <a:ext cx="4858044" cy="2380898"/>
          </a:xfrm>
          <a:prstGeom prst="rect">
            <a:avLst/>
          </a:prstGeom>
        </p:spPr>
      </p:pic>
      <p:pic>
        <p:nvPicPr>
          <p:cNvPr id="5" name="Immagine 4">
            <a:extLst>
              <a:ext uri="{FF2B5EF4-FFF2-40B4-BE49-F238E27FC236}">
                <a16:creationId xmlns:a16="http://schemas.microsoft.com/office/drawing/2014/main" id="{B757B2A9-D1A9-C64E-DC8F-43D30A3A8B8A}"/>
              </a:ext>
            </a:extLst>
          </p:cNvPr>
          <p:cNvPicPr>
            <a:picLocks noChangeAspect="1"/>
          </p:cNvPicPr>
          <p:nvPr/>
        </p:nvPicPr>
        <p:blipFill>
          <a:blip r:embed="rId7"/>
          <a:stretch>
            <a:fillRect/>
          </a:stretch>
        </p:blipFill>
        <p:spPr>
          <a:xfrm>
            <a:off x="1186225" y="3772563"/>
            <a:ext cx="4858044" cy="2380897"/>
          </a:xfrm>
          <a:prstGeom prst="rect">
            <a:avLst/>
          </a:prstGeom>
        </p:spPr>
      </p:pic>
      <p:sp>
        <p:nvSpPr>
          <p:cNvPr id="6" name="CasellaDiTesto 5">
            <a:extLst>
              <a:ext uri="{FF2B5EF4-FFF2-40B4-BE49-F238E27FC236}">
                <a16:creationId xmlns:a16="http://schemas.microsoft.com/office/drawing/2014/main" id="{07ECBBE7-0010-B1FD-FBFC-F9821428735B}"/>
              </a:ext>
            </a:extLst>
          </p:cNvPr>
          <p:cNvSpPr txBox="1"/>
          <p:nvPr/>
        </p:nvSpPr>
        <p:spPr>
          <a:xfrm>
            <a:off x="3615247" y="4963011"/>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7" name="CasellaDiTesto 6">
            <a:extLst>
              <a:ext uri="{FF2B5EF4-FFF2-40B4-BE49-F238E27FC236}">
                <a16:creationId xmlns:a16="http://schemas.microsoft.com/office/drawing/2014/main" id="{1560B75E-7712-3390-4E45-062D302D5B30}"/>
              </a:ext>
            </a:extLst>
          </p:cNvPr>
          <p:cNvSpPr txBox="1"/>
          <p:nvPr/>
        </p:nvSpPr>
        <p:spPr>
          <a:xfrm>
            <a:off x="7318986" y="5700216"/>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8" name="Segnaposto numero diapositiva 7">
            <a:extLst>
              <a:ext uri="{FF2B5EF4-FFF2-40B4-BE49-F238E27FC236}">
                <a16:creationId xmlns:a16="http://schemas.microsoft.com/office/drawing/2014/main" id="{B0E39A1A-0A95-D777-46C6-F3A8BF1359D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87</a:t>
            </a:fld>
            <a:endParaRPr lang="it-IT"/>
          </a:p>
        </p:txBody>
      </p:sp>
      <p:sp>
        <p:nvSpPr>
          <p:cNvPr id="9" name="Freccia in giù 8">
            <a:hlinkClick r:id="rId8" action="ppaction://hlinksldjump"/>
            <a:extLst>
              <a:ext uri="{FF2B5EF4-FFF2-40B4-BE49-F238E27FC236}">
                <a16:creationId xmlns:a16="http://schemas.microsoft.com/office/drawing/2014/main" id="{A064EB86-A6E3-6FA2-0352-5FD100BEBD8E}"/>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4786662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86"/>
          <p:cNvPicPr preferRelativeResize="0"/>
          <p:nvPr/>
        </p:nvPicPr>
        <p:blipFill rotWithShape="1">
          <a:blip r:embed="rId3">
            <a:alphaModFix/>
          </a:blip>
          <a:srcRect/>
          <a:stretch/>
        </p:blipFill>
        <p:spPr>
          <a:xfrm>
            <a:off x="3546561" y="2638969"/>
            <a:ext cx="7073900" cy="3466875"/>
          </a:xfrm>
          <a:prstGeom prst="rect">
            <a:avLst/>
          </a:prstGeom>
          <a:noFill/>
          <a:ln>
            <a:solidFill>
              <a:schemeClr val="tx1"/>
            </a:solidFill>
          </a:ln>
        </p:spPr>
      </p:pic>
      <p:sp>
        <p:nvSpPr>
          <p:cNvPr id="854" name="Google Shape;854;p86"/>
          <p:cNvSpPr txBox="1"/>
          <p:nvPr/>
        </p:nvSpPr>
        <p:spPr>
          <a:xfrm>
            <a:off x="953199" y="3510694"/>
            <a:ext cx="2412738" cy="1292631"/>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Il segnale di ingresso Vin, rappresentato in rosso, è un’onda quadra compresa tra -1 V e +1 V. Ogni fronte del segnale produce quindi una variazione totale pari a:</a:t>
            </a:r>
            <a:endParaRPr sz="1500" b="1" dirty="0">
              <a:solidFill>
                <a:schemeClr val="dk1"/>
              </a:solidFill>
              <a:latin typeface="Libre Franklin"/>
              <a:ea typeface="Libre Franklin"/>
              <a:cs typeface="Libre Franklin"/>
              <a:sym typeface="Libre Franklin"/>
            </a:endParaRPr>
          </a:p>
        </p:txBody>
      </p:sp>
      <p:sp>
        <p:nvSpPr>
          <p:cNvPr id="856" name="Google Shape;856;p86"/>
          <p:cNvSpPr txBox="1">
            <a:spLocks/>
          </p:cNvSpPr>
          <p:nvPr/>
        </p:nvSpPr>
        <p:spPr>
          <a:xfrm>
            <a:off x="1058061" y="720307"/>
            <a:ext cx="10075877"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800"/>
              <a:buFont typeface="Libre Franklin"/>
              <a:buNone/>
            </a:pPr>
            <a:r>
              <a:rPr lang="it-IT" b="1" dirty="0">
                <a:latin typeface="Segoe UI" panose="020B0502040204020203" pitchFamily="34" charset="0"/>
                <a:cs typeface="Segoe UI" panose="020B0502040204020203" pitchFamily="34" charset="0"/>
                <a:sym typeface="Libre Franklin"/>
              </a:rPr>
              <a:t>Comportamento della rete RC</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primo stadio del circuito è presente la rete RC passa-alto formata dal condensatore e dalla resistenza d’ingresso.</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Quando Vin cambia bruscamente valore, il condensatore non può variare istantaneamente la tensione ai suoi capi. Per questo motivo trasferisce inizialmente la variazione al nodo del filtro, generando un impulso.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Dopo il fronte, il condensatore inizia a caricarsi o scaricarsi attraverso la resistenza e il segnale decade progressivamente con andamento esponenziale.</a:t>
            </a:r>
            <a:endParaRPr sz="1200"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BDFBE2DF-FDAB-7E71-A062-57D50DE1D2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88</a:t>
            </a:fld>
            <a:endParaRPr lang="it-IT"/>
          </a:p>
        </p:txBody>
      </p:sp>
      <p:sp>
        <p:nvSpPr>
          <p:cNvPr id="2" name="Freccia in giù 1">
            <a:hlinkClick r:id="rId4" action="ppaction://hlinksldjump"/>
            <a:extLst>
              <a:ext uri="{FF2B5EF4-FFF2-40B4-BE49-F238E27FC236}">
                <a16:creationId xmlns:a16="http://schemas.microsoft.com/office/drawing/2014/main" id="{9C4C29A3-465E-2358-99D9-5E516C5492E8}"/>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33506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88"/>
          <p:cNvSpPr txBox="1"/>
          <p:nvPr/>
        </p:nvSpPr>
        <p:spPr>
          <a:xfrm>
            <a:off x="1012562" y="812341"/>
            <a:ext cx="9506466"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a:t>
            </a:r>
            <a:r>
              <a:rPr lang="it-IT" dirty="0" err="1">
                <a:sym typeface="Libre Franklin SemiBold"/>
              </a:rPr>
              <a:t>Rs</a:t>
            </a:r>
            <a:r>
              <a:rPr lang="it-IT" dirty="0">
                <a:sym typeface="Libre Franklin SemiBold"/>
              </a:rPr>
              <a:t> sulla carica e scarica del condensatore</a:t>
            </a:r>
            <a:endParaRPr dirty="0">
              <a:sym typeface="Libre Franklin SemiBold"/>
            </a:endParaRPr>
          </a:p>
        </p:txBody>
      </p:sp>
      <p:sp>
        <p:nvSpPr>
          <p:cNvPr id="872" name="Google Shape;872;p88"/>
          <p:cNvSpPr txBox="1"/>
          <p:nvPr/>
        </p:nvSpPr>
        <p:spPr>
          <a:xfrm>
            <a:off x="989764" y="1302776"/>
            <a:ext cx="10100774"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Nel caso ideale, l’operazionale mantiene il nodo invertente a massa virtuale. Questo significa che il nodo collegato all’ingresso (−) resta circa a 0 V, anche se non è collegato direttamente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questa condizione, il condensatore C4 vede principalmente la resistenza R16. La costante di tempo del circuito può quindi essere approssimata con:</a:t>
            </a:r>
            <a:endParaRPr sz="1200" dirty="0">
              <a:latin typeface="Segoe UI" panose="020B0502040204020203" pitchFamily="34" charset="0"/>
              <a:cs typeface="Segoe UI" panose="020B0502040204020203" pitchFamily="34" charset="0"/>
              <a:sym typeface="Libre Franklin"/>
            </a:endParaRPr>
          </a:p>
        </p:txBody>
      </p:sp>
      <p:sp>
        <p:nvSpPr>
          <p:cNvPr id="873" name="Google Shape;873;p88"/>
          <p:cNvSpPr txBox="1"/>
          <p:nvPr/>
        </p:nvSpPr>
        <p:spPr>
          <a:xfrm>
            <a:off x="1012562" y="2561491"/>
            <a:ext cx="10819800"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Quando però la resistenza di retroazione R17 diventa molto grande, la retroazione è meno efficace. L’operazionale fatica a mantenere il nodo invertente perfettamente a 0 V, quindi la massa virtuale diventa meno ideale.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Di conseguenza, il condensatore non vede più soltanto R16, ma una resistenza equivalente maggiore. In questo caso anche R17 contribuisce, almeno in parte, alla costante di tempo.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La relazione approssimata diventa:</a:t>
            </a:r>
            <a:endParaRPr sz="1200" dirty="0">
              <a:latin typeface="Segoe UI" panose="020B0502040204020203" pitchFamily="34" charset="0"/>
              <a:cs typeface="Segoe UI" panose="020B0502040204020203" pitchFamily="34" charset="0"/>
              <a:sym typeface="Libre Franklin"/>
            </a:endParaRPr>
          </a:p>
        </p:txBody>
      </p:sp>
      <p:sp>
        <p:nvSpPr>
          <p:cNvPr id="875" name="Google Shape;875;p88"/>
          <p:cNvSpPr txBox="1"/>
          <p:nvPr/>
        </p:nvSpPr>
        <p:spPr>
          <a:xfrm>
            <a:off x="5460662" y="3539861"/>
            <a:ext cx="5326500" cy="157347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dove A è il guadagno ad anello aperto dell’operazionale.</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100"/>
            </a:pPr>
            <a:r>
              <a:rPr lang="it-IT" sz="1200" dirty="0">
                <a:latin typeface="Segoe UI" panose="020B0502040204020203" pitchFamily="34" charset="0"/>
                <a:cs typeface="Segoe UI" panose="020B0502040204020203" pitchFamily="34" charset="0"/>
                <a:sym typeface="Libre Franklin"/>
              </a:rPr>
              <a:t>Se A è molto grande, il termine è trascurabile e si torna al caso ideale.</a:t>
            </a:r>
          </a:p>
          <a:p>
            <a:pPr marL="0" marR="0" lvl="0" indent="0" algn="l" rtl="0">
              <a:lnSpc>
                <a:spcPct val="115000"/>
              </a:lnSpc>
              <a:spcBef>
                <a:spcPts val="1200"/>
              </a:spcBef>
              <a:spcAft>
                <a:spcPts val="1200"/>
              </a:spcAft>
              <a:buClr>
                <a:schemeClr val="dk1"/>
              </a:buClr>
              <a:buSzPts val="1100"/>
              <a:buFont typeface="Libre Franklin"/>
              <a:buNone/>
            </a:pPr>
            <a:endParaRPr sz="1100" dirty="0">
              <a:solidFill>
                <a:schemeClr val="dk1"/>
              </a:solidFill>
              <a:latin typeface="Libre Franklin"/>
              <a:ea typeface="Libre Franklin"/>
              <a:cs typeface="Libre Franklin"/>
              <a:sym typeface="Libre Franklin"/>
            </a:endParaRPr>
          </a:p>
        </p:txBody>
      </p:sp>
      <p:sp>
        <p:nvSpPr>
          <p:cNvPr id="879" name="Google Shape;879;p88"/>
          <p:cNvSpPr txBox="1"/>
          <p:nvPr/>
        </p:nvSpPr>
        <p:spPr>
          <a:xfrm>
            <a:off x="1012562" y="4490603"/>
            <a:ext cx="9774600" cy="571536"/>
          </a:xfrm>
          <a:prstGeom prst="rect">
            <a:avLst/>
          </a:prstGeom>
          <a:noFill/>
          <a:ln>
            <a:solidFill>
              <a:schemeClr val="tx1"/>
            </a:solidFill>
          </a:ln>
        </p:spPr>
        <p:txBody>
          <a:bodyPr spcFirstLastPara="1" wrap="square" lIns="91425" tIns="91425" rIns="91425" bIns="91425" anchor="t" anchorCtr="0">
            <a:spAutoFit/>
          </a:bodyPr>
          <a:lstStyle/>
          <a:p>
            <a:pPr lvl="0" algn="ctr">
              <a:buClr>
                <a:schemeClr val="dk1"/>
              </a:buClr>
              <a:buSzPts val="1200"/>
            </a:pPr>
            <a:r>
              <a:rPr lang="it-IT" sz="1200" b="1" dirty="0">
                <a:latin typeface="Segoe UI" panose="020B0502040204020203" pitchFamily="34" charset="0"/>
                <a:cs typeface="Segoe UI" panose="020B0502040204020203" pitchFamily="34" charset="0"/>
                <a:sym typeface="Libre Franklin"/>
              </a:rPr>
              <a:t>Se invece </a:t>
            </a:r>
            <a:r>
              <a:rPr lang="it-IT" sz="1200" b="1" dirty="0" err="1">
                <a:latin typeface="Segoe UI" panose="020B0502040204020203" pitchFamily="34" charset="0"/>
                <a:cs typeface="Segoe UI" panose="020B0502040204020203" pitchFamily="34" charset="0"/>
                <a:sym typeface="Libre Franklin"/>
              </a:rPr>
              <a:t>Rf</a:t>
            </a:r>
            <a:r>
              <a:rPr lang="it-IT" sz="1200" b="1" dirty="0">
                <a:latin typeface="Segoe UI" panose="020B0502040204020203" pitchFamily="34" charset="0"/>
                <a:cs typeface="Segoe UI" panose="020B0502040204020203" pitchFamily="34" charset="0"/>
                <a:sym typeface="Libre Franklin"/>
              </a:rPr>
              <a:t> è molto elevata, oppure l’operazionale non riesce a mantenere bene la massa virtuale, il contributo di R17 diventa significativo. Il transitorio risulta quindi più lento perché aumenta la costante di tempo equivalente.</a:t>
            </a:r>
            <a:endParaRPr sz="1200" b="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C945CA5-8CB8-0556-F028-628B668EA92F}"/>
                  </a:ext>
                </a:extLst>
              </p:cNvPr>
              <p:cNvSpPr txBox="1"/>
              <p:nvPr/>
            </p:nvSpPr>
            <p:spPr>
              <a:xfrm>
                <a:off x="1488618" y="2310675"/>
                <a:ext cx="6858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a:latin typeface="Cambria Math" panose="02040503050406030204" pitchFamily="18" charset="0"/>
                            </a:rPr>
                            <m:t>𝒔</m:t>
                          </m:r>
                        </m:sub>
                      </m:sSub>
                      <m:r>
                        <a:rPr lang="it-IT" b="1" i="1" dirty="0" smtClean="0">
                          <a:latin typeface="Cambria Math" panose="02040503050406030204" pitchFamily="18" charset="0"/>
                        </a:rPr>
                        <m:t>𝑪</m:t>
                      </m:r>
                    </m:oMath>
                  </m:oMathPara>
                </a14:m>
                <a:endParaRPr lang="it-IT" b="1" dirty="0"/>
              </a:p>
            </p:txBody>
          </p:sp>
        </mc:Choice>
        <mc:Fallback xmlns="">
          <p:sp>
            <p:nvSpPr>
              <p:cNvPr id="2" name="CasellaDiTesto 1">
                <a:extLst>
                  <a:ext uri="{FF2B5EF4-FFF2-40B4-BE49-F238E27FC236}">
                    <a16:creationId xmlns:a16="http://schemas.microsoft.com/office/drawing/2014/main" id="{EC945CA5-8CB8-0556-F028-628B668EA92F}"/>
                  </a:ext>
                </a:extLst>
              </p:cNvPr>
              <p:cNvSpPr txBox="1">
                <a:spLocks noRot="1" noChangeAspect="1" noMove="1" noResize="1" noEditPoints="1" noAdjustHandles="1" noChangeArrowheads="1" noChangeShapeType="1" noTextEdit="1"/>
              </p:cNvSpPr>
              <p:nvPr/>
            </p:nvSpPr>
            <p:spPr>
              <a:xfrm>
                <a:off x="1488618" y="2310675"/>
                <a:ext cx="685892" cy="215444"/>
              </a:xfrm>
              <a:prstGeom prst="rect">
                <a:avLst/>
              </a:prstGeom>
              <a:blipFill>
                <a:blip r:embed="rId3"/>
                <a:stretch>
                  <a:fillRect l="-1770" r="-4425" b="-1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E3520737-BA07-28FB-1980-7BD9DB8CFDBF}"/>
                  </a:ext>
                </a:extLst>
              </p:cNvPr>
              <p:cNvSpPr txBox="1"/>
              <p:nvPr/>
            </p:nvSpPr>
            <p:spPr>
              <a:xfrm>
                <a:off x="3581321" y="3815233"/>
                <a:ext cx="1422954" cy="484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dirty="0" smtClean="0">
                          <a:latin typeface="Cambria Math" panose="02040503050406030204" pitchFamily="18" charset="0"/>
                          <a:ea typeface="Cambria Math" panose="02040503050406030204" pitchFamily="18" charset="0"/>
                        </a:rPr>
                        <m:t>𝝉</m:t>
                      </m:r>
                      <m:r>
                        <a:rPr lang="it-IT" b="1" i="0" dirty="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𝑪</m:t>
                          </m:r>
                        </m:e>
                        <m:sub>
                          <m:r>
                            <a:rPr lang="it-IT" b="1" i="0" dirty="0">
                              <a:latin typeface="Cambria Math" panose="02040503050406030204" pitchFamily="18" charset="0"/>
                            </a:rPr>
                            <m:t>𝟒</m:t>
                          </m:r>
                        </m:sub>
                      </m:sSub>
                      <m:d>
                        <m:dPr>
                          <m:ctrlPr>
                            <a:rPr lang="it-IT" b="1" i="1" dirty="0">
                              <a:latin typeface="Cambria Math" panose="02040503050406030204" pitchFamily="18" charset="0"/>
                            </a:rPr>
                          </m:ctrlPr>
                        </m:dPr>
                        <m:e>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𝒔</m:t>
                              </m:r>
                            </m:sub>
                          </m:sSub>
                          <m:r>
                            <a:rPr lang="it-IT" b="1" i="0" dirty="0">
                              <a:latin typeface="Cambria Math" panose="02040503050406030204" pitchFamily="18" charset="0"/>
                            </a:rPr>
                            <m:t>+</m:t>
                          </m:r>
                          <m:f>
                            <m:fPr>
                              <m:ctrlPr>
                                <a:rPr lang="it-IT" b="1" i="1" dirty="0">
                                  <a:latin typeface="Cambria Math" panose="02040503050406030204" pitchFamily="18" charset="0"/>
                                </a:rPr>
                              </m:ctrlPr>
                            </m:fPr>
                            <m:num>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𝒇</m:t>
                                  </m:r>
                                </m:sub>
                              </m:sSub>
                            </m:num>
                            <m:den>
                              <m:r>
                                <a:rPr lang="it-IT" b="1" i="0" dirty="0" smtClean="0">
                                  <a:latin typeface="Cambria Math" panose="02040503050406030204" pitchFamily="18" charset="0"/>
                                </a:rPr>
                                <m:t>𝐀</m:t>
                              </m:r>
                            </m:den>
                          </m:f>
                        </m:e>
                      </m:d>
                    </m:oMath>
                  </m:oMathPara>
                </a14:m>
                <a:endParaRPr lang="it-IT" b="1" dirty="0"/>
              </a:p>
            </p:txBody>
          </p:sp>
        </mc:Choice>
        <mc:Fallback xmlns="">
          <p:sp>
            <p:nvSpPr>
              <p:cNvPr id="3" name="CasellaDiTesto 2">
                <a:extLst>
                  <a:ext uri="{FF2B5EF4-FFF2-40B4-BE49-F238E27FC236}">
                    <a16:creationId xmlns:a16="http://schemas.microsoft.com/office/drawing/2014/main" id="{E3520737-BA07-28FB-1980-7BD9DB8CFDBF}"/>
                  </a:ext>
                </a:extLst>
              </p:cNvPr>
              <p:cNvSpPr txBox="1">
                <a:spLocks noRot="1" noChangeAspect="1" noMove="1" noResize="1" noEditPoints="1" noAdjustHandles="1" noChangeArrowheads="1" noChangeShapeType="1" noTextEdit="1"/>
              </p:cNvSpPr>
              <p:nvPr/>
            </p:nvSpPr>
            <p:spPr>
              <a:xfrm>
                <a:off x="3581321" y="3815233"/>
                <a:ext cx="1422954" cy="484043"/>
              </a:xfrm>
              <a:prstGeom prst="rect">
                <a:avLst/>
              </a:prstGeom>
              <a:blipFill>
                <a:blip r:embed="rId4"/>
                <a:stretch>
                  <a:fillRect l="-855"/>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3214D2C1-E88D-D5D8-9998-18609829E25F}"/>
              </a:ext>
            </a:extLst>
          </p:cNvPr>
          <p:cNvSpPr txBox="1"/>
          <p:nvPr/>
        </p:nvSpPr>
        <p:spPr>
          <a:xfrm>
            <a:off x="989764" y="5386376"/>
            <a:ext cx="6115050"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sym typeface="Libre Franklin"/>
              </a:rPr>
              <a:t>Questo non accade con </a:t>
            </a:r>
            <a:r>
              <a:rPr lang="it-IT" sz="1400" dirty="0" err="1">
                <a:latin typeface="Segoe UI" panose="020B0502040204020203" pitchFamily="34" charset="0"/>
                <a:cs typeface="Segoe UI" panose="020B0502040204020203" pitchFamily="34" charset="0"/>
                <a:sym typeface="Libre Franklin"/>
              </a:rPr>
              <a:t>opamp</a:t>
            </a:r>
            <a:r>
              <a:rPr lang="it-IT" sz="1400" dirty="0">
                <a:latin typeface="Segoe UI" panose="020B0502040204020203" pitchFamily="34" charset="0"/>
                <a:cs typeface="Segoe UI" panose="020B0502040204020203" pitchFamily="34" charset="0"/>
                <a:sym typeface="Libre Franklin"/>
              </a:rPr>
              <a:t> ideale, perché il guadagno A è infinito:</a:t>
            </a:r>
            <a:endParaRPr lang="it-IT" dirty="0"/>
          </a:p>
        </p:txBody>
      </p:sp>
      <p:pic>
        <p:nvPicPr>
          <p:cNvPr id="5" name="Google Shape;886;p89">
            <a:extLst>
              <a:ext uri="{FF2B5EF4-FFF2-40B4-BE49-F238E27FC236}">
                <a16:creationId xmlns:a16="http://schemas.microsoft.com/office/drawing/2014/main" id="{697C6B1A-D499-029E-7A16-1422696D7621}"/>
              </a:ext>
            </a:extLst>
          </p:cNvPr>
          <p:cNvPicPr preferRelativeResize="0"/>
          <p:nvPr/>
        </p:nvPicPr>
        <p:blipFill rotWithShape="1">
          <a:blip r:embed="rId5">
            <a:alphaModFix/>
          </a:blip>
          <a:srcRect l="36806" t="14815" r="39694" b="66328"/>
          <a:stretch>
            <a:fillRect/>
          </a:stretch>
        </p:blipFill>
        <p:spPr>
          <a:xfrm>
            <a:off x="7004273" y="5180432"/>
            <a:ext cx="2099733" cy="719666"/>
          </a:xfrm>
          <a:prstGeom prst="rect">
            <a:avLst/>
          </a:prstGeom>
          <a:noFill/>
          <a:ln>
            <a:solidFill>
              <a:schemeClr val="tx1"/>
            </a:solidFill>
          </a:ln>
        </p:spPr>
      </p:pic>
      <p:sp>
        <p:nvSpPr>
          <p:cNvPr id="6" name="Segnaposto numero diapositiva 5">
            <a:extLst>
              <a:ext uri="{FF2B5EF4-FFF2-40B4-BE49-F238E27FC236}">
                <a16:creationId xmlns:a16="http://schemas.microsoft.com/office/drawing/2014/main" id="{C07E9B62-3DAE-0E13-0C2C-D33F1E2F55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89</a:t>
            </a:fld>
            <a:endParaRPr lang="it-IT"/>
          </a:p>
        </p:txBody>
      </p:sp>
      <p:sp>
        <p:nvSpPr>
          <p:cNvPr id="7" name="Freccia in giù 6">
            <a:hlinkClick r:id="rId6" action="ppaction://hlinksldjump"/>
            <a:extLst>
              <a:ext uri="{FF2B5EF4-FFF2-40B4-BE49-F238E27FC236}">
                <a16:creationId xmlns:a16="http://schemas.microsoft.com/office/drawing/2014/main" id="{544BEB39-CC40-5804-5E71-18C629072311}"/>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655576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pic>
        <p:nvPicPr>
          <p:cNvPr id="891" name="Google Shape;891;p90"/>
          <p:cNvPicPr preferRelativeResize="0"/>
          <p:nvPr/>
        </p:nvPicPr>
        <p:blipFill rotWithShape="1">
          <a:blip r:embed="rId3">
            <a:alphaModFix/>
          </a:blip>
          <a:srcRect/>
          <a:stretch/>
        </p:blipFill>
        <p:spPr>
          <a:xfrm>
            <a:off x="1133418" y="3334352"/>
            <a:ext cx="10349477" cy="2390425"/>
          </a:xfrm>
          <a:prstGeom prst="rect">
            <a:avLst/>
          </a:prstGeom>
          <a:noFill/>
          <a:ln>
            <a:noFill/>
          </a:ln>
        </p:spPr>
      </p:pic>
      <p:pic>
        <p:nvPicPr>
          <p:cNvPr id="892" name="Google Shape;892;p90"/>
          <p:cNvPicPr preferRelativeResize="0"/>
          <p:nvPr/>
        </p:nvPicPr>
        <p:blipFill rotWithShape="1">
          <a:blip r:embed="rId4">
            <a:alphaModFix/>
          </a:blip>
          <a:srcRect/>
          <a:stretch/>
        </p:blipFill>
        <p:spPr>
          <a:xfrm>
            <a:off x="661901" y="706488"/>
            <a:ext cx="5960663" cy="2390424"/>
          </a:xfrm>
          <a:prstGeom prst="rect">
            <a:avLst/>
          </a:prstGeom>
          <a:noFill/>
          <a:ln>
            <a:noFill/>
          </a:ln>
        </p:spPr>
      </p:pic>
      <p:pic>
        <p:nvPicPr>
          <p:cNvPr id="893" name="Google Shape;893;p90"/>
          <p:cNvPicPr preferRelativeResize="0"/>
          <p:nvPr/>
        </p:nvPicPr>
        <p:blipFill rotWithShape="1">
          <a:blip r:embed="rId5">
            <a:alphaModFix/>
          </a:blip>
          <a:srcRect/>
          <a:stretch/>
        </p:blipFill>
        <p:spPr>
          <a:xfrm>
            <a:off x="6622564" y="706488"/>
            <a:ext cx="4907535" cy="2390424"/>
          </a:xfrm>
          <a:prstGeom prst="rect">
            <a:avLst/>
          </a:prstGeom>
          <a:noFill/>
          <a:ln>
            <a:noFill/>
          </a:ln>
        </p:spPr>
      </p:pic>
      <p:sp>
        <p:nvSpPr>
          <p:cNvPr id="2" name="Segnaposto numero diapositiva 1">
            <a:extLst>
              <a:ext uri="{FF2B5EF4-FFF2-40B4-BE49-F238E27FC236}">
                <a16:creationId xmlns:a16="http://schemas.microsoft.com/office/drawing/2014/main" id="{F8C480FB-1B89-D7BE-E996-94FFEB2EA05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90</a:t>
            </a:fld>
            <a:endParaRPr lang="it-IT"/>
          </a:p>
        </p:txBody>
      </p:sp>
    </p:spTree>
    <p:extLst>
      <p:ext uri="{BB962C8B-B14F-4D97-AF65-F5344CB8AC3E}">
        <p14:creationId xmlns:p14="http://schemas.microsoft.com/office/powerpoint/2010/main" val="19744285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pic>
        <p:nvPicPr>
          <p:cNvPr id="899" name="Google Shape;899;p91"/>
          <p:cNvPicPr preferRelativeResize="0"/>
          <p:nvPr/>
        </p:nvPicPr>
        <p:blipFill rotWithShape="1">
          <a:blip r:embed="rId3">
            <a:alphaModFix/>
          </a:blip>
          <a:srcRect/>
          <a:stretch/>
        </p:blipFill>
        <p:spPr>
          <a:xfrm>
            <a:off x="732449" y="812275"/>
            <a:ext cx="5039726" cy="2291750"/>
          </a:xfrm>
          <a:prstGeom prst="rect">
            <a:avLst/>
          </a:prstGeom>
          <a:noFill/>
          <a:ln>
            <a:noFill/>
          </a:ln>
        </p:spPr>
      </p:pic>
      <p:pic>
        <p:nvPicPr>
          <p:cNvPr id="900" name="Google Shape;900;p91"/>
          <p:cNvPicPr preferRelativeResize="0"/>
          <p:nvPr/>
        </p:nvPicPr>
        <p:blipFill rotWithShape="1">
          <a:blip r:embed="rId4">
            <a:alphaModFix/>
          </a:blip>
          <a:srcRect/>
          <a:stretch/>
        </p:blipFill>
        <p:spPr>
          <a:xfrm>
            <a:off x="874862" y="3429000"/>
            <a:ext cx="10442275" cy="2411850"/>
          </a:xfrm>
          <a:prstGeom prst="rect">
            <a:avLst/>
          </a:prstGeom>
          <a:noFill/>
          <a:ln>
            <a:noFill/>
          </a:ln>
        </p:spPr>
      </p:pic>
      <p:pic>
        <p:nvPicPr>
          <p:cNvPr id="901" name="Google Shape;901;p91"/>
          <p:cNvPicPr preferRelativeResize="0"/>
          <p:nvPr/>
        </p:nvPicPr>
        <p:blipFill rotWithShape="1">
          <a:blip r:embed="rId5">
            <a:alphaModFix/>
          </a:blip>
          <a:srcRect/>
          <a:stretch/>
        </p:blipFill>
        <p:spPr>
          <a:xfrm>
            <a:off x="5772174" y="812275"/>
            <a:ext cx="5429225" cy="2291750"/>
          </a:xfrm>
          <a:prstGeom prst="rect">
            <a:avLst/>
          </a:prstGeom>
          <a:noFill/>
          <a:ln>
            <a:noFill/>
          </a:ln>
        </p:spPr>
      </p:pic>
      <p:sp>
        <p:nvSpPr>
          <p:cNvPr id="2" name="Segnaposto numero diapositiva 1">
            <a:extLst>
              <a:ext uri="{FF2B5EF4-FFF2-40B4-BE49-F238E27FC236}">
                <a16:creationId xmlns:a16="http://schemas.microsoft.com/office/drawing/2014/main" id="{AB0CD92F-F8AA-CD15-2568-19361A5AFDE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91</a:t>
            </a:fld>
            <a:endParaRPr lang="it-IT"/>
          </a:p>
        </p:txBody>
      </p:sp>
    </p:spTree>
    <p:extLst>
      <p:ext uri="{BB962C8B-B14F-4D97-AF65-F5344CB8AC3E}">
        <p14:creationId xmlns:p14="http://schemas.microsoft.com/office/powerpoint/2010/main" val="26699202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92"/>
          <p:cNvSpPr txBox="1"/>
          <p:nvPr/>
        </p:nvSpPr>
        <p:spPr>
          <a:xfrm>
            <a:off x="1045827" y="506062"/>
            <a:ext cx="10100345" cy="176917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Risposta al gradino con parassiti — filtro HP attivo ideale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slide analizziamo lo stesso studio fatto sul filtro HP passivo, ma applicato al filtro passa-alto attivo con operazionale ideale. Anche qui viene confrontato il comportamento del condensatore senza parassiti e con parassiti interni.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A basse frequenze, cioè nelle condizioni standard di carica e scarica, i parassiti risultano trascurabili: la risposta resta praticamente uguale a quella già vista nel caso ideale, perché siamo lontani dalla zona in cui ESR ed ESL diventano significativi.</a:t>
            </a:r>
          </a:p>
        </p:txBody>
      </p:sp>
      <p:pic>
        <p:nvPicPr>
          <p:cNvPr id="4" name="Google Shape;918;p93">
            <a:extLst>
              <a:ext uri="{FF2B5EF4-FFF2-40B4-BE49-F238E27FC236}">
                <a16:creationId xmlns:a16="http://schemas.microsoft.com/office/drawing/2014/main" id="{3AF7F8E0-301D-CBDA-D8E0-5501B32B0E7B}"/>
              </a:ext>
            </a:extLst>
          </p:cNvPr>
          <p:cNvPicPr preferRelativeResize="0"/>
          <p:nvPr/>
        </p:nvPicPr>
        <p:blipFill rotWithShape="1">
          <a:blip r:embed="rId3">
            <a:alphaModFix/>
          </a:blip>
          <a:srcRect/>
          <a:stretch/>
        </p:blipFill>
        <p:spPr>
          <a:xfrm>
            <a:off x="2798708" y="2275234"/>
            <a:ext cx="6164930" cy="3840079"/>
          </a:xfrm>
          <a:prstGeom prst="rect">
            <a:avLst/>
          </a:prstGeom>
          <a:noFill/>
          <a:ln>
            <a:noFill/>
          </a:ln>
        </p:spPr>
      </p:pic>
      <p:sp>
        <p:nvSpPr>
          <p:cNvPr id="7" name="Segnaposto numero diapositiva 6">
            <a:extLst>
              <a:ext uri="{FF2B5EF4-FFF2-40B4-BE49-F238E27FC236}">
                <a16:creationId xmlns:a16="http://schemas.microsoft.com/office/drawing/2014/main" id="{EE990211-F88C-DA59-E359-48474715A29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92</a:t>
            </a:fld>
            <a:endParaRPr lang="it-IT"/>
          </a:p>
        </p:txBody>
      </p:sp>
      <p:sp>
        <p:nvSpPr>
          <p:cNvPr id="2" name="Freccia in giù 1">
            <a:hlinkClick r:id="rId4" action="ppaction://hlinksldjump"/>
            <a:extLst>
              <a:ext uri="{FF2B5EF4-FFF2-40B4-BE49-F238E27FC236}">
                <a16:creationId xmlns:a16="http://schemas.microsoft.com/office/drawing/2014/main" id="{DD23E28B-7FD1-6874-A866-448687D4276A}"/>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6433009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pic>
        <p:nvPicPr>
          <p:cNvPr id="913" name="Google Shape;913;p93"/>
          <p:cNvPicPr preferRelativeResize="0"/>
          <p:nvPr/>
        </p:nvPicPr>
        <p:blipFill rotWithShape="1">
          <a:blip r:embed="rId3">
            <a:alphaModFix/>
          </a:blip>
          <a:srcRect/>
          <a:stretch/>
        </p:blipFill>
        <p:spPr>
          <a:xfrm>
            <a:off x="1958006" y="3383043"/>
            <a:ext cx="3737464" cy="1348348"/>
          </a:xfrm>
          <a:prstGeom prst="rect">
            <a:avLst/>
          </a:prstGeom>
          <a:noFill/>
          <a:ln>
            <a:noFill/>
          </a:ln>
        </p:spPr>
      </p:pic>
      <p:pic>
        <p:nvPicPr>
          <p:cNvPr id="914" name="Google Shape;914;p93"/>
          <p:cNvPicPr preferRelativeResize="0"/>
          <p:nvPr/>
        </p:nvPicPr>
        <p:blipFill rotWithShape="1">
          <a:blip r:embed="rId4">
            <a:alphaModFix/>
          </a:blip>
          <a:srcRect/>
          <a:stretch/>
        </p:blipFill>
        <p:spPr>
          <a:xfrm>
            <a:off x="1958006" y="4731391"/>
            <a:ext cx="3737464" cy="1276792"/>
          </a:xfrm>
          <a:prstGeom prst="rect">
            <a:avLst/>
          </a:prstGeom>
          <a:noFill/>
          <a:ln>
            <a:noFill/>
          </a:ln>
        </p:spPr>
      </p:pic>
      <p:pic>
        <p:nvPicPr>
          <p:cNvPr id="915" name="Google Shape;915;p93"/>
          <p:cNvPicPr preferRelativeResize="0"/>
          <p:nvPr/>
        </p:nvPicPr>
        <p:blipFill rotWithShape="1">
          <a:blip r:embed="rId5">
            <a:alphaModFix/>
          </a:blip>
          <a:srcRect/>
          <a:stretch/>
        </p:blipFill>
        <p:spPr>
          <a:xfrm>
            <a:off x="709187" y="5230475"/>
            <a:ext cx="1248819" cy="777708"/>
          </a:xfrm>
          <a:prstGeom prst="rect">
            <a:avLst/>
          </a:prstGeom>
          <a:noFill/>
          <a:ln>
            <a:noFill/>
          </a:ln>
        </p:spPr>
      </p:pic>
      <p:sp>
        <p:nvSpPr>
          <p:cNvPr id="3" name="CasellaDiTesto 2">
            <a:extLst>
              <a:ext uri="{FF2B5EF4-FFF2-40B4-BE49-F238E27FC236}">
                <a16:creationId xmlns:a16="http://schemas.microsoft.com/office/drawing/2014/main" id="{F75EBB83-BFD7-260E-5ABF-AD65094EAF6E}"/>
              </a:ext>
            </a:extLst>
          </p:cNvPr>
          <p:cNvSpPr txBox="1"/>
          <p:nvPr/>
        </p:nvSpPr>
        <p:spPr>
          <a:xfrm>
            <a:off x="1057012" y="849817"/>
            <a:ext cx="10144388" cy="2270045"/>
          </a:xfrm>
          <a:prstGeom prst="rect">
            <a:avLst/>
          </a:prstGeom>
          <a:noFill/>
        </p:spPr>
        <p:txBody>
          <a:bodyPr wrap="square">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Effetto dei parassiti</a:t>
            </a: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si osserva che il comportamento generale rimane simile a quello del filtro passivo: il condensatore continua a mostrare una risposta impulsiva in corrispondenza dei fronti del gradino.</a:t>
            </a:r>
          </a:p>
          <a:p>
            <a:pPr marL="0" lvl="0" indent="0" algn="l" rtl="0">
              <a:lnSpc>
                <a:spcPct val="115000"/>
              </a:lnSpc>
              <a:spcBef>
                <a:spcPts val="1200"/>
              </a:spcBef>
              <a:spcAft>
                <a:spcPts val="0"/>
              </a:spcAft>
              <a:buNone/>
            </a:pPr>
            <a:r>
              <a:rPr lang="it-IT" sz="1200" i="1" dirty="0">
                <a:latin typeface="Segoe UI" panose="020B0502040204020203" pitchFamily="34" charset="0"/>
                <a:cs typeface="Segoe UI" panose="020B0502040204020203" pitchFamily="34" charset="0"/>
              </a:rPr>
              <a:t>La differenza principale è che, nel caso attivo ideale, i parassiti rendono più evidenti delle micro-oscillazioni subito dopo ogni cambio di stato del segnale. Queste oscillazioni compaiono sui bordi del gradino, cioè immediatamente dopo il passaggio da basso ad alto o da alto a basso.</a:t>
            </a:r>
          </a:p>
          <a:p>
            <a:pPr marL="0" lvl="0" indent="0" algn="l" rtl="0">
              <a:lnSpc>
                <a:spcPct val="115000"/>
              </a:lnSpc>
              <a:spcBef>
                <a:spcPts val="1200"/>
              </a:spcBef>
              <a:spcAft>
                <a:spcPts val="1200"/>
              </a:spcAft>
              <a:buNone/>
            </a:pPr>
            <a:r>
              <a:rPr lang="it-IT" sz="1200" i="1" u="sng" dirty="0">
                <a:latin typeface="Segoe UI" panose="020B0502040204020203" pitchFamily="34" charset="0"/>
                <a:cs typeface="Segoe UI" panose="020B0502040204020203" pitchFamily="34" charset="0"/>
              </a:rPr>
              <a:t>Questo accade perché l’ESL del condensatore, insieme alla capacità, può generare una piccola risposta risonante ad alta frequenza. L’operazionale ideale non introduce limiti propri, quindi non smorza o altera il fenomeno come farebbe un </a:t>
            </a:r>
            <a:r>
              <a:rPr lang="it-IT" sz="1200" i="1" u="sng" dirty="0" err="1">
                <a:latin typeface="Segoe UI" panose="020B0502040204020203" pitchFamily="34" charset="0"/>
                <a:cs typeface="Segoe UI" panose="020B0502040204020203" pitchFamily="34" charset="0"/>
              </a:rPr>
              <a:t>opamp</a:t>
            </a:r>
            <a:r>
              <a:rPr lang="it-IT" sz="1200" i="1" u="sng" dirty="0">
                <a:latin typeface="Segoe UI" panose="020B0502040204020203" pitchFamily="34" charset="0"/>
                <a:cs typeface="Segoe UI" panose="020B0502040204020203" pitchFamily="34" charset="0"/>
              </a:rPr>
              <a:t> reale: lascia vedere in modo più netto il comportamento imposto dai parassiti del componente.</a:t>
            </a:r>
          </a:p>
        </p:txBody>
      </p:sp>
      <p:pic>
        <p:nvPicPr>
          <p:cNvPr id="4" name="Google Shape;931;p95">
            <a:extLst>
              <a:ext uri="{FF2B5EF4-FFF2-40B4-BE49-F238E27FC236}">
                <a16:creationId xmlns:a16="http://schemas.microsoft.com/office/drawing/2014/main" id="{8382D778-24F2-4C77-C9F8-751BEC4F59EB}"/>
              </a:ext>
            </a:extLst>
          </p:cNvPr>
          <p:cNvPicPr preferRelativeResize="0"/>
          <p:nvPr/>
        </p:nvPicPr>
        <p:blipFill rotWithShape="1">
          <a:blip r:embed="rId6">
            <a:alphaModFix/>
          </a:blip>
          <a:srcRect/>
          <a:stretch/>
        </p:blipFill>
        <p:spPr>
          <a:xfrm>
            <a:off x="5889072" y="3429000"/>
            <a:ext cx="5540928" cy="2715575"/>
          </a:xfrm>
          <a:prstGeom prst="rect">
            <a:avLst/>
          </a:prstGeom>
          <a:noFill/>
          <a:ln>
            <a:solidFill>
              <a:schemeClr val="tx1"/>
            </a:solidFill>
          </a:ln>
        </p:spPr>
      </p:pic>
      <p:sp>
        <p:nvSpPr>
          <p:cNvPr id="5" name="Segnaposto numero diapositiva 4">
            <a:extLst>
              <a:ext uri="{FF2B5EF4-FFF2-40B4-BE49-F238E27FC236}">
                <a16:creationId xmlns:a16="http://schemas.microsoft.com/office/drawing/2014/main" id="{66FDE561-29AC-9340-AEFF-420A0DD1C1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93</a:t>
            </a:fld>
            <a:endParaRPr lang="it-IT"/>
          </a:p>
        </p:txBody>
      </p:sp>
      <p:sp>
        <p:nvSpPr>
          <p:cNvPr id="2" name="Freccia in giù 1">
            <a:hlinkClick r:id="rId7" action="ppaction://hlinksldjump"/>
            <a:extLst>
              <a:ext uri="{FF2B5EF4-FFF2-40B4-BE49-F238E27FC236}">
                <a16:creationId xmlns:a16="http://schemas.microsoft.com/office/drawing/2014/main" id="{6014E113-9F37-3B74-5209-765EBEA9479F}"/>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3109331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94"/>
          <p:cNvSpPr txBox="1"/>
          <p:nvPr/>
        </p:nvSpPr>
        <p:spPr>
          <a:xfrm>
            <a:off x="1062605" y="1615954"/>
            <a:ext cx="10066789" cy="3626091"/>
          </a:xfrm>
          <a:prstGeom prst="rect">
            <a:avLst/>
          </a:prstGeom>
          <a:noFill/>
          <a:ln>
            <a:noFill/>
          </a:ln>
        </p:spPr>
        <p:txBody>
          <a:bodyPr spcFirstLastPara="1" wrap="square" lIns="91425" tIns="91425" rIns="91425" bIns="91425" anchor="t" anchorCtr="0">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Lettura delle curve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del caso senza parassiti mostra il comportamento atteso del filtro: il condensatore reagisce ai fronti, ma senza oscillazioni evidenti.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con parassiti, invece, presenta picchi molto stretti e piccole oscillazioni subito dopo i fronti. Questi dettagli non cambiano il comportamento globale del filtro, ma mostrano che alle alte frequenze il condensatore non può più essere considerato perfettamente ideale.</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Il risultato è molto simile a quello osservato nel filtro HP passivo: a basse frequenze i parassiti non influenzano in modo significativo la risposta, mentre ad alte frequenze diventano visibili.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 filtro HP attivo ideale, però, l’effetto si manifesta soprattutto come micro-oscillazioni sui bordi del segnale, perché l’operazionale ideale non limita la banda e non nasconde il comportamento risonante del condensatore reale.</a:t>
            </a:r>
            <a:endParaRPr sz="1200" dirty="0">
              <a:latin typeface="Segoe UI" panose="020B0502040204020203" pitchFamily="34" charset="0"/>
              <a:cs typeface="Segoe UI" panose="020B0502040204020203" pitchFamily="34" charset="0"/>
            </a:endParaRPr>
          </a:p>
        </p:txBody>
      </p:sp>
      <p:sp>
        <p:nvSpPr>
          <p:cNvPr id="3" name="Segnaposto numero diapositiva 2">
            <a:extLst>
              <a:ext uri="{FF2B5EF4-FFF2-40B4-BE49-F238E27FC236}">
                <a16:creationId xmlns:a16="http://schemas.microsoft.com/office/drawing/2014/main" id="{0400C87B-E8EA-325B-9704-0E8DF1BADC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94</a:t>
            </a:fld>
            <a:endParaRPr lang="it-IT"/>
          </a:p>
        </p:txBody>
      </p:sp>
    </p:spTree>
    <p:extLst>
      <p:ext uri="{BB962C8B-B14F-4D97-AF65-F5344CB8AC3E}">
        <p14:creationId xmlns:p14="http://schemas.microsoft.com/office/powerpoint/2010/main" val="28864749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18;p93">
            <a:extLst>
              <a:ext uri="{FF2B5EF4-FFF2-40B4-BE49-F238E27FC236}">
                <a16:creationId xmlns:a16="http://schemas.microsoft.com/office/drawing/2014/main" id="{E77DB98E-9615-09B2-21C5-86DA59468E0E}"/>
              </a:ext>
            </a:extLst>
          </p:cNvPr>
          <p:cNvPicPr preferRelativeResize="0"/>
          <p:nvPr/>
        </p:nvPicPr>
        <p:blipFill rotWithShape="1">
          <a:blip r:embed="rId2">
            <a:alphaModFix/>
          </a:blip>
          <a:srcRect/>
          <a:stretch/>
        </p:blipFill>
        <p:spPr>
          <a:xfrm>
            <a:off x="1758472" y="752632"/>
            <a:ext cx="8463513" cy="5271846"/>
          </a:xfrm>
          <a:prstGeom prst="rect">
            <a:avLst/>
          </a:prstGeom>
          <a:noFill/>
          <a:ln>
            <a:noFill/>
          </a:ln>
        </p:spPr>
      </p:pic>
      <p:sp>
        <p:nvSpPr>
          <p:cNvPr id="3" name="Segnaposto numero diapositiva 2">
            <a:extLst>
              <a:ext uri="{FF2B5EF4-FFF2-40B4-BE49-F238E27FC236}">
                <a16:creationId xmlns:a16="http://schemas.microsoft.com/office/drawing/2014/main" id="{5ACEEE26-94F6-FA75-5A6E-4A979E9B320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95</a:t>
            </a:fld>
            <a:endParaRPr lang="it-IT"/>
          </a:p>
        </p:txBody>
      </p:sp>
    </p:spTree>
    <p:extLst>
      <p:ext uri="{BB962C8B-B14F-4D97-AF65-F5344CB8AC3E}">
        <p14:creationId xmlns:p14="http://schemas.microsoft.com/office/powerpoint/2010/main" val="3617672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31;p95">
            <a:extLst>
              <a:ext uri="{FF2B5EF4-FFF2-40B4-BE49-F238E27FC236}">
                <a16:creationId xmlns:a16="http://schemas.microsoft.com/office/drawing/2014/main" id="{B59DB0CF-10C5-8FBE-614F-D2110213A389}"/>
              </a:ext>
            </a:extLst>
          </p:cNvPr>
          <p:cNvPicPr preferRelativeResize="0"/>
          <p:nvPr/>
        </p:nvPicPr>
        <p:blipFill rotWithShape="1">
          <a:blip r:embed="rId2">
            <a:alphaModFix/>
          </a:blip>
          <a:srcRect/>
          <a:stretch/>
        </p:blipFill>
        <p:spPr>
          <a:xfrm>
            <a:off x="602468" y="645953"/>
            <a:ext cx="10911422" cy="5347621"/>
          </a:xfrm>
          <a:prstGeom prst="rect">
            <a:avLst/>
          </a:prstGeom>
          <a:noFill/>
          <a:ln>
            <a:solidFill>
              <a:schemeClr val="tx1"/>
            </a:solidFill>
          </a:ln>
        </p:spPr>
      </p:pic>
      <p:pic>
        <p:nvPicPr>
          <p:cNvPr id="3" name="Google Shape;930;p95">
            <a:extLst>
              <a:ext uri="{FF2B5EF4-FFF2-40B4-BE49-F238E27FC236}">
                <a16:creationId xmlns:a16="http://schemas.microsoft.com/office/drawing/2014/main" id="{C88E25E1-BD6E-1D37-73EF-06874878707D}"/>
              </a:ext>
            </a:extLst>
          </p:cNvPr>
          <p:cNvPicPr preferRelativeResize="0"/>
          <p:nvPr/>
        </p:nvPicPr>
        <p:blipFill rotWithShape="1">
          <a:blip r:embed="rId3">
            <a:alphaModFix/>
          </a:blip>
          <a:srcRect l="27504" r="27945"/>
          <a:stretch>
            <a:fillRect/>
          </a:stretch>
        </p:blipFill>
        <p:spPr>
          <a:xfrm>
            <a:off x="4173521" y="645953"/>
            <a:ext cx="4808032" cy="5289258"/>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DB8302F5-F4F3-AB6C-6BFF-4AFFBED86E8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96</a:t>
            </a:fld>
            <a:endParaRPr lang="it-IT"/>
          </a:p>
        </p:txBody>
      </p:sp>
    </p:spTree>
    <p:extLst>
      <p:ext uri="{BB962C8B-B14F-4D97-AF65-F5344CB8AC3E}">
        <p14:creationId xmlns:p14="http://schemas.microsoft.com/office/powerpoint/2010/main" val="28229832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97"/>
          <p:cNvSpPr txBox="1"/>
          <p:nvPr/>
        </p:nvSpPr>
        <p:spPr>
          <a:xfrm>
            <a:off x="1061207" y="761628"/>
            <a:ext cx="10075178" cy="134444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400"/>
              </a:spcBef>
              <a:buSzPts val="1200"/>
              <a:buFont typeface="Arial"/>
              <a:buNone/>
            </a:pPr>
            <a:r>
              <a:rPr lang="it-IT" b="1" dirty="0">
                <a:latin typeface="Segoe UI" panose="020B0502040204020203" pitchFamily="34" charset="0"/>
                <a:cs typeface="Segoe UI" panose="020B0502040204020203" pitchFamily="34" charset="0"/>
                <a:sym typeface="Libre Franklin"/>
              </a:rPr>
              <a:t>Effetto dell’ESL: comparsa del comportamento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Quando si introducono i parassiti del condensatore, alle alte frequenze entra in gioco l’induttanza serie ESL. A basse frequenze domina la capacità, ma ad alte frequenze l’impedenza dell’induttanza cresce.</a:t>
            </a:r>
            <a:endParaRPr sz="1200" dirty="0">
              <a:latin typeface="Segoe UI" panose="020B0502040204020203" pitchFamily="34" charset="0"/>
              <a:cs typeface="Segoe UI" panose="020B0502040204020203" pitchFamily="34" charset="0"/>
              <a:sym typeface="Libre Franklin"/>
            </a:endParaRPr>
          </a:p>
        </p:txBody>
      </p:sp>
      <p:sp>
        <p:nvSpPr>
          <p:cNvPr id="951" name="Google Shape;951;p97"/>
          <p:cNvSpPr txBox="1"/>
          <p:nvPr/>
        </p:nvSpPr>
        <p:spPr>
          <a:xfrm>
            <a:off x="1084976" y="2229350"/>
            <a:ext cx="10022048" cy="91714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000"/>
            </a:pPr>
            <a:r>
              <a:rPr lang="it-IT" sz="1200" b="1" i="1" dirty="0">
                <a:latin typeface="Segoe UI" panose="020B0502040204020203" pitchFamily="34" charset="0"/>
                <a:cs typeface="Segoe UI" panose="020B0502040204020203" pitchFamily="34" charset="0"/>
                <a:sym typeface="Libre Franklin"/>
              </a:rPr>
              <a:t>Dopo questa frequenza, l’ESL domina e il condensatore reale inizia a comportarsi come una piccola induttanza. Per questo motivo la risposta, invece di restare piatta alle alte frequenze, tende a diminuire: compare un effetto simile a un passa-basso.</a:t>
            </a:r>
            <a:endParaRPr sz="1200" b="1" i="1" dirty="0">
              <a:latin typeface="Segoe UI" panose="020B0502040204020203" pitchFamily="34" charset="0"/>
              <a:cs typeface="Segoe UI" panose="020B0502040204020203" pitchFamily="34" charset="0"/>
              <a:sym typeface="Libre Franklin"/>
            </a:endParaRPr>
          </a:p>
        </p:txBody>
      </p:sp>
      <p:sp>
        <p:nvSpPr>
          <p:cNvPr id="952" name="Google Shape;952;p97"/>
          <p:cNvSpPr txBox="1"/>
          <p:nvPr/>
        </p:nvSpPr>
        <p:spPr>
          <a:xfrm>
            <a:off x="1061207" y="3348487"/>
            <a:ext cx="10045817" cy="238216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200"/>
              </a:spcBef>
              <a:spcAft>
                <a:spcPts val="1200"/>
              </a:spcAft>
              <a:buClr>
                <a:schemeClr val="dk1"/>
              </a:buClr>
              <a:buSzPts val="1000"/>
              <a:buFont typeface="Arial"/>
              <a:buNone/>
            </a:pPr>
            <a:r>
              <a:rPr lang="it-IT" sz="1200" i="1" u="sng" dirty="0">
                <a:latin typeface="Segoe UI" panose="020B0502040204020203" pitchFamily="34" charset="0"/>
                <a:cs typeface="Segoe UI" panose="020B0502040204020203" pitchFamily="34" charset="0"/>
                <a:sym typeface="Libre Franklin"/>
              </a:rPr>
              <a:t>Anche con un </a:t>
            </a:r>
            <a:r>
              <a:rPr lang="it-IT" sz="1200" i="1" u="sng" dirty="0" err="1">
                <a:latin typeface="Segoe UI" panose="020B0502040204020203" pitchFamily="34" charset="0"/>
                <a:cs typeface="Segoe UI" panose="020B0502040204020203" pitchFamily="34" charset="0"/>
                <a:sym typeface="Libre Franklin"/>
              </a:rPr>
              <a:t>opamp</a:t>
            </a:r>
            <a:r>
              <a:rPr lang="it-IT" sz="1200" i="1" u="sng" dirty="0">
                <a:latin typeface="Segoe UI" panose="020B0502040204020203" pitchFamily="34" charset="0"/>
                <a:cs typeface="Segoe UI" panose="020B0502040204020203" pitchFamily="34" charset="0"/>
                <a:sym typeface="Libre Franklin"/>
              </a:rPr>
              <a:t> ideale il comportamento passa-basso dovuto all’ESL può comparire, perché non dipende dall’operazionale ma dal modello reale del condensatore.</a:t>
            </a:r>
            <a:endParaRPr sz="1200" i="1" u="sng"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dirty="0">
                <a:latin typeface="Segoe UI" panose="020B0502040204020203" pitchFamily="34" charset="0"/>
                <a:cs typeface="Segoe UI" panose="020B0502040204020203" pitchFamily="34" charset="0"/>
                <a:sym typeface="Libre Franklin"/>
              </a:rPr>
              <a:t>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ideale elimina limiti come banda passante, </a:t>
            </a:r>
            <a:r>
              <a:rPr lang="it-IT" sz="1200" dirty="0" err="1">
                <a:latin typeface="Segoe UI" panose="020B0502040204020203" pitchFamily="34" charset="0"/>
                <a:cs typeface="Segoe UI" panose="020B0502040204020203" pitchFamily="34" charset="0"/>
                <a:sym typeface="Libre Franklin"/>
              </a:rPr>
              <a:t>slew</a:t>
            </a:r>
            <a:r>
              <a:rPr lang="it-IT" sz="1200" dirty="0">
                <a:latin typeface="Segoe UI" panose="020B0502040204020203" pitchFamily="34" charset="0"/>
                <a:cs typeface="Segoe UI" panose="020B0502040204020203" pitchFamily="34" charset="0"/>
                <a:sym typeface="Libre Franklin"/>
              </a:rPr>
              <a:t> rate e impedenza di uscita, ma non elimina i parassiti dei componenti esterni. Quindi, se il condensatore viene modellato con ESL ed ESR, la risposta del filtro attivo risente comunque della risonanza del condensatore.</a:t>
            </a:r>
            <a:endParaRPr sz="1200"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u="sng" dirty="0">
                <a:latin typeface="Segoe UI" panose="020B0502040204020203" pitchFamily="34" charset="0"/>
                <a:cs typeface="Segoe UI" panose="020B0502040204020203" pitchFamily="34" charset="0"/>
                <a:sym typeface="Libre Franklin"/>
              </a:rPr>
              <a:t>Nel grafico si vede infatti che la risposta passa-alto cresce e poi rimane stabile, ma alle frequenze molto alte tende a scendere. Questa discesa non è causata dal limite dell’</a:t>
            </a:r>
            <a:r>
              <a:rPr lang="it-IT" sz="1200" u="sng" dirty="0" err="1">
                <a:latin typeface="Segoe UI" panose="020B0502040204020203" pitchFamily="34" charset="0"/>
                <a:cs typeface="Segoe UI" panose="020B0502040204020203" pitchFamily="34" charset="0"/>
                <a:sym typeface="Libre Franklin"/>
              </a:rPr>
              <a:t>opamp</a:t>
            </a:r>
            <a:r>
              <a:rPr lang="it-IT" sz="1200" u="sng" dirty="0">
                <a:latin typeface="Segoe UI" panose="020B0502040204020203" pitchFamily="34" charset="0"/>
                <a:cs typeface="Segoe UI" panose="020B0502040204020203" pitchFamily="34" charset="0"/>
                <a:sym typeface="Libre Franklin"/>
              </a:rPr>
              <a:t>, ma dal comportamento induttivo del condensatore reale.</a:t>
            </a:r>
            <a:endParaRPr sz="1200" u="sng" dirty="0">
              <a:latin typeface="Segoe UI" panose="020B0502040204020203" pitchFamily="34" charset="0"/>
              <a:cs typeface="Segoe UI" panose="020B0502040204020203" pitchFamily="34" charset="0"/>
              <a:sym typeface="Libre Franklin"/>
            </a:endParaRPr>
          </a:p>
        </p:txBody>
      </p:sp>
      <p:sp>
        <p:nvSpPr>
          <p:cNvPr id="4" name="Segnaposto numero diapositiva 3">
            <a:extLst>
              <a:ext uri="{FF2B5EF4-FFF2-40B4-BE49-F238E27FC236}">
                <a16:creationId xmlns:a16="http://schemas.microsoft.com/office/drawing/2014/main" id="{C0F75300-CE79-31FD-C943-0B33C47D7D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97</a:t>
            </a:fld>
            <a:endParaRPr lang="it-IT"/>
          </a:p>
        </p:txBody>
      </p:sp>
      <p:sp>
        <p:nvSpPr>
          <p:cNvPr id="2" name="Freccia in giù 1">
            <a:hlinkClick r:id="rId3" action="ppaction://hlinksldjump"/>
            <a:extLst>
              <a:ext uri="{FF2B5EF4-FFF2-40B4-BE49-F238E27FC236}">
                <a16:creationId xmlns:a16="http://schemas.microsoft.com/office/drawing/2014/main" id="{8354C905-D3C1-3BD1-2ADC-CC9440E89BF8}"/>
              </a:ext>
            </a:extLst>
          </p:cNvPr>
          <p:cNvSpPr/>
          <p:nvPr/>
        </p:nvSpPr>
        <p:spPr>
          <a:xfrm rot="10800000">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519096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958" name="Google Shape;958;p98"/>
          <p:cNvPicPr preferRelativeResize="0"/>
          <p:nvPr/>
        </p:nvPicPr>
        <p:blipFill rotWithShape="1">
          <a:blip r:embed="rId3">
            <a:alphaModFix/>
          </a:blip>
          <a:srcRect/>
          <a:stretch/>
        </p:blipFill>
        <p:spPr>
          <a:xfrm>
            <a:off x="599597" y="692092"/>
            <a:ext cx="10992805" cy="5387514"/>
          </a:xfrm>
          <a:prstGeom prst="rect">
            <a:avLst/>
          </a:prstGeom>
          <a:noFill/>
          <a:ln>
            <a:no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9BF7948-4320-FD19-D72F-87969A164D48}"/>
                  </a:ext>
                </a:extLst>
              </p:cNvPr>
              <p:cNvSpPr txBox="1"/>
              <p:nvPr/>
            </p:nvSpPr>
            <p:spPr>
              <a:xfrm>
                <a:off x="5409500" y="2957689"/>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3" name="CasellaDiTesto 2">
                <a:extLst>
                  <a:ext uri="{FF2B5EF4-FFF2-40B4-BE49-F238E27FC236}">
                    <a16:creationId xmlns:a16="http://schemas.microsoft.com/office/drawing/2014/main" id="{19BF7948-4320-FD19-D72F-87969A164D48}"/>
                  </a:ext>
                </a:extLst>
              </p:cNvPr>
              <p:cNvSpPr txBox="1">
                <a:spLocks noRot="1" noChangeAspect="1" noMove="1" noResize="1" noEditPoints="1" noAdjustHandles="1" noChangeArrowheads="1" noChangeShapeType="1" noTextEdit="1"/>
              </p:cNvSpPr>
              <p:nvPr/>
            </p:nvSpPr>
            <p:spPr>
              <a:xfrm>
                <a:off x="5409500" y="2957689"/>
                <a:ext cx="1242264" cy="215444"/>
              </a:xfrm>
              <a:prstGeom prst="rect">
                <a:avLst/>
              </a:prstGeom>
              <a:blipFill>
                <a:blip r:embed="rId4"/>
                <a:stretch>
                  <a:fillRect b="-28947"/>
                </a:stretch>
              </a:blipFill>
              <a:ln>
                <a:solidFill>
                  <a:schemeClr val="tx1"/>
                </a:solidFill>
              </a:ln>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4133C8B5-94FA-B9B2-0511-7738764EE58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98</a:t>
            </a:fld>
            <a:endParaRPr lang="it-IT"/>
          </a:p>
        </p:txBody>
      </p:sp>
      <p:sp>
        <p:nvSpPr>
          <p:cNvPr id="4" name="Freccia in giù 3">
            <a:hlinkClick r:id="rId5" action="ppaction://hlinksldjump"/>
            <a:extLst>
              <a:ext uri="{FF2B5EF4-FFF2-40B4-BE49-F238E27FC236}">
                <a16:creationId xmlns:a16="http://schemas.microsoft.com/office/drawing/2014/main" id="{AC2C4E09-AF38-7705-0DC6-51C7C7EBF01D}"/>
              </a:ext>
            </a:extLst>
          </p:cNvPr>
          <p:cNvSpPr/>
          <p:nvPr/>
        </p:nvSpPr>
        <p:spPr>
          <a:xfrm rot="10800000">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772811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D48DB48A-B3F2-064B-0291-743483DE6ACC}"/>
            </a:ext>
          </a:extLst>
        </p:cNvPr>
        <p:cNvGrpSpPr/>
        <p:nvPr/>
      </p:nvGrpSpPr>
      <p:grpSpPr>
        <a:xfrm>
          <a:off x="0" y="0"/>
          <a:ext cx="0" cy="0"/>
          <a:chOff x="0" y="0"/>
          <a:chExt cx="0" cy="0"/>
        </a:xfrm>
      </p:grpSpPr>
      <p:sp>
        <p:nvSpPr>
          <p:cNvPr id="157" name="Google Shape;157;p20">
            <a:extLst>
              <a:ext uri="{FF2B5EF4-FFF2-40B4-BE49-F238E27FC236}">
                <a16:creationId xmlns:a16="http://schemas.microsoft.com/office/drawing/2014/main" id="{EAE32585-D564-3CE5-4A9F-BAD5D4C7BBF2}"/>
              </a:ext>
            </a:extLst>
          </p:cNvPr>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a:extLst>
              <a:ext uri="{FF2B5EF4-FFF2-40B4-BE49-F238E27FC236}">
                <a16:creationId xmlns:a16="http://schemas.microsoft.com/office/drawing/2014/main" id="{2518F9B3-3639-21CB-86C9-7776A6002BAE}"/>
              </a:ext>
            </a:extLst>
          </p:cNvPr>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a:extLst>
              <a:ext uri="{FF2B5EF4-FFF2-40B4-BE49-F238E27FC236}">
                <a16:creationId xmlns:a16="http://schemas.microsoft.com/office/drawing/2014/main" id="{14B31A4C-13AC-3A81-390B-474474ABA9D1}"/>
              </a:ext>
            </a:extLst>
          </p:cNvPr>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a:extLst>
              <a:ext uri="{FF2B5EF4-FFF2-40B4-BE49-F238E27FC236}">
                <a16:creationId xmlns:a16="http://schemas.microsoft.com/office/drawing/2014/main" id="{827A7451-A14D-61BB-866B-5570E83AA125}"/>
              </a:ext>
            </a:extLst>
          </p:cNvPr>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a:extLst>
              <a:ext uri="{FF2B5EF4-FFF2-40B4-BE49-F238E27FC236}">
                <a16:creationId xmlns:a16="http://schemas.microsoft.com/office/drawing/2014/main" id="{E8324712-9F55-A86E-74B3-EB9AED6658EF}"/>
              </a:ext>
            </a:extLst>
          </p:cNvPr>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a:extLst>
              <a:ext uri="{FF2B5EF4-FFF2-40B4-BE49-F238E27FC236}">
                <a16:creationId xmlns:a16="http://schemas.microsoft.com/office/drawing/2014/main" id="{8FA00597-D16E-7842-F04C-8B7802A807AF}"/>
              </a:ext>
            </a:extLst>
          </p:cNvPr>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a:extLst>
              <a:ext uri="{FF2B5EF4-FFF2-40B4-BE49-F238E27FC236}">
                <a16:creationId xmlns:a16="http://schemas.microsoft.com/office/drawing/2014/main" id="{C6F7821B-EE29-0910-77A4-82368227B13C}"/>
              </a:ext>
            </a:extLst>
          </p:cNvPr>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a:extLst>
              <a:ext uri="{FF2B5EF4-FFF2-40B4-BE49-F238E27FC236}">
                <a16:creationId xmlns:a16="http://schemas.microsoft.com/office/drawing/2014/main" id="{33F9966C-E2B3-3857-2566-D565DC27E6E9}"/>
              </a:ext>
            </a:extLst>
          </p:cNvPr>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a:extLst>
              <a:ext uri="{FF2B5EF4-FFF2-40B4-BE49-F238E27FC236}">
                <a16:creationId xmlns:a16="http://schemas.microsoft.com/office/drawing/2014/main" id="{D9FB187C-E317-F6FE-1859-1C45B20B22B8}"/>
              </a:ext>
            </a:extLst>
          </p:cNvPr>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a:extLst>
              <a:ext uri="{FF2B5EF4-FFF2-40B4-BE49-F238E27FC236}">
                <a16:creationId xmlns:a16="http://schemas.microsoft.com/office/drawing/2014/main" id="{C935D5AF-A00F-457D-ECF0-198269235F9A}"/>
              </a:ext>
            </a:extLst>
          </p:cNvPr>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a:extLst>
              <a:ext uri="{FF2B5EF4-FFF2-40B4-BE49-F238E27FC236}">
                <a16:creationId xmlns:a16="http://schemas.microsoft.com/office/drawing/2014/main" id="{68158955-5D5A-62FE-6058-383AF1D6C4CD}"/>
              </a:ext>
            </a:extLst>
          </p:cNvPr>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a:extLst>
              <a:ext uri="{FF2B5EF4-FFF2-40B4-BE49-F238E27FC236}">
                <a16:creationId xmlns:a16="http://schemas.microsoft.com/office/drawing/2014/main" id="{75CC1121-8A2E-27F4-90CB-1A4525F37B2F}"/>
              </a:ext>
            </a:extLst>
          </p:cNvPr>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a:extLst>
              <a:ext uri="{FF2B5EF4-FFF2-40B4-BE49-F238E27FC236}">
                <a16:creationId xmlns:a16="http://schemas.microsoft.com/office/drawing/2014/main" id="{CBBEBC1C-19C4-D3FA-D516-9F3F86765704}"/>
              </a:ext>
            </a:extLst>
          </p:cNvPr>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a:extLst>
              <a:ext uri="{FF2B5EF4-FFF2-40B4-BE49-F238E27FC236}">
                <a16:creationId xmlns:a16="http://schemas.microsoft.com/office/drawing/2014/main" id="{8D06DD1A-4174-17F7-387C-BEFDCA0485EE}"/>
              </a:ext>
            </a:extLst>
          </p:cNvPr>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a:extLst>
              <a:ext uri="{FF2B5EF4-FFF2-40B4-BE49-F238E27FC236}">
                <a16:creationId xmlns:a16="http://schemas.microsoft.com/office/drawing/2014/main" id="{0AD1F578-2BF1-912A-510D-9D05CF5DE1DF}"/>
              </a:ext>
            </a:extLst>
          </p:cNvPr>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a:extLst>
              <a:ext uri="{FF2B5EF4-FFF2-40B4-BE49-F238E27FC236}">
                <a16:creationId xmlns:a16="http://schemas.microsoft.com/office/drawing/2014/main" id="{0FEEE57E-7F99-338D-4CF4-39A62BF0B30F}"/>
              </a:ext>
            </a:extLst>
          </p:cNvPr>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7B35C054-73C1-9943-3DB2-CC3A8DD60E3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99</a:t>
            </a:fld>
            <a:endParaRPr lang="it-IT"/>
          </a:p>
        </p:txBody>
      </p:sp>
    </p:spTree>
    <p:extLst>
      <p:ext uri="{BB962C8B-B14F-4D97-AF65-F5344CB8AC3E}">
        <p14:creationId xmlns:p14="http://schemas.microsoft.com/office/powerpoint/2010/main" val="38902281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txBox="1"/>
          <p:nvPr/>
        </p:nvSpPr>
        <p:spPr>
          <a:xfrm>
            <a:off x="1023900" y="1983900"/>
            <a:ext cx="10144200" cy="35978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Dopo aver concluso l’analisi del filtro passa-alto attivo con operazionale ideale, passiamo ora allo studio del filtro realizzato con un componente reale: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l’OP07</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 caso ideale abbiamo considerato l’operazionale come perfetto, quindi con guadagno infinito, banda infinita, impedenza di ingresso infinita e impedenza di uscita nulla.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Nella realtà</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però,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un </a:t>
            </a:r>
            <a:r>
              <a:rPr lang="it-IT" sz="1200" b="0" i="0" u="sng"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presenta sempre dei limiti fisici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che influenzano la risposta del circuito.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Con l’OP07 </a:t>
            </a:r>
            <a:r>
              <a:rPr lang="it-IT" sz="120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iniziamo quindi a considerare parametri reali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come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banda passante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slew</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rate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guadagno ad anello aperto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impedenza di uscita</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saturazione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limiti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alimentazione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Questi aspetti </a:t>
            </a:r>
            <a:r>
              <a:rPr lang="it-IT" sz="1200" b="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possono modificare il comportamento del filtro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soprattutto alle alte frequenze o quando il guadagno richiesto è elevato.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Il passaggio all’</a:t>
            </a:r>
            <a:r>
              <a:rPr lang="it-IT" sz="1200" b="0"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reale permette quindi di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verificare quanto il filtro si discosta dal modello ideale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di c</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apire quali limiti diventano importanti nelle applicazioni pratiche.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La rete RC continua a definire la frequenza di taglio, ma ora la risposta complessiva dipende anche dalle caratteristiche reali dell’operazionale, consultabili nel datasheet dell’OP07.</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78" name="Google Shape;178;p21"/>
          <p:cNvSpPr txBox="1"/>
          <p:nvPr/>
        </p:nvSpPr>
        <p:spPr>
          <a:xfrm>
            <a:off x="1023900" y="977675"/>
            <a:ext cx="95496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attivo ideale al filtro HP attivo reale</a:t>
            </a:r>
            <a:endParaRPr dirty="0">
              <a:sym typeface="Libre Franklin SemiBold"/>
            </a:endParaRPr>
          </a:p>
        </p:txBody>
      </p:sp>
      <p:sp>
        <p:nvSpPr>
          <p:cNvPr id="2" name="Segnaposto numero diapositiva 1">
            <a:extLst>
              <a:ext uri="{FF2B5EF4-FFF2-40B4-BE49-F238E27FC236}">
                <a16:creationId xmlns:a16="http://schemas.microsoft.com/office/drawing/2014/main" id="{A51A1CF9-6E7B-556E-13C3-3C4C8CBA8EA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100</a:t>
            </a:fld>
            <a:endParaRPr lang="it-IT"/>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3"/>
          <p:cNvPicPr preferRelativeResize="0"/>
          <p:nvPr/>
        </p:nvPicPr>
        <p:blipFill rotWithShape="1">
          <a:blip r:embed="rId3">
            <a:alphaModFix/>
          </a:blip>
          <a:srcRect/>
          <a:stretch/>
        </p:blipFill>
        <p:spPr>
          <a:xfrm>
            <a:off x="1561600" y="1965650"/>
            <a:ext cx="8773775" cy="4299974"/>
          </a:xfrm>
          <a:prstGeom prst="rect">
            <a:avLst/>
          </a:prstGeom>
          <a:noFill/>
          <a:ln>
            <a:noFill/>
          </a:ln>
        </p:spPr>
      </p:pic>
      <p:pic>
        <p:nvPicPr>
          <p:cNvPr id="192" name="Google Shape;192;p23"/>
          <p:cNvPicPr preferRelativeResize="0"/>
          <p:nvPr/>
        </p:nvPicPr>
        <p:blipFill rotWithShape="1">
          <a:blip r:embed="rId4">
            <a:alphaModFix/>
          </a:blip>
          <a:srcRect l="4982" t="8818" r="9262" b="11955"/>
          <a:stretch/>
        </p:blipFill>
        <p:spPr>
          <a:xfrm>
            <a:off x="6149220" y="458579"/>
            <a:ext cx="3689625" cy="1472645"/>
          </a:xfrm>
          <a:prstGeom prst="rect">
            <a:avLst/>
          </a:prstGeom>
          <a:noFill/>
          <a:ln>
            <a:noFill/>
          </a:ln>
        </p:spPr>
      </p:pic>
      <p:pic>
        <p:nvPicPr>
          <p:cNvPr id="193" name="Google Shape;193;p23"/>
          <p:cNvPicPr preferRelativeResize="0"/>
          <p:nvPr/>
        </p:nvPicPr>
        <p:blipFill rotWithShape="1">
          <a:blip r:embed="rId5">
            <a:alphaModFix/>
          </a:blip>
          <a:srcRect r="1127"/>
          <a:stretch/>
        </p:blipFill>
        <p:spPr>
          <a:xfrm>
            <a:off x="2217094" y="458579"/>
            <a:ext cx="3647669" cy="1472639"/>
          </a:xfrm>
          <a:prstGeom prst="rect">
            <a:avLst/>
          </a:prstGeom>
          <a:noFill/>
          <a:ln>
            <a:noFill/>
          </a:ln>
        </p:spPr>
      </p:pic>
      <p:sp>
        <p:nvSpPr>
          <p:cNvPr id="194" name="Google Shape;194;p23"/>
          <p:cNvSpPr/>
          <p:nvPr/>
        </p:nvSpPr>
        <p:spPr>
          <a:xfrm>
            <a:off x="5274794" y="1018210"/>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5" name="Google Shape;195;p23"/>
          <p:cNvSpPr/>
          <p:nvPr/>
        </p:nvSpPr>
        <p:spPr>
          <a:xfrm>
            <a:off x="2188275" y="935887"/>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6" name="Google Shape;196;p23"/>
          <p:cNvSpPr/>
          <p:nvPr/>
        </p:nvSpPr>
        <p:spPr>
          <a:xfrm>
            <a:off x="9299150" y="1018210"/>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7" name="Google Shape;197;p23"/>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198" name="Google Shape;198;p23"/>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15CE83D5-3475-32F2-DD85-93EE9A69503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101</a:t>
            </a:fld>
            <a:endParaRPr lang="it-IT"/>
          </a:p>
        </p:txBody>
      </p:sp>
      <p:sp>
        <p:nvSpPr>
          <p:cNvPr id="4" name="Freccia in giù 3">
            <a:hlinkClick r:id="rId6" action="ppaction://hlinksldjump"/>
            <a:extLst>
              <a:ext uri="{FF2B5EF4-FFF2-40B4-BE49-F238E27FC236}">
                <a16:creationId xmlns:a16="http://schemas.microsoft.com/office/drawing/2014/main" id="{6F4E149E-BFBD-03B3-EA7E-03BC5F1D7E59}"/>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p:nvPr/>
        </p:nvSpPr>
        <p:spPr>
          <a:xfrm>
            <a:off x="996274" y="961525"/>
            <a:ext cx="4683165"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Limite dell’analisi di Bode</a:t>
            </a:r>
            <a:endParaRPr dirty="0">
              <a:sym typeface="Libre Franklin"/>
            </a:endParaRPr>
          </a:p>
        </p:txBody>
      </p:sp>
      <p:sp>
        <p:nvSpPr>
          <p:cNvPr id="205" name="Google Shape;205;p24"/>
          <p:cNvSpPr txBox="1"/>
          <p:nvPr/>
        </p:nvSpPr>
        <p:spPr>
          <a:xfrm>
            <a:off x="4966360" y="1574338"/>
            <a:ext cx="6346800" cy="423497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caso il diagramma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Bode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mostra il comportamento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teorico lineare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circuito</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Q</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uindi evidenzia un guadagno che può arrivare fino al valore imposto dalla configurazione, in questo caso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Tuttavia, questa rappresentazione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non tiene conto direttamente dei limiti reali dell’uscita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come la tensione di alimentazione e la conseguente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il Bode può suggerire un’amplificazione teoricamente molto grande, anche quando nella pratica 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in grado di fornirla realmente.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osservare il comportamento reale del circuito è quindi necessario passare all’</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analisi transitoria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che permette di vedere il segnale nel tempo e verificare se l’uscita viene effettivamente amplificata oppure se risulta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causa dei limiti di alimentazione.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modo si collega il risultato teorico del Bode con la risposta reale del circuito, che sarà mostrata nella slide successiva attraverso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limitazione dell’uscita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06" name="Google Shape;206;p24"/>
          <p:cNvPicPr preferRelativeResize="0"/>
          <p:nvPr/>
        </p:nvPicPr>
        <p:blipFill rotWithShape="1">
          <a:blip r:embed="rId3">
            <a:alphaModFix/>
          </a:blip>
          <a:srcRect/>
          <a:stretch/>
        </p:blipFill>
        <p:spPr>
          <a:xfrm>
            <a:off x="843050" y="2308950"/>
            <a:ext cx="3937952" cy="1929950"/>
          </a:xfrm>
          <a:prstGeom prst="rect">
            <a:avLst/>
          </a:prstGeom>
          <a:noFill/>
          <a:ln>
            <a:noFill/>
          </a:ln>
        </p:spPr>
      </p:pic>
      <p:sp>
        <p:nvSpPr>
          <p:cNvPr id="2" name="Segnaposto numero diapositiva 1">
            <a:extLst>
              <a:ext uri="{FF2B5EF4-FFF2-40B4-BE49-F238E27FC236}">
                <a16:creationId xmlns:a16="http://schemas.microsoft.com/office/drawing/2014/main" id="{CD65A39F-B56D-627F-93D7-D3717E3E06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102</a:t>
            </a:fld>
            <a:endParaRPr lang="it-IT"/>
          </a:p>
        </p:txBody>
      </p:sp>
      <p:sp>
        <p:nvSpPr>
          <p:cNvPr id="3" name="Freccia in giù 2">
            <a:hlinkClick r:id="rId4" action="ppaction://hlinksldjump"/>
            <a:extLst>
              <a:ext uri="{FF2B5EF4-FFF2-40B4-BE49-F238E27FC236}">
                <a16:creationId xmlns:a16="http://schemas.microsoft.com/office/drawing/2014/main" id="{831CAA54-8B01-89DE-49CD-A5E04D759252}"/>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5"/>
          <p:cNvPicPr preferRelativeResize="0"/>
          <p:nvPr/>
        </p:nvPicPr>
        <p:blipFill rotWithShape="1">
          <a:blip r:embed="rId3">
            <a:alphaModFix/>
          </a:blip>
          <a:srcRect/>
          <a:stretch/>
        </p:blipFill>
        <p:spPr>
          <a:xfrm>
            <a:off x="769775" y="790275"/>
            <a:ext cx="10587698" cy="5188925"/>
          </a:xfrm>
          <a:prstGeom prst="rect">
            <a:avLst/>
          </a:prstGeom>
          <a:noFill/>
          <a:ln>
            <a:noFill/>
          </a:ln>
        </p:spPr>
      </p:pic>
      <p:sp>
        <p:nvSpPr>
          <p:cNvPr id="2" name="Segnaposto numero diapositiva 1">
            <a:extLst>
              <a:ext uri="{FF2B5EF4-FFF2-40B4-BE49-F238E27FC236}">
                <a16:creationId xmlns:a16="http://schemas.microsoft.com/office/drawing/2014/main" id="{D18935AB-54EA-82DE-786D-3EFEB16E18C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103</a:t>
            </a:fld>
            <a:endParaRPr lang="it-IT"/>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1684324" y="2051117"/>
            <a:ext cx="8558599" cy="4194526"/>
          </a:xfrm>
          <a:prstGeom prst="rect">
            <a:avLst/>
          </a:prstGeom>
          <a:noFill/>
          <a:ln>
            <a:noFill/>
          </a:ln>
        </p:spPr>
      </p:pic>
      <p:pic>
        <p:nvPicPr>
          <p:cNvPr id="227" name="Google Shape;227;p27"/>
          <p:cNvPicPr preferRelativeResize="0"/>
          <p:nvPr/>
        </p:nvPicPr>
        <p:blipFill rotWithShape="1">
          <a:blip r:embed="rId4">
            <a:alphaModFix/>
          </a:blip>
          <a:srcRect l="4982" t="8818" r="9262" b="11955"/>
          <a:stretch/>
        </p:blipFill>
        <p:spPr>
          <a:xfrm>
            <a:off x="6104050" y="534825"/>
            <a:ext cx="3882450" cy="1549600"/>
          </a:xfrm>
          <a:prstGeom prst="rect">
            <a:avLst/>
          </a:prstGeom>
          <a:noFill/>
          <a:ln>
            <a:noFill/>
          </a:ln>
        </p:spPr>
      </p:pic>
      <p:pic>
        <p:nvPicPr>
          <p:cNvPr id="228" name="Google Shape;228;p27"/>
          <p:cNvPicPr preferRelativeResize="0"/>
          <p:nvPr/>
        </p:nvPicPr>
        <p:blipFill rotWithShape="1">
          <a:blip r:embed="rId5">
            <a:alphaModFix/>
          </a:blip>
          <a:srcRect r="1127"/>
          <a:stretch/>
        </p:blipFill>
        <p:spPr>
          <a:xfrm>
            <a:off x="1966425" y="534825"/>
            <a:ext cx="3838302" cy="1549600"/>
          </a:xfrm>
          <a:prstGeom prst="rect">
            <a:avLst/>
          </a:prstGeom>
          <a:noFill/>
          <a:ln>
            <a:noFill/>
          </a:ln>
        </p:spPr>
      </p:pic>
      <p:sp>
        <p:nvSpPr>
          <p:cNvPr id="229" name="Google Shape;229;p27"/>
          <p:cNvSpPr/>
          <p:nvPr/>
        </p:nvSpPr>
        <p:spPr>
          <a:xfrm>
            <a:off x="5183925" y="11237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0" name="Google Shape;230;p27"/>
          <p:cNvSpPr/>
          <p:nvPr/>
        </p:nvSpPr>
        <p:spPr>
          <a:xfrm>
            <a:off x="1936100" y="1037075"/>
            <a:ext cx="567900" cy="545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1" name="Google Shape;231;p27"/>
          <p:cNvSpPr/>
          <p:nvPr/>
        </p:nvSpPr>
        <p:spPr>
          <a:xfrm>
            <a:off x="9418600" y="1123700"/>
            <a:ext cx="567900" cy="54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2" name="Google Shape;232;p27"/>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233" name="Google Shape;233;p27"/>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4167A6D4-A79F-1F99-7C63-519CAF4C0D0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104</a:t>
            </a:fld>
            <a:endParaRPr lang="it-IT"/>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29"/>
          <p:cNvPicPr preferRelativeResize="0"/>
          <p:nvPr/>
        </p:nvPicPr>
        <p:blipFill rotWithShape="1">
          <a:blip r:embed="rId3">
            <a:alphaModFix/>
          </a:blip>
          <a:srcRect/>
          <a:stretch/>
        </p:blipFill>
        <p:spPr>
          <a:xfrm>
            <a:off x="843313" y="812329"/>
            <a:ext cx="10661076" cy="5233325"/>
          </a:xfrm>
          <a:prstGeom prst="rect">
            <a:avLst/>
          </a:prstGeom>
          <a:noFill/>
          <a:ln>
            <a:noFill/>
          </a:ln>
        </p:spPr>
      </p:pic>
      <p:sp>
        <p:nvSpPr>
          <p:cNvPr id="2" name="Segnaposto numero diapositiva 1">
            <a:extLst>
              <a:ext uri="{FF2B5EF4-FFF2-40B4-BE49-F238E27FC236}">
                <a16:creationId xmlns:a16="http://schemas.microsoft.com/office/drawing/2014/main" id="{11878A90-DB86-635D-BDDB-8D82A52289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105</a:t>
            </a:fld>
            <a:endParaRPr lang="it-IT"/>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0"/>
          <p:cNvPicPr preferRelativeResize="0"/>
          <p:nvPr/>
        </p:nvPicPr>
        <p:blipFill rotWithShape="1">
          <a:blip r:embed="rId3">
            <a:alphaModFix/>
          </a:blip>
          <a:srcRect/>
          <a:stretch/>
        </p:blipFill>
        <p:spPr>
          <a:xfrm>
            <a:off x="940852" y="828004"/>
            <a:ext cx="10580424" cy="5202001"/>
          </a:xfrm>
          <a:prstGeom prst="rect">
            <a:avLst/>
          </a:prstGeom>
          <a:noFill/>
          <a:ln>
            <a:noFill/>
          </a:ln>
        </p:spPr>
      </p:pic>
      <p:sp>
        <p:nvSpPr>
          <p:cNvPr id="2" name="Segnaposto numero diapositiva 1">
            <a:extLst>
              <a:ext uri="{FF2B5EF4-FFF2-40B4-BE49-F238E27FC236}">
                <a16:creationId xmlns:a16="http://schemas.microsoft.com/office/drawing/2014/main" id="{FC87D7F8-0866-2831-62F5-E407FD911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106</a:t>
            </a:fld>
            <a:endParaRPr lang="it-IT"/>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txBox="1"/>
          <p:nvPr/>
        </p:nvSpPr>
        <p:spPr>
          <a:xfrm>
            <a:off x="1170685" y="768694"/>
            <a:ext cx="72213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Confronto dei segnali nel filtro attivo reale</a:t>
            </a:r>
            <a:endParaRPr dirty="0">
              <a:sym typeface="Libre Franklin"/>
            </a:endParaRPr>
          </a:p>
        </p:txBody>
      </p:sp>
      <p:sp>
        <p:nvSpPr>
          <p:cNvPr id="264" name="Google Shape;264;p31"/>
          <p:cNvSpPr txBox="1"/>
          <p:nvPr/>
        </p:nvSpPr>
        <p:spPr>
          <a:xfrm>
            <a:off x="1041400" y="1398725"/>
            <a:ext cx="80128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Poiché nella slide precedente abbiamo verificato che la frequenza di taglio rimane identica anche usando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possiamo analizzare i tre segnali alle stesse frequenze già considerate nel caso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taglio è sempre fissata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65" name="Google Shape;265;p31"/>
          <p:cNvPicPr preferRelativeResize="0"/>
          <p:nvPr/>
        </p:nvPicPr>
        <p:blipFill rotWithShape="1">
          <a:blip r:embed="rId3">
            <a:alphaModFix/>
          </a:blip>
          <a:srcRect/>
          <a:stretch/>
        </p:blipFill>
        <p:spPr>
          <a:xfrm>
            <a:off x="5047800" y="2434473"/>
            <a:ext cx="1943100" cy="495300"/>
          </a:xfrm>
          <a:prstGeom prst="rect">
            <a:avLst/>
          </a:prstGeom>
          <a:noFill/>
          <a:ln>
            <a:solidFill>
              <a:schemeClr val="tx1"/>
            </a:solidFill>
          </a:ln>
        </p:spPr>
      </p:pic>
      <p:sp>
        <p:nvSpPr>
          <p:cNvPr id="266" name="Google Shape;266;p31"/>
          <p:cNvSpPr txBox="1"/>
          <p:nvPr/>
        </p:nvSpPr>
        <p:spPr>
          <a:xfrm>
            <a:off x="1102075" y="3106450"/>
            <a:ext cx="9120000" cy="274841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ritroviamo lo stesso andamento già osservato nel filtro attivo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sotto la frequenza di taglio, il segnale in uscita risulta </a:t>
            </a:r>
            <a:r>
              <a:rPr lang="it-IT" sz="1200" b="1" i="0" u="none" strike="noStrike" cap="none" dirty="0">
                <a:solidFill>
                  <a:schemeClr val="dk1"/>
                </a:solidFill>
                <a:latin typeface="Segoe UI" panose="020B0502040204020203" pitchFamily="34" charset="0"/>
                <a:cs typeface="Segoe UI" panose="020B0502040204020203" pitchFamily="34" charset="0"/>
              </a:rPr>
              <a:t>molto attenuato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filtro blocca le basse frequenze.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prossimità della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inizia a essere trasferito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modo significativo e compare lo sfasamento tipico del filtro passa-alto.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 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passa con maggiore ampiezza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rPr>
              <a:t>tende al guadagno impostato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dal circuito.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 risultati sono quindi coerenti con il caso ideale: il filtro mantiene il comportamento passa-alto, il guadagno è circa pari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essendo la configurazione invertente, l’uscita presenta uno sfasamento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180°</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più lo sfasamento introdotto dalla rete RC.</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286B75CA-C93B-64B6-2948-2DB56E85E0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107</a:t>
            </a:fld>
            <a:endParaRPr lang="it-IT"/>
          </a:p>
        </p:txBody>
      </p:sp>
      <p:sp>
        <p:nvSpPr>
          <p:cNvPr id="3" name="Freccia in giù 2">
            <a:hlinkClick r:id="rId4" action="ppaction://hlinksldjump"/>
            <a:extLst>
              <a:ext uri="{FF2B5EF4-FFF2-40B4-BE49-F238E27FC236}">
                <a16:creationId xmlns:a16="http://schemas.microsoft.com/office/drawing/2014/main" id="{90C5DF72-5838-618C-A886-FC8C04C1983E}"/>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32"/>
          <p:cNvPicPr preferRelativeResize="0"/>
          <p:nvPr/>
        </p:nvPicPr>
        <p:blipFill rotWithShape="1">
          <a:blip r:embed="rId3">
            <a:alphaModFix/>
          </a:blip>
          <a:srcRect/>
          <a:stretch/>
        </p:blipFill>
        <p:spPr>
          <a:xfrm>
            <a:off x="787175" y="3536575"/>
            <a:ext cx="5147100" cy="2522575"/>
          </a:xfrm>
          <a:prstGeom prst="rect">
            <a:avLst/>
          </a:prstGeom>
          <a:noFill/>
          <a:ln w="28575" cap="flat" cmpd="sng">
            <a:solidFill>
              <a:srgbClr val="000000"/>
            </a:solidFill>
            <a:prstDash val="solid"/>
            <a:round/>
            <a:headEnd type="none" w="sm" len="sm"/>
            <a:tailEnd type="none" w="sm" len="sm"/>
          </a:ln>
        </p:spPr>
      </p:pic>
      <p:pic>
        <p:nvPicPr>
          <p:cNvPr id="272" name="Google Shape;272;p32"/>
          <p:cNvPicPr preferRelativeResize="0"/>
          <p:nvPr/>
        </p:nvPicPr>
        <p:blipFill rotWithShape="1">
          <a:blip r:embed="rId4">
            <a:alphaModFix/>
          </a:blip>
          <a:srcRect/>
          <a:stretch/>
        </p:blipFill>
        <p:spPr>
          <a:xfrm>
            <a:off x="6301150" y="3558987"/>
            <a:ext cx="5055675" cy="2477751"/>
          </a:xfrm>
          <a:prstGeom prst="rect">
            <a:avLst/>
          </a:prstGeom>
          <a:noFill/>
          <a:ln w="28575" cap="flat" cmpd="sng">
            <a:solidFill>
              <a:srgbClr val="000000"/>
            </a:solidFill>
            <a:prstDash val="solid"/>
            <a:round/>
            <a:headEnd type="none" w="sm" len="sm"/>
            <a:tailEnd type="none" w="sm" len="sm"/>
          </a:ln>
        </p:spPr>
      </p:pic>
      <p:sp>
        <p:nvSpPr>
          <p:cNvPr id="273" name="Google Shape;273;p32"/>
          <p:cNvSpPr txBox="1"/>
          <p:nvPr/>
        </p:nvSpPr>
        <p:spPr>
          <a:xfrm>
            <a:off x="1357320" y="2641475"/>
            <a:ext cx="1000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250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sp>
        <p:nvSpPr>
          <p:cNvPr id="274" name="Google Shape;274;p32"/>
          <p:cNvSpPr txBox="1"/>
          <p:nvPr/>
        </p:nvSpPr>
        <p:spPr>
          <a:xfrm>
            <a:off x="10234326" y="2641475"/>
            <a:ext cx="882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pic>
        <p:nvPicPr>
          <p:cNvPr id="275" name="Google Shape;275;p32"/>
          <p:cNvPicPr preferRelativeResize="0"/>
          <p:nvPr/>
        </p:nvPicPr>
        <p:blipFill rotWithShape="1">
          <a:blip r:embed="rId5">
            <a:alphaModFix/>
          </a:blip>
          <a:srcRect/>
          <a:stretch/>
        </p:blipFill>
        <p:spPr>
          <a:xfrm>
            <a:off x="3243800" y="821925"/>
            <a:ext cx="5315752" cy="2605212"/>
          </a:xfrm>
          <a:prstGeom prst="rect">
            <a:avLst/>
          </a:prstGeom>
          <a:noFill/>
          <a:ln w="28575" cap="flat" cmpd="sng">
            <a:solidFill>
              <a:srgbClr val="000000"/>
            </a:solidFill>
            <a:prstDash val="solid"/>
            <a:round/>
            <a:headEnd type="none" w="sm" len="sm"/>
            <a:tailEnd type="none" w="sm" len="sm"/>
          </a:ln>
        </p:spPr>
      </p:pic>
      <p:sp>
        <p:nvSpPr>
          <p:cNvPr id="276" name="Google Shape;276;p32"/>
          <p:cNvSpPr txBox="1"/>
          <p:nvPr/>
        </p:nvSpPr>
        <p:spPr>
          <a:xfrm>
            <a:off x="1325776" y="10338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159</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cxnSp>
        <p:nvCxnSpPr>
          <p:cNvPr id="277" name="Google Shape;277;p32"/>
          <p:cNvCxnSpPr/>
          <p:nvPr/>
        </p:nvCxnSpPr>
        <p:spPr>
          <a:xfrm>
            <a:off x="2198075" y="1250025"/>
            <a:ext cx="1012500" cy="6600"/>
          </a:xfrm>
          <a:prstGeom prst="straightConnector1">
            <a:avLst/>
          </a:prstGeom>
          <a:noFill/>
          <a:ln w="28575" cap="flat" cmpd="sng">
            <a:solidFill>
              <a:schemeClr val="dk2"/>
            </a:solidFill>
            <a:prstDash val="solid"/>
            <a:round/>
            <a:headEnd type="none" w="med" len="med"/>
            <a:tailEnd type="none" w="med" len="med"/>
          </a:ln>
        </p:spPr>
      </p:cxnSp>
      <p:cxnSp>
        <p:nvCxnSpPr>
          <p:cNvPr id="278" name="Google Shape;278;p32"/>
          <p:cNvCxnSpPr/>
          <p:nvPr/>
        </p:nvCxnSpPr>
        <p:spPr>
          <a:xfrm>
            <a:off x="10644025" y="3035125"/>
            <a:ext cx="0" cy="499500"/>
          </a:xfrm>
          <a:prstGeom prst="straightConnector1">
            <a:avLst/>
          </a:prstGeom>
          <a:noFill/>
          <a:ln w="28575" cap="flat" cmpd="sng">
            <a:solidFill>
              <a:schemeClr val="dk2"/>
            </a:solidFill>
            <a:prstDash val="solid"/>
            <a:round/>
            <a:headEnd type="none" w="med" len="med"/>
            <a:tailEnd type="none" w="med" len="med"/>
          </a:ln>
        </p:spPr>
      </p:cxnSp>
      <p:cxnSp>
        <p:nvCxnSpPr>
          <p:cNvPr id="279" name="Google Shape;279;p32"/>
          <p:cNvCxnSpPr/>
          <p:nvPr/>
        </p:nvCxnSpPr>
        <p:spPr>
          <a:xfrm>
            <a:off x="1811925" y="3010775"/>
            <a:ext cx="0" cy="499500"/>
          </a:xfrm>
          <a:prstGeom prst="straightConnector1">
            <a:avLst/>
          </a:prstGeom>
          <a:noFill/>
          <a:ln w="28575" cap="flat" cmpd="sng">
            <a:solidFill>
              <a:schemeClr val="dk2"/>
            </a:solidFill>
            <a:prstDash val="solid"/>
            <a:round/>
            <a:headEnd type="none" w="med" len="med"/>
            <a:tailEnd type="none" w="med" len="med"/>
          </a:ln>
        </p:spPr>
      </p:cxnSp>
      <p:sp>
        <p:nvSpPr>
          <p:cNvPr id="2" name="Segnaposto numero diapositiva 1">
            <a:extLst>
              <a:ext uri="{FF2B5EF4-FFF2-40B4-BE49-F238E27FC236}">
                <a16:creationId xmlns:a16="http://schemas.microsoft.com/office/drawing/2014/main" id="{DD8517C4-CAF4-D664-2742-A393DBF47E3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108</a:t>
            </a:fld>
            <a:endParaRPr lang="it-IT"/>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p:nvPr/>
        </p:nvSpPr>
        <p:spPr>
          <a:xfrm>
            <a:off x="969950" y="898413"/>
            <a:ext cx="7550700" cy="461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Carichi terminali: comportamento quasi ideale</a:t>
            </a:r>
            <a:endParaRPr dirty="0">
              <a:sym typeface="Libre Franklin"/>
            </a:endParaRPr>
          </a:p>
        </p:txBody>
      </p:sp>
      <p:sp>
        <p:nvSpPr>
          <p:cNvPr id="286" name="Google Shape;286;p33"/>
          <p:cNvSpPr txBox="1"/>
          <p:nvPr/>
        </p:nvSpPr>
        <p:spPr>
          <a:xfrm>
            <a:off x="969950" y="1360125"/>
            <a:ext cx="56688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collega un carico all’uscita del filtro attivo,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comportamento rimane molto simile a quello ideale finché</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resistenza di carico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sufficientemente alta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l’operazionale reale, entro certi limiti, </a:t>
            </a:r>
            <a:r>
              <a:rPr lang="it-IT" sz="1200" b="1" i="0" u="none" strike="noStrike" cap="none" dirty="0">
                <a:solidFill>
                  <a:schemeClr val="dk1"/>
                </a:solidFill>
                <a:latin typeface="Segoe UI" panose="020B0502040204020203" pitchFamily="34" charset="0"/>
                <a:cs typeface="Segoe UI" panose="020B0502040204020203" pitchFamily="34" charset="0"/>
              </a:rPr>
              <a:t>riesce a fornire la corrente richiesta dal carico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senza modificare in modo significativo la tensione di uscita: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287" name="Google Shape;287;p33"/>
          <p:cNvPicPr preferRelativeResize="0"/>
          <p:nvPr/>
        </p:nvPicPr>
        <p:blipFill rotWithShape="1">
          <a:blip r:embed="rId3">
            <a:alphaModFix/>
          </a:blip>
          <a:srcRect/>
          <a:stretch/>
        </p:blipFill>
        <p:spPr>
          <a:xfrm>
            <a:off x="3059475" y="3060612"/>
            <a:ext cx="1123950" cy="638175"/>
          </a:xfrm>
          <a:prstGeom prst="rect">
            <a:avLst/>
          </a:prstGeom>
          <a:noFill/>
          <a:ln>
            <a:solidFill>
              <a:schemeClr val="tx1"/>
            </a:solidFill>
          </a:ln>
        </p:spPr>
      </p:pic>
      <p:sp>
        <p:nvSpPr>
          <p:cNvPr id="288" name="Google Shape;288;p33"/>
          <p:cNvSpPr txBox="1"/>
          <p:nvPr/>
        </p:nvSpPr>
        <p:spPr>
          <a:xfrm>
            <a:off x="1038600" y="3781088"/>
            <a:ext cx="54186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grande, la corrente richiesta è piccola. In queste condizioni l’OP07 riesce a pilotare correttamente il carico e quindi la risposta del filtro resta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con carichi elevati, il comportamento osservato è quasi identico al caso ideale: la frequenza di taglio rimane la stessa, il guadagno resta stabile e il diagramma di Bode mantiene lo stesso andamento.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89" name="Google Shape;289;p33"/>
          <p:cNvPicPr preferRelativeResize="0"/>
          <p:nvPr/>
        </p:nvPicPr>
        <p:blipFill rotWithShape="1">
          <a:blip r:embed="rId4">
            <a:alphaModFix/>
          </a:blip>
          <a:srcRect/>
          <a:stretch/>
        </p:blipFill>
        <p:spPr>
          <a:xfrm>
            <a:off x="6512050" y="2205051"/>
            <a:ext cx="4581401" cy="2245301"/>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A1BE2B9C-D08C-162E-61B4-2E0A423CE0E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109</a:t>
            </a:fld>
            <a:endParaRPr lang="it-IT"/>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34"/>
          <p:cNvPicPr preferRelativeResize="0"/>
          <p:nvPr/>
        </p:nvPicPr>
        <p:blipFill rotWithShape="1">
          <a:blip r:embed="rId3">
            <a:alphaModFix/>
          </a:blip>
          <a:srcRect/>
          <a:stretch/>
        </p:blipFill>
        <p:spPr>
          <a:xfrm>
            <a:off x="872039" y="795524"/>
            <a:ext cx="10447924" cy="5120450"/>
          </a:xfrm>
          <a:prstGeom prst="rect">
            <a:avLst/>
          </a:prstGeom>
          <a:noFill/>
          <a:ln>
            <a:noFill/>
          </a:ln>
        </p:spPr>
      </p:pic>
      <p:sp>
        <p:nvSpPr>
          <p:cNvPr id="2" name="Segnaposto numero diapositiva 1">
            <a:extLst>
              <a:ext uri="{FF2B5EF4-FFF2-40B4-BE49-F238E27FC236}">
                <a16:creationId xmlns:a16="http://schemas.microsoft.com/office/drawing/2014/main" id="{8AC0C212-87D1-8032-1F66-93653A2D7E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110</a:t>
            </a:fld>
            <a:endParaRPr lang="it-IT"/>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5"/>
          <p:cNvSpPr txBox="1"/>
          <p:nvPr/>
        </p:nvSpPr>
        <p:spPr>
          <a:xfrm>
            <a:off x="1321674" y="1533175"/>
            <a:ext cx="7262701"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it-IT"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rPr>
              <a:t>Carichi troppo piccoli: attenuazione e perdita di idealità</a:t>
            </a:r>
            <a:endParaRPr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endParaRPr>
          </a:p>
        </p:txBody>
      </p:sp>
      <p:sp>
        <p:nvSpPr>
          <p:cNvPr id="302" name="Google Shape;302;p35"/>
          <p:cNvSpPr txBox="1"/>
          <p:nvPr/>
        </p:nvSpPr>
        <p:spPr>
          <a:xfrm>
            <a:off x="1321674" y="1945468"/>
            <a:ext cx="9329064"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caso reale, l’OP07 non si comporta come un generatore ideale di tensione.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400"/>
              <a:buFont typeface="Arial"/>
              <a:buNone/>
            </a:pPr>
            <a:endParaRPr sz="1200" dirty="0">
              <a:latin typeface="Segoe UI" panose="020B0502040204020203" pitchFamily="34" charset="0"/>
              <a:cs typeface="Segoe UI" panose="020B0502040204020203" pitchFamily="34" charset="0"/>
            </a:endParaRPr>
          </a:p>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Le sue impedenze di ingresso sono molto elevate: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3" name="Google Shape;303;p35"/>
          <p:cNvPicPr preferRelativeResize="0"/>
          <p:nvPr/>
        </p:nvPicPr>
        <p:blipFill rotWithShape="1">
          <a:blip r:embed="rId3">
            <a:alphaModFix/>
          </a:blip>
          <a:srcRect/>
          <a:stretch/>
        </p:blipFill>
        <p:spPr>
          <a:xfrm>
            <a:off x="7984018" y="1959244"/>
            <a:ext cx="1350500" cy="654775"/>
          </a:xfrm>
          <a:prstGeom prst="rect">
            <a:avLst/>
          </a:prstGeom>
          <a:noFill/>
          <a:ln>
            <a:solidFill>
              <a:schemeClr val="tx1"/>
            </a:solidFill>
          </a:ln>
        </p:spPr>
      </p:pic>
      <p:sp>
        <p:nvSpPr>
          <p:cNvPr id="304" name="Google Shape;304;p35"/>
          <p:cNvSpPr txBox="1"/>
          <p:nvPr/>
        </p:nvSpPr>
        <p:spPr>
          <a:xfrm>
            <a:off x="1321674" y="2840759"/>
            <a:ext cx="84012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perciò l’ingresso dell’operazionale </a:t>
            </a:r>
            <a:r>
              <a:rPr lang="it-IT" sz="1200" b="1" i="0" u="none" strike="noStrike" cap="none" dirty="0">
                <a:solidFill>
                  <a:schemeClr val="dk1"/>
                </a:solidFill>
                <a:latin typeface="Segoe UI" panose="020B0502040204020203" pitchFamily="34" charset="0"/>
                <a:cs typeface="Segoe UI" panose="020B0502040204020203" pitchFamily="34" charset="0"/>
              </a:rPr>
              <a:t>non carica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quasi per nulla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1" u="sng" strike="noStrike" cap="none" dirty="0">
                <a:solidFill>
                  <a:schemeClr val="dk1"/>
                </a:solidFill>
                <a:latin typeface="Segoe UI" panose="020B0502040204020203" pitchFamily="34" charset="0"/>
                <a:cs typeface="Segoe UI" panose="020B0502040204020203" pitchFamily="34" charset="0"/>
                <a:sym typeface="Arial"/>
              </a:rPr>
              <a:t>Il limite principale compare invece sul lato 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L’OP07 ha una resistenza di uscita open-loop tipica di circa: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5" name="Google Shape;305;p35"/>
          <p:cNvPicPr preferRelativeResize="0"/>
          <p:nvPr/>
        </p:nvPicPr>
        <p:blipFill rotWithShape="1">
          <a:blip r:embed="rId4">
            <a:alphaModFix/>
          </a:blip>
          <a:srcRect/>
          <a:stretch/>
        </p:blipFill>
        <p:spPr>
          <a:xfrm>
            <a:off x="8566175" y="3376275"/>
            <a:ext cx="1076325" cy="409575"/>
          </a:xfrm>
          <a:prstGeom prst="rect">
            <a:avLst/>
          </a:prstGeom>
          <a:noFill/>
          <a:ln>
            <a:noFill/>
          </a:ln>
        </p:spPr>
      </p:pic>
      <p:sp>
        <p:nvSpPr>
          <p:cNvPr id="306" name="Google Shape;306;p35"/>
          <p:cNvSpPr txBox="1"/>
          <p:nvPr/>
        </p:nvSpPr>
        <p:spPr>
          <a:xfrm>
            <a:off x="1321674" y="4173633"/>
            <a:ext cx="86829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carico collegato all’uscita è molto più grande di questo valore, ad esempio nell’ordine dei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kΩ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l’effetto è trascurabile e il comportamento resta simile a quello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invece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a:t>
            </a:r>
            <a:r>
              <a:rPr lang="it-IT" sz="1200" b="1" i="0" u="none" strike="noStrike" cap="none" dirty="0">
                <a:solidFill>
                  <a:schemeClr val="dk1"/>
                </a:solidFill>
                <a:latin typeface="Segoe UI" panose="020B0502040204020203" pitchFamily="34" charset="0"/>
                <a:cs typeface="Segoe UI" panose="020B0502040204020203" pitchFamily="34" charset="0"/>
              </a:rPr>
              <a:t>troppo piccola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rPr>
              <a:t>il carico richiede una corrente maggiore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07" name="Google Shape;307;p35"/>
          <p:cNvPicPr preferRelativeResize="0"/>
          <p:nvPr/>
        </p:nvPicPr>
        <p:blipFill rotWithShape="1">
          <a:blip r:embed="rId5">
            <a:alphaModFix/>
          </a:blip>
          <a:srcRect/>
          <a:stretch/>
        </p:blipFill>
        <p:spPr>
          <a:xfrm>
            <a:off x="6896688" y="4740097"/>
            <a:ext cx="1171575" cy="561975"/>
          </a:xfrm>
          <a:prstGeom prst="rect">
            <a:avLst/>
          </a:prstGeom>
          <a:noFill/>
          <a:ln>
            <a:noFill/>
          </a:ln>
        </p:spPr>
      </p:pic>
      <p:sp>
        <p:nvSpPr>
          <p:cNvPr id="2" name="Segnaposto numero diapositiva 1">
            <a:extLst>
              <a:ext uri="{FF2B5EF4-FFF2-40B4-BE49-F238E27FC236}">
                <a16:creationId xmlns:a16="http://schemas.microsoft.com/office/drawing/2014/main" id="{8B221EC4-B965-AC18-39A0-77122C02D8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111</a:t>
            </a:fld>
            <a:endParaRPr lang="it-IT"/>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Google Shape;308;p35"/>
          <p:cNvSpPr txBox="1"/>
          <p:nvPr/>
        </p:nvSpPr>
        <p:spPr>
          <a:xfrm>
            <a:off x="1035190" y="1771376"/>
            <a:ext cx="9581100" cy="30192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la corrente richiesta supera ciò che l’OP07 riesce a fornire correttamente, l’uscita non mantiene più il valore teorico. Il segnale </a:t>
            </a:r>
            <a:r>
              <a:rPr lang="it-IT" sz="1200" b="1" i="0" strike="noStrike" cap="none" dirty="0">
                <a:solidFill>
                  <a:schemeClr val="dk1"/>
                </a:solidFill>
                <a:latin typeface="Segoe UI" panose="020B0502040204020203" pitchFamily="34" charset="0"/>
                <a:cs typeface="Segoe UI" panose="020B0502040204020203" pitchFamily="34" charset="0"/>
              </a:rPr>
              <a:t>può quindi attenuarsi, deformarsi o ridursi rispetto al caso ideale.</a:t>
            </a:r>
            <a:endParaRPr sz="1200" b="1" i="0" strike="noStrike" cap="none"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è ciò che si osserva con un carico molto basso, ad esempio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non resta più stabile, ma dopo una certa frequenza tende ad abbassarsi. Il carico diventa troppo “pesante” per l’operazionale reale.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sintesi, nel filtro attivo ideale il carico non influenzava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caso reale questo è vero solo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rimane sopra un valore minimo.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Le alte resistenze di ingresso proteggono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la resistenza di uscita reale limita la capacità dell’OP07 di pilotare carichi troppo bassi.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18EEFB4B-0E07-3884-4DB3-9324844AB24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112</a:t>
            </a:fld>
            <a:endParaRPr lang="it-IT"/>
          </a:p>
        </p:txBody>
      </p:sp>
    </p:spTree>
    <p:extLst>
      <p:ext uri="{BB962C8B-B14F-4D97-AF65-F5344CB8AC3E}">
        <p14:creationId xmlns:p14="http://schemas.microsoft.com/office/powerpoint/2010/main" val="19785533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6"/>
          <p:cNvPicPr preferRelativeResize="0"/>
          <p:nvPr/>
        </p:nvPicPr>
        <p:blipFill rotWithShape="1">
          <a:blip r:embed="rId3">
            <a:alphaModFix/>
          </a:blip>
          <a:srcRect/>
          <a:stretch/>
        </p:blipFill>
        <p:spPr>
          <a:xfrm>
            <a:off x="1900837" y="2133575"/>
            <a:ext cx="8390325" cy="4112074"/>
          </a:xfrm>
          <a:prstGeom prst="rect">
            <a:avLst/>
          </a:prstGeom>
          <a:noFill/>
          <a:ln>
            <a:noFill/>
          </a:ln>
        </p:spPr>
      </p:pic>
      <p:pic>
        <p:nvPicPr>
          <p:cNvPr id="314" name="Google Shape;314;p36"/>
          <p:cNvPicPr preferRelativeResize="0"/>
          <p:nvPr/>
        </p:nvPicPr>
        <p:blipFill rotWithShape="1">
          <a:blip r:embed="rId4">
            <a:alphaModFix/>
          </a:blip>
          <a:srcRect l="7434" t="21055" r="10153"/>
          <a:stretch/>
        </p:blipFill>
        <p:spPr>
          <a:xfrm>
            <a:off x="3912125" y="626125"/>
            <a:ext cx="3863301" cy="1433150"/>
          </a:xfrm>
          <a:prstGeom prst="rect">
            <a:avLst/>
          </a:prstGeom>
          <a:noFill/>
          <a:ln>
            <a:noFill/>
          </a:ln>
        </p:spPr>
      </p:pic>
      <p:sp>
        <p:nvSpPr>
          <p:cNvPr id="315" name="Google Shape;315;p36"/>
          <p:cNvSpPr/>
          <p:nvPr/>
        </p:nvSpPr>
        <p:spPr>
          <a:xfrm>
            <a:off x="6462800" y="13834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9A302CF0-5F4F-D015-D987-511AFD96CE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113</a:t>
            </a:fld>
            <a:endParaRPr lang="it-IT"/>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8"/>
          <p:cNvPicPr preferRelativeResize="0"/>
          <p:nvPr/>
        </p:nvPicPr>
        <p:blipFill rotWithShape="1">
          <a:blip r:embed="rId3">
            <a:alphaModFix/>
          </a:blip>
          <a:srcRect l="9424" t="6077" r="12948" b="62628"/>
          <a:stretch/>
        </p:blipFill>
        <p:spPr>
          <a:xfrm>
            <a:off x="1985200" y="598850"/>
            <a:ext cx="3770052" cy="1316949"/>
          </a:xfrm>
          <a:prstGeom prst="rect">
            <a:avLst/>
          </a:prstGeom>
          <a:noFill/>
          <a:ln>
            <a:noFill/>
          </a:ln>
        </p:spPr>
      </p:pic>
      <p:pic>
        <p:nvPicPr>
          <p:cNvPr id="334" name="Google Shape;334;p38"/>
          <p:cNvPicPr preferRelativeResize="0"/>
          <p:nvPr/>
        </p:nvPicPr>
        <p:blipFill rotWithShape="1">
          <a:blip r:embed="rId4">
            <a:alphaModFix/>
          </a:blip>
          <a:srcRect/>
          <a:stretch/>
        </p:blipFill>
        <p:spPr>
          <a:xfrm>
            <a:off x="1805376" y="2081579"/>
            <a:ext cx="8510049" cy="4170725"/>
          </a:xfrm>
          <a:prstGeom prst="rect">
            <a:avLst/>
          </a:prstGeom>
          <a:noFill/>
          <a:ln>
            <a:noFill/>
          </a:ln>
        </p:spPr>
      </p:pic>
      <p:pic>
        <p:nvPicPr>
          <p:cNvPr id="335" name="Google Shape;335;p38"/>
          <p:cNvPicPr preferRelativeResize="0"/>
          <p:nvPr/>
        </p:nvPicPr>
        <p:blipFill rotWithShape="1">
          <a:blip r:embed="rId3">
            <a:alphaModFix/>
          </a:blip>
          <a:srcRect l="9603" t="61005" r="12763" b="9870"/>
          <a:stretch/>
        </p:blipFill>
        <p:spPr>
          <a:xfrm>
            <a:off x="5991275" y="598850"/>
            <a:ext cx="4051050" cy="1316949"/>
          </a:xfrm>
          <a:prstGeom prst="rect">
            <a:avLst/>
          </a:prstGeom>
          <a:noFill/>
          <a:ln>
            <a:noFill/>
          </a:ln>
        </p:spPr>
      </p:pic>
      <p:sp>
        <p:nvSpPr>
          <p:cNvPr id="336" name="Google Shape;336;p38"/>
          <p:cNvSpPr/>
          <p:nvPr/>
        </p:nvSpPr>
        <p:spPr>
          <a:xfrm>
            <a:off x="5233850" y="123280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7" name="Google Shape;337;p38"/>
          <p:cNvSpPr/>
          <p:nvPr/>
        </p:nvSpPr>
        <p:spPr>
          <a:xfrm>
            <a:off x="9520925" y="1232800"/>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8" name="Google Shape;338;p38"/>
          <p:cNvSpPr/>
          <p:nvPr/>
        </p:nvSpPr>
        <p:spPr>
          <a:xfrm>
            <a:off x="2966700" y="113782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9" name="Google Shape;339;p38"/>
          <p:cNvSpPr/>
          <p:nvPr/>
        </p:nvSpPr>
        <p:spPr>
          <a:xfrm>
            <a:off x="7182175" y="11903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0722CEFC-0301-73BA-84B0-2ED681D0DA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114</a:t>
            </a:fld>
            <a:endParaRPr lang="it-IT"/>
          </a:p>
        </p:txBody>
      </p:sp>
      <p:sp>
        <p:nvSpPr>
          <p:cNvPr id="3" name="Freccia in giù 2">
            <a:hlinkClick r:id="rId5" action="ppaction://hlinksldjump"/>
            <a:extLst>
              <a:ext uri="{FF2B5EF4-FFF2-40B4-BE49-F238E27FC236}">
                <a16:creationId xmlns:a16="http://schemas.microsoft.com/office/drawing/2014/main" id="{D3163623-717C-D797-324C-AB376CB2049E}"/>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0"/>
          <p:cNvSpPr txBox="1"/>
          <p:nvPr/>
        </p:nvSpPr>
        <p:spPr>
          <a:xfrm>
            <a:off x="952500" y="712700"/>
            <a:ext cx="8605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Questo significa che,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grande, anche la resistenza equivalente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aumenta</a:t>
            </a:r>
            <a:endParaRPr sz="1200" dirty="0">
              <a:latin typeface="Segoe UI" panose="020B0502040204020203" pitchFamily="34" charset="0"/>
              <a:cs typeface="Segoe UI" panose="020B0502040204020203" pitchFamily="34" charset="0"/>
            </a:endParaRPr>
          </a:p>
        </p:txBody>
      </p:sp>
      <p:sp>
        <p:nvSpPr>
          <p:cNvPr id="365" name="Google Shape;365;p40"/>
          <p:cNvSpPr txBox="1"/>
          <p:nvPr/>
        </p:nvSpPr>
        <p:spPr>
          <a:xfrm>
            <a:off x="952500" y="1178975"/>
            <a:ext cx="7187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Di conseguenza aumenta anche la costante di tempo:</a:t>
            </a:r>
            <a:endParaRPr sz="1200" dirty="0">
              <a:latin typeface="Segoe UI" panose="020B0502040204020203" pitchFamily="34" charset="0"/>
              <a:cs typeface="Segoe UI" panose="020B0502040204020203" pitchFamily="34" charset="0"/>
            </a:endParaRPr>
          </a:p>
        </p:txBody>
      </p:sp>
      <p:pic>
        <p:nvPicPr>
          <p:cNvPr id="366" name="Google Shape;366;p40"/>
          <p:cNvPicPr preferRelativeResize="0"/>
          <p:nvPr/>
        </p:nvPicPr>
        <p:blipFill>
          <a:blip r:embed="rId3">
            <a:alphaModFix/>
          </a:blip>
          <a:stretch>
            <a:fillRect/>
          </a:stretch>
        </p:blipFill>
        <p:spPr>
          <a:xfrm>
            <a:off x="4694871" y="1131987"/>
            <a:ext cx="1171575" cy="428625"/>
          </a:xfrm>
          <a:prstGeom prst="rect">
            <a:avLst/>
          </a:prstGeom>
          <a:noFill/>
          <a:ln>
            <a:solidFill>
              <a:schemeClr val="tx1"/>
            </a:solidFill>
          </a:ln>
        </p:spPr>
      </p:pic>
      <p:sp>
        <p:nvSpPr>
          <p:cNvPr id="368" name="Google Shape;368;p40"/>
          <p:cNvSpPr txBox="1"/>
          <p:nvPr/>
        </p:nvSpPr>
        <p:spPr>
          <a:xfrm>
            <a:off x="952500" y="16452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Poiché la frequenza di taglio vale:</a:t>
            </a:r>
            <a:endParaRPr sz="1200" dirty="0">
              <a:latin typeface="Segoe UI" panose="020B0502040204020203" pitchFamily="34" charset="0"/>
              <a:cs typeface="Segoe UI" panose="020B0502040204020203" pitchFamily="34" charset="0"/>
            </a:endParaRPr>
          </a:p>
        </p:txBody>
      </p:sp>
      <p:pic>
        <p:nvPicPr>
          <p:cNvPr id="369" name="Google Shape;369;p40"/>
          <p:cNvPicPr preferRelativeResize="0"/>
          <p:nvPr/>
        </p:nvPicPr>
        <p:blipFill>
          <a:blip r:embed="rId4">
            <a:alphaModFix/>
          </a:blip>
          <a:stretch>
            <a:fillRect/>
          </a:stretch>
        </p:blipFill>
        <p:spPr>
          <a:xfrm>
            <a:off x="3562496" y="1560612"/>
            <a:ext cx="1219200" cy="657225"/>
          </a:xfrm>
          <a:prstGeom prst="rect">
            <a:avLst/>
          </a:prstGeom>
          <a:noFill/>
          <a:ln>
            <a:solidFill>
              <a:schemeClr val="tx1"/>
            </a:solidFill>
          </a:ln>
        </p:spPr>
      </p:pic>
      <p:sp>
        <p:nvSpPr>
          <p:cNvPr id="370" name="Google Shape;370;p40"/>
          <p:cNvSpPr txBox="1"/>
          <p:nvPr/>
        </p:nvSpPr>
        <p:spPr>
          <a:xfrm>
            <a:off x="5128850" y="1704575"/>
            <a:ext cx="3536978"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un aumento di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provoca una diminuzione di </a:t>
            </a:r>
            <a:r>
              <a:rPr lang="it-IT" sz="1200" dirty="0" err="1">
                <a:latin typeface="Segoe UI" panose="020B0502040204020203" pitchFamily="34" charset="0"/>
                <a:cs typeface="Segoe UI" panose="020B0502040204020203" pitchFamily="34" charset="0"/>
              </a:rPr>
              <a:t>fc</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pic>
        <p:nvPicPr>
          <p:cNvPr id="371" name="Google Shape;371;p40"/>
          <p:cNvPicPr preferRelativeResize="0"/>
          <p:nvPr/>
        </p:nvPicPr>
        <p:blipFill>
          <a:blip r:embed="rId5">
            <a:alphaModFix/>
          </a:blip>
          <a:stretch>
            <a:fillRect/>
          </a:stretch>
        </p:blipFill>
        <p:spPr>
          <a:xfrm>
            <a:off x="8864546" y="1623162"/>
            <a:ext cx="495300" cy="438150"/>
          </a:xfrm>
          <a:prstGeom prst="rect">
            <a:avLst/>
          </a:prstGeom>
          <a:noFill/>
          <a:ln>
            <a:solidFill>
              <a:schemeClr val="tx1"/>
            </a:solidFill>
          </a:ln>
        </p:spPr>
      </p:pic>
      <p:sp>
        <p:nvSpPr>
          <p:cNvPr id="372" name="Google Shape;372;p40"/>
          <p:cNvSpPr txBox="1"/>
          <p:nvPr/>
        </p:nvSpPr>
        <p:spPr>
          <a:xfrm>
            <a:off x="952500" y="2230175"/>
            <a:ext cx="10124400" cy="128339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Quindi, la frequenza di taglio si abbassa.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In sintesi,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è basso o moderato, esso modifica principalmente il guadagno del circuito. Quando invece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elevato, il filtro reale non riesce più a mantenere perfettamente la massa virtuale; di conseguenza, anche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inizia a influenzare la frequenza di taglio.</a:t>
            </a:r>
            <a:endParaRPr sz="1200" dirty="0">
              <a:latin typeface="Segoe UI" panose="020B0502040204020203" pitchFamily="34" charset="0"/>
              <a:cs typeface="Segoe UI" panose="020B0502040204020203" pitchFamily="34" charset="0"/>
            </a:endParaRPr>
          </a:p>
        </p:txBody>
      </p:sp>
      <p:pic>
        <p:nvPicPr>
          <p:cNvPr id="373" name="Google Shape;373;p40"/>
          <p:cNvPicPr preferRelativeResize="0"/>
          <p:nvPr/>
        </p:nvPicPr>
        <p:blipFill rotWithShape="1">
          <a:blip r:embed="rId6">
            <a:alphaModFix/>
          </a:blip>
          <a:srcRect b="57170"/>
          <a:stretch/>
        </p:blipFill>
        <p:spPr>
          <a:xfrm>
            <a:off x="686575" y="3840093"/>
            <a:ext cx="5100177" cy="1786775"/>
          </a:xfrm>
          <a:prstGeom prst="rect">
            <a:avLst/>
          </a:prstGeom>
          <a:noFill/>
          <a:ln>
            <a:noFill/>
          </a:ln>
        </p:spPr>
      </p:pic>
      <p:sp>
        <p:nvSpPr>
          <p:cNvPr id="374" name="Google Shape;374;p40"/>
          <p:cNvSpPr txBox="1"/>
          <p:nvPr/>
        </p:nvSpPr>
        <p:spPr>
          <a:xfrm>
            <a:off x="22472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dirty="0">
                <a:solidFill>
                  <a:srgbClr val="262626"/>
                </a:solidFill>
                <a:latin typeface="Libre Franklin"/>
                <a:ea typeface="Libre Franklin"/>
                <a:cs typeface="Libre Franklin"/>
                <a:sym typeface="Libre Franklin"/>
              </a:rPr>
              <a:t>NON INFLUENZA</a:t>
            </a:r>
            <a:endParaRPr b="1" i="0" u="none" strike="noStrike" cap="none" dirty="0">
              <a:solidFill>
                <a:srgbClr val="262626"/>
              </a:solidFill>
              <a:latin typeface="Libre Franklin"/>
              <a:ea typeface="Libre Franklin"/>
              <a:cs typeface="Libre Franklin"/>
              <a:sym typeface="Libre Franklin"/>
            </a:endParaRPr>
          </a:p>
        </p:txBody>
      </p:sp>
      <p:pic>
        <p:nvPicPr>
          <p:cNvPr id="375" name="Google Shape;375;p40"/>
          <p:cNvPicPr preferRelativeResize="0"/>
          <p:nvPr/>
        </p:nvPicPr>
        <p:blipFill rotWithShape="1">
          <a:blip r:embed="rId7">
            <a:alphaModFix/>
          </a:blip>
          <a:srcRect t="16968" b="49391"/>
          <a:stretch/>
        </p:blipFill>
        <p:spPr>
          <a:xfrm>
            <a:off x="5914860" y="3833200"/>
            <a:ext cx="5547939" cy="1786775"/>
          </a:xfrm>
          <a:prstGeom prst="rect">
            <a:avLst/>
          </a:prstGeom>
          <a:noFill/>
          <a:ln>
            <a:noFill/>
          </a:ln>
        </p:spPr>
      </p:pic>
      <p:sp>
        <p:nvSpPr>
          <p:cNvPr id="376" name="Google Shape;376;p40"/>
          <p:cNvSpPr txBox="1"/>
          <p:nvPr/>
        </p:nvSpPr>
        <p:spPr>
          <a:xfrm>
            <a:off x="76217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i="0" u="none" strike="noStrike" cap="none">
              <a:solidFill>
                <a:srgbClr val="262626"/>
              </a:solidFill>
              <a:latin typeface="Libre Franklin"/>
              <a:ea typeface="Libre Franklin"/>
              <a:cs typeface="Libre Franklin"/>
              <a:sym typeface="Libre Franklin"/>
            </a:endParaRPr>
          </a:p>
        </p:txBody>
      </p:sp>
      <p:sp>
        <p:nvSpPr>
          <p:cNvPr id="377" name="Google Shape;377;p40"/>
          <p:cNvSpPr/>
          <p:nvPr/>
        </p:nvSpPr>
        <p:spPr>
          <a:xfrm>
            <a:off x="3266425"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78" name="Google Shape;378;p40"/>
          <p:cNvSpPr/>
          <p:nvPr/>
        </p:nvSpPr>
        <p:spPr>
          <a:xfrm>
            <a:off x="8840900"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5415141F-C8C6-E372-CCFE-D5FC423E25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115</a:t>
            </a:fld>
            <a:endParaRPr lang="it-IT"/>
          </a:p>
        </p:txBody>
      </p:sp>
      <p:sp>
        <p:nvSpPr>
          <p:cNvPr id="3" name="Freccia in giù 2">
            <a:hlinkClick r:id="rId8" action="ppaction://hlinksldjump"/>
            <a:extLst>
              <a:ext uri="{FF2B5EF4-FFF2-40B4-BE49-F238E27FC236}">
                <a16:creationId xmlns:a16="http://schemas.microsoft.com/office/drawing/2014/main" id="{32D77BF5-4DE9-A7F1-565B-B25CBFEEA51C}"/>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1"/>
          <p:cNvPicPr preferRelativeResize="0"/>
          <p:nvPr/>
        </p:nvPicPr>
        <p:blipFill rotWithShape="1">
          <a:blip r:embed="rId3">
            <a:alphaModFix/>
          </a:blip>
          <a:srcRect/>
          <a:stretch/>
        </p:blipFill>
        <p:spPr>
          <a:xfrm>
            <a:off x="2050500" y="2205052"/>
            <a:ext cx="8218301" cy="4027725"/>
          </a:xfrm>
          <a:prstGeom prst="rect">
            <a:avLst/>
          </a:prstGeom>
          <a:noFill/>
          <a:ln>
            <a:noFill/>
          </a:ln>
        </p:spPr>
      </p:pic>
      <p:pic>
        <p:nvPicPr>
          <p:cNvPr id="385" name="Google Shape;385;p41"/>
          <p:cNvPicPr preferRelativeResize="0"/>
          <p:nvPr/>
        </p:nvPicPr>
        <p:blipFill rotWithShape="1">
          <a:blip r:embed="rId4">
            <a:alphaModFix/>
          </a:blip>
          <a:srcRect l="8661" t="2875" r="14898" b="58793"/>
          <a:stretch/>
        </p:blipFill>
        <p:spPr>
          <a:xfrm>
            <a:off x="3254950" y="679450"/>
            <a:ext cx="3436998" cy="1409827"/>
          </a:xfrm>
          <a:prstGeom prst="rect">
            <a:avLst/>
          </a:prstGeom>
          <a:noFill/>
          <a:ln>
            <a:noFill/>
          </a:ln>
        </p:spPr>
      </p:pic>
      <p:pic>
        <p:nvPicPr>
          <p:cNvPr id="386" name="Google Shape;386;p41"/>
          <p:cNvPicPr preferRelativeResize="0"/>
          <p:nvPr/>
        </p:nvPicPr>
        <p:blipFill rotWithShape="1">
          <a:blip r:embed="rId4">
            <a:alphaModFix/>
          </a:blip>
          <a:srcRect l="11050" t="59702" r="15181" b="9873"/>
          <a:stretch/>
        </p:blipFill>
        <p:spPr>
          <a:xfrm>
            <a:off x="7051600" y="732725"/>
            <a:ext cx="3317101" cy="1119025"/>
          </a:xfrm>
          <a:prstGeom prst="rect">
            <a:avLst/>
          </a:prstGeom>
          <a:noFill/>
          <a:ln>
            <a:noFill/>
          </a:ln>
        </p:spPr>
      </p:pic>
      <p:sp>
        <p:nvSpPr>
          <p:cNvPr id="387" name="Google Shape;387;p41"/>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NON 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(stessa fc)</a:t>
            </a:r>
            <a:endParaRPr>
              <a:solidFill>
                <a:srgbClr val="262626"/>
              </a:solidFill>
              <a:latin typeface="Libre Franklin"/>
              <a:ea typeface="Libre Franklin"/>
              <a:cs typeface="Libre Franklin"/>
              <a:sym typeface="Libre Franklin"/>
            </a:endParaRPr>
          </a:p>
        </p:txBody>
      </p:sp>
      <p:sp>
        <p:nvSpPr>
          <p:cNvPr id="388" name="Google Shape;388;p41"/>
          <p:cNvSpPr/>
          <p:nvPr/>
        </p:nvSpPr>
        <p:spPr>
          <a:xfrm>
            <a:off x="9947250" y="1233625"/>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89" name="Google Shape;389;p41"/>
          <p:cNvSpPr/>
          <p:nvPr/>
        </p:nvSpPr>
        <p:spPr>
          <a:xfrm>
            <a:off x="6209725" y="119285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723E3B49-2EFD-74AC-C0C0-128FD84833F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116</a:t>
            </a:fld>
            <a:endParaRPr lang="it-IT"/>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42"/>
          <p:cNvPicPr preferRelativeResize="0"/>
          <p:nvPr/>
        </p:nvPicPr>
        <p:blipFill rotWithShape="1">
          <a:blip r:embed="rId3">
            <a:alphaModFix/>
          </a:blip>
          <a:srcRect/>
          <a:stretch/>
        </p:blipFill>
        <p:spPr>
          <a:xfrm>
            <a:off x="1848400" y="2205050"/>
            <a:ext cx="8122174" cy="3980651"/>
          </a:xfrm>
          <a:prstGeom prst="rect">
            <a:avLst/>
          </a:prstGeom>
          <a:noFill/>
          <a:ln>
            <a:noFill/>
          </a:ln>
        </p:spPr>
      </p:pic>
      <p:pic>
        <p:nvPicPr>
          <p:cNvPr id="395" name="Google Shape;395;p42"/>
          <p:cNvPicPr preferRelativeResize="0"/>
          <p:nvPr/>
        </p:nvPicPr>
        <p:blipFill rotWithShape="1">
          <a:blip r:embed="rId4">
            <a:alphaModFix/>
          </a:blip>
          <a:srcRect l="9568" t="16356" r="12325" b="49578"/>
          <a:stretch/>
        </p:blipFill>
        <p:spPr>
          <a:xfrm>
            <a:off x="3128375" y="715175"/>
            <a:ext cx="3259100" cy="1360775"/>
          </a:xfrm>
          <a:prstGeom prst="rect">
            <a:avLst/>
          </a:prstGeom>
          <a:noFill/>
          <a:ln>
            <a:noFill/>
          </a:ln>
        </p:spPr>
      </p:pic>
      <p:sp>
        <p:nvSpPr>
          <p:cNvPr id="396" name="Google Shape;396;p42"/>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(diversa fc)</a:t>
            </a:r>
            <a:endParaRPr>
              <a:solidFill>
                <a:srgbClr val="262626"/>
              </a:solidFill>
              <a:latin typeface="Libre Franklin"/>
              <a:ea typeface="Libre Franklin"/>
              <a:cs typeface="Libre Franklin"/>
              <a:sym typeface="Libre Franklin"/>
            </a:endParaRPr>
          </a:p>
        </p:txBody>
      </p:sp>
      <p:pic>
        <p:nvPicPr>
          <p:cNvPr id="397" name="Google Shape;397;p42"/>
          <p:cNvPicPr preferRelativeResize="0"/>
          <p:nvPr/>
        </p:nvPicPr>
        <p:blipFill rotWithShape="1">
          <a:blip r:embed="rId5">
            <a:alphaModFix/>
          </a:blip>
          <a:srcRect l="11050" t="59702" r="15181" b="9873"/>
          <a:stretch/>
        </p:blipFill>
        <p:spPr>
          <a:xfrm>
            <a:off x="6598650" y="715163"/>
            <a:ext cx="3317101" cy="1119025"/>
          </a:xfrm>
          <a:prstGeom prst="rect">
            <a:avLst/>
          </a:prstGeom>
          <a:noFill/>
          <a:ln>
            <a:noFill/>
          </a:ln>
        </p:spPr>
      </p:pic>
      <p:sp>
        <p:nvSpPr>
          <p:cNvPr id="398" name="Google Shape;398;p42"/>
          <p:cNvSpPr/>
          <p:nvPr/>
        </p:nvSpPr>
        <p:spPr>
          <a:xfrm>
            <a:off x="9494300" y="1216063"/>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99" name="Google Shape;399;p42"/>
          <p:cNvSpPr/>
          <p:nvPr/>
        </p:nvSpPr>
        <p:spPr>
          <a:xfrm>
            <a:off x="5916650" y="1216075"/>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F123E19B-9C56-2A1E-6593-752081800E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117</a:t>
            </a:fld>
            <a:endParaRPr lang="it-IT"/>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3"/>
          <p:cNvSpPr txBox="1"/>
          <p:nvPr/>
        </p:nvSpPr>
        <p:spPr>
          <a:xfrm>
            <a:off x="1135900" y="806550"/>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06" name="Google Shape;406;p43"/>
          <p:cNvSpPr txBox="1"/>
          <p:nvPr/>
        </p:nvSpPr>
        <p:spPr>
          <a:xfrm>
            <a:off x="1135900" y="1375950"/>
            <a:ext cx="10192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All’inizio analizziamo il filtro nella configurazione “standard”, con valori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tali da mantenere il comportamento molto vicino a quello ideale.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condizione, la risposta al gradino è quella attesa: il condensatore si carica e si scarica con andamento esponenziale, e la costante di tempo è approssimativamente:</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7" name="Google Shape;407;p43"/>
          <p:cNvPicPr preferRelativeResize="0"/>
          <p:nvPr/>
        </p:nvPicPr>
        <p:blipFill rotWithShape="1">
          <a:blip r:embed="rId3">
            <a:alphaModFix/>
          </a:blip>
          <a:srcRect/>
          <a:stretch/>
        </p:blipFill>
        <p:spPr>
          <a:xfrm>
            <a:off x="4834145" y="2114846"/>
            <a:ext cx="838200" cy="428625"/>
          </a:xfrm>
          <a:prstGeom prst="rect">
            <a:avLst/>
          </a:prstGeom>
          <a:noFill/>
          <a:ln>
            <a:solidFill>
              <a:schemeClr val="tx1"/>
            </a:solidFill>
          </a:ln>
        </p:spPr>
      </p:pic>
      <p:sp>
        <p:nvSpPr>
          <p:cNvPr id="408" name="Google Shape;408;p43"/>
          <p:cNvSpPr txBox="1"/>
          <p:nvPr/>
        </p:nvSpPr>
        <p:spPr>
          <a:xfrm>
            <a:off x="1135900" y="2711350"/>
            <a:ext cx="4817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Perciò il grafico mostra una carica e una scarica regolar</a:t>
            </a:r>
            <a:r>
              <a:rPr lang="it-IT" sz="1200" dirty="0">
                <a:latin typeface="Segoe UI" panose="020B0502040204020203" pitchFamily="34" charset="0"/>
                <a:cs typeface="Segoe UI" panose="020B0502040204020203" pitchFamily="34" charset="0"/>
              </a:rPr>
              <a:t>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molto simili a quelle già viste nel caso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9" name="Google Shape;409;p43"/>
          <p:cNvPicPr preferRelativeResize="0"/>
          <p:nvPr/>
        </p:nvPicPr>
        <p:blipFill rotWithShape="1">
          <a:blip r:embed="rId4">
            <a:alphaModFix/>
          </a:blip>
          <a:srcRect t="39606"/>
          <a:stretch/>
        </p:blipFill>
        <p:spPr>
          <a:xfrm>
            <a:off x="6238402" y="2114846"/>
            <a:ext cx="4864336" cy="1512546"/>
          </a:xfrm>
          <a:prstGeom prst="rect">
            <a:avLst/>
          </a:prstGeom>
          <a:noFill/>
          <a:ln>
            <a:noFill/>
          </a:ln>
        </p:spPr>
      </p:pic>
      <p:pic>
        <p:nvPicPr>
          <p:cNvPr id="410" name="Google Shape;410;p43"/>
          <p:cNvPicPr preferRelativeResize="0"/>
          <p:nvPr/>
        </p:nvPicPr>
        <p:blipFill rotWithShape="1">
          <a:blip r:embed="rId5">
            <a:alphaModFix/>
          </a:blip>
          <a:srcRect/>
          <a:stretch/>
        </p:blipFill>
        <p:spPr>
          <a:xfrm>
            <a:off x="1234978" y="3743431"/>
            <a:ext cx="9994051" cy="2308325"/>
          </a:xfrm>
          <a:prstGeom prst="rect">
            <a:avLst/>
          </a:prstGeom>
          <a:noFill/>
          <a:ln>
            <a:noFill/>
          </a:ln>
        </p:spPr>
      </p:pic>
      <p:sp>
        <p:nvSpPr>
          <p:cNvPr id="2" name="Segnaposto numero diapositiva 1">
            <a:extLst>
              <a:ext uri="{FF2B5EF4-FFF2-40B4-BE49-F238E27FC236}">
                <a16:creationId xmlns:a16="http://schemas.microsoft.com/office/drawing/2014/main" id="{BC7AB17B-719E-323C-DDCF-922086875F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118</a:t>
            </a:fld>
            <a:endParaRPr lang="it-IT"/>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4"/>
          <p:cNvSpPr txBox="1"/>
          <p:nvPr/>
        </p:nvSpPr>
        <p:spPr>
          <a:xfrm>
            <a:off x="1209875" y="1006225"/>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1" i="0" u="none" strike="noStrike" cap="none" dirty="0">
                <a:solidFill>
                  <a:srgbClr val="000000"/>
                </a:solidFill>
                <a:latin typeface="Segoe UI" panose="020B0502040204020203" pitchFamily="34" charset="0"/>
                <a:cs typeface="Segoe UI" panose="020B0502040204020203" pitchFamily="34" charset="0"/>
                <a:sym typeface="Arial"/>
              </a:rPr>
              <a:t>Effetto dell’aumento di </a:t>
            </a:r>
            <a:r>
              <a:rPr lang="it-IT" sz="1400" b="1" i="0" u="none" strike="noStrike" cap="none" dirty="0" err="1">
                <a:solidFill>
                  <a:srgbClr val="000000"/>
                </a:solidFill>
                <a:latin typeface="Segoe UI" panose="020B0502040204020203" pitchFamily="34" charset="0"/>
                <a:cs typeface="Segoe UI" panose="020B0502040204020203" pitchFamily="34" charset="0"/>
                <a:sym typeface="Arial"/>
              </a:rPr>
              <a:t>Rf</a:t>
            </a:r>
            <a:endParaRPr sz="1400" b="1"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416" name="Google Shape;416;p44"/>
          <p:cNvSpPr txBox="1"/>
          <p:nvPr/>
        </p:nvSpPr>
        <p:spPr>
          <a:xfrm>
            <a:off x="1233850" y="1431500"/>
            <a:ext cx="96093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però aumentiamo molto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il comportamento cambia. Nel filtro reale, infatti, la retroazione non è più abbastanza forte da mantenere il nodo invertente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soltanto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maggiore.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prima approssimazione: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7" name="Google Shape;417;p44"/>
          <p:cNvPicPr preferRelativeResize="0"/>
          <p:nvPr/>
        </p:nvPicPr>
        <p:blipFill rotWithShape="1">
          <a:blip r:embed="rId3">
            <a:alphaModFix/>
          </a:blip>
          <a:srcRect/>
          <a:stretch/>
        </p:blipFill>
        <p:spPr>
          <a:xfrm>
            <a:off x="4858150" y="2318461"/>
            <a:ext cx="1638300" cy="628650"/>
          </a:xfrm>
          <a:prstGeom prst="rect">
            <a:avLst/>
          </a:prstGeom>
          <a:noFill/>
          <a:ln>
            <a:solidFill>
              <a:schemeClr val="tx1"/>
            </a:solidFill>
          </a:ln>
        </p:spPr>
      </p:pic>
      <p:sp>
        <p:nvSpPr>
          <p:cNvPr id="418" name="Google Shape;418;p44"/>
          <p:cNvSpPr txBox="1"/>
          <p:nvPr/>
        </p:nvSpPr>
        <p:spPr>
          <a:xfrm>
            <a:off x="1233850" y="2689300"/>
            <a:ext cx="71616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costante di tempo diventa quindi: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9" name="Google Shape;419;p44"/>
          <p:cNvPicPr preferRelativeResize="0"/>
          <p:nvPr/>
        </p:nvPicPr>
        <p:blipFill rotWithShape="1">
          <a:blip r:embed="rId4">
            <a:alphaModFix/>
          </a:blip>
          <a:srcRect b="67300"/>
          <a:stretch/>
        </p:blipFill>
        <p:spPr>
          <a:xfrm>
            <a:off x="6496450" y="3498850"/>
            <a:ext cx="791950" cy="315375"/>
          </a:xfrm>
          <a:prstGeom prst="rect">
            <a:avLst/>
          </a:prstGeom>
          <a:noFill/>
          <a:ln>
            <a:solidFill>
              <a:schemeClr val="tx1"/>
            </a:solidFill>
          </a:ln>
        </p:spPr>
      </p:pic>
      <p:sp>
        <p:nvSpPr>
          <p:cNvPr id="420" name="Google Shape;420;p44"/>
          <p:cNvSpPr txBox="1"/>
          <p:nvPr/>
        </p:nvSpPr>
        <p:spPr>
          <a:xfrm>
            <a:off x="1209875" y="3955050"/>
            <a:ext cx="99915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Conseguenza sul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 molto, aumenta anche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Req</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quindi aumenta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τ</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carica e la scarica del condensatore diventano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grafico i fronti esponenziali si allungano e il transitorio dura di più.</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Viceversa,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resta su valori moderati, il contributo aggiuntivo è trascurabile e la risposta rimane quasi identica a quella standard.</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21" name="Google Shape;421;p44"/>
          <p:cNvSpPr txBox="1"/>
          <p:nvPr/>
        </p:nvSpPr>
        <p:spPr>
          <a:xfrm>
            <a:off x="7649050" y="2190325"/>
            <a:ext cx="3723600" cy="7632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dove </a:t>
            </a:r>
            <a:r>
              <a:rPr lang="it-IT" sz="1200" b="1" dirty="0">
                <a:solidFill>
                  <a:schemeClr val="dk1"/>
                </a:solidFill>
                <a:latin typeface="Segoe UI" panose="020B0502040204020203" pitchFamily="34" charset="0"/>
                <a:cs typeface="Segoe UI" panose="020B0502040204020203" pitchFamily="34" charset="0"/>
              </a:rPr>
              <a:t>A</a:t>
            </a:r>
            <a:r>
              <a:rPr lang="it-IT" sz="1200" dirty="0">
                <a:solidFill>
                  <a:schemeClr val="dk1"/>
                </a:solidFill>
                <a:latin typeface="Segoe UI" panose="020B0502040204020203" pitchFamily="34" charset="0"/>
                <a:cs typeface="Segoe UI" panose="020B0502040204020203" pitchFamily="34" charset="0"/>
              </a:rPr>
              <a:t> è il guadagno ad anello aperto dell’operazionale.</a:t>
            </a:r>
            <a:endParaRPr dirty="0">
              <a:latin typeface="Segoe UI" panose="020B0502040204020203" pitchFamily="34" charset="0"/>
              <a:cs typeface="Segoe UI" panose="020B0502040204020203" pitchFamily="34" charset="0"/>
            </a:endParaRPr>
          </a:p>
        </p:txBody>
      </p:sp>
      <p:pic>
        <p:nvPicPr>
          <p:cNvPr id="422" name="Google Shape;422;p44"/>
          <p:cNvPicPr preferRelativeResize="0"/>
          <p:nvPr/>
        </p:nvPicPr>
        <p:blipFill rotWithShape="1">
          <a:blip r:embed="rId4">
            <a:alphaModFix/>
          </a:blip>
          <a:srcRect t="67300"/>
          <a:stretch/>
        </p:blipFill>
        <p:spPr>
          <a:xfrm>
            <a:off x="3813900" y="3488236"/>
            <a:ext cx="791950" cy="315375"/>
          </a:xfrm>
          <a:prstGeom prst="rect">
            <a:avLst/>
          </a:prstGeom>
          <a:noFill/>
          <a:ln>
            <a:solidFill>
              <a:schemeClr val="tx1"/>
            </a:solidFill>
          </a:ln>
        </p:spPr>
      </p:pic>
      <p:cxnSp>
        <p:nvCxnSpPr>
          <p:cNvPr id="423" name="Google Shape;423;p44"/>
          <p:cNvCxnSpPr>
            <a:cxnSpLocks/>
            <a:stCxn id="422" idx="3"/>
            <a:endCxn id="419" idx="1"/>
          </p:cNvCxnSpPr>
          <p:nvPr/>
        </p:nvCxnSpPr>
        <p:spPr>
          <a:xfrm>
            <a:off x="4605850" y="3645924"/>
            <a:ext cx="1890600" cy="10614"/>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703D3614-6E68-54DD-F428-5694100DB9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119</a:t>
            </a:fld>
            <a:endParaRPr lang="it-IT"/>
          </a:p>
        </p:txBody>
      </p:sp>
      <p:sp>
        <p:nvSpPr>
          <p:cNvPr id="2" name="Google Shape;405;p43">
            <a:extLst>
              <a:ext uri="{FF2B5EF4-FFF2-40B4-BE49-F238E27FC236}">
                <a16:creationId xmlns:a16="http://schemas.microsoft.com/office/drawing/2014/main" id="{6C5164D5-C0E3-C4F0-7146-D8494B82FA41}"/>
              </a:ext>
            </a:extLst>
          </p:cNvPr>
          <p:cNvSpPr txBox="1"/>
          <p:nvPr/>
        </p:nvSpPr>
        <p:spPr>
          <a:xfrm>
            <a:off x="3921044" y="736177"/>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 name="Freccia in giù 3">
            <a:hlinkClick r:id="rId5" action="ppaction://hlinksldjump"/>
            <a:extLst>
              <a:ext uri="{FF2B5EF4-FFF2-40B4-BE49-F238E27FC236}">
                <a16:creationId xmlns:a16="http://schemas.microsoft.com/office/drawing/2014/main" id="{15A62DA4-43C7-02C4-B5D1-E47C3FEE7FD7}"/>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45"/>
          <p:cNvPicPr preferRelativeResize="0"/>
          <p:nvPr/>
        </p:nvPicPr>
        <p:blipFill rotWithShape="1">
          <a:blip r:embed="rId3">
            <a:alphaModFix/>
          </a:blip>
          <a:srcRect l="4680" t="5186"/>
          <a:stretch/>
        </p:blipFill>
        <p:spPr>
          <a:xfrm>
            <a:off x="6007138" y="4008775"/>
            <a:ext cx="4713825" cy="1963325"/>
          </a:xfrm>
          <a:prstGeom prst="rect">
            <a:avLst/>
          </a:prstGeom>
          <a:noFill/>
          <a:ln>
            <a:noFill/>
          </a:ln>
        </p:spPr>
      </p:pic>
      <p:pic>
        <p:nvPicPr>
          <p:cNvPr id="430" name="Google Shape;430;p45"/>
          <p:cNvPicPr preferRelativeResize="0"/>
          <p:nvPr/>
        </p:nvPicPr>
        <p:blipFill rotWithShape="1">
          <a:blip r:embed="rId4">
            <a:alphaModFix/>
          </a:blip>
          <a:srcRect r="15640" b="1787"/>
          <a:stretch/>
        </p:blipFill>
        <p:spPr>
          <a:xfrm>
            <a:off x="998425" y="4008775"/>
            <a:ext cx="4713824" cy="1963992"/>
          </a:xfrm>
          <a:prstGeom prst="rect">
            <a:avLst/>
          </a:prstGeom>
          <a:noFill/>
          <a:ln>
            <a:noFill/>
          </a:ln>
        </p:spPr>
      </p:pic>
      <p:pic>
        <p:nvPicPr>
          <p:cNvPr id="431" name="Google Shape;431;p45"/>
          <p:cNvPicPr preferRelativeResize="0"/>
          <p:nvPr/>
        </p:nvPicPr>
        <p:blipFill rotWithShape="1">
          <a:blip r:embed="rId5">
            <a:alphaModFix/>
          </a:blip>
          <a:srcRect l="7600" t="16047" r="10947" b="12315"/>
          <a:stretch/>
        </p:blipFill>
        <p:spPr>
          <a:xfrm>
            <a:off x="6050000" y="1606025"/>
            <a:ext cx="4628100" cy="1700475"/>
          </a:xfrm>
          <a:prstGeom prst="rect">
            <a:avLst/>
          </a:prstGeom>
          <a:noFill/>
          <a:ln>
            <a:noFill/>
          </a:ln>
        </p:spPr>
      </p:pic>
      <p:pic>
        <p:nvPicPr>
          <p:cNvPr id="432" name="Google Shape;432;p45"/>
          <p:cNvPicPr preferRelativeResize="0"/>
          <p:nvPr/>
        </p:nvPicPr>
        <p:blipFill rotWithShape="1">
          <a:blip r:embed="rId6">
            <a:alphaModFix/>
          </a:blip>
          <a:srcRect/>
          <a:stretch/>
        </p:blipFill>
        <p:spPr>
          <a:xfrm>
            <a:off x="2465622" y="1578025"/>
            <a:ext cx="2235500" cy="1756475"/>
          </a:xfrm>
          <a:prstGeom prst="rect">
            <a:avLst/>
          </a:prstGeom>
          <a:noFill/>
          <a:ln>
            <a:noFill/>
          </a:ln>
        </p:spPr>
      </p:pic>
      <p:sp>
        <p:nvSpPr>
          <p:cNvPr id="433" name="Google Shape;433;p45"/>
          <p:cNvSpPr/>
          <p:nvPr/>
        </p:nvSpPr>
        <p:spPr>
          <a:xfrm>
            <a:off x="7049275" y="2146525"/>
            <a:ext cx="403200" cy="48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4" name="Google Shape;434;p45"/>
          <p:cNvSpPr/>
          <p:nvPr/>
        </p:nvSpPr>
        <p:spPr>
          <a:xfrm>
            <a:off x="1668358" y="4404853"/>
            <a:ext cx="1172100" cy="1147500"/>
          </a:xfrm>
          <a:prstGeom prst="ellipse">
            <a:avLst/>
          </a:prstGeom>
          <a:noFill/>
          <a:ln w="29100" cap="flat" cmpd="sng">
            <a:solidFill>
              <a:srgbClr val="3D85C6"/>
            </a:solidFill>
            <a:prstDash val="solid"/>
            <a:round/>
            <a:headEnd type="none" w="sm" len="sm"/>
            <a:tailEnd type="none" w="sm" len="sm"/>
          </a:ln>
        </p:spPr>
        <p:txBody>
          <a:bodyPr spcFirstLastPara="1" wrap="square" lIns="93125" tIns="93125" rIns="93125" bIns="93125" anchor="ctr" anchorCtr="0">
            <a:noAutofit/>
          </a:bodyPr>
          <a:lstStyle/>
          <a:p>
            <a:pPr marL="0" lvl="0" indent="0" algn="ctr" rtl="0">
              <a:spcBef>
                <a:spcPts val="0"/>
              </a:spcBef>
              <a:spcAft>
                <a:spcPts val="0"/>
              </a:spcAft>
              <a:buNone/>
            </a:pPr>
            <a:endParaRPr sz="1426">
              <a:latin typeface="Garamond"/>
              <a:ea typeface="Garamond"/>
              <a:cs typeface="Garamond"/>
              <a:sym typeface="Garamond"/>
            </a:endParaRPr>
          </a:p>
        </p:txBody>
      </p:sp>
      <p:sp>
        <p:nvSpPr>
          <p:cNvPr id="435" name="Google Shape;435;p45"/>
          <p:cNvSpPr/>
          <p:nvPr/>
        </p:nvSpPr>
        <p:spPr>
          <a:xfrm>
            <a:off x="6717463" y="4351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6" name="Google Shape;436;p45"/>
          <p:cNvSpPr/>
          <p:nvPr/>
        </p:nvSpPr>
        <p:spPr>
          <a:xfrm>
            <a:off x="2620325" y="160602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81C81D44-7038-9FBD-11B7-4944925EA3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120</a:t>
            </a:fld>
            <a:endParaRPr lang="it-IT"/>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46"/>
          <p:cNvPicPr preferRelativeResize="0"/>
          <p:nvPr/>
        </p:nvPicPr>
        <p:blipFill rotWithShape="1">
          <a:blip r:embed="rId3">
            <a:alphaModFix/>
          </a:blip>
          <a:srcRect/>
          <a:stretch/>
        </p:blipFill>
        <p:spPr>
          <a:xfrm>
            <a:off x="607525" y="691275"/>
            <a:ext cx="11065299" cy="5423025"/>
          </a:xfrm>
          <a:prstGeom prst="rect">
            <a:avLst/>
          </a:prstGeom>
          <a:noFill/>
          <a:ln>
            <a:noFill/>
          </a:ln>
        </p:spPr>
      </p:pic>
      <p:sp>
        <p:nvSpPr>
          <p:cNvPr id="2" name="Segnaposto numero diapositiva 1">
            <a:extLst>
              <a:ext uri="{FF2B5EF4-FFF2-40B4-BE49-F238E27FC236}">
                <a16:creationId xmlns:a16="http://schemas.microsoft.com/office/drawing/2014/main" id="{53D911D7-DA38-AF05-4F58-47F91C92B72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121</a:t>
            </a:fld>
            <a:endParaRPr lang="it-IT"/>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7"/>
          <p:cNvSpPr txBox="1"/>
          <p:nvPr/>
        </p:nvSpPr>
        <p:spPr>
          <a:xfrm>
            <a:off x="1124100" y="916375"/>
            <a:ext cx="9323700"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Limitazione di </a:t>
            </a:r>
            <a:r>
              <a:rPr lang="it-IT"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b="1" i="0" u="none" strike="noStrike" cap="none" dirty="0">
                <a:solidFill>
                  <a:schemeClr val="dk1"/>
                </a:solidFill>
                <a:latin typeface="Segoe UI" panose="020B0502040204020203" pitchFamily="34" charset="0"/>
                <a:cs typeface="Segoe UI" panose="020B0502040204020203" pitchFamily="34" charset="0"/>
                <a:sym typeface="Arial"/>
              </a:rPr>
              <a:t>​ nella risposta al gradino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osserviamo la risposta al gradino del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filtro HP attivo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mettendo in evidenza non più il nodo intermedio della rete RC, ma direttamente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teorico, l’uscita dovrebbe seguire il segnale filtrato e amplificarlo secondo il guadagno della configurazione invertente: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48" name="Google Shape;448;p47"/>
          <p:cNvPicPr preferRelativeResize="0"/>
          <p:nvPr/>
        </p:nvPicPr>
        <p:blipFill rotWithShape="1">
          <a:blip r:embed="rId3">
            <a:alphaModFix/>
          </a:blip>
          <a:srcRect r="22571" b="65999"/>
          <a:stretch/>
        </p:blipFill>
        <p:spPr>
          <a:xfrm>
            <a:off x="1947817" y="2529794"/>
            <a:ext cx="1336700" cy="563850"/>
          </a:xfrm>
          <a:prstGeom prst="rect">
            <a:avLst/>
          </a:prstGeom>
          <a:noFill/>
          <a:ln>
            <a:noFill/>
          </a:ln>
        </p:spPr>
      </p:pic>
      <p:sp>
        <p:nvSpPr>
          <p:cNvPr id="449" name="Google Shape;449;p47"/>
          <p:cNvSpPr txBox="1"/>
          <p:nvPr/>
        </p:nvSpPr>
        <p:spPr>
          <a:xfrm>
            <a:off x="1124100" y="2948075"/>
            <a:ext cx="9297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significa che il transitorio generato dalla rete RC viene invertito e amplificato di un fattore 10.</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50" name="Google Shape;450;p47"/>
          <p:cNvPicPr preferRelativeResize="0"/>
          <p:nvPr/>
        </p:nvPicPr>
        <p:blipFill rotWithShape="1">
          <a:blip r:embed="rId4">
            <a:alphaModFix/>
          </a:blip>
          <a:srcRect l="4553"/>
          <a:stretch/>
        </p:blipFill>
        <p:spPr>
          <a:xfrm>
            <a:off x="6284526" y="3651775"/>
            <a:ext cx="4972474" cy="2311075"/>
          </a:xfrm>
          <a:prstGeom prst="rect">
            <a:avLst/>
          </a:prstGeom>
          <a:noFill/>
          <a:ln>
            <a:noFill/>
          </a:ln>
        </p:spPr>
      </p:pic>
      <p:pic>
        <p:nvPicPr>
          <p:cNvPr id="451" name="Google Shape;451;p47"/>
          <p:cNvPicPr preferRelativeResize="0"/>
          <p:nvPr/>
        </p:nvPicPr>
        <p:blipFill rotWithShape="1">
          <a:blip r:embed="rId5">
            <a:alphaModFix/>
          </a:blip>
          <a:srcRect l="7822" r="10191"/>
          <a:stretch/>
        </p:blipFill>
        <p:spPr>
          <a:xfrm>
            <a:off x="843425" y="3651775"/>
            <a:ext cx="5335241" cy="2311075"/>
          </a:xfrm>
          <a:prstGeom prst="rect">
            <a:avLst/>
          </a:prstGeom>
          <a:noFill/>
          <a:ln>
            <a:noFill/>
          </a:ln>
        </p:spPr>
      </p:pic>
      <p:pic>
        <p:nvPicPr>
          <p:cNvPr id="452" name="Google Shape;452;p47"/>
          <p:cNvPicPr preferRelativeResize="0"/>
          <p:nvPr/>
        </p:nvPicPr>
        <p:blipFill rotWithShape="1">
          <a:blip r:embed="rId3">
            <a:alphaModFix/>
          </a:blip>
          <a:srcRect t="44896" b="32834"/>
          <a:stretch/>
        </p:blipFill>
        <p:spPr>
          <a:xfrm>
            <a:off x="4661129" y="2627069"/>
            <a:ext cx="1726325" cy="369300"/>
          </a:xfrm>
          <a:prstGeom prst="rect">
            <a:avLst/>
          </a:prstGeom>
          <a:noFill/>
          <a:ln>
            <a:solidFill>
              <a:schemeClr val="tx1"/>
            </a:solidFill>
          </a:ln>
        </p:spPr>
      </p:pic>
      <p:pic>
        <p:nvPicPr>
          <p:cNvPr id="453" name="Google Shape;453;p47"/>
          <p:cNvPicPr preferRelativeResize="0"/>
          <p:nvPr/>
        </p:nvPicPr>
        <p:blipFill rotWithShape="1">
          <a:blip r:embed="rId3">
            <a:alphaModFix/>
          </a:blip>
          <a:srcRect l="26943" t="81007"/>
          <a:stretch/>
        </p:blipFill>
        <p:spPr>
          <a:xfrm>
            <a:off x="7613064" y="2654232"/>
            <a:ext cx="1261225" cy="314975"/>
          </a:xfrm>
          <a:prstGeom prst="rect">
            <a:avLst/>
          </a:prstGeom>
          <a:noFill/>
          <a:ln>
            <a:noFill/>
          </a:ln>
        </p:spPr>
      </p:pic>
      <p:cxnSp>
        <p:nvCxnSpPr>
          <p:cNvPr id="454" name="Google Shape;454;p47"/>
          <p:cNvCxnSpPr>
            <a:cxnSpLocks/>
            <a:stCxn id="448" idx="3"/>
            <a:endCxn id="452" idx="1"/>
          </p:cNvCxnSpPr>
          <p:nvPr/>
        </p:nvCxnSpPr>
        <p:spPr>
          <a:xfrm>
            <a:off x="3284517" y="2811719"/>
            <a:ext cx="1376612" cy="0"/>
          </a:xfrm>
          <a:prstGeom prst="straightConnector1">
            <a:avLst/>
          </a:prstGeom>
          <a:noFill/>
          <a:ln w="28575" cap="flat" cmpd="sng">
            <a:solidFill>
              <a:schemeClr val="dk2"/>
            </a:solidFill>
            <a:prstDash val="solid"/>
            <a:round/>
            <a:headEnd type="none" w="med" len="med"/>
            <a:tailEnd type="triangle" w="med" len="med"/>
          </a:ln>
        </p:spPr>
      </p:cxnSp>
      <p:cxnSp>
        <p:nvCxnSpPr>
          <p:cNvPr id="455" name="Google Shape;455;p47"/>
          <p:cNvCxnSpPr>
            <a:cxnSpLocks/>
            <a:stCxn id="452" idx="3"/>
            <a:endCxn id="453" idx="1"/>
          </p:cNvCxnSpPr>
          <p:nvPr/>
        </p:nvCxnSpPr>
        <p:spPr>
          <a:xfrm>
            <a:off x="6387454" y="2811719"/>
            <a:ext cx="1225610" cy="1"/>
          </a:xfrm>
          <a:prstGeom prst="straightConnector1">
            <a:avLst/>
          </a:prstGeom>
          <a:noFill/>
          <a:ln w="28575" cap="flat" cmpd="sng">
            <a:solidFill>
              <a:schemeClr val="tx1"/>
            </a:solidFill>
            <a:prstDash val="solid"/>
            <a:round/>
            <a:headEnd type="none" w="med" len="med"/>
            <a:tailEnd type="triangle" w="med" len="med"/>
          </a:ln>
        </p:spPr>
      </p:cxnSp>
      <p:sp>
        <p:nvSpPr>
          <p:cNvPr id="2" name="Segnaposto numero diapositiva 1">
            <a:extLst>
              <a:ext uri="{FF2B5EF4-FFF2-40B4-BE49-F238E27FC236}">
                <a16:creationId xmlns:a16="http://schemas.microsoft.com/office/drawing/2014/main" id="{75AE143C-E5C7-4BD8-EF9C-AAAF4BCA7E1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122</a:t>
            </a:fld>
            <a:endParaRPr lang="it-IT"/>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1" name="Google Shape;461;p48"/>
          <p:cNvPicPr preferRelativeResize="0"/>
          <p:nvPr/>
        </p:nvPicPr>
        <p:blipFill rotWithShape="1">
          <a:blip r:embed="rId3">
            <a:alphaModFix/>
          </a:blip>
          <a:srcRect/>
          <a:stretch/>
        </p:blipFill>
        <p:spPr>
          <a:xfrm>
            <a:off x="619724" y="781600"/>
            <a:ext cx="10952550" cy="5367775"/>
          </a:xfrm>
          <a:prstGeom prst="rect">
            <a:avLst/>
          </a:prstGeom>
          <a:noFill/>
          <a:ln>
            <a:noFill/>
          </a:ln>
        </p:spPr>
      </p:pic>
      <p:sp>
        <p:nvSpPr>
          <p:cNvPr id="2" name="Segnaposto numero diapositiva 1">
            <a:extLst>
              <a:ext uri="{FF2B5EF4-FFF2-40B4-BE49-F238E27FC236}">
                <a16:creationId xmlns:a16="http://schemas.microsoft.com/office/drawing/2014/main" id="{D9FF8046-F715-B491-EE4D-9609FF36F6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123</a:t>
            </a:fld>
            <a:endParaRPr lang="it-IT"/>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p:nvPr/>
        </p:nvSpPr>
        <p:spPr>
          <a:xfrm>
            <a:off x="952200" y="768975"/>
            <a:ext cx="10152600" cy="329523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300"/>
              <a:buFont typeface="Arial"/>
              <a:buNone/>
            </a:pPr>
            <a:r>
              <a:rPr lang="it-IT" b="1" dirty="0">
                <a:solidFill>
                  <a:schemeClr val="dk1"/>
                </a:solidFill>
                <a:latin typeface="Segoe UI" panose="020B0502040204020203" pitchFamily="34" charset="0"/>
                <a:cs typeface="Segoe UI" panose="020B0502040204020203" pitchFamily="34" charset="0"/>
              </a:rPr>
              <a:t>Perché l’uscita si “taglia”?</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Nel circuito reale, però, l’operazionale </a:t>
            </a:r>
            <a:r>
              <a:rPr lang="it-IT" sz="1200" b="1" dirty="0">
                <a:solidFill>
                  <a:schemeClr val="dk1"/>
                </a:solidFill>
                <a:latin typeface="Segoe UI" panose="020B0502040204020203" pitchFamily="34" charset="0"/>
                <a:cs typeface="Segoe UI" panose="020B0502040204020203" pitchFamily="34" charset="0"/>
              </a:rPr>
              <a:t>non può fornire in uscita una tensione arbitrariamente grande</a:t>
            </a:r>
            <a:r>
              <a:rPr lang="it-IT" sz="1200" dirty="0">
                <a:solidFill>
                  <a:schemeClr val="dk1"/>
                </a:solidFill>
                <a:latin typeface="Segoe UI" panose="020B0502040204020203" pitchFamily="34" charset="0"/>
                <a:cs typeface="Segoe UI" panose="020B0502040204020203" pitchFamily="34" charset="0"/>
              </a:rPr>
              <a:t>. L’OP07 è alimentato tra:</a:t>
            </a:r>
            <a:endParaRPr sz="11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può superare questi limiti di alimentazione. Se il segnale amplificato richiede teoricamente un valore superiore a tali soglie, l’uscita non riesce più a seguirlo e va in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Di conseguenza, il picco della risposta al gradino non continua a crescere come previsto teoricamente, ma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limiti imposti dall’alimentazione. Questo fenomeno è il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Cosa si osserva nel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vede che il segnale in uscita segue inizialmente il comportamento atteso del filtro passa-alto attivo, ma quando il guadagno richiesto porta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oltre i limiti fisici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forma d’onda si arresta in corrispondenza di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68" name="Google Shape;468;p49"/>
          <p:cNvPicPr preferRelativeResize="0"/>
          <p:nvPr/>
        </p:nvPicPr>
        <p:blipFill rotWithShape="1">
          <a:blip r:embed="rId3">
            <a:alphaModFix/>
          </a:blip>
          <a:srcRect/>
          <a:stretch/>
        </p:blipFill>
        <p:spPr>
          <a:xfrm>
            <a:off x="7617183" y="3632999"/>
            <a:ext cx="1286300" cy="687200"/>
          </a:xfrm>
          <a:prstGeom prst="rect">
            <a:avLst/>
          </a:prstGeom>
          <a:noFill/>
          <a:ln>
            <a:solidFill>
              <a:schemeClr val="tx1"/>
            </a:solidFill>
          </a:ln>
        </p:spPr>
      </p:pic>
      <p:sp>
        <p:nvSpPr>
          <p:cNvPr id="469" name="Google Shape;469;p49"/>
          <p:cNvSpPr txBox="1"/>
          <p:nvPr/>
        </p:nvSpPr>
        <p:spPr>
          <a:xfrm>
            <a:off x="952200" y="4190600"/>
            <a:ext cx="102492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il transitorio risulta “schiacciato” ai valori estremi e non mantiene più fedelmente l’andamento teorico.</a:t>
            </a:r>
            <a:endParaRPr sz="11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Conclusione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Questa analisi mostra che, nella risposta al gradino del filtro HP attivo reale, il comportamento del segnale non dipende solo dalla rete RC e dal guadagno, ma anche dai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di 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il guadagno è elevato,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può raggiungere rapidamente 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rail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alimentazione e l’uscita viene quindi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per 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0" name="Google Shape;470;p49"/>
          <p:cNvPicPr preferRelativeResize="0"/>
          <p:nvPr/>
        </p:nvPicPr>
        <p:blipFill rotWithShape="1">
          <a:blip r:embed="rId4">
            <a:alphaModFix/>
          </a:blip>
          <a:srcRect/>
          <a:stretch/>
        </p:blipFill>
        <p:spPr>
          <a:xfrm>
            <a:off x="9863925" y="1286535"/>
            <a:ext cx="1619250" cy="438150"/>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3277DD0A-B781-B771-02C2-6D440959DE5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124</a:t>
            </a:fld>
            <a:endParaRPr lang="it-IT"/>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51"/>
          <p:cNvPicPr preferRelativeResize="0"/>
          <p:nvPr/>
        </p:nvPicPr>
        <p:blipFill rotWithShape="1">
          <a:blip r:embed="rId3">
            <a:alphaModFix/>
          </a:blip>
          <a:srcRect/>
          <a:stretch/>
        </p:blipFill>
        <p:spPr>
          <a:xfrm>
            <a:off x="1103426" y="896925"/>
            <a:ext cx="9748101" cy="4777475"/>
          </a:xfrm>
          <a:prstGeom prst="rect">
            <a:avLst/>
          </a:prstGeom>
          <a:noFill/>
          <a:ln>
            <a:noFill/>
          </a:ln>
        </p:spPr>
      </p:pic>
      <p:sp>
        <p:nvSpPr>
          <p:cNvPr id="2" name="Segnaposto numero diapositiva 1">
            <a:extLst>
              <a:ext uri="{FF2B5EF4-FFF2-40B4-BE49-F238E27FC236}">
                <a16:creationId xmlns:a16="http://schemas.microsoft.com/office/drawing/2014/main" id="{6CC50DDE-14FA-7D8C-25A3-54CE7DA8BB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125</a:t>
            </a:fld>
            <a:endParaRPr lang="it-IT"/>
          </a:p>
        </p:txBody>
      </p:sp>
      <p:sp>
        <p:nvSpPr>
          <p:cNvPr id="3" name="Freccia in giù 2">
            <a:hlinkClick r:id="rId4" action="ppaction://hlinksldjump"/>
            <a:extLst>
              <a:ext uri="{FF2B5EF4-FFF2-40B4-BE49-F238E27FC236}">
                <a16:creationId xmlns:a16="http://schemas.microsoft.com/office/drawing/2014/main" id="{CCAA4A7C-F032-A6D2-A21E-56D4562E138D}"/>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pic>
        <p:nvPicPr>
          <p:cNvPr id="506" name="Google Shape;506;p53"/>
          <p:cNvPicPr preferRelativeResize="0"/>
          <p:nvPr/>
        </p:nvPicPr>
        <p:blipFill rotWithShape="1">
          <a:blip r:embed="rId3">
            <a:alphaModFix/>
          </a:blip>
          <a:srcRect/>
          <a:stretch/>
        </p:blipFill>
        <p:spPr>
          <a:xfrm>
            <a:off x="703949" y="809949"/>
            <a:ext cx="6598667" cy="3665577"/>
          </a:xfrm>
          <a:prstGeom prst="rect">
            <a:avLst/>
          </a:prstGeom>
          <a:noFill/>
          <a:ln>
            <a:noFill/>
          </a:ln>
        </p:spPr>
      </p:pic>
      <p:sp>
        <p:nvSpPr>
          <p:cNvPr id="507" name="Google Shape;507;p53"/>
          <p:cNvSpPr/>
          <p:nvPr/>
        </p:nvSpPr>
        <p:spPr>
          <a:xfrm>
            <a:off x="1739671" y="1414036"/>
            <a:ext cx="2251500" cy="2476500"/>
          </a:xfrm>
          <a:prstGeom prst="ellipse">
            <a:avLst/>
          </a:prstGeom>
          <a:noFill/>
          <a:ln w="952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pic>
        <p:nvPicPr>
          <p:cNvPr id="505" name="Google Shape;505;p53"/>
          <p:cNvPicPr preferRelativeResize="0"/>
          <p:nvPr/>
        </p:nvPicPr>
        <p:blipFill rotWithShape="1">
          <a:blip r:embed="rId4">
            <a:alphaModFix/>
          </a:blip>
          <a:srcRect/>
          <a:stretch/>
        </p:blipFill>
        <p:spPr>
          <a:xfrm>
            <a:off x="4991450" y="2831576"/>
            <a:ext cx="6452875" cy="3343450"/>
          </a:xfrm>
          <a:prstGeom prst="rect">
            <a:avLst/>
          </a:prstGeom>
          <a:noFill/>
          <a:ln>
            <a:noFill/>
          </a:ln>
        </p:spPr>
      </p:pic>
      <p:cxnSp>
        <p:nvCxnSpPr>
          <p:cNvPr id="508" name="Google Shape;508;p53"/>
          <p:cNvCxnSpPr>
            <a:cxnSpLocks/>
            <a:stCxn id="507" idx="5"/>
          </p:cNvCxnSpPr>
          <p:nvPr/>
        </p:nvCxnSpPr>
        <p:spPr>
          <a:xfrm>
            <a:off x="3661446" y="3527861"/>
            <a:ext cx="3901229" cy="975440"/>
          </a:xfrm>
          <a:prstGeom prst="straightConnector1">
            <a:avLst/>
          </a:prstGeom>
          <a:noFill/>
          <a:ln w="38100" cap="flat" cmpd="sng">
            <a:solidFill>
              <a:srgbClr val="9900FF"/>
            </a:solidFill>
            <a:prstDash val="solid"/>
            <a:round/>
            <a:headEnd type="none" w="med" len="med"/>
            <a:tailEnd type="triangle" w="med" len="med"/>
          </a:ln>
        </p:spPr>
      </p:cxnSp>
      <p:sp>
        <p:nvSpPr>
          <p:cNvPr id="3" name="Segnaposto numero diapositiva 2">
            <a:extLst>
              <a:ext uri="{FF2B5EF4-FFF2-40B4-BE49-F238E27FC236}">
                <a16:creationId xmlns:a16="http://schemas.microsoft.com/office/drawing/2014/main" id="{8C1C15CD-1CC3-3F53-5A16-416CAF30DC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126</a:t>
            </a:fld>
            <a:endParaRPr lang="it-IT"/>
          </a:p>
        </p:txBody>
      </p:sp>
      <p:sp>
        <p:nvSpPr>
          <p:cNvPr id="2" name="Freccia in giù 1">
            <a:hlinkClick r:id="rId5" action="ppaction://hlinksldjump"/>
            <a:extLst>
              <a:ext uri="{FF2B5EF4-FFF2-40B4-BE49-F238E27FC236}">
                <a16:creationId xmlns:a16="http://schemas.microsoft.com/office/drawing/2014/main" id="{8BC01CDF-70DD-B236-A170-F922FFEE4E98}"/>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54"/>
          <p:cNvSpPr txBox="1"/>
          <p:nvPr/>
        </p:nvSpPr>
        <p:spPr>
          <a:xfrm>
            <a:off x="1040234" y="883450"/>
            <a:ext cx="9972015" cy="149832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con il caso senza parassiti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Anche nel caso senza parassiti, a una frequenza così alta il condensatore non riesce a caricarsi e scaricarsi completamente.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periodo del segnale è troppo breve rispetto alla costante di tempo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15" name="Google Shape;515;p54"/>
          <p:cNvPicPr preferRelativeResize="0"/>
          <p:nvPr/>
        </p:nvPicPr>
        <p:blipFill rotWithShape="1">
          <a:blip r:embed="rId3">
            <a:alphaModFix/>
          </a:blip>
          <a:srcRect t="32702" b="31829"/>
          <a:stretch/>
        </p:blipFill>
        <p:spPr>
          <a:xfrm>
            <a:off x="3998375" y="2291425"/>
            <a:ext cx="1067475" cy="615600"/>
          </a:xfrm>
          <a:prstGeom prst="rect">
            <a:avLst/>
          </a:prstGeom>
          <a:noFill/>
          <a:ln>
            <a:solidFill>
              <a:schemeClr val="tx1"/>
            </a:solidFill>
          </a:ln>
        </p:spPr>
      </p:pic>
      <p:sp>
        <p:nvSpPr>
          <p:cNvPr id="516" name="Google Shape;516;p54"/>
          <p:cNvSpPr txBox="1"/>
          <p:nvPr/>
        </p:nvSpPr>
        <p:spPr>
          <a:xfrm>
            <a:off x="1040234" y="3197150"/>
            <a:ext cx="4566566"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periodo è:</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17" name="Google Shape;517;p54"/>
          <p:cNvPicPr preferRelativeResize="0"/>
          <p:nvPr/>
        </p:nvPicPr>
        <p:blipFill rotWithShape="1">
          <a:blip r:embed="rId4">
            <a:alphaModFix/>
          </a:blip>
          <a:srcRect b="71533"/>
          <a:stretch/>
        </p:blipFill>
        <p:spPr>
          <a:xfrm>
            <a:off x="3301900" y="3115137"/>
            <a:ext cx="1956075" cy="561300"/>
          </a:xfrm>
          <a:prstGeom prst="rect">
            <a:avLst/>
          </a:prstGeom>
          <a:noFill/>
          <a:ln>
            <a:solidFill>
              <a:schemeClr val="tx1"/>
            </a:solidFill>
          </a:ln>
        </p:spPr>
      </p:pic>
      <p:pic>
        <p:nvPicPr>
          <p:cNvPr id="518" name="Google Shape;518;p54"/>
          <p:cNvPicPr preferRelativeResize="0"/>
          <p:nvPr/>
        </p:nvPicPr>
        <p:blipFill rotWithShape="1">
          <a:blip r:embed="rId4">
            <a:alphaModFix/>
          </a:blip>
          <a:srcRect t="37545" b="31235"/>
          <a:stretch/>
        </p:blipFill>
        <p:spPr>
          <a:xfrm>
            <a:off x="5468250" y="3073998"/>
            <a:ext cx="1956075" cy="615600"/>
          </a:xfrm>
          <a:prstGeom prst="rect">
            <a:avLst/>
          </a:prstGeom>
          <a:noFill/>
          <a:ln>
            <a:solidFill>
              <a:schemeClr val="tx1"/>
            </a:solidFill>
          </a:ln>
        </p:spPr>
      </p:pic>
      <p:sp>
        <p:nvSpPr>
          <p:cNvPr id="519" name="Google Shape;519;p54"/>
          <p:cNvSpPr txBox="1"/>
          <p:nvPr/>
        </p:nvSpPr>
        <p:spPr>
          <a:xfrm>
            <a:off x="1086374" y="3742863"/>
            <a:ext cx="8611526"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I</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 condensatore non ha il tempo fisico per raggiungere il valore finale.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 questo la sua tensione rimane molto limitata e non riesce nemmeno a sviluppare una carica/scarica completa.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20" name="Google Shape;520;p54"/>
          <p:cNvPicPr preferRelativeResize="0"/>
          <p:nvPr/>
        </p:nvPicPr>
        <p:blipFill rotWithShape="1">
          <a:blip r:embed="rId4">
            <a:alphaModFix/>
          </a:blip>
          <a:srcRect t="76496"/>
          <a:stretch/>
        </p:blipFill>
        <p:spPr>
          <a:xfrm>
            <a:off x="7562875" y="3115137"/>
            <a:ext cx="1956075" cy="463450"/>
          </a:xfrm>
          <a:prstGeom prst="rect">
            <a:avLst/>
          </a:prstGeom>
          <a:noFill/>
          <a:ln>
            <a:solidFill>
              <a:schemeClr val="tx1"/>
            </a:solidFill>
          </a:ln>
        </p:spPr>
      </p:pic>
      <p:pic>
        <p:nvPicPr>
          <p:cNvPr id="522" name="Google Shape;522;p54"/>
          <p:cNvPicPr preferRelativeResize="0"/>
          <p:nvPr/>
        </p:nvPicPr>
        <p:blipFill rotWithShape="1">
          <a:blip r:embed="rId3">
            <a:alphaModFix/>
          </a:blip>
          <a:srcRect t="81872"/>
          <a:stretch/>
        </p:blipFill>
        <p:spPr>
          <a:xfrm>
            <a:off x="6096000" y="2441912"/>
            <a:ext cx="1067475" cy="314625"/>
          </a:xfrm>
          <a:prstGeom prst="rect">
            <a:avLst/>
          </a:prstGeom>
          <a:noFill/>
          <a:ln>
            <a:solidFill>
              <a:schemeClr val="tx1"/>
            </a:solidFill>
          </a:ln>
        </p:spPr>
      </p:pic>
      <p:cxnSp>
        <p:nvCxnSpPr>
          <p:cNvPr id="523" name="Google Shape;523;p54"/>
          <p:cNvCxnSpPr>
            <a:cxnSpLocks/>
            <a:stCxn id="515" idx="3"/>
            <a:endCxn id="522" idx="1"/>
          </p:cNvCxnSpPr>
          <p:nvPr/>
        </p:nvCxnSpPr>
        <p:spPr>
          <a:xfrm>
            <a:off x="5065850" y="2599225"/>
            <a:ext cx="1030150" cy="0"/>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BC471708-C97B-89DD-1D57-EAB7484A4A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127</a:t>
            </a:fld>
            <a:endParaRPr lang="it-IT"/>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55"/>
          <p:cNvSpPr txBox="1"/>
          <p:nvPr/>
        </p:nvSpPr>
        <p:spPr>
          <a:xfrm>
            <a:off x="830550" y="760650"/>
            <a:ext cx="10655100" cy="25601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iniziale: </a:t>
            </a:r>
            <a:r>
              <a:rPr lang="it-IT" i="0" u="none" strike="noStrike" cap="none" dirty="0">
                <a:solidFill>
                  <a:schemeClr val="dk1"/>
                </a:solidFill>
                <a:latin typeface="Segoe UI" panose="020B0502040204020203" pitchFamily="34" charset="0"/>
                <a:cs typeface="Segoe UI" panose="020B0502040204020203" pitchFamily="34" charset="0"/>
              </a:rPr>
              <a:t>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 serie </a:t>
            </a:r>
            <a:r>
              <a:rPr lang="it-IT" i="0" u="none" strike="noStrike" cap="none" dirty="0">
                <a:solidFill>
                  <a:schemeClr val="dk1"/>
                </a:solidFill>
                <a:latin typeface="Segoe UI" panose="020B0502040204020203" pitchFamily="34" charset="0"/>
                <a:cs typeface="Segoe UI" panose="020B0502040204020203" pitchFamily="34" charset="0"/>
              </a:rPr>
              <a:t>o 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interni al condensatore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primo confronto si osserva che il comportamento del filtro è praticamente lo stesso sia modellando i parassiti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esplicitamente in serie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al condensatore, sia usando direttamente il modello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condensatore reale con parassiti interni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dal punto di vista elettrico, i due modelli descrivono la stessa realtà fisica: il condensatore reale non è ideale, ma porta con sé una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resistenza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ESR e un</a:t>
            </a:r>
            <a:r>
              <a:rPr lang="it-IT" sz="1200"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la risposta in frequenza risulta sovrapponibile: in entrambi i casi il filtro non è più un passa-alto “puro”, ma un circuito il cui comportamento alle alte frequenze viene modificato dai parassiti del condensatore.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31" name="Google Shape;531;p55"/>
          <p:cNvPicPr preferRelativeResize="0"/>
          <p:nvPr/>
        </p:nvPicPr>
        <p:blipFill rotWithShape="1">
          <a:blip r:embed="rId3">
            <a:alphaModFix/>
          </a:blip>
          <a:srcRect r="30801" b="51459"/>
          <a:stretch/>
        </p:blipFill>
        <p:spPr>
          <a:xfrm>
            <a:off x="912150" y="3608100"/>
            <a:ext cx="4543476" cy="2108825"/>
          </a:xfrm>
          <a:prstGeom prst="rect">
            <a:avLst/>
          </a:prstGeom>
          <a:noFill/>
          <a:ln>
            <a:noFill/>
          </a:ln>
        </p:spPr>
      </p:pic>
      <p:pic>
        <p:nvPicPr>
          <p:cNvPr id="532" name="Google Shape;532;p55"/>
          <p:cNvPicPr preferRelativeResize="0"/>
          <p:nvPr/>
        </p:nvPicPr>
        <p:blipFill rotWithShape="1">
          <a:blip r:embed="rId3">
            <a:alphaModFix/>
          </a:blip>
          <a:srcRect t="51840"/>
          <a:stretch/>
        </p:blipFill>
        <p:spPr>
          <a:xfrm>
            <a:off x="5616400" y="3800400"/>
            <a:ext cx="5869250" cy="1870350"/>
          </a:xfrm>
          <a:prstGeom prst="rect">
            <a:avLst/>
          </a:prstGeom>
          <a:noFill/>
          <a:ln>
            <a:noFill/>
          </a:ln>
        </p:spPr>
      </p:pic>
      <p:sp>
        <p:nvSpPr>
          <p:cNvPr id="2" name="Segnaposto numero diapositiva 1">
            <a:extLst>
              <a:ext uri="{FF2B5EF4-FFF2-40B4-BE49-F238E27FC236}">
                <a16:creationId xmlns:a16="http://schemas.microsoft.com/office/drawing/2014/main" id="{C76EEDBA-5C69-5052-8ECC-EE5D06B26F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128</a:t>
            </a:fld>
            <a:endParaRPr lang="it-IT"/>
          </a:p>
        </p:txBody>
      </p:sp>
      <p:sp>
        <p:nvSpPr>
          <p:cNvPr id="3" name="Freccia in giù 2">
            <a:hlinkClick r:id="rId4" action="ppaction://hlinksldjump"/>
            <a:extLst>
              <a:ext uri="{FF2B5EF4-FFF2-40B4-BE49-F238E27FC236}">
                <a16:creationId xmlns:a16="http://schemas.microsoft.com/office/drawing/2014/main" id="{DD495CE6-203E-584D-0C59-5B2BB154D49E}"/>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56"/>
          <p:cNvPicPr preferRelativeResize="0"/>
          <p:nvPr/>
        </p:nvPicPr>
        <p:blipFill rotWithShape="1">
          <a:blip r:embed="rId3">
            <a:alphaModFix/>
          </a:blip>
          <a:srcRect/>
          <a:stretch/>
        </p:blipFill>
        <p:spPr>
          <a:xfrm>
            <a:off x="678450" y="764875"/>
            <a:ext cx="10846377" cy="5315724"/>
          </a:xfrm>
          <a:prstGeom prst="rect">
            <a:avLst/>
          </a:prstGeom>
          <a:noFill/>
          <a:ln>
            <a:noFill/>
          </a:ln>
        </p:spPr>
      </p:pic>
      <p:sp>
        <p:nvSpPr>
          <p:cNvPr id="2" name="Segnaposto numero diapositiva 1">
            <a:extLst>
              <a:ext uri="{FF2B5EF4-FFF2-40B4-BE49-F238E27FC236}">
                <a16:creationId xmlns:a16="http://schemas.microsoft.com/office/drawing/2014/main" id="{0C5A4C2A-1916-DD5B-B50A-893E5B69BB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129</a:t>
            </a:fld>
            <a:endParaRPr lang="it-IT"/>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9"/>
          <p:cNvSpPr txBox="1"/>
          <p:nvPr/>
        </p:nvSpPr>
        <p:spPr>
          <a:xfrm>
            <a:off x="975875" y="1190650"/>
            <a:ext cx="10271400" cy="365892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Nel nostro caso, il confronto tra condensatore ideale e condensatore con parassiti mostra che l’andamento generale del filtro resta praticamente uguale. </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risposta passa-alto non viene modificata in modo significativo nella zona utile di funzionamento.</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caduta principale del guadagno alle alte frequenze non è causata dai parassiti del condensatore, ma soprattutto dai limiti dell’operazionale reale OP07, che perde efficacia quando la frequenza aumenta. Questo è dovuto alla sua banda limitata e al fatto che non riesce a mantenere lo stesso guadagno a frequenze molto elevate.</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I parassiti del condensatore diventano visibili solo nella parte finale del grafico, cioè ad altissime frequenze. In quella zona l’ESL e l’ESR modificano leggermente la risposta, introducendo una piccola differenza rispetto al caso senza parassiti.</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1200"/>
              </a:spcAft>
              <a:buClr>
                <a:srgbClr val="000000"/>
              </a:buClr>
              <a:buSzPts val="1100"/>
              <a:buFont typeface="Arial"/>
              <a:buNone/>
            </a:pPr>
            <a:r>
              <a:rPr lang="it-IT" sz="1200" dirty="0">
                <a:latin typeface="Segoe UI" panose="020B0502040204020203" pitchFamily="34" charset="0"/>
                <a:cs typeface="Segoe UI" panose="020B0502040204020203" pitchFamily="34" charset="0"/>
              </a:rPr>
              <a:t>Quindi, in questa simulazione, l’effetto dominante rimane il limite dell’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reale, mentre i parassiti del condensatore producono solo una variazione minima nella parte finale della risposta. In pratica, nella banda di interesse il filtro si comporta quasi allo stesso modo con o senza parassiti.</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D8630343-DE49-D522-ABFC-9FECA7D2A6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130</a:t>
            </a:fld>
            <a:endParaRPr lang="it-IT"/>
          </a:p>
        </p:txBody>
      </p:sp>
    </p:spTree>
  </p:cSld>
  <p:clrMapOvr>
    <a:masterClrMapping/>
  </p:clrMapOvr>
</p:sld>
</file>

<file path=ppt/theme/theme1.xml><?xml version="1.0" encoding="utf-8"?>
<a:theme xmlns:a="http://schemas.openxmlformats.org/drawingml/2006/main" name="Organico">
  <a:themeElements>
    <a:clrScheme name="Organico">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1258</TotalTime>
  <Words>12059</Words>
  <Application>Microsoft Office PowerPoint</Application>
  <PresentationFormat>Widescreen</PresentationFormat>
  <Paragraphs>920</Paragraphs>
  <Slides>130</Slides>
  <Notes>106</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130</vt:i4>
      </vt:variant>
    </vt:vector>
  </HeadingPairs>
  <TitlesOfParts>
    <vt:vector size="140" baseType="lpstr">
      <vt:lpstr>Segoe UI Semibold</vt:lpstr>
      <vt:lpstr>Libre Franklin</vt:lpstr>
      <vt:lpstr>Cambria Math</vt:lpstr>
      <vt:lpstr>Segoe UI</vt:lpstr>
      <vt:lpstr>Arial</vt:lpstr>
      <vt:lpstr>Garamond</vt:lpstr>
      <vt:lpstr>Calibri</vt:lpstr>
      <vt:lpstr>Libre Franklin SemiBold</vt:lpstr>
      <vt:lpstr>Open Sans</vt:lpstr>
      <vt:lpstr>Organico</vt:lpstr>
      <vt:lpstr>Analisi Filtro Passa alto HP</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Riccardo</dc:creator>
  <cp:lastModifiedBy>RICCARDO SCOLA COLOMBO</cp:lastModifiedBy>
  <cp:revision>122</cp:revision>
  <dcterms:modified xsi:type="dcterms:W3CDTF">2026-07-02T16:18:28Z</dcterms:modified>
</cp:coreProperties>
</file>